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483" r:id="rId2"/>
    <p:sldId id="510" r:id="rId3"/>
    <p:sldId id="469" r:id="rId4"/>
    <p:sldId id="533" r:id="rId5"/>
    <p:sldId id="515" r:id="rId6"/>
    <p:sldId id="517" r:id="rId7"/>
    <p:sldId id="534" r:id="rId8"/>
    <p:sldId id="525" r:id="rId9"/>
    <p:sldId id="535" r:id="rId10"/>
    <p:sldId id="528" r:id="rId11"/>
    <p:sldId id="514" r:id="rId12"/>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4995"/>
    <a:srgbClr val="FF33CC"/>
    <a:srgbClr val="D7E1EE"/>
    <a:srgbClr val="4245BE"/>
    <a:srgbClr val="0070C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56" autoAdjust="0"/>
    <p:restoredTop sz="94660"/>
  </p:normalViewPr>
  <p:slideViewPr>
    <p:cSldViewPr snapToGrid="0">
      <p:cViewPr>
        <p:scale>
          <a:sx n="75" d="100"/>
          <a:sy n="75" d="100"/>
        </p:scale>
        <p:origin x="893"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D5AAD-12B1-4117-8A4B-C4109D64BF51}" type="datetimeFigureOut">
              <a:rPr lang="zh-CN" altLang="en-US" smtClean="0"/>
              <a:t>2025/6/16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8F440-86C7-4ABB-A7C0-3F9FD6847DA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65EFC850-7D77-4205-9604-040A94831ED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90351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A0E99-869B-E09F-E55F-C636942D9F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4C456C-7E61-A038-44C1-E9524C009BEA}"/>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577FBD25-713C-16B3-CDB6-A32247C97A4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83CFD18-A441-CAC0-383A-7DF9D35CD8EC}"/>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160169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673569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531546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2F865-792A-265A-6DC3-A42BD4A7FD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45EABF-7E7F-E582-E4D2-E51B93456F43}"/>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7451B784-0C9F-DD30-5B65-B1A160F6A6E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C62B5CD-B979-63A3-6B29-BA05D91774CF}"/>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095591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2D744-7268-5C3E-F2D0-3633233C52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1016C9-2B7F-D3C5-9CC6-CB66C7414003}"/>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EFF9B0D6-5C67-089B-6864-1DC8D919364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4D38DC5-881A-F3AE-74C6-3429CD42A196}"/>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319494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65EFC850-7D77-4205-9604-040A94831ED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21859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矩形 4"/>
          <p:cNvSpPr/>
          <p:nvPr userDrawn="1"/>
        </p:nvSpPr>
        <p:spPr>
          <a:xfrm>
            <a:off x="9072331" y="6021289"/>
            <a:ext cx="1033515" cy="276931"/>
          </a:xfrm>
          <a:prstGeom prst="rect">
            <a:avLst/>
          </a:prstGeom>
        </p:spPr>
        <p:txBody>
          <a:bodyPr wrap="square" lIns="121889" tIns="60944" rIns="121889" bIns="60944">
            <a:spAutoFit/>
          </a:bodyPr>
          <a:lstStyle/>
          <a:p>
            <a:pPr defTabSz="12192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defTabSz="1219200"/>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defTabSz="12192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defTabSz="1219200"/>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defTabSz="1219200"/>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defTabSz="1219200"/>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defTabSz="1219200"/>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defTabSz="1219200"/>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defTabSz="1219200"/>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defTabSz="1219200"/>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pic>
        <p:nvPicPr>
          <p:cNvPr id="1026" name="Picture 2" descr="C:\Users\Administrator\Desktop\灰色01副本.jpg"/>
          <p:cNvPicPr>
            <a:picLocks noChangeAspect="1" noChangeArrowheads="1"/>
          </p:cNvPicPr>
          <p:nvPr userDrawn="1"/>
        </p:nvPicPr>
        <p:blipFill>
          <a:blip r:embed="rId5"/>
          <a:srcRect/>
          <a:stretch>
            <a:fillRect/>
          </a:stretch>
        </p:blipFill>
        <p:spPr bwMode="auto">
          <a:xfrm>
            <a:off x="30291" y="-826"/>
            <a:ext cx="12161709" cy="68589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p:cNvPicPr>
            <a:picLocks noChangeAspect="1" noChangeArrowheads="1"/>
          </p:cNvPicPr>
          <p:nvPr userDrawn="1"/>
        </p:nvPicPr>
        <p:blipFill>
          <a:blip r:embed="rId6">
            <a:extLst>
              <a:ext uri="{28A0092B-C50C-407E-A947-70E740481C1C}">
                <a14:useLocalDpi xmlns:a14="http://schemas.microsoft.com/office/drawing/2010/main" val="0"/>
              </a:ext>
            </a:extLst>
          </a:blip>
          <a:stretch>
            <a:fillRect/>
          </a:stretch>
        </p:blipFill>
        <p:spPr bwMode="auto">
          <a:xfrm>
            <a:off x="2765" y="-3659"/>
            <a:ext cx="12178317" cy="686166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121856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193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049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009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7906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130"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895"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87968"/>
            <a:ext cx="7784892" cy="7784892"/>
          </a:xfrm>
          <a:prstGeom prst="rect">
            <a:avLst/>
          </a:prstGeom>
        </p:spPr>
      </p:pic>
      <p:sp>
        <p:nvSpPr>
          <p:cNvPr id="99" name="流程图: 手动输入 3"/>
          <p:cNvSpPr/>
          <p:nvPr/>
        </p:nvSpPr>
        <p:spPr>
          <a:xfrm rot="5400000">
            <a:off x="-772141" y="765575"/>
            <a:ext cx="6865184" cy="531649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13"/>
              <a:gd name="connsiteY0-2" fmla="*/ 3619 h 10000"/>
              <a:gd name="connsiteX1-3" fmla="*/ 10013 w 10013"/>
              <a:gd name="connsiteY1-4" fmla="*/ 0 h 10000"/>
              <a:gd name="connsiteX2-5" fmla="*/ 10013 w 10013"/>
              <a:gd name="connsiteY2-6" fmla="*/ 10000 h 10000"/>
              <a:gd name="connsiteX3-7" fmla="*/ 13 w 10013"/>
              <a:gd name="connsiteY3-8" fmla="*/ 10000 h 10000"/>
              <a:gd name="connsiteX4-9" fmla="*/ 0 w 10013"/>
              <a:gd name="connsiteY4-10" fmla="*/ 3619 h 10000"/>
              <a:gd name="connsiteX0-11" fmla="*/ 0 w 10013"/>
              <a:gd name="connsiteY0-12" fmla="*/ 3970 h 10000"/>
              <a:gd name="connsiteX1-13" fmla="*/ 10013 w 10013"/>
              <a:gd name="connsiteY1-14" fmla="*/ 0 h 10000"/>
              <a:gd name="connsiteX2-15" fmla="*/ 10013 w 10013"/>
              <a:gd name="connsiteY2-16" fmla="*/ 10000 h 10000"/>
              <a:gd name="connsiteX3-17" fmla="*/ 13 w 10013"/>
              <a:gd name="connsiteY3-18" fmla="*/ 10000 h 10000"/>
              <a:gd name="connsiteX4-19" fmla="*/ 0 w 10013"/>
              <a:gd name="connsiteY4-20" fmla="*/ 397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13" h="10000">
                <a:moveTo>
                  <a:pt x="0" y="3970"/>
                </a:moveTo>
                <a:lnTo>
                  <a:pt x="10013" y="0"/>
                </a:lnTo>
                <a:lnTo>
                  <a:pt x="10013" y="10000"/>
                </a:lnTo>
                <a:lnTo>
                  <a:pt x="13" y="10000"/>
                </a:lnTo>
                <a:cubicBezTo>
                  <a:pt x="9" y="7873"/>
                  <a:pt x="4" y="6097"/>
                  <a:pt x="0" y="3970"/>
                </a:cubicBezTo>
                <a:close/>
              </a:path>
            </a:pathLst>
          </a:cu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dirty="0">
              <a:solidFill>
                <a:schemeClr val="lt1"/>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00" name="图片 99"/>
          <p:cNvPicPr>
            <a:picLocks noChangeAspect="1"/>
          </p:cNvPicPr>
          <p:nvPr/>
        </p:nvPicPr>
        <p:blipFill>
          <a:blip r:embed="rId4">
            <a:extLst>
              <a:ext uri="{28A0092B-C50C-407E-A947-70E740481C1C}">
                <a14:useLocalDpi xmlns:a14="http://schemas.microsoft.com/office/drawing/2010/main" val="0"/>
              </a:ext>
            </a:extLst>
          </a:blip>
          <a:srcRect t="32" b="32"/>
          <a:stretch>
            <a:fillRect/>
          </a:stretch>
        </p:blipFill>
        <p:spPr>
          <a:xfrm>
            <a:off x="819657" y="1074336"/>
            <a:ext cx="4892808" cy="4939693"/>
          </a:xfrm>
          <a:prstGeom prst="ellipse">
            <a:avLst/>
          </a:prstGeom>
          <a:effectLst>
            <a:outerShdw blurRad="63500" sx="102000" sy="102000" algn="ctr" rotWithShape="0">
              <a:prstClr val="black">
                <a:alpha val="40000"/>
              </a:prstClr>
            </a:outerShdw>
          </a:effectLst>
        </p:spPr>
      </p:pic>
      <p:sp>
        <p:nvSpPr>
          <p:cNvPr id="104" name="空心弧 103"/>
          <p:cNvSpPr/>
          <p:nvPr/>
        </p:nvSpPr>
        <p:spPr>
          <a:xfrm rot="14414393">
            <a:off x="895496" y="1098487"/>
            <a:ext cx="4801452" cy="4801452"/>
          </a:xfrm>
          <a:prstGeom prst="blockArc">
            <a:avLst>
              <a:gd name="adj1" fmla="val 10800000"/>
              <a:gd name="adj2" fmla="val 467453"/>
              <a:gd name="adj3" fmla="val 2676"/>
            </a:avLst>
          </a:prstGeom>
          <a:solidFill>
            <a:srgbClr val="FBF9F7"/>
          </a:solidFill>
          <a:ln w="12700" cap="flat" cmpd="sng" algn="ctr">
            <a:noFill/>
            <a:prstDash val="solid"/>
            <a:miter lim="800000"/>
          </a:ln>
          <a:effectLst/>
        </p:spPr>
        <p:txBody>
          <a:bodyPr rtlCol="0" anchor="ctr"/>
          <a:lstStyle/>
          <a:p>
            <a:pPr algn="ctr" defTabSz="914400">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 name="文本占位符 1"/>
          <p:cNvSpPr txBox="1"/>
          <p:nvPr/>
        </p:nvSpPr>
        <p:spPr>
          <a:xfrm>
            <a:off x="5150499" y="713903"/>
            <a:ext cx="6867329" cy="3786230"/>
          </a:xfrm>
          <a:prstGeom prst="rect">
            <a:avLst/>
          </a:prstGeom>
        </p:spPr>
        <p:txBody>
          <a:bodyPr vert="horz" wrap="none" lIns="91440" tIns="45720" rIns="91440" bIns="45720" rtlCol="0" anchor="ctr">
            <a:noAutofit/>
          </a:bodyPr>
          <a:lstStyle>
            <a:lvl1pPr marL="0" indent="0" algn="ctr" defTabSz="914400" rtl="0" eaLnBrk="1" latinLnBrk="0" hangingPunct="1">
              <a:lnSpc>
                <a:spcPct val="90000"/>
              </a:lnSpc>
              <a:spcBef>
                <a:spcPts val="1000"/>
              </a:spcBef>
              <a:buFontTx/>
              <a:buNone/>
              <a:defRPr sz="4000" b="1" kern="1200" spc="0" baseline="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defRPr/>
            </a:pPr>
            <a:r>
              <a:rPr lang="zh-CN" altLang="en-US" sz="4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渭河流域水质分析评价及</a:t>
            </a:r>
            <a:endParaRPr lang="en-US" altLang="zh-CN" sz="4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zh-CN" altLang="en-US" sz="4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预测模型</a:t>
            </a:r>
            <a:endParaRPr lang="en-US" altLang="zh-CN" sz="4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zh-CN" altLang="en-US" sz="2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主成分分析案例</a:t>
            </a:r>
            <a:endParaRPr lang="en-US" altLang="zh-CN" sz="2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Freeform 236"/>
          <p:cNvSpPr/>
          <p:nvPr/>
        </p:nvSpPr>
        <p:spPr bwMode="auto">
          <a:xfrm rot="10800000" flipH="1" flipV="1">
            <a:off x="6784728" y="4032933"/>
            <a:ext cx="4242848" cy="58622"/>
          </a:xfrm>
          <a:custGeom>
            <a:avLst/>
            <a:gdLst>
              <a:gd name="T0" fmla="*/ 508 w 508"/>
              <a:gd name="T1" fmla="*/ 28 h 66"/>
              <a:gd name="T2" fmla="*/ 433 w 508"/>
              <a:gd name="T3" fmla="*/ 21 h 66"/>
              <a:gd name="T4" fmla="*/ 445 w 508"/>
              <a:gd name="T5" fmla="*/ 20 h 66"/>
              <a:gd name="T6" fmla="*/ 209 w 508"/>
              <a:gd name="T7" fmla="*/ 5 h 66"/>
              <a:gd name="T8" fmla="*/ 94 w 508"/>
              <a:gd name="T9" fmla="*/ 4 h 66"/>
              <a:gd name="T10" fmla="*/ 62 w 508"/>
              <a:gd name="T11" fmla="*/ 10 h 66"/>
              <a:gd name="T12" fmla="*/ 26 w 508"/>
              <a:gd name="T13" fmla="*/ 14 h 66"/>
              <a:gd name="T14" fmla="*/ 2 w 508"/>
              <a:gd name="T15" fmla="*/ 24 h 66"/>
              <a:gd name="T16" fmla="*/ 12 w 508"/>
              <a:gd name="T17" fmla="*/ 53 h 66"/>
              <a:gd name="T18" fmla="*/ 10 w 508"/>
              <a:gd name="T19" fmla="*/ 56 h 66"/>
              <a:gd name="T20" fmla="*/ 11 w 508"/>
              <a:gd name="T21" fmla="*/ 65 h 66"/>
              <a:gd name="T22" fmla="*/ 23 w 508"/>
              <a:gd name="T23" fmla="*/ 60 h 66"/>
              <a:gd name="T24" fmla="*/ 34 w 508"/>
              <a:gd name="T25" fmla="*/ 62 h 66"/>
              <a:gd name="T26" fmla="*/ 61 w 508"/>
              <a:gd name="T27" fmla="*/ 52 h 66"/>
              <a:gd name="T28" fmla="*/ 108 w 508"/>
              <a:gd name="T29" fmla="*/ 54 h 66"/>
              <a:gd name="T30" fmla="*/ 279 w 508"/>
              <a:gd name="T31" fmla="*/ 48 h 66"/>
              <a:gd name="T32" fmla="*/ 366 w 508"/>
              <a:gd name="T33" fmla="*/ 43 h 66"/>
              <a:gd name="T34" fmla="*/ 362 w 508"/>
              <a:gd name="T35" fmla="*/ 42 h 66"/>
              <a:gd name="T36" fmla="*/ 477 w 508"/>
              <a:gd name="T37" fmla="*/ 36 h 66"/>
              <a:gd name="T38" fmla="*/ 491 w 508"/>
              <a:gd name="T39" fmla="*/ 33 h 66"/>
              <a:gd name="T40" fmla="*/ 474 w 508"/>
              <a:gd name="T41" fmla="*/ 31 h 66"/>
              <a:gd name="T42" fmla="*/ 508 w 508"/>
              <a:gd name="T43"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8" h="66">
                <a:moveTo>
                  <a:pt x="508" y="28"/>
                </a:moveTo>
                <a:cubicBezTo>
                  <a:pt x="433" y="21"/>
                  <a:pt x="433" y="21"/>
                  <a:pt x="433" y="21"/>
                </a:cubicBezTo>
                <a:cubicBezTo>
                  <a:pt x="437" y="20"/>
                  <a:pt x="441" y="22"/>
                  <a:pt x="445" y="20"/>
                </a:cubicBezTo>
                <a:cubicBezTo>
                  <a:pt x="360" y="13"/>
                  <a:pt x="292" y="6"/>
                  <a:pt x="209" y="5"/>
                </a:cubicBezTo>
                <a:cubicBezTo>
                  <a:pt x="172" y="6"/>
                  <a:pt x="130" y="1"/>
                  <a:pt x="94" y="4"/>
                </a:cubicBezTo>
                <a:cubicBezTo>
                  <a:pt x="85" y="11"/>
                  <a:pt x="70" y="0"/>
                  <a:pt x="62" y="10"/>
                </a:cubicBezTo>
                <a:cubicBezTo>
                  <a:pt x="50" y="10"/>
                  <a:pt x="37" y="10"/>
                  <a:pt x="26" y="14"/>
                </a:cubicBezTo>
                <a:cubicBezTo>
                  <a:pt x="16" y="10"/>
                  <a:pt x="10" y="20"/>
                  <a:pt x="2" y="24"/>
                </a:cubicBezTo>
                <a:cubicBezTo>
                  <a:pt x="0" y="34"/>
                  <a:pt x="4" y="44"/>
                  <a:pt x="12" y="53"/>
                </a:cubicBezTo>
                <a:cubicBezTo>
                  <a:pt x="12" y="54"/>
                  <a:pt x="11" y="55"/>
                  <a:pt x="10" y="56"/>
                </a:cubicBezTo>
                <a:cubicBezTo>
                  <a:pt x="8" y="59"/>
                  <a:pt x="8" y="63"/>
                  <a:pt x="11" y="65"/>
                </a:cubicBezTo>
                <a:cubicBezTo>
                  <a:pt x="15" y="64"/>
                  <a:pt x="19" y="63"/>
                  <a:pt x="23" y="60"/>
                </a:cubicBezTo>
                <a:cubicBezTo>
                  <a:pt x="27" y="60"/>
                  <a:pt x="30" y="66"/>
                  <a:pt x="34" y="62"/>
                </a:cubicBezTo>
                <a:cubicBezTo>
                  <a:pt x="42" y="54"/>
                  <a:pt x="52" y="55"/>
                  <a:pt x="61" y="52"/>
                </a:cubicBezTo>
                <a:cubicBezTo>
                  <a:pt x="76" y="54"/>
                  <a:pt x="93" y="53"/>
                  <a:pt x="108" y="54"/>
                </a:cubicBezTo>
                <a:cubicBezTo>
                  <a:pt x="161" y="52"/>
                  <a:pt x="222" y="49"/>
                  <a:pt x="279" y="48"/>
                </a:cubicBezTo>
                <a:cubicBezTo>
                  <a:pt x="308" y="49"/>
                  <a:pt x="338" y="46"/>
                  <a:pt x="366" y="43"/>
                </a:cubicBezTo>
                <a:cubicBezTo>
                  <a:pt x="365" y="43"/>
                  <a:pt x="363" y="43"/>
                  <a:pt x="362" y="42"/>
                </a:cubicBezTo>
                <a:cubicBezTo>
                  <a:pt x="401" y="41"/>
                  <a:pt x="439" y="38"/>
                  <a:pt x="477" y="36"/>
                </a:cubicBezTo>
                <a:cubicBezTo>
                  <a:pt x="481" y="34"/>
                  <a:pt x="487" y="37"/>
                  <a:pt x="491" y="33"/>
                </a:cubicBezTo>
                <a:cubicBezTo>
                  <a:pt x="486" y="31"/>
                  <a:pt x="479" y="33"/>
                  <a:pt x="474" y="31"/>
                </a:cubicBezTo>
                <a:cubicBezTo>
                  <a:pt x="485" y="29"/>
                  <a:pt x="498" y="31"/>
                  <a:pt x="508" y="28"/>
                </a:cubicBezTo>
                <a:close/>
              </a:path>
            </a:pathLst>
          </a:custGeom>
          <a:solidFill>
            <a:srgbClr val="0070C0"/>
          </a:solidFill>
          <a:ln>
            <a:noFill/>
          </a:ln>
        </p:spPr>
        <p:txBody>
          <a:bodyPr vert="horz" wrap="square" lIns="91440" tIns="45720" rIns="91440" bIns="45720" numCol="1" anchor="t" anchorCtr="0" compatLnSpc="1"/>
          <a:lstStyle/>
          <a:p>
            <a:pPr defTabSz="457200">
              <a:lnSpc>
                <a:spcPct val="130000"/>
              </a:lnSpc>
            </a:pPr>
            <a:endParaRPr lang="zh-CN" altLang="en-US" dirty="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1" name="组合 10"/>
          <p:cNvGrpSpPr/>
          <p:nvPr/>
        </p:nvGrpSpPr>
        <p:grpSpPr>
          <a:xfrm>
            <a:off x="6526635" y="4735646"/>
            <a:ext cx="2227055" cy="370546"/>
            <a:chOff x="4654427" y="4718860"/>
            <a:chExt cx="1663809" cy="276971"/>
          </a:xfrm>
        </p:grpSpPr>
        <p:grpSp>
          <p:nvGrpSpPr>
            <p:cNvPr id="12" name="组合 11"/>
            <p:cNvGrpSpPr/>
            <p:nvPr/>
          </p:nvGrpSpPr>
          <p:grpSpPr>
            <a:xfrm>
              <a:off x="4654427" y="4718860"/>
              <a:ext cx="276971" cy="276971"/>
              <a:chOff x="3725237" y="4930504"/>
              <a:chExt cx="531780" cy="531780"/>
            </a:xfrm>
          </p:grpSpPr>
          <p:sp>
            <p:nvSpPr>
              <p:cNvPr id="14" name="圆角矩形 2"/>
              <p:cNvSpPr/>
              <p:nvPr/>
            </p:nvSpPr>
            <p:spPr>
              <a:xfrm>
                <a:off x="3725237"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student-graduation-cap-shape_52041"/>
              <p:cNvSpPr>
                <a:spLocks noChangeAspect="1"/>
              </p:cNvSpPr>
              <p:nvPr/>
            </p:nvSpPr>
            <p:spPr bwMode="auto">
              <a:xfrm>
                <a:off x="3875605" y="5054575"/>
                <a:ext cx="219840" cy="264806"/>
              </a:xfrm>
              <a:custGeom>
                <a:avLst/>
                <a:gdLst>
                  <a:gd name="connsiteX0" fmla="*/ 56671 w 279400"/>
                  <a:gd name="connsiteY0" fmla="*/ 192087 h 336550"/>
                  <a:gd name="connsiteX1" fmla="*/ 224047 w 279400"/>
                  <a:gd name="connsiteY1" fmla="*/ 192087 h 336550"/>
                  <a:gd name="connsiteX2" fmla="*/ 279400 w 279400"/>
                  <a:gd name="connsiteY2" fmla="*/ 247752 h 336550"/>
                  <a:gd name="connsiteX3" fmla="*/ 279400 w 279400"/>
                  <a:gd name="connsiteY3" fmla="*/ 336550 h 336550"/>
                  <a:gd name="connsiteX4" fmla="*/ 176602 w 279400"/>
                  <a:gd name="connsiteY4" fmla="*/ 336550 h 336550"/>
                  <a:gd name="connsiteX5" fmla="*/ 158151 w 279400"/>
                  <a:gd name="connsiteY5" fmla="*/ 245101 h 336550"/>
                  <a:gd name="connsiteX6" fmla="*/ 151562 w 279400"/>
                  <a:gd name="connsiteY6" fmla="*/ 239800 h 336550"/>
                  <a:gd name="connsiteX7" fmla="*/ 167377 w 279400"/>
                  <a:gd name="connsiteY7" fmla="*/ 213293 h 336550"/>
                  <a:gd name="connsiteX8" fmla="*/ 167377 w 279400"/>
                  <a:gd name="connsiteY8" fmla="*/ 209317 h 336550"/>
                  <a:gd name="connsiteX9" fmla="*/ 163423 w 279400"/>
                  <a:gd name="connsiteY9" fmla="*/ 207991 h 336550"/>
                  <a:gd name="connsiteX10" fmla="*/ 121249 w 279400"/>
                  <a:gd name="connsiteY10" fmla="*/ 207991 h 336550"/>
                  <a:gd name="connsiteX11" fmla="*/ 118613 w 279400"/>
                  <a:gd name="connsiteY11" fmla="*/ 209317 h 336550"/>
                  <a:gd name="connsiteX12" fmla="*/ 118613 w 279400"/>
                  <a:gd name="connsiteY12" fmla="*/ 213293 h 336550"/>
                  <a:gd name="connsiteX13" fmla="*/ 134429 w 279400"/>
                  <a:gd name="connsiteY13" fmla="*/ 239800 h 336550"/>
                  <a:gd name="connsiteX14" fmla="*/ 126521 w 279400"/>
                  <a:gd name="connsiteY14" fmla="*/ 245101 h 336550"/>
                  <a:gd name="connsiteX15" fmla="*/ 110706 w 279400"/>
                  <a:gd name="connsiteY15" fmla="*/ 336550 h 336550"/>
                  <a:gd name="connsiteX16" fmla="*/ 0 w 279400"/>
                  <a:gd name="connsiteY16" fmla="*/ 336550 h 336550"/>
                  <a:gd name="connsiteX17" fmla="*/ 0 w 279400"/>
                  <a:gd name="connsiteY17" fmla="*/ 247752 h 336550"/>
                  <a:gd name="connsiteX18" fmla="*/ 56671 w 279400"/>
                  <a:gd name="connsiteY18" fmla="*/ 192087 h 336550"/>
                  <a:gd name="connsiteX19" fmla="*/ 138907 w 279400"/>
                  <a:gd name="connsiteY19" fmla="*/ 0 h 336550"/>
                  <a:gd name="connsiteX20" fmla="*/ 219076 w 279400"/>
                  <a:gd name="connsiteY20" fmla="*/ 80169 h 336550"/>
                  <a:gd name="connsiteX21" fmla="*/ 138907 w 279400"/>
                  <a:gd name="connsiteY21" fmla="*/ 160338 h 336550"/>
                  <a:gd name="connsiteX22" fmla="*/ 58738 w 279400"/>
                  <a:gd name="connsiteY22" fmla="*/ 80169 h 336550"/>
                  <a:gd name="connsiteX23" fmla="*/ 138907 w 279400"/>
                  <a:gd name="connsiteY2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9400" h="336550">
                    <a:moveTo>
                      <a:pt x="56671" y="192087"/>
                    </a:moveTo>
                    <a:cubicBezTo>
                      <a:pt x="56671" y="192087"/>
                      <a:pt x="56671" y="192087"/>
                      <a:pt x="224047" y="192087"/>
                    </a:cubicBezTo>
                    <a:cubicBezTo>
                      <a:pt x="254360" y="192087"/>
                      <a:pt x="279400" y="217269"/>
                      <a:pt x="279400" y="247752"/>
                    </a:cubicBezTo>
                    <a:cubicBezTo>
                      <a:pt x="279400" y="247752"/>
                      <a:pt x="279400" y="247752"/>
                      <a:pt x="279400" y="336550"/>
                    </a:cubicBezTo>
                    <a:cubicBezTo>
                      <a:pt x="279400" y="336550"/>
                      <a:pt x="279400" y="336550"/>
                      <a:pt x="176602" y="336550"/>
                    </a:cubicBezTo>
                    <a:cubicBezTo>
                      <a:pt x="176602" y="336550"/>
                      <a:pt x="176602" y="336550"/>
                      <a:pt x="158151" y="245101"/>
                    </a:cubicBezTo>
                    <a:cubicBezTo>
                      <a:pt x="158151" y="242450"/>
                      <a:pt x="154197" y="239800"/>
                      <a:pt x="151562" y="239800"/>
                    </a:cubicBezTo>
                    <a:cubicBezTo>
                      <a:pt x="151562" y="239800"/>
                      <a:pt x="151562" y="239800"/>
                      <a:pt x="167377" y="213293"/>
                    </a:cubicBezTo>
                    <a:cubicBezTo>
                      <a:pt x="167377" y="211967"/>
                      <a:pt x="167377" y="210642"/>
                      <a:pt x="167377" y="209317"/>
                    </a:cubicBezTo>
                    <a:cubicBezTo>
                      <a:pt x="166059" y="207991"/>
                      <a:pt x="164741" y="207991"/>
                      <a:pt x="163423" y="207991"/>
                    </a:cubicBezTo>
                    <a:cubicBezTo>
                      <a:pt x="163423" y="207991"/>
                      <a:pt x="163423" y="207991"/>
                      <a:pt x="121249" y="207991"/>
                    </a:cubicBezTo>
                    <a:cubicBezTo>
                      <a:pt x="119931" y="207991"/>
                      <a:pt x="118613" y="207991"/>
                      <a:pt x="118613" y="209317"/>
                    </a:cubicBezTo>
                    <a:cubicBezTo>
                      <a:pt x="117296" y="210642"/>
                      <a:pt x="117296" y="211967"/>
                      <a:pt x="118613" y="213293"/>
                    </a:cubicBezTo>
                    <a:cubicBezTo>
                      <a:pt x="118613" y="213293"/>
                      <a:pt x="118613" y="213293"/>
                      <a:pt x="134429" y="239800"/>
                    </a:cubicBezTo>
                    <a:cubicBezTo>
                      <a:pt x="130475" y="239800"/>
                      <a:pt x="127839" y="242450"/>
                      <a:pt x="126521" y="245101"/>
                    </a:cubicBezTo>
                    <a:cubicBezTo>
                      <a:pt x="126521" y="245101"/>
                      <a:pt x="126521" y="245101"/>
                      <a:pt x="110706" y="336550"/>
                    </a:cubicBezTo>
                    <a:cubicBezTo>
                      <a:pt x="110706" y="336550"/>
                      <a:pt x="110706" y="336550"/>
                      <a:pt x="0" y="336550"/>
                    </a:cubicBezTo>
                    <a:cubicBezTo>
                      <a:pt x="0" y="336550"/>
                      <a:pt x="0" y="336550"/>
                      <a:pt x="0" y="247752"/>
                    </a:cubicBezTo>
                    <a:cubicBezTo>
                      <a:pt x="0" y="217269"/>
                      <a:pt x="25040" y="192087"/>
                      <a:pt x="56671" y="192087"/>
                    </a:cubicBezTo>
                    <a:close/>
                    <a:moveTo>
                      <a:pt x="138907" y="0"/>
                    </a:moveTo>
                    <a:cubicBezTo>
                      <a:pt x="183183" y="0"/>
                      <a:pt x="219076" y="35893"/>
                      <a:pt x="219076" y="80169"/>
                    </a:cubicBezTo>
                    <a:cubicBezTo>
                      <a:pt x="219076" y="124445"/>
                      <a:pt x="183183" y="160338"/>
                      <a:pt x="138907" y="160338"/>
                    </a:cubicBezTo>
                    <a:cubicBezTo>
                      <a:pt x="94631" y="160338"/>
                      <a:pt x="58738" y="124445"/>
                      <a:pt x="58738" y="80169"/>
                    </a:cubicBezTo>
                    <a:cubicBezTo>
                      <a:pt x="58738" y="35893"/>
                      <a:pt x="94631" y="0"/>
                      <a:pt x="138907"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3" name="文本框 22"/>
            <p:cNvSpPr txBox="1"/>
            <p:nvPr/>
          </p:nvSpPr>
          <p:spPr>
            <a:xfrm>
              <a:off x="4925563" y="4732803"/>
              <a:ext cx="1392673" cy="253058"/>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汇报人：周嘉伟</a:t>
              </a:r>
            </a:p>
          </p:txBody>
        </p:sp>
      </p:grpSp>
      <p:grpSp>
        <p:nvGrpSpPr>
          <p:cNvPr id="16" name="组合 15"/>
          <p:cNvGrpSpPr/>
          <p:nvPr/>
        </p:nvGrpSpPr>
        <p:grpSpPr>
          <a:xfrm>
            <a:off x="9022660" y="4735646"/>
            <a:ext cx="2698615" cy="370765"/>
            <a:chOff x="6395842" y="4718860"/>
            <a:chExt cx="2016134" cy="276971"/>
          </a:xfrm>
        </p:grpSpPr>
        <p:grpSp>
          <p:nvGrpSpPr>
            <p:cNvPr id="17" name="组合 16"/>
            <p:cNvGrpSpPr/>
            <p:nvPr/>
          </p:nvGrpSpPr>
          <p:grpSpPr>
            <a:xfrm>
              <a:off x="6395842" y="4718860"/>
              <a:ext cx="276971" cy="276971"/>
              <a:chOff x="6392770" y="4930504"/>
              <a:chExt cx="531780" cy="531780"/>
            </a:xfrm>
          </p:grpSpPr>
          <p:sp>
            <p:nvSpPr>
              <p:cNvPr id="19" name="圆角矩形 2"/>
              <p:cNvSpPr/>
              <p:nvPr/>
            </p:nvSpPr>
            <p:spPr>
              <a:xfrm>
                <a:off x="6392770"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student-graduation-cap-shape_52041"/>
              <p:cNvSpPr>
                <a:spLocks noChangeAspect="1"/>
              </p:cNvSpPr>
              <p:nvPr/>
            </p:nvSpPr>
            <p:spPr bwMode="auto">
              <a:xfrm>
                <a:off x="6527005" y="5064598"/>
                <a:ext cx="256066" cy="264808"/>
              </a:xfrm>
              <a:custGeom>
                <a:avLst/>
                <a:gdLst>
                  <a:gd name="connsiteX0" fmla="*/ 233363 w 325438"/>
                  <a:gd name="connsiteY0" fmla="*/ 249238 h 336550"/>
                  <a:gd name="connsiteX1" fmla="*/ 279401 w 325438"/>
                  <a:gd name="connsiteY1" fmla="*/ 249238 h 336550"/>
                  <a:gd name="connsiteX2" fmla="*/ 279401 w 325438"/>
                  <a:gd name="connsiteY2" fmla="*/ 290513 h 336550"/>
                  <a:gd name="connsiteX3" fmla="*/ 233363 w 325438"/>
                  <a:gd name="connsiteY3" fmla="*/ 290513 h 336550"/>
                  <a:gd name="connsiteX4" fmla="*/ 171450 w 325438"/>
                  <a:gd name="connsiteY4" fmla="*/ 249238 h 336550"/>
                  <a:gd name="connsiteX5" fmla="*/ 217488 w 325438"/>
                  <a:gd name="connsiteY5" fmla="*/ 249238 h 336550"/>
                  <a:gd name="connsiteX6" fmla="*/ 217488 w 325438"/>
                  <a:gd name="connsiteY6" fmla="*/ 290513 h 336550"/>
                  <a:gd name="connsiteX7" fmla="*/ 171450 w 325438"/>
                  <a:gd name="connsiteY7" fmla="*/ 290513 h 336550"/>
                  <a:gd name="connsiteX8" fmla="*/ 107950 w 325438"/>
                  <a:gd name="connsiteY8" fmla="*/ 249238 h 336550"/>
                  <a:gd name="connsiteX9" fmla="*/ 155575 w 325438"/>
                  <a:gd name="connsiteY9" fmla="*/ 249238 h 336550"/>
                  <a:gd name="connsiteX10" fmla="*/ 155575 w 325438"/>
                  <a:gd name="connsiteY10" fmla="*/ 290513 h 336550"/>
                  <a:gd name="connsiteX11" fmla="*/ 107950 w 325438"/>
                  <a:gd name="connsiteY11" fmla="*/ 290513 h 336550"/>
                  <a:gd name="connsiteX12" fmla="*/ 46038 w 325438"/>
                  <a:gd name="connsiteY12" fmla="*/ 249238 h 336550"/>
                  <a:gd name="connsiteX13" fmla="*/ 93663 w 325438"/>
                  <a:gd name="connsiteY13" fmla="*/ 249238 h 336550"/>
                  <a:gd name="connsiteX14" fmla="*/ 93663 w 325438"/>
                  <a:gd name="connsiteY14" fmla="*/ 290513 h 336550"/>
                  <a:gd name="connsiteX15" fmla="*/ 46038 w 325438"/>
                  <a:gd name="connsiteY15" fmla="*/ 290513 h 336550"/>
                  <a:gd name="connsiteX16" fmla="*/ 233363 w 325438"/>
                  <a:gd name="connsiteY16" fmla="*/ 195263 h 336550"/>
                  <a:gd name="connsiteX17" fmla="*/ 279401 w 325438"/>
                  <a:gd name="connsiteY17" fmla="*/ 195263 h 336550"/>
                  <a:gd name="connsiteX18" fmla="*/ 279401 w 325438"/>
                  <a:gd name="connsiteY18" fmla="*/ 234951 h 336550"/>
                  <a:gd name="connsiteX19" fmla="*/ 233363 w 325438"/>
                  <a:gd name="connsiteY19" fmla="*/ 234951 h 336550"/>
                  <a:gd name="connsiteX20" fmla="*/ 171450 w 325438"/>
                  <a:gd name="connsiteY20" fmla="*/ 195263 h 336550"/>
                  <a:gd name="connsiteX21" fmla="*/ 217488 w 325438"/>
                  <a:gd name="connsiteY21" fmla="*/ 195263 h 336550"/>
                  <a:gd name="connsiteX22" fmla="*/ 217488 w 325438"/>
                  <a:gd name="connsiteY22" fmla="*/ 234951 h 336550"/>
                  <a:gd name="connsiteX23" fmla="*/ 171450 w 325438"/>
                  <a:gd name="connsiteY23" fmla="*/ 234951 h 336550"/>
                  <a:gd name="connsiteX24" fmla="*/ 107950 w 325438"/>
                  <a:gd name="connsiteY24" fmla="*/ 195263 h 336550"/>
                  <a:gd name="connsiteX25" fmla="*/ 155575 w 325438"/>
                  <a:gd name="connsiteY25" fmla="*/ 195263 h 336550"/>
                  <a:gd name="connsiteX26" fmla="*/ 155575 w 325438"/>
                  <a:gd name="connsiteY26" fmla="*/ 234951 h 336550"/>
                  <a:gd name="connsiteX27" fmla="*/ 107950 w 325438"/>
                  <a:gd name="connsiteY27" fmla="*/ 234951 h 336550"/>
                  <a:gd name="connsiteX28" fmla="*/ 46038 w 325438"/>
                  <a:gd name="connsiteY28" fmla="*/ 195263 h 336550"/>
                  <a:gd name="connsiteX29" fmla="*/ 93663 w 325438"/>
                  <a:gd name="connsiteY29" fmla="*/ 195263 h 336550"/>
                  <a:gd name="connsiteX30" fmla="*/ 93663 w 325438"/>
                  <a:gd name="connsiteY30" fmla="*/ 234951 h 336550"/>
                  <a:gd name="connsiteX31" fmla="*/ 46038 w 325438"/>
                  <a:gd name="connsiteY31" fmla="*/ 234951 h 336550"/>
                  <a:gd name="connsiteX32" fmla="*/ 233363 w 325438"/>
                  <a:gd name="connsiteY32" fmla="*/ 139700 h 336550"/>
                  <a:gd name="connsiteX33" fmla="*/ 279401 w 325438"/>
                  <a:gd name="connsiteY33" fmla="*/ 139700 h 336550"/>
                  <a:gd name="connsiteX34" fmla="*/ 279401 w 325438"/>
                  <a:gd name="connsiteY34" fmla="*/ 180975 h 336550"/>
                  <a:gd name="connsiteX35" fmla="*/ 233363 w 325438"/>
                  <a:gd name="connsiteY35" fmla="*/ 180975 h 336550"/>
                  <a:gd name="connsiteX36" fmla="*/ 171450 w 325438"/>
                  <a:gd name="connsiteY36" fmla="*/ 139700 h 336550"/>
                  <a:gd name="connsiteX37" fmla="*/ 217488 w 325438"/>
                  <a:gd name="connsiteY37" fmla="*/ 139700 h 336550"/>
                  <a:gd name="connsiteX38" fmla="*/ 217488 w 325438"/>
                  <a:gd name="connsiteY38" fmla="*/ 180975 h 336550"/>
                  <a:gd name="connsiteX39" fmla="*/ 171450 w 325438"/>
                  <a:gd name="connsiteY39" fmla="*/ 180975 h 336550"/>
                  <a:gd name="connsiteX40" fmla="*/ 107950 w 325438"/>
                  <a:gd name="connsiteY40" fmla="*/ 139700 h 336550"/>
                  <a:gd name="connsiteX41" fmla="*/ 155575 w 325438"/>
                  <a:gd name="connsiteY41" fmla="*/ 139700 h 336550"/>
                  <a:gd name="connsiteX42" fmla="*/ 155575 w 325438"/>
                  <a:gd name="connsiteY42" fmla="*/ 180975 h 336550"/>
                  <a:gd name="connsiteX43" fmla="*/ 107950 w 325438"/>
                  <a:gd name="connsiteY43" fmla="*/ 180975 h 336550"/>
                  <a:gd name="connsiteX44" fmla="*/ 49167 w 325438"/>
                  <a:gd name="connsiteY44" fmla="*/ 38100 h 336550"/>
                  <a:gd name="connsiteX45" fmla="*/ 25400 w 325438"/>
                  <a:gd name="connsiteY45" fmla="*/ 61753 h 336550"/>
                  <a:gd name="connsiteX46" fmla="*/ 25400 w 325438"/>
                  <a:gd name="connsiteY46" fmla="*/ 289085 h 336550"/>
                  <a:gd name="connsiteX47" fmla="*/ 49167 w 325438"/>
                  <a:gd name="connsiteY47" fmla="*/ 312738 h 336550"/>
                  <a:gd name="connsiteX48" fmla="*/ 276271 w 325438"/>
                  <a:gd name="connsiteY48" fmla="*/ 312738 h 336550"/>
                  <a:gd name="connsiteX49" fmla="*/ 300038 w 325438"/>
                  <a:gd name="connsiteY49" fmla="*/ 289085 h 336550"/>
                  <a:gd name="connsiteX50" fmla="*/ 300038 w 325438"/>
                  <a:gd name="connsiteY50" fmla="*/ 61753 h 336550"/>
                  <a:gd name="connsiteX51" fmla="*/ 276271 w 325438"/>
                  <a:gd name="connsiteY51" fmla="*/ 38100 h 336550"/>
                  <a:gd name="connsiteX52" fmla="*/ 269669 w 325438"/>
                  <a:gd name="connsiteY52" fmla="*/ 38100 h 336550"/>
                  <a:gd name="connsiteX53" fmla="*/ 269669 w 325438"/>
                  <a:gd name="connsiteY53" fmla="*/ 63067 h 336550"/>
                  <a:gd name="connsiteX54" fmla="*/ 276271 w 325438"/>
                  <a:gd name="connsiteY54" fmla="*/ 74894 h 336550"/>
                  <a:gd name="connsiteX55" fmla="*/ 260427 w 325438"/>
                  <a:gd name="connsiteY55" fmla="*/ 90662 h 336550"/>
                  <a:gd name="connsiteX56" fmla="*/ 244582 w 325438"/>
                  <a:gd name="connsiteY56" fmla="*/ 74894 h 336550"/>
                  <a:gd name="connsiteX57" fmla="*/ 249864 w 325438"/>
                  <a:gd name="connsiteY57" fmla="*/ 63067 h 336550"/>
                  <a:gd name="connsiteX58" fmla="*/ 249864 w 325438"/>
                  <a:gd name="connsiteY58" fmla="*/ 38100 h 336550"/>
                  <a:gd name="connsiteX59" fmla="*/ 231379 w 325438"/>
                  <a:gd name="connsiteY59" fmla="*/ 38100 h 336550"/>
                  <a:gd name="connsiteX60" fmla="*/ 231379 w 325438"/>
                  <a:gd name="connsiteY60" fmla="*/ 63067 h 336550"/>
                  <a:gd name="connsiteX61" fmla="*/ 236660 w 325438"/>
                  <a:gd name="connsiteY61" fmla="*/ 74894 h 336550"/>
                  <a:gd name="connsiteX62" fmla="*/ 220816 w 325438"/>
                  <a:gd name="connsiteY62" fmla="*/ 90662 h 336550"/>
                  <a:gd name="connsiteX63" fmla="*/ 204971 w 325438"/>
                  <a:gd name="connsiteY63" fmla="*/ 74894 h 336550"/>
                  <a:gd name="connsiteX64" fmla="*/ 210253 w 325438"/>
                  <a:gd name="connsiteY64" fmla="*/ 63067 h 336550"/>
                  <a:gd name="connsiteX65" fmla="*/ 210253 w 325438"/>
                  <a:gd name="connsiteY65" fmla="*/ 38100 h 336550"/>
                  <a:gd name="connsiteX66" fmla="*/ 191767 w 325438"/>
                  <a:gd name="connsiteY66" fmla="*/ 38100 h 336550"/>
                  <a:gd name="connsiteX67" fmla="*/ 191767 w 325438"/>
                  <a:gd name="connsiteY67" fmla="*/ 63067 h 336550"/>
                  <a:gd name="connsiteX68" fmla="*/ 198369 w 325438"/>
                  <a:gd name="connsiteY68" fmla="*/ 74894 h 336550"/>
                  <a:gd name="connsiteX69" fmla="*/ 182525 w 325438"/>
                  <a:gd name="connsiteY69" fmla="*/ 90662 h 336550"/>
                  <a:gd name="connsiteX70" fmla="*/ 166680 w 325438"/>
                  <a:gd name="connsiteY70" fmla="*/ 74894 h 336550"/>
                  <a:gd name="connsiteX71" fmla="*/ 171962 w 325438"/>
                  <a:gd name="connsiteY71" fmla="*/ 63067 h 336550"/>
                  <a:gd name="connsiteX72" fmla="*/ 171962 w 325438"/>
                  <a:gd name="connsiteY72" fmla="*/ 38100 h 336550"/>
                  <a:gd name="connsiteX73" fmla="*/ 153476 w 325438"/>
                  <a:gd name="connsiteY73" fmla="*/ 38100 h 336550"/>
                  <a:gd name="connsiteX74" fmla="*/ 153476 w 325438"/>
                  <a:gd name="connsiteY74" fmla="*/ 63067 h 336550"/>
                  <a:gd name="connsiteX75" fmla="*/ 158758 w 325438"/>
                  <a:gd name="connsiteY75" fmla="*/ 74894 h 336550"/>
                  <a:gd name="connsiteX76" fmla="*/ 142913 w 325438"/>
                  <a:gd name="connsiteY76" fmla="*/ 90662 h 336550"/>
                  <a:gd name="connsiteX77" fmla="*/ 127069 w 325438"/>
                  <a:gd name="connsiteY77" fmla="*/ 74894 h 336550"/>
                  <a:gd name="connsiteX78" fmla="*/ 133671 w 325438"/>
                  <a:gd name="connsiteY78" fmla="*/ 63067 h 336550"/>
                  <a:gd name="connsiteX79" fmla="*/ 133671 w 325438"/>
                  <a:gd name="connsiteY79" fmla="*/ 38100 h 336550"/>
                  <a:gd name="connsiteX80" fmla="*/ 115186 w 325438"/>
                  <a:gd name="connsiteY80" fmla="*/ 38100 h 336550"/>
                  <a:gd name="connsiteX81" fmla="*/ 115186 w 325438"/>
                  <a:gd name="connsiteY81" fmla="*/ 63067 h 336550"/>
                  <a:gd name="connsiteX82" fmla="*/ 120467 w 325438"/>
                  <a:gd name="connsiteY82" fmla="*/ 74894 h 336550"/>
                  <a:gd name="connsiteX83" fmla="*/ 104623 w 325438"/>
                  <a:gd name="connsiteY83" fmla="*/ 90662 h 336550"/>
                  <a:gd name="connsiteX84" fmla="*/ 88778 w 325438"/>
                  <a:gd name="connsiteY84" fmla="*/ 74894 h 336550"/>
                  <a:gd name="connsiteX85" fmla="*/ 94060 w 325438"/>
                  <a:gd name="connsiteY85" fmla="*/ 63067 h 336550"/>
                  <a:gd name="connsiteX86" fmla="*/ 94060 w 325438"/>
                  <a:gd name="connsiteY86" fmla="*/ 38100 h 336550"/>
                  <a:gd name="connsiteX87" fmla="*/ 75574 w 325438"/>
                  <a:gd name="connsiteY87" fmla="*/ 38100 h 336550"/>
                  <a:gd name="connsiteX88" fmla="*/ 75574 w 325438"/>
                  <a:gd name="connsiteY88" fmla="*/ 63067 h 336550"/>
                  <a:gd name="connsiteX89" fmla="*/ 80856 w 325438"/>
                  <a:gd name="connsiteY89" fmla="*/ 74894 h 336550"/>
                  <a:gd name="connsiteX90" fmla="*/ 65011 w 325438"/>
                  <a:gd name="connsiteY90" fmla="*/ 90662 h 336550"/>
                  <a:gd name="connsiteX91" fmla="*/ 49167 w 325438"/>
                  <a:gd name="connsiteY91" fmla="*/ 74894 h 336550"/>
                  <a:gd name="connsiteX92" fmla="*/ 55769 w 325438"/>
                  <a:gd name="connsiteY92" fmla="*/ 63067 h 336550"/>
                  <a:gd name="connsiteX93" fmla="*/ 55769 w 325438"/>
                  <a:gd name="connsiteY93" fmla="*/ 38100 h 336550"/>
                  <a:gd name="connsiteX94" fmla="*/ 49167 w 325438"/>
                  <a:gd name="connsiteY94" fmla="*/ 38100 h 336550"/>
                  <a:gd name="connsiteX95" fmla="*/ 65315 w 325438"/>
                  <a:gd name="connsiteY95" fmla="*/ 4763 h 336550"/>
                  <a:gd name="connsiteX96" fmla="*/ 61913 w 325438"/>
                  <a:gd name="connsiteY96" fmla="*/ 10110 h 336550"/>
                  <a:gd name="connsiteX97" fmla="*/ 61913 w 325438"/>
                  <a:gd name="connsiteY97" fmla="*/ 75616 h 336550"/>
                  <a:gd name="connsiteX98" fmla="*/ 65315 w 325438"/>
                  <a:gd name="connsiteY98" fmla="*/ 80963 h 336550"/>
                  <a:gd name="connsiteX99" fmla="*/ 69851 w 325438"/>
                  <a:gd name="connsiteY99" fmla="*/ 75616 h 336550"/>
                  <a:gd name="connsiteX100" fmla="*/ 69851 w 325438"/>
                  <a:gd name="connsiteY100" fmla="*/ 10110 h 336550"/>
                  <a:gd name="connsiteX101" fmla="*/ 65315 w 325438"/>
                  <a:gd name="connsiteY101" fmla="*/ 4763 h 336550"/>
                  <a:gd name="connsiteX102" fmla="*/ 104776 w 325438"/>
                  <a:gd name="connsiteY102" fmla="*/ 4763 h 336550"/>
                  <a:gd name="connsiteX103" fmla="*/ 100013 w 325438"/>
                  <a:gd name="connsiteY103" fmla="*/ 10110 h 336550"/>
                  <a:gd name="connsiteX104" fmla="*/ 100013 w 325438"/>
                  <a:gd name="connsiteY104" fmla="*/ 75616 h 336550"/>
                  <a:gd name="connsiteX105" fmla="*/ 104776 w 325438"/>
                  <a:gd name="connsiteY105" fmla="*/ 80963 h 336550"/>
                  <a:gd name="connsiteX106" fmla="*/ 109538 w 325438"/>
                  <a:gd name="connsiteY106" fmla="*/ 75616 h 336550"/>
                  <a:gd name="connsiteX107" fmla="*/ 109538 w 325438"/>
                  <a:gd name="connsiteY107" fmla="*/ 10110 h 336550"/>
                  <a:gd name="connsiteX108" fmla="*/ 104776 w 325438"/>
                  <a:gd name="connsiteY108" fmla="*/ 4763 h 336550"/>
                  <a:gd name="connsiteX109" fmla="*/ 142876 w 325438"/>
                  <a:gd name="connsiteY109" fmla="*/ 4763 h 336550"/>
                  <a:gd name="connsiteX110" fmla="*/ 138113 w 325438"/>
                  <a:gd name="connsiteY110" fmla="*/ 10110 h 336550"/>
                  <a:gd name="connsiteX111" fmla="*/ 138113 w 325438"/>
                  <a:gd name="connsiteY111" fmla="*/ 75616 h 336550"/>
                  <a:gd name="connsiteX112" fmla="*/ 142876 w 325438"/>
                  <a:gd name="connsiteY112" fmla="*/ 80963 h 336550"/>
                  <a:gd name="connsiteX113" fmla="*/ 147638 w 325438"/>
                  <a:gd name="connsiteY113" fmla="*/ 75616 h 336550"/>
                  <a:gd name="connsiteX114" fmla="*/ 147638 w 325438"/>
                  <a:gd name="connsiteY114" fmla="*/ 10110 h 336550"/>
                  <a:gd name="connsiteX115" fmla="*/ 142876 w 325438"/>
                  <a:gd name="connsiteY115" fmla="*/ 4763 h 336550"/>
                  <a:gd name="connsiteX116" fmla="*/ 182563 w 325438"/>
                  <a:gd name="connsiteY116" fmla="*/ 4763 h 336550"/>
                  <a:gd name="connsiteX117" fmla="*/ 177800 w 325438"/>
                  <a:gd name="connsiteY117" fmla="*/ 10110 h 336550"/>
                  <a:gd name="connsiteX118" fmla="*/ 177800 w 325438"/>
                  <a:gd name="connsiteY118" fmla="*/ 75616 h 336550"/>
                  <a:gd name="connsiteX119" fmla="*/ 182563 w 325438"/>
                  <a:gd name="connsiteY119" fmla="*/ 80963 h 336550"/>
                  <a:gd name="connsiteX120" fmla="*/ 187325 w 325438"/>
                  <a:gd name="connsiteY120" fmla="*/ 75616 h 336550"/>
                  <a:gd name="connsiteX121" fmla="*/ 187325 w 325438"/>
                  <a:gd name="connsiteY121" fmla="*/ 10110 h 336550"/>
                  <a:gd name="connsiteX122" fmla="*/ 182563 w 325438"/>
                  <a:gd name="connsiteY122" fmla="*/ 4763 h 336550"/>
                  <a:gd name="connsiteX123" fmla="*/ 220663 w 325438"/>
                  <a:gd name="connsiteY123" fmla="*/ 4763 h 336550"/>
                  <a:gd name="connsiteX124" fmla="*/ 215900 w 325438"/>
                  <a:gd name="connsiteY124" fmla="*/ 10110 h 336550"/>
                  <a:gd name="connsiteX125" fmla="*/ 215900 w 325438"/>
                  <a:gd name="connsiteY125" fmla="*/ 75616 h 336550"/>
                  <a:gd name="connsiteX126" fmla="*/ 220663 w 325438"/>
                  <a:gd name="connsiteY126" fmla="*/ 80963 h 336550"/>
                  <a:gd name="connsiteX127" fmla="*/ 225425 w 325438"/>
                  <a:gd name="connsiteY127" fmla="*/ 75616 h 336550"/>
                  <a:gd name="connsiteX128" fmla="*/ 225425 w 325438"/>
                  <a:gd name="connsiteY128" fmla="*/ 10110 h 336550"/>
                  <a:gd name="connsiteX129" fmla="*/ 220663 w 325438"/>
                  <a:gd name="connsiteY129" fmla="*/ 4763 h 336550"/>
                  <a:gd name="connsiteX130" fmla="*/ 260124 w 325438"/>
                  <a:gd name="connsiteY130" fmla="*/ 4763 h 336550"/>
                  <a:gd name="connsiteX131" fmla="*/ 255588 w 325438"/>
                  <a:gd name="connsiteY131" fmla="*/ 10110 h 336550"/>
                  <a:gd name="connsiteX132" fmla="*/ 255588 w 325438"/>
                  <a:gd name="connsiteY132" fmla="*/ 75616 h 336550"/>
                  <a:gd name="connsiteX133" fmla="*/ 260124 w 325438"/>
                  <a:gd name="connsiteY133" fmla="*/ 80963 h 336550"/>
                  <a:gd name="connsiteX134" fmla="*/ 263526 w 325438"/>
                  <a:gd name="connsiteY134" fmla="*/ 75616 h 336550"/>
                  <a:gd name="connsiteX135" fmla="*/ 263526 w 325438"/>
                  <a:gd name="connsiteY135" fmla="*/ 10110 h 336550"/>
                  <a:gd name="connsiteX136" fmla="*/ 260124 w 325438"/>
                  <a:gd name="connsiteY136" fmla="*/ 4763 h 336550"/>
                  <a:gd name="connsiteX137" fmla="*/ 64823 w 325438"/>
                  <a:gd name="connsiteY137" fmla="*/ 0 h 336550"/>
                  <a:gd name="connsiteX138" fmla="*/ 75406 w 325438"/>
                  <a:gd name="connsiteY138" fmla="*/ 10517 h 336550"/>
                  <a:gd name="connsiteX139" fmla="*/ 75406 w 325438"/>
                  <a:gd name="connsiteY139" fmla="*/ 14461 h 336550"/>
                  <a:gd name="connsiteX140" fmla="*/ 93927 w 325438"/>
                  <a:gd name="connsiteY140" fmla="*/ 14461 h 336550"/>
                  <a:gd name="connsiteX141" fmla="*/ 93927 w 325438"/>
                  <a:gd name="connsiteY141" fmla="*/ 10517 h 336550"/>
                  <a:gd name="connsiteX142" fmla="*/ 104511 w 325438"/>
                  <a:gd name="connsiteY142" fmla="*/ 0 h 336550"/>
                  <a:gd name="connsiteX143" fmla="*/ 115094 w 325438"/>
                  <a:gd name="connsiteY143" fmla="*/ 10517 h 336550"/>
                  <a:gd name="connsiteX144" fmla="*/ 115094 w 325438"/>
                  <a:gd name="connsiteY144" fmla="*/ 14461 h 336550"/>
                  <a:gd name="connsiteX145" fmla="*/ 133615 w 325438"/>
                  <a:gd name="connsiteY145" fmla="*/ 14461 h 336550"/>
                  <a:gd name="connsiteX146" fmla="*/ 133615 w 325438"/>
                  <a:gd name="connsiteY146" fmla="*/ 10517 h 336550"/>
                  <a:gd name="connsiteX147" fmla="*/ 142875 w 325438"/>
                  <a:gd name="connsiteY147" fmla="*/ 0 h 336550"/>
                  <a:gd name="connsiteX148" fmla="*/ 153459 w 325438"/>
                  <a:gd name="connsiteY148" fmla="*/ 10517 h 336550"/>
                  <a:gd name="connsiteX149" fmla="*/ 153459 w 325438"/>
                  <a:gd name="connsiteY149" fmla="*/ 14461 h 336550"/>
                  <a:gd name="connsiteX150" fmla="*/ 171980 w 325438"/>
                  <a:gd name="connsiteY150" fmla="*/ 14461 h 336550"/>
                  <a:gd name="connsiteX151" fmla="*/ 171980 w 325438"/>
                  <a:gd name="connsiteY151" fmla="*/ 10517 h 336550"/>
                  <a:gd name="connsiteX152" fmla="*/ 182563 w 325438"/>
                  <a:gd name="connsiteY152" fmla="*/ 0 h 336550"/>
                  <a:gd name="connsiteX153" fmla="*/ 191823 w 325438"/>
                  <a:gd name="connsiteY153" fmla="*/ 10517 h 336550"/>
                  <a:gd name="connsiteX154" fmla="*/ 191823 w 325438"/>
                  <a:gd name="connsiteY154" fmla="*/ 14461 h 336550"/>
                  <a:gd name="connsiteX155" fmla="*/ 210344 w 325438"/>
                  <a:gd name="connsiteY155" fmla="*/ 14461 h 336550"/>
                  <a:gd name="connsiteX156" fmla="*/ 210344 w 325438"/>
                  <a:gd name="connsiteY156" fmla="*/ 10517 h 336550"/>
                  <a:gd name="connsiteX157" fmla="*/ 220927 w 325438"/>
                  <a:gd name="connsiteY157" fmla="*/ 0 h 336550"/>
                  <a:gd name="connsiteX158" fmla="*/ 231511 w 325438"/>
                  <a:gd name="connsiteY158" fmla="*/ 10517 h 336550"/>
                  <a:gd name="connsiteX159" fmla="*/ 231511 w 325438"/>
                  <a:gd name="connsiteY159" fmla="*/ 14461 h 336550"/>
                  <a:gd name="connsiteX160" fmla="*/ 250032 w 325438"/>
                  <a:gd name="connsiteY160" fmla="*/ 14461 h 336550"/>
                  <a:gd name="connsiteX161" fmla="*/ 250032 w 325438"/>
                  <a:gd name="connsiteY161" fmla="*/ 10517 h 336550"/>
                  <a:gd name="connsiteX162" fmla="*/ 260615 w 325438"/>
                  <a:gd name="connsiteY162" fmla="*/ 0 h 336550"/>
                  <a:gd name="connsiteX163" fmla="*/ 269875 w 325438"/>
                  <a:gd name="connsiteY163" fmla="*/ 10517 h 336550"/>
                  <a:gd name="connsiteX164" fmla="*/ 269875 w 325438"/>
                  <a:gd name="connsiteY164" fmla="*/ 14461 h 336550"/>
                  <a:gd name="connsiteX165" fmla="*/ 276490 w 325438"/>
                  <a:gd name="connsiteY165" fmla="*/ 14461 h 336550"/>
                  <a:gd name="connsiteX166" fmla="*/ 325438 w 325438"/>
                  <a:gd name="connsiteY166" fmla="*/ 61789 h 336550"/>
                  <a:gd name="connsiteX167" fmla="*/ 325438 w 325438"/>
                  <a:gd name="connsiteY167" fmla="*/ 289223 h 336550"/>
                  <a:gd name="connsiteX168" fmla="*/ 276490 w 325438"/>
                  <a:gd name="connsiteY168" fmla="*/ 336550 h 336550"/>
                  <a:gd name="connsiteX169" fmla="*/ 48948 w 325438"/>
                  <a:gd name="connsiteY169" fmla="*/ 336550 h 336550"/>
                  <a:gd name="connsiteX170" fmla="*/ 0 w 325438"/>
                  <a:gd name="connsiteY170" fmla="*/ 289223 h 336550"/>
                  <a:gd name="connsiteX171" fmla="*/ 0 w 325438"/>
                  <a:gd name="connsiteY171" fmla="*/ 61789 h 336550"/>
                  <a:gd name="connsiteX172" fmla="*/ 48948 w 325438"/>
                  <a:gd name="connsiteY172" fmla="*/ 14461 h 336550"/>
                  <a:gd name="connsiteX173" fmla="*/ 55563 w 325438"/>
                  <a:gd name="connsiteY173" fmla="*/ 14461 h 336550"/>
                  <a:gd name="connsiteX174" fmla="*/ 55563 w 325438"/>
                  <a:gd name="connsiteY174" fmla="*/ 10517 h 336550"/>
                  <a:gd name="connsiteX175" fmla="*/ 64823 w 325438"/>
                  <a:gd name="connsiteY17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25438" h="336550">
                    <a:moveTo>
                      <a:pt x="233363" y="249238"/>
                    </a:moveTo>
                    <a:lnTo>
                      <a:pt x="279401" y="249238"/>
                    </a:lnTo>
                    <a:lnTo>
                      <a:pt x="279401" y="290513"/>
                    </a:lnTo>
                    <a:lnTo>
                      <a:pt x="233363" y="290513"/>
                    </a:lnTo>
                    <a:close/>
                    <a:moveTo>
                      <a:pt x="171450" y="249238"/>
                    </a:moveTo>
                    <a:lnTo>
                      <a:pt x="217488" y="249238"/>
                    </a:lnTo>
                    <a:lnTo>
                      <a:pt x="217488" y="290513"/>
                    </a:lnTo>
                    <a:lnTo>
                      <a:pt x="171450" y="290513"/>
                    </a:lnTo>
                    <a:close/>
                    <a:moveTo>
                      <a:pt x="107950" y="249238"/>
                    </a:moveTo>
                    <a:lnTo>
                      <a:pt x="155575" y="249238"/>
                    </a:lnTo>
                    <a:lnTo>
                      <a:pt x="155575" y="290513"/>
                    </a:lnTo>
                    <a:lnTo>
                      <a:pt x="107950" y="290513"/>
                    </a:lnTo>
                    <a:close/>
                    <a:moveTo>
                      <a:pt x="46038" y="249238"/>
                    </a:moveTo>
                    <a:lnTo>
                      <a:pt x="93663" y="249238"/>
                    </a:lnTo>
                    <a:lnTo>
                      <a:pt x="93663" y="290513"/>
                    </a:lnTo>
                    <a:lnTo>
                      <a:pt x="46038" y="290513"/>
                    </a:lnTo>
                    <a:close/>
                    <a:moveTo>
                      <a:pt x="233363" y="195263"/>
                    </a:moveTo>
                    <a:lnTo>
                      <a:pt x="279401" y="195263"/>
                    </a:lnTo>
                    <a:lnTo>
                      <a:pt x="279401" y="234951"/>
                    </a:lnTo>
                    <a:lnTo>
                      <a:pt x="233363" y="234951"/>
                    </a:lnTo>
                    <a:close/>
                    <a:moveTo>
                      <a:pt x="171450" y="195263"/>
                    </a:moveTo>
                    <a:lnTo>
                      <a:pt x="217488" y="195263"/>
                    </a:lnTo>
                    <a:lnTo>
                      <a:pt x="217488" y="234951"/>
                    </a:lnTo>
                    <a:lnTo>
                      <a:pt x="171450" y="234951"/>
                    </a:lnTo>
                    <a:close/>
                    <a:moveTo>
                      <a:pt x="107950" y="195263"/>
                    </a:moveTo>
                    <a:lnTo>
                      <a:pt x="155575" y="195263"/>
                    </a:lnTo>
                    <a:lnTo>
                      <a:pt x="155575" y="234951"/>
                    </a:lnTo>
                    <a:lnTo>
                      <a:pt x="107950" y="234951"/>
                    </a:lnTo>
                    <a:close/>
                    <a:moveTo>
                      <a:pt x="46038" y="195263"/>
                    </a:moveTo>
                    <a:lnTo>
                      <a:pt x="93663" y="195263"/>
                    </a:lnTo>
                    <a:lnTo>
                      <a:pt x="93663" y="234951"/>
                    </a:lnTo>
                    <a:lnTo>
                      <a:pt x="46038" y="234951"/>
                    </a:lnTo>
                    <a:close/>
                    <a:moveTo>
                      <a:pt x="233363" y="139700"/>
                    </a:moveTo>
                    <a:lnTo>
                      <a:pt x="279401" y="139700"/>
                    </a:lnTo>
                    <a:lnTo>
                      <a:pt x="279401" y="180975"/>
                    </a:lnTo>
                    <a:lnTo>
                      <a:pt x="233363" y="180975"/>
                    </a:lnTo>
                    <a:close/>
                    <a:moveTo>
                      <a:pt x="171450" y="139700"/>
                    </a:moveTo>
                    <a:lnTo>
                      <a:pt x="217488" y="139700"/>
                    </a:lnTo>
                    <a:lnTo>
                      <a:pt x="217488" y="180975"/>
                    </a:lnTo>
                    <a:lnTo>
                      <a:pt x="171450" y="180975"/>
                    </a:lnTo>
                    <a:close/>
                    <a:moveTo>
                      <a:pt x="107950" y="139700"/>
                    </a:moveTo>
                    <a:lnTo>
                      <a:pt x="155575" y="139700"/>
                    </a:lnTo>
                    <a:lnTo>
                      <a:pt x="155575" y="180975"/>
                    </a:lnTo>
                    <a:lnTo>
                      <a:pt x="107950" y="180975"/>
                    </a:lnTo>
                    <a:close/>
                    <a:moveTo>
                      <a:pt x="49167" y="38100"/>
                    </a:moveTo>
                    <a:cubicBezTo>
                      <a:pt x="35963" y="38100"/>
                      <a:pt x="25400" y="48613"/>
                      <a:pt x="25400" y="61753"/>
                    </a:cubicBezTo>
                    <a:cubicBezTo>
                      <a:pt x="25400" y="61753"/>
                      <a:pt x="25400" y="61753"/>
                      <a:pt x="25400" y="289085"/>
                    </a:cubicBezTo>
                    <a:cubicBezTo>
                      <a:pt x="25400" y="302226"/>
                      <a:pt x="35963" y="312738"/>
                      <a:pt x="49167" y="312738"/>
                    </a:cubicBezTo>
                    <a:cubicBezTo>
                      <a:pt x="49167" y="312738"/>
                      <a:pt x="49167" y="312738"/>
                      <a:pt x="276271" y="312738"/>
                    </a:cubicBezTo>
                    <a:cubicBezTo>
                      <a:pt x="289475" y="312738"/>
                      <a:pt x="300038" y="302226"/>
                      <a:pt x="300038" y="289085"/>
                    </a:cubicBezTo>
                    <a:cubicBezTo>
                      <a:pt x="300038" y="289085"/>
                      <a:pt x="300038" y="289085"/>
                      <a:pt x="300038" y="61753"/>
                    </a:cubicBezTo>
                    <a:cubicBezTo>
                      <a:pt x="300038" y="48613"/>
                      <a:pt x="289475" y="38100"/>
                      <a:pt x="276271" y="38100"/>
                    </a:cubicBezTo>
                    <a:cubicBezTo>
                      <a:pt x="276271" y="38100"/>
                      <a:pt x="276271" y="38100"/>
                      <a:pt x="269669" y="38100"/>
                    </a:cubicBezTo>
                    <a:cubicBezTo>
                      <a:pt x="269669" y="38100"/>
                      <a:pt x="269669" y="38100"/>
                      <a:pt x="269669" y="63067"/>
                    </a:cubicBezTo>
                    <a:cubicBezTo>
                      <a:pt x="273631" y="65695"/>
                      <a:pt x="276271" y="70951"/>
                      <a:pt x="276271" y="74894"/>
                    </a:cubicBezTo>
                    <a:cubicBezTo>
                      <a:pt x="276271" y="84092"/>
                      <a:pt x="268349" y="90662"/>
                      <a:pt x="260427" y="90662"/>
                    </a:cubicBezTo>
                    <a:cubicBezTo>
                      <a:pt x="251184" y="90662"/>
                      <a:pt x="244582" y="84092"/>
                      <a:pt x="244582" y="74894"/>
                    </a:cubicBezTo>
                    <a:cubicBezTo>
                      <a:pt x="244582" y="70951"/>
                      <a:pt x="245903" y="65695"/>
                      <a:pt x="249864" y="63067"/>
                    </a:cubicBezTo>
                    <a:cubicBezTo>
                      <a:pt x="249864" y="63067"/>
                      <a:pt x="249864" y="63067"/>
                      <a:pt x="249864" y="38100"/>
                    </a:cubicBezTo>
                    <a:cubicBezTo>
                      <a:pt x="249864" y="38100"/>
                      <a:pt x="249864" y="38100"/>
                      <a:pt x="231379" y="38100"/>
                    </a:cubicBezTo>
                    <a:cubicBezTo>
                      <a:pt x="231379" y="38100"/>
                      <a:pt x="231379" y="38100"/>
                      <a:pt x="231379" y="63067"/>
                    </a:cubicBezTo>
                    <a:cubicBezTo>
                      <a:pt x="234019" y="65695"/>
                      <a:pt x="236660" y="70951"/>
                      <a:pt x="236660" y="74894"/>
                    </a:cubicBezTo>
                    <a:cubicBezTo>
                      <a:pt x="236660" y="84092"/>
                      <a:pt x="230058" y="90662"/>
                      <a:pt x="220816" y="90662"/>
                    </a:cubicBezTo>
                    <a:cubicBezTo>
                      <a:pt x="212893" y="90662"/>
                      <a:pt x="204971" y="84092"/>
                      <a:pt x="204971" y="74894"/>
                    </a:cubicBezTo>
                    <a:cubicBezTo>
                      <a:pt x="204971" y="70951"/>
                      <a:pt x="207612" y="65695"/>
                      <a:pt x="210253" y="63067"/>
                    </a:cubicBezTo>
                    <a:cubicBezTo>
                      <a:pt x="210253" y="63067"/>
                      <a:pt x="210253" y="63067"/>
                      <a:pt x="210253" y="38100"/>
                    </a:cubicBezTo>
                    <a:cubicBezTo>
                      <a:pt x="210253" y="38100"/>
                      <a:pt x="210253" y="38100"/>
                      <a:pt x="191767" y="38100"/>
                    </a:cubicBezTo>
                    <a:cubicBezTo>
                      <a:pt x="191767" y="38100"/>
                      <a:pt x="191767" y="38100"/>
                      <a:pt x="191767" y="63067"/>
                    </a:cubicBezTo>
                    <a:cubicBezTo>
                      <a:pt x="195728" y="65695"/>
                      <a:pt x="198369" y="70951"/>
                      <a:pt x="198369" y="74894"/>
                    </a:cubicBezTo>
                    <a:cubicBezTo>
                      <a:pt x="198369" y="84092"/>
                      <a:pt x="190447" y="90662"/>
                      <a:pt x="182525" y="90662"/>
                    </a:cubicBezTo>
                    <a:cubicBezTo>
                      <a:pt x="173282" y="90662"/>
                      <a:pt x="166680" y="84092"/>
                      <a:pt x="166680" y="74894"/>
                    </a:cubicBezTo>
                    <a:cubicBezTo>
                      <a:pt x="166680" y="70951"/>
                      <a:pt x="168001" y="65695"/>
                      <a:pt x="171962" y="63067"/>
                    </a:cubicBezTo>
                    <a:cubicBezTo>
                      <a:pt x="171962" y="63067"/>
                      <a:pt x="171962" y="63067"/>
                      <a:pt x="171962" y="38100"/>
                    </a:cubicBezTo>
                    <a:cubicBezTo>
                      <a:pt x="171962" y="38100"/>
                      <a:pt x="171962" y="38100"/>
                      <a:pt x="153476" y="38100"/>
                    </a:cubicBezTo>
                    <a:cubicBezTo>
                      <a:pt x="153476" y="38100"/>
                      <a:pt x="153476" y="38100"/>
                      <a:pt x="153476" y="63067"/>
                    </a:cubicBezTo>
                    <a:cubicBezTo>
                      <a:pt x="157438" y="65695"/>
                      <a:pt x="158758" y="70951"/>
                      <a:pt x="158758" y="74894"/>
                    </a:cubicBezTo>
                    <a:cubicBezTo>
                      <a:pt x="158758" y="84092"/>
                      <a:pt x="152156" y="90662"/>
                      <a:pt x="142913" y="90662"/>
                    </a:cubicBezTo>
                    <a:cubicBezTo>
                      <a:pt x="134991" y="90662"/>
                      <a:pt x="127069" y="84092"/>
                      <a:pt x="127069" y="74894"/>
                    </a:cubicBezTo>
                    <a:cubicBezTo>
                      <a:pt x="127069" y="70951"/>
                      <a:pt x="129710" y="65695"/>
                      <a:pt x="133671" y="63067"/>
                    </a:cubicBezTo>
                    <a:cubicBezTo>
                      <a:pt x="133671" y="63067"/>
                      <a:pt x="133671" y="63067"/>
                      <a:pt x="133671" y="38100"/>
                    </a:cubicBezTo>
                    <a:cubicBezTo>
                      <a:pt x="133671" y="38100"/>
                      <a:pt x="133671" y="38100"/>
                      <a:pt x="115186" y="38100"/>
                    </a:cubicBezTo>
                    <a:cubicBezTo>
                      <a:pt x="115186" y="38100"/>
                      <a:pt x="115186" y="38100"/>
                      <a:pt x="115186" y="63067"/>
                    </a:cubicBezTo>
                    <a:cubicBezTo>
                      <a:pt x="117826" y="65695"/>
                      <a:pt x="120467" y="70951"/>
                      <a:pt x="120467" y="74894"/>
                    </a:cubicBezTo>
                    <a:cubicBezTo>
                      <a:pt x="120467" y="84092"/>
                      <a:pt x="112545" y="90662"/>
                      <a:pt x="104623" y="90662"/>
                    </a:cubicBezTo>
                    <a:cubicBezTo>
                      <a:pt x="95380" y="90662"/>
                      <a:pt x="88778" y="84092"/>
                      <a:pt x="88778" y="74894"/>
                    </a:cubicBezTo>
                    <a:cubicBezTo>
                      <a:pt x="88778" y="70951"/>
                      <a:pt x="91419" y="65695"/>
                      <a:pt x="94060" y="63067"/>
                    </a:cubicBezTo>
                    <a:cubicBezTo>
                      <a:pt x="94060" y="63067"/>
                      <a:pt x="94060" y="63067"/>
                      <a:pt x="94060" y="38100"/>
                    </a:cubicBezTo>
                    <a:cubicBezTo>
                      <a:pt x="94060" y="38100"/>
                      <a:pt x="94060" y="38100"/>
                      <a:pt x="75574" y="38100"/>
                    </a:cubicBezTo>
                    <a:cubicBezTo>
                      <a:pt x="75574" y="38100"/>
                      <a:pt x="75574" y="38100"/>
                      <a:pt x="75574" y="63067"/>
                    </a:cubicBezTo>
                    <a:cubicBezTo>
                      <a:pt x="79535" y="65695"/>
                      <a:pt x="80856" y="70951"/>
                      <a:pt x="80856" y="74894"/>
                    </a:cubicBezTo>
                    <a:cubicBezTo>
                      <a:pt x="80856" y="84092"/>
                      <a:pt x="74254" y="90662"/>
                      <a:pt x="65011" y="90662"/>
                    </a:cubicBezTo>
                    <a:cubicBezTo>
                      <a:pt x="57089" y="90662"/>
                      <a:pt x="49167" y="84092"/>
                      <a:pt x="49167" y="74894"/>
                    </a:cubicBezTo>
                    <a:cubicBezTo>
                      <a:pt x="49167" y="70951"/>
                      <a:pt x="51808" y="65695"/>
                      <a:pt x="55769" y="63067"/>
                    </a:cubicBezTo>
                    <a:cubicBezTo>
                      <a:pt x="55769" y="63067"/>
                      <a:pt x="55769" y="63067"/>
                      <a:pt x="55769" y="38100"/>
                    </a:cubicBezTo>
                    <a:cubicBezTo>
                      <a:pt x="55769" y="38100"/>
                      <a:pt x="55769" y="38100"/>
                      <a:pt x="49167" y="38100"/>
                    </a:cubicBezTo>
                    <a:close/>
                    <a:moveTo>
                      <a:pt x="65315" y="4763"/>
                    </a:moveTo>
                    <a:cubicBezTo>
                      <a:pt x="63047" y="4763"/>
                      <a:pt x="61913" y="7437"/>
                      <a:pt x="61913" y="10110"/>
                    </a:cubicBezTo>
                    <a:lnTo>
                      <a:pt x="61913" y="75616"/>
                    </a:lnTo>
                    <a:cubicBezTo>
                      <a:pt x="61913" y="79626"/>
                      <a:pt x="63047" y="80963"/>
                      <a:pt x="65315" y="80963"/>
                    </a:cubicBezTo>
                    <a:cubicBezTo>
                      <a:pt x="68717" y="80963"/>
                      <a:pt x="69851" y="79626"/>
                      <a:pt x="69851" y="75616"/>
                    </a:cubicBezTo>
                    <a:cubicBezTo>
                      <a:pt x="69851" y="75616"/>
                      <a:pt x="69851" y="75616"/>
                      <a:pt x="69851" y="10110"/>
                    </a:cubicBezTo>
                    <a:cubicBezTo>
                      <a:pt x="69851" y="7437"/>
                      <a:pt x="68717" y="4763"/>
                      <a:pt x="65315" y="4763"/>
                    </a:cubicBezTo>
                    <a:close/>
                    <a:moveTo>
                      <a:pt x="104776" y="4763"/>
                    </a:moveTo>
                    <a:cubicBezTo>
                      <a:pt x="102394" y="4763"/>
                      <a:pt x="100013" y="7437"/>
                      <a:pt x="100013" y="10110"/>
                    </a:cubicBezTo>
                    <a:lnTo>
                      <a:pt x="100013" y="75616"/>
                    </a:lnTo>
                    <a:cubicBezTo>
                      <a:pt x="100013" y="79626"/>
                      <a:pt x="102394" y="80963"/>
                      <a:pt x="104776" y="80963"/>
                    </a:cubicBezTo>
                    <a:cubicBezTo>
                      <a:pt x="107157" y="80963"/>
                      <a:pt x="109538" y="79626"/>
                      <a:pt x="109538" y="75616"/>
                    </a:cubicBezTo>
                    <a:cubicBezTo>
                      <a:pt x="109538" y="75616"/>
                      <a:pt x="109538" y="75616"/>
                      <a:pt x="109538" y="10110"/>
                    </a:cubicBezTo>
                    <a:cubicBezTo>
                      <a:pt x="109538" y="7437"/>
                      <a:pt x="107157" y="4763"/>
                      <a:pt x="104776" y="4763"/>
                    </a:cubicBezTo>
                    <a:close/>
                    <a:moveTo>
                      <a:pt x="142876" y="4763"/>
                    </a:moveTo>
                    <a:cubicBezTo>
                      <a:pt x="140494" y="4763"/>
                      <a:pt x="138113" y="7437"/>
                      <a:pt x="138113" y="10110"/>
                    </a:cubicBezTo>
                    <a:lnTo>
                      <a:pt x="138113" y="75616"/>
                    </a:lnTo>
                    <a:cubicBezTo>
                      <a:pt x="138113" y="79626"/>
                      <a:pt x="140494" y="80963"/>
                      <a:pt x="142876" y="80963"/>
                    </a:cubicBezTo>
                    <a:cubicBezTo>
                      <a:pt x="145257" y="80963"/>
                      <a:pt x="147638" y="79626"/>
                      <a:pt x="147638" y="75616"/>
                    </a:cubicBezTo>
                    <a:cubicBezTo>
                      <a:pt x="147638" y="75616"/>
                      <a:pt x="147638" y="75616"/>
                      <a:pt x="147638" y="10110"/>
                    </a:cubicBezTo>
                    <a:cubicBezTo>
                      <a:pt x="147638" y="7437"/>
                      <a:pt x="145257" y="4763"/>
                      <a:pt x="142876" y="4763"/>
                    </a:cubicBezTo>
                    <a:close/>
                    <a:moveTo>
                      <a:pt x="182563" y="4763"/>
                    </a:moveTo>
                    <a:cubicBezTo>
                      <a:pt x="180181" y="4763"/>
                      <a:pt x="177800" y="7437"/>
                      <a:pt x="177800" y="10110"/>
                    </a:cubicBezTo>
                    <a:lnTo>
                      <a:pt x="177800" y="75616"/>
                    </a:lnTo>
                    <a:cubicBezTo>
                      <a:pt x="177800" y="79626"/>
                      <a:pt x="180181" y="80963"/>
                      <a:pt x="182563" y="80963"/>
                    </a:cubicBezTo>
                    <a:cubicBezTo>
                      <a:pt x="184944" y="80963"/>
                      <a:pt x="187325" y="79626"/>
                      <a:pt x="187325" y="75616"/>
                    </a:cubicBezTo>
                    <a:cubicBezTo>
                      <a:pt x="187325" y="75616"/>
                      <a:pt x="187325" y="75616"/>
                      <a:pt x="187325" y="10110"/>
                    </a:cubicBezTo>
                    <a:cubicBezTo>
                      <a:pt x="187325" y="7437"/>
                      <a:pt x="184944" y="4763"/>
                      <a:pt x="182563" y="4763"/>
                    </a:cubicBezTo>
                    <a:close/>
                    <a:moveTo>
                      <a:pt x="220663" y="4763"/>
                    </a:moveTo>
                    <a:cubicBezTo>
                      <a:pt x="218281" y="4763"/>
                      <a:pt x="215900" y="7437"/>
                      <a:pt x="215900" y="10110"/>
                    </a:cubicBezTo>
                    <a:lnTo>
                      <a:pt x="215900" y="75616"/>
                    </a:lnTo>
                    <a:cubicBezTo>
                      <a:pt x="215900" y="79626"/>
                      <a:pt x="218281" y="80963"/>
                      <a:pt x="220663" y="80963"/>
                    </a:cubicBezTo>
                    <a:cubicBezTo>
                      <a:pt x="223044" y="80963"/>
                      <a:pt x="225425" y="79626"/>
                      <a:pt x="225425" y="75616"/>
                    </a:cubicBezTo>
                    <a:cubicBezTo>
                      <a:pt x="225425" y="75616"/>
                      <a:pt x="225425" y="75616"/>
                      <a:pt x="225425" y="10110"/>
                    </a:cubicBezTo>
                    <a:cubicBezTo>
                      <a:pt x="225425" y="7437"/>
                      <a:pt x="223044" y="4763"/>
                      <a:pt x="220663" y="4763"/>
                    </a:cubicBezTo>
                    <a:close/>
                    <a:moveTo>
                      <a:pt x="260124" y="4763"/>
                    </a:moveTo>
                    <a:cubicBezTo>
                      <a:pt x="256722" y="4763"/>
                      <a:pt x="255588" y="7437"/>
                      <a:pt x="255588" y="10110"/>
                    </a:cubicBezTo>
                    <a:lnTo>
                      <a:pt x="255588" y="75616"/>
                    </a:lnTo>
                    <a:cubicBezTo>
                      <a:pt x="255588" y="79626"/>
                      <a:pt x="256722" y="80963"/>
                      <a:pt x="260124" y="80963"/>
                    </a:cubicBezTo>
                    <a:cubicBezTo>
                      <a:pt x="262392" y="80963"/>
                      <a:pt x="263526" y="79626"/>
                      <a:pt x="263526" y="75616"/>
                    </a:cubicBezTo>
                    <a:cubicBezTo>
                      <a:pt x="263526" y="75616"/>
                      <a:pt x="263526" y="75616"/>
                      <a:pt x="263526" y="10110"/>
                    </a:cubicBezTo>
                    <a:cubicBezTo>
                      <a:pt x="263526" y="7437"/>
                      <a:pt x="262392" y="4763"/>
                      <a:pt x="260124" y="4763"/>
                    </a:cubicBezTo>
                    <a:close/>
                    <a:moveTo>
                      <a:pt x="64823" y="0"/>
                    </a:moveTo>
                    <a:cubicBezTo>
                      <a:pt x="71438" y="0"/>
                      <a:pt x="75406" y="3944"/>
                      <a:pt x="75406" y="10517"/>
                    </a:cubicBezTo>
                    <a:cubicBezTo>
                      <a:pt x="75406" y="10517"/>
                      <a:pt x="75406" y="10517"/>
                      <a:pt x="75406" y="14461"/>
                    </a:cubicBezTo>
                    <a:cubicBezTo>
                      <a:pt x="75406" y="14461"/>
                      <a:pt x="75406" y="14461"/>
                      <a:pt x="93927" y="14461"/>
                    </a:cubicBezTo>
                    <a:cubicBezTo>
                      <a:pt x="93927" y="14461"/>
                      <a:pt x="93927" y="14461"/>
                      <a:pt x="93927" y="10517"/>
                    </a:cubicBezTo>
                    <a:cubicBezTo>
                      <a:pt x="93927" y="3944"/>
                      <a:pt x="99219" y="0"/>
                      <a:pt x="104511" y="0"/>
                    </a:cubicBezTo>
                    <a:cubicBezTo>
                      <a:pt x="109802" y="0"/>
                      <a:pt x="115094" y="3944"/>
                      <a:pt x="115094" y="10517"/>
                    </a:cubicBezTo>
                    <a:cubicBezTo>
                      <a:pt x="115094" y="10517"/>
                      <a:pt x="115094" y="10517"/>
                      <a:pt x="115094" y="14461"/>
                    </a:cubicBezTo>
                    <a:cubicBezTo>
                      <a:pt x="115094" y="14461"/>
                      <a:pt x="115094" y="14461"/>
                      <a:pt x="133615" y="14461"/>
                    </a:cubicBezTo>
                    <a:cubicBezTo>
                      <a:pt x="133615" y="14461"/>
                      <a:pt x="133615" y="14461"/>
                      <a:pt x="133615" y="10517"/>
                    </a:cubicBezTo>
                    <a:cubicBezTo>
                      <a:pt x="133615" y="3944"/>
                      <a:pt x="137584" y="0"/>
                      <a:pt x="142875" y="0"/>
                    </a:cubicBezTo>
                    <a:cubicBezTo>
                      <a:pt x="149490" y="0"/>
                      <a:pt x="153459" y="3944"/>
                      <a:pt x="153459" y="10517"/>
                    </a:cubicBezTo>
                    <a:cubicBezTo>
                      <a:pt x="153459" y="10517"/>
                      <a:pt x="153459" y="10517"/>
                      <a:pt x="153459" y="14461"/>
                    </a:cubicBezTo>
                    <a:cubicBezTo>
                      <a:pt x="153459" y="14461"/>
                      <a:pt x="153459" y="14461"/>
                      <a:pt x="171980" y="14461"/>
                    </a:cubicBezTo>
                    <a:cubicBezTo>
                      <a:pt x="171980" y="14461"/>
                      <a:pt x="171980" y="14461"/>
                      <a:pt x="171980" y="10517"/>
                    </a:cubicBezTo>
                    <a:cubicBezTo>
                      <a:pt x="171980" y="3944"/>
                      <a:pt x="175948" y="0"/>
                      <a:pt x="182563" y="0"/>
                    </a:cubicBezTo>
                    <a:cubicBezTo>
                      <a:pt x="187855" y="0"/>
                      <a:pt x="191823" y="3944"/>
                      <a:pt x="191823" y="10517"/>
                    </a:cubicBezTo>
                    <a:cubicBezTo>
                      <a:pt x="191823" y="10517"/>
                      <a:pt x="191823" y="10517"/>
                      <a:pt x="191823" y="14461"/>
                    </a:cubicBezTo>
                    <a:cubicBezTo>
                      <a:pt x="191823" y="14461"/>
                      <a:pt x="191823" y="14461"/>
                      <a:pt x="210344" y="14461"/>
                    </a:cubicBezTo>
                    <a:cubicBezTo>
                      <a:pt x="210344" y="14461"/>
                      <a:pt x="210344" y="14461"/>
                      <a:pt x="210344" y="10517"/>
                    </a:cubicBezTo>
                    <a:cubicBezTo>
                      <a:pt x="210344" y="3944"/>
                      <a:pt x="215636" y="0"/>
                      <a:pt x="220927" y="0"/>
                    </a:cubicBezTo>
                    <a:cubicBezTo>
                      <a:pt x="226219" y="0"/>
                      <a:pt x="231511" y="3944"/>
                      <a:pt x="231511" y="10517"/>
                    </a:cubicBezTo>
                    <a:cubicBezTo>
                      <a:pt x="231511" y="10517"/>
                      <a:pt x="231511" y="10517"/>
                      <a:pt x="231511" y="14461"/>
                    </a:cubicBezTo>
                    <a:cubicBezTo>
                      <a:pt x="231511" y="14461"/>
                      <a:pt x="231511" y="14461"/>
                      <a:pt x="250032" y="14461"/>
                    </a:cubicBezTo>
                    <a:cubicBezTo>
                      <a:pt x="250032" y="14461"/>
                      <a:pt x="250032" y="14461"/>
                      <a:pt x="250032" y="10517"/>
                    </a:cubicBezTo>
                    <a:cubicBezTo>
                      <a:pt x="250032" y="3944"/>
                      <a:pt x="254000" y="0"/>
                      <a:pt x="260615" y="0"/>
                    </a:cubicBezTo>
                    <a:cubicBezTo>
                      <a:pt x="265907" y="0"/>
                      <a:pt x="269875" y="3944"/>
                      <a:pt x="269875" y="10517"/>
                    </a:cubicBezTo>
                    <a:cubicBezTo>
                      <a:pt x="269875" y="10517"/>
                      <a:pt x="269875" y="10517"/>
                      <a:pt x="269875" y="14461"/>
                    </a:cubicBezTo>
                    <a:cubicBezTo>
                      <a:pt x="269875" y="14461"/>
                      <a:pt x="269875" y="14461"/>
                      <a:pt x="276490" y="14461"/>
                    </a:cubicBezTo>
                    <a:cubicBezTo>
                      <a:pt x="302948" y="14461"/>
                      <a:pt x="325438" y="35496"/>
                      <a:pt x="325438" y="61789"/>
                    </a:cubicBezTo>
                    <a:cubicBezTo>
                      <a:pt x="325438" y="61789"/>
                      <a:pt x="325438" y="61789"/>
                      <a:pt x="325438" y="289223"/>
                    </a:cubicBezTo>
                    <a:cubicBezTo>
                      <a:pt x="325438" y="315516"/>
                      <a:pt x="302948" y="336550"/>
                      <a:pt x="276490" y="336550"/>
                    </a:cubicBezTo>
                    <a:cubicBezTo>
                      <a:pt x="276490" y="336550"/>
                      <a:pt x="276490" y="336550"/>
                      <a:pt x="48948" y="336550"/>
                    </a:cubicBezTo>
                    <a:cubicBezTo>
                      <a:pt x="22490" y="336550"/>
                      <a:pt x="0" y="315516"/>
                      <a:pt x="0" y="289223"/>
                    </a:cubicBezTo>
                    <a:cubicBezTo>
                      <a:pt x="0" y="289223"/>
                      <a:pt x="0" y="289223"/>
                      <a:pt x="0" y="61789"/>
                    </a:cubicBezTo>
                    <a:cubicBezTo>
                      <a:pt x="0" y="35496"/>
                      <a:pt x="22490" y="14461"/>
                      <a:pt x="48948" y="14461"/>
                    </a:cubicBezTo>
                    <a:cubicBezTo>
                      <a:pt x="48948" y="14461"/>
                      <a:pt x="48948" y="14461"/>
                      <a:pt x="55563" y="14461"/>
                    </a:cubicBezTo>
                    <a:cubicBezTo>
                      <a:pt x="55563" y="14461"/>
                      <a:pt x="55563" y="14461"/>
                      <a:pt x="55563" y="10517"/>
                    </a:cubicBezTo>
                    <a:cubicBezTo>
                      <a:pt x="55563" y="3944"/>
                      <a:pt x="59531" y="0"/>
                      <a:pt x="64823"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文本框 27"/>
            <p:cNvSpPr txBox="1"/>
            <p:nvPr/>
          </p:nvSpPr>
          <p:spPr>
            <a:xfrm>
              <a:off x="6669040" y="4733309"/>
              <a:ext cx="1742936" cy="252909"/>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时间：</a:t>
              </a:r>
              <a:r>
                <a:rPr lang="en-US" altLang="zh-CN"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2025-04-19</a:t>
              </a:r>
              <a:endPar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01251" y="6249432"/>
            <a:ext cx="2757212" cy="3859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B6F7C394-972D-4308-98A0-EEB5E394CD1D}"/>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6E861A0F-B75E-409A-949E-EF0231F37CCA}"/>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BA4A94CD-51AE-4B4B-9073-96EB778AB4C2}"/>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9D2FA53E-3943-4277-9678-07CA48EF055C}"/>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zh-CN" altLang="en-US" sz="3600" b="1" kern="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主成分分析基本概念</a:t>
            </a:r>
          </a:p>
        </p:txBody>
      </p:sp>
      <p:sp>
        <p:nvSpPr>
          <p:cNvPr id="27" name="矩形 26">
            <a:extLst>
              <a:ext uri="{FF2B5EF4-FFF2-40B4-BE49-F238E27FC236}">
                <a16:creationId xmlns:a16="http://schemas.microsoft.com/office/drawing/2014/main" id="{DD727800-F181-47A9-B5A2-9BE234D07C6F}"/>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77C2DEF3-85C6-41EB-BEA1-26D309BA763D}"/>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6B404D87-5BC9-40D2-B86C-57BADE0EB884}"/>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097AE74C-BCFB-4EB2-8990-771F14CB4CC6}"/>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主成分分析应用背景</a:t>
            </a:r>
          </a:p>
        </p:txBody>
      </p:sp>
      <p:sp>
        <p:nvSpPr>
          <p:cNvPr id="31" name="矩形 30">
            <a:extLst>
              <a:ext uri="{FF2B5EF4-FFF2-40B4-BE49-F238E27FC236}">
                <a16:creationId xmlns:a16="http://schemas.microsoft.com/office/drawing/2014/main" id="{15276682-91C6-494A-8BD8-79A54AAEF61D}"/>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C3B1753A-5B90-46AD-84AB-A97505A14A1E}"/>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B762DDDD-7200-4BEC-9DFC-E5B95FA5DE84}"/>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459D90B5-9E70-48C0-BFE9-6A0BBBCCC6E9}"/>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37CBF392-C907-4D29-BE6C-7C7B99F43455}"/>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817C9E68-6BA3-4702-8099-B23D38F9BB6E}"/>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997959D4-98E0-4591-9170-BF6758D3EC2C}"/>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1147B276-6AB7-460B-90E6-ADEAC5A17164}"/>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主成分分析应用方式</a:t>
            </a:r>
          </a:p>
        </p:txBody>
      </p:sp>
      <p:sp>
        <p:nvSpPr>
          <p:cNvPr id="39" name="矩形 38">
            <a:extLst>
              <a:ext uri="{FF2B5EF4-FFF2-40B4-BE49-F238E27FC236}">
                <a16:creationId xmlns:a16="http://schemas.microsoft.com/office/drawing/2014/main" id="{FE736492-4D64-42E6-9678-F4869AF879F3}"/>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012EA1B3-FB3D-4AF2-B2B7-C84D036D2BBD}"/>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97E547B0-5CC0-40EE-A904-E304FCE58231}"/>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81B31F91-01CC-46D5-986E-F9061072BFD3}"/>
              </a:ext>
            </a:extLst>
          </p:cNvPr>
          <p:cNvSpPr/>
          <p:nvPr/>
        </p:nvSpPr>
        <p:spPr>
          <a:xfrm>
            <a:off x="3161214" y="1900053"/>
            <a:ext cx="8274761" cy="458977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817000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DB8D5D2D-0ECB-4AFB-8473-F2AAF46F77A9}"/>
              </a:ext>
            </a:extLst>
          </p:cNvPr>
          <p:cNvGrpSpPr/>
          <p:nvPr/>
        </p:nvGrpSpPr>
        <p:grpSpPr>
          <a:xfrm>
            <a:off x="566665" y="2118984"/>
            <a:ext cx="11327219" cy="4248849"/>
            <a:chOff x="668079" y="2282295"/>
            <a:chExt cx="11327219" cy="4248849"/>
          </a:xfrm>
        </p:grpSpPr>
        <p:cxnSp>
          <p:nvCxnSpPr>
            <p:cNvPr id="66" name="直接连接符 65"/>
            <p:cNvCxnSpPr>
              <a:cxnSpLocks/>
            </p:cNvCxnSpPr>
            <p:nvPr/>
          </p:nvCxnSpPr>
          <p:spPr>
            <a:xfrm>
              <a:off x="7737158" y="4836057"/>
              <a:ext cx="3984942" cy="0"/>
            </a:xfrm>
            <a:prstGeom prst="line">
              <a:avLst/>
            </a:prstGeom>
            <a:ln/>
          </p:spPr>
          <p:style>
            <a:lnRef idx="1">
              <a:schemeClr val="accent4"/>
            </a:lnRef>
            <a:fillRef idx="0">
              <a:schemeClr val="accent4"/>
            </a:fillRef>
            <a:effectRef idx="0">
              <a:schemeClr val="accent4"/>
            </a:effectRef>
            <a:fontRef idx="minor">
              <a:schemeClr val="tx1"/>
            </a:fontRef>
          </p:style>
        </p:cxnSp>
        <p:grpSp>
          <p:nvGrpSpPr>
            <p:cNvPr id="68" name="组合 48"/>
            <p:cNvGrpSpPr/>
            <p:nvPr/>
          </p:nvGrpSpPr>
          <p:grpSpPr bwMode="auto">
            <a:xfrm>
              <a:off x="668080" y="2282295"/>
              <a:ext cx="11327218" cy="1225105"/>
              <a:chOff x="2678521" y="2847139"/>
              <a:chExt cx="22369342" cy="2417231"/>
            </a:xfrm>
          </p:grpSpPr>
          <p:sp>
            <p:nvSpPr>
              <p:cNvPr id="87" name="Freeform 19"/>
              <p:cNvSpPr/>
              <p:nvPr/>
            </p:nvSpPr>
            <p:spPr bwMode="auto">
              <a:xfrm>
                <a:off x="2678521" y="2856132"/>
                <a:ext cx="22369342" cy="2408238"/>
              </a:xfrm>
              <a:custGeom>
                <a:avLst/>
                <a:gdLst>
                  <a:gd name="T0" fmla="*/ 3200 w 3200"/>
                  <a:gd name="T1" fmla="*/ 320 h 640"/>
                  <a:gd name="T2" fmla="*/ 2880 w 3200"/>
                  <a:gd name="T3" fmla="*/ 640 h 640"/>
                  <a:gd name="T4" fmla="*/ 320 w 3200"/>
                  <a:gd name="T5" fmla="*/ 640 h 640"/>
                  <a:gd name="T6" fmla="*/ 0 w 3200"/>
                  <a:gd name="T7" fmla="*/ 320 h 640"/>
                  <a:gd name="T8" fmla="*/ 320 w 3200"/>
                  <a:gd name="T9" fmla="*/ 0 h 640"/>
                  <a:gd name="T10" fmla="*/ 2880 w 3200"/>
                  <a:gd name="T11" fmla="*/ 0 h 640"/>
                  <a:gd name="T12" fmla="*/ 3200 w 320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0" h="640">
                    <a:moveTo>
                      <a:pt x="3200" y="320"/>
                    </a:moveTo>
                    <a:cubicBezTo>
                      <a:pt x="3200" y="496"/>
                      <a:pt x="3056" y="640"/>
                      <a:pt x="2880" y="640"/>
                    </a:cubicBezTo>
                    <a:cubicBezTo>
                      <a:pt x="320" y="640"/>
                      <a:pt x="320" y="640"/>
                      <a:pt x="320" y="640"/>
                    </a:cubicBezTo>
                    <a:cubicBezTo>
                      <a:pt x="144" y="640"/>
                      <a:pt x="0" y="496"/>
                      <a:pt x="0" y="320"/>
                    </a:cubicBezTo>
                    <a:cubicBezTo>
                      <a:pt x="0" y="144"/>
                      <a:pt x="144" y="0"/>
                      <a:pt x="320" y="0"/>
                    </a:cubicBezTo>
                    <a:cubicBezTo>
                      <a:pt x="2880" y="0"/>
                      <a:pt x="2880" y="0"/>
                      <a:pt x="2880" y="0"/>
                    </a:cubicBezTo>
                    <a:cubicBezTo>
                      <a:pt x="3056" y="0"/>
                      <a:pt x="3200" y="144"/>
                      <a:pt x="3200" y="320"/>
                    </a:cubicBezTo>
                    <a:close/>
                  </a:path>
                </a:pathLst>
              </a:custGeom>
              <a:solidFill>
                <a:srgbClr val="00B0F0"/>
              </a:solidFill>
              <a:ln w="28575"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88" name="Freeform 20"/>
              <p:cNvSpPr>
                <a:spLocks noEditPoints="1"/>
              </p:cNvSpPr>
              <p:nvPr/>
            </p:nvSpPr>
            <p:spPr bwMode="auto">
              <a:xfrm>
                <a:off x="2678521" y="2847139"/>
                <a:ext cx="6005513" cy="2408237"/>
              </a:xfrm>
              <a:custGeom>
                <a:avLst/>
                <a:gdLst>
                  <a:gd name="T0" fmla="*/ 1280 w 1600"/>
                  <a:gd name="T1" fmla="*/ 0 h 640"/>
                  <a:gd name="T2" fmla="*/ 320 w 1600"/>
                  <a:gd name="T3" fmla="*/ 0 h 640"/>
                  <a:gd name="T4" fmla="*/ 0 w 1600"/>
                  <a:gd name="T5" fmla="*/ 320 h 640"/>
                  <a:gd name="T6" fmla="*/ 320 w 1600"/>
                  <a:gd name="T7" fmla="*/ 640 h 640"/>
                  <a:gd name="T8" fmla="*/ 1280 w 1600"/>
                  <a:gd name="T9" fmla="*/ 640 h 640"/>
                  <a:gd name="T10" fmla="*/ 1600 w 1600"/>
                  <a:gd name="T11" fmla="*/ 320 h 640"/>
                  <a:gd name="T12" fmla="*/ 1280 w 1600"/>
                  <a:gd name="T13" fmla="*/ 0 h 640"/>
                  <a:gd name="T14" fmla="*/ 1493 w 1600"/>
                  <a:gd name="T15" fmla="*/ 365 h 640"/>
                  <a:gd name="T16" fmla="*/ 1435 w 1600"/>
                  <a:gd name="T17" fmla="*/ 385 h 640"/>
                  <a:gd name="T18" fmla="*/ 1427 w 1600"/>
                  <a:gd name="T19" fmla="*/ 381 h 640"/>
                  <a:gd name="T20" fmla="*/ 1416 w 1600"/>
                  <a:gd name="T21" fmla="*/ 320 h 640"/>
                  <a:gd name="T22" fmla="*/ 1427 w 1600"/>
                  <a:gd name="T23" fmla="*/ 259 h 640"/>
                  <a:gd name="T24" fmla="*/ 1435 w 1600"/>
                  <a:gd name="T25" fmla="*/ 255 h 640"/>
                  <a:gd name="T26" fmla="*/ 1493 w 1600"/>
                  <a:gd name="T27" fmla="*/ 275 h 640"/>
                  <a:gd name="T28" fmla="*/ 1541 w 1600"/>
                  <a:gd name="T29" fmla="*/ 316 h 640"/>
                  <a:gd name="T30" fmla="*/ 1541 w 1600"/>
                  <a:gd name="T31" fmla="*/ 324 h 640"/>
                  <a:gd name="T32" fmla="*/ 1493 w 1600"/>
                  <a:gd name="T33" fmla="*/ 365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0" h="640">
                    <a:moveTo>
                      <a:pt x="1280" y="0"/>
                    </a:moveTo>
                    <a:cubicBezTo>
                      <a:pt x="320" y="0"/>
                      <a:pt x="320" y="0"/>
                      <a:pt x="320" y="0"/>
                    </a:cubicBezTo>
                    <a:cubicBezTo>
                      <a:pt x="144" y="0"/>
                      <a:pt x="0" y="144"/>
                      <a:pt x="0" y="320"/>
                    </a:cubicBezTo>
                    <a:cubicBezTo>
                      <a:pt x="0" y="496"/>
                      <a:pt x="144" y="640"/>
                      <a:pt x="320" y="640"/>
                    </a:cubicBezTo>
                    <a:cubicBezTo>
                      <a:pt x="1280" y="640"/>
                      <a:pt x="1280" y="640"/>
                      <a:pt x="1280" y="640"/>
                    </a:cubicBezTo>
                    <a:cubicBezTo>
                      <a:pt x="1456" y="640"/>
                      <a:pt x="1600" y="496"/>
                      <a:pt x="1600" y="320"/>
                    </a:cubicBezTo>
                    <a:cubicBezTo>
                      <a:pt x="1600" y="144"/>
                      <a:pt x="1456" y="0"/>
                      <a:pt x="1280" y="0"/>
                    </a:cubicBezTo>
                    <a:close/>
                    <a:moveTo>
                      <a:pt x="1493" y="365"/>
                    </a:moveTo>
                    <a:cubicBezTo>
                      <a:pt x="1455" y="387"/>
                      <a:pt x="1435" y="385"/>
                      <a:pt x="1435" y="385"/>
                    </a:cubicBezTo>
                    <a:cubicBezTo>
                      <a:pt x="1432" y="385"/>
                      <a:pt x="1429" y="383"/>
                      <a:pt x="1427" y="381"/>
                    </a:cubicBezTo>
                    <a:cubicBezTo>
                      <a:pt x="1427" y="381"/>
                      <a:pt x="1416" y="364"/>
                      <a:pt x="1416" y="320"/>
                    </a:cubicBezTo>
                    <a:cubicBezTo>
                      <a:pt x="1416" y="276"/>
                      <a:pt x="1427" y="259"/>
                      <a:pt x="1427" y="259"/>
                    </a:cubicBezTo>
                    <a:cubicBezTo>
                      <a:pt x="1429" y="257"/>
                      <a:pt x="1432" y="255"/>
                      <a:pt x="1435" y="255"/>
                    </a:cubicBezTo>
                    <a:cubicBezTo>
                      <a:pt x="1435" y="255"/>
                      <a:pt x="1455" y="253"/>
                      <a:pt x="1493" y="275"/>
                    </a:cubicBezTo>
                    <a:cubicBezTo>
                      <a:pt x="1532" y="297"/>
                      <a:pt x="1541" y="316"/>
                      <a:pt x="1541" y="316"/>
                    </a:cubicBezTo>
                    <a:cubicBezTo>
                      <a:pt x="1542" y="318"/>
                      <a:pt x="1542" y="322"/>
                      <a:pt x="1541" y="324"/>
                    </a:cubicBezTo>
                    <a:cubicBezTo>
                      <a:pt x="1541" y="324"/>
                      <a:pt x="1532" y="343"/>
                      <a:pt x="1493" y="365"/>
                    </a:cubicBezTo>
                    <a:close/>
                  </a:path>
                </a:pathLst>
              </a:custGeom>
              <a:gradFill>
                <a:gsLst>
                  <a:gs pos="0">
                    <a:srgbClr val="DEDEDE"/>
                  </a:gs>
                  <a:gs pos="100000">
                    <a:srgbClr val="FBFBFB"/>
                  </a:gs>
                </a:gsLst>
                <a:lin ang="5400000" scaled="1"/>
              </a:gradFill>
              <a:ln w="31750" cap="flat">
                <a:gradFill>
                  <a:gsLst>
                    <a:gs pos="0">
                      <a:sysClr val="window" lastClr="FFFFFF"/>
                    </a:gs>
                    <a:gs pos="100000">
                      <a:srgbClr val="DDDDDD"/>
                    </a:gs>
                  </a:gsLst>
                  <a:lin ang="5400000" scaled="1"/>
                </a:gradFill>
                <a:prstDash val="solid"/>
                <a:miter lim="800000"/>
              </a:ln>
              <a:effectLst>
                <a:outerShdw blurRad="228600" dist="101600" dir="5400000" algn="t" rotWithShape="0">
                  <a:sysClr val="windowText" lastClr="000000">
                    <a:lumMod val="85000"/>
                    <a:lumOff val="15000"/>
                    <a:alpha val="33000"/>
                  </a:sysClr>
                </a:outerShdw>
              </a:effectLst>
            </p:spPr>
            <p:txBody>
              <a:bodyPr/>
              <a:lstStyle/>
              <a:p>
                <a:pPr defTabSz="1218565">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89" name="椭圆 88"/>
              <p:cNvSpPr/>
              <p:nvPr/>
            </p:nvSpPr>
            <p:spPr>
              <a:xfrm>
                <a:off x="2834834" y="3000057"/>
                <a:ext cx="2102400" cy="2102400"/>
              </a:xfrm>
              <a:prstGeom prst="ellipse">
                <a:avLst/>
              </a:prstGeom>
              <a:gradFill>
                <a:gsLst>
                  <a:gs pos="0">
                    <a:srgbClr val="DDDDDD"/>
                  </a:gs>
                  <a:gs pos="100000">
                    <a:srgbClr val="FBFBFB"/>
                  </a:gs>
                </a:gsLst>
                <a:lin ang="5400000" scaled="1"/>
              </a:gradFill>
              <a:ln w="101600" cap="flat">
                <a:gradFill>
                  <a:gsLst>
                    <a:gs pos="0">
                      <a:srgbClr val="FDFDFD"/>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0" name="Freeform 23"/>
              <p:cNvSpPr/>
              <p:nvPr/>
            </p:nvSpPr>
            <p:spPr bwMode="auto">
              <a:xfrm>
                <a:off x="3298659" y="3423401"/>
                <a:ext cx="1174750" cy="1255712"/>
              </a:xfrm>
              <a:custGeom>
                <a:avLst/>
                <a:gdLst>
                  <a:gd name="T0" fmla="*/ 193 w 313"/>
                  <a:gd name="T1" fmla="*/ 279 h 334"/>
                  <a:gd name="T2" fmla="*/ 47 w 313"/>
                  <a:gd name="T3" fmla="*/ 330 h 334"/>
                  <a:gd name="T4" fmla="*/ 28 w 313"/>
                  <a:gd name="T5" fmla="*/ 319 h 334"/>
                  <a:gd name="T6" fmla="*/ 0 w 313"/>
                  <a:gd name="T7" fmla="*/ 167 h 334"/>
                  <a:gd name="T8" fmla="*/ 28 w 313"/>
                  <a:gd name="T9" fmla="*/ 15 h 334"/>
                  <a:gd name="T10" fmla="*/ 47 w 313"/>
                  <a:gd name="T11" fmla="*/ 4 h 334"/>
                  <a:gd name="T12" fmla="*/ 193 w 313"/>
                  <a:gd name="T13" fmla="*/ 55 h 334"/>
                  <a:gd name="T14" fmla="*/ 311 w 313"/>
                  <a:gd name="T15" fmla="*/ 156 h 334"/>
                  <a:gd name="T16" fmla="*/ 311 w 313"/>
                  <a:gd name="T17" fmla="*/ 178 h 334"/>
                  <a:gd name="T18" fmla="*/ 193 w 313"/>
                  <a:gd name="T19" fmla="*/ 27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3" h="334">
                    <a:moveTo>
                      <a:pt x="193" y="279"/>
                    </a:moveTo>
                    <a:cubicBezTo>
                      <a:pt x="98" y="334"/>
                      <a:pt x="47" y="330"/>
                      <a:pt x="47" y="330"/>
                    </a:cubicBezTo>
                    <a:cubicBezTo>
                      <a:pt x="40" y="329"/>
                      <a:pt x="32" y="325"/>
                      <a:pt x="28" y="319"/>
                    </a:cubicBezTo>
                    <a:cubicBezTo>
                      <a:pt x="28" y="319"/>
                      <a:pt x="0" y="277"/>
                      <a:pt x="0" y="167"/>
                    </a:cubicBezTo>
                    <a:cubicBezTo>
                      <a:pt x="0" y="57"/>
                      <a:pt x="28" y="15"/>
                      <a:pt x="28" y="15"/>
                    </a:cubicBezTo>
                    <a:cubicBezTo>
                      <a:pt x="32" y="9"/>
                      <a:pt x="40" y="5"/>
                      <a:pt x="47" y="4"/>
                    </a:cubicBezTo>
                    <a:cubicBezTo>
                      <a:pt x="47" y="4"/>
                      <a:pt x="98" y="0"/>
                      <a:pt x="193" y="55"/>
                    </a:cubicBezTo>
                    <a:cubicBezTo>
                      <a:pt x="289" y="110"/>
                      <a:pt x="311" y="156"/>
                      <a:pt x="311" y="156"/>
                    </a:cubicBezTo>
                    <a:cubicBezTo>
                      <a:pt x="313" y="162"/>
                      <a:pt x="313" y="172"/>
                      <a:pt x="311" y="178"/>
                    </a:cubicBezTo>
                    <a:cubicBezTo>
                      <a:pt x="311" y="178"/>
                      <a:pt x="289" y="224"/>
                      <a:pt x="193" y="279"/>
                    </a:cubicBezTo>
                    <a:close/>
                  </a:path>
                </a:pathLst>
              </a:custGeom>
              <a:solidFill>
                <a:srgbClr val="0070C0"/>
              </a:solidFill>
              <a:ln w="12700" cap="flat" cmpd="sng" algn="ctr">
                <a:noFill/>
                <a:prstDash val="solid"/>
                <a:miter lim="800000"/>
              </a:ln>
              <a:effectLst>
                <a:innerShdw blurRad="215900" dist="50800" dir="16200000">
                  <a:prstClr val="black">
                    <a:alpha val="42000"/>
                  </a:prstClr>
                </a:innerShdw>
              </a:effectLst>
            </p:spPr>
            <p:txBody>
              <a:bodyPr anchor="ctr"/>
              <a:lstStyle/>
              <a:p>
                <a:pPr algn="ctr" defTabSz="1218565">
                  <a:defRPr/>
                </a:pPr>
                <a:endParaRPr lang="zh-CN" altLang="en-US" kern="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
          <p:nvSpPr>
            <p:cNvPr id="70" name="Freeform 9"/>
            <p:cNvSpPr>
              <a:spLocks noEditPoints="1"/>
            </p:cNvSpPr>
            <p:nvPr/>
          </p:nvSpPr>
          <p:spPr bwMode="auto">
            <a:xfrm>
              <a:off x="2171265" y="2556789"/>
              <a:ext cx="610804" cy="612552"/>
            </a:xfrm>
            <a:custGeom>
              <a:avLst/>
              <a:gdLst>
                <a:gd name="T0" fmla="*/ 77737 w 406"/>
                <a:gd name="T1" fmla="*/ 370453 h 407"/>
                <a:gd name="T2" fmla="*/ 72775 w 406"/>
                <a:gd name="T3" fmla="*/ 358876 h 407"/>
                <a:gd name="T4" fmla="*/ 62851 w 406"/>
                <a:gd name="T5" fmla="*/ 352261 h 407"/>
                <a:gd name="T6" fmla="*/ 67813 w 406"/>
                <a:gd name="T7" fmla="*/ 372107 h 407"/>
                <a:gd name="T8" fmla="*/ 86007 w 406"/>
                <a:gd name="T9" fmla="*/ 380376 h 407"/>
                <a:gd name="T10" fmla="*/ 26464 w 406"/>
                <a:gd name="T11" fmla="*/ 253033 h 407"/>
                <a:gd name="T12" fmla="*/ 97584 w 406"/>
                <a:gd name="T13" fmla="*/ 138920 h 407"/>
                <a:gd name="T14" fmla="*/ 135626 w 406"/>
                <a:gd name="T15" fmla="*/ 114113 h 407"/>
                <a:gd name="T16" fmla="*/ 150512 w 406"/>
                <a:gd name="T17" fmla="*/ 67806 h 407"/>
                <a:gd name="T18" fmla="*/ 99238 w 406"/>
                <a:gd name="T19" fmla="*/ 104190 h 407"/>
                <a:gd name="T20" fmla="*/ 3308 w 406"/>
                <a:gd name="T21" fmla="*/ 297686 h 407"/>
                <a:gd name="T22" fmla="*/ 79391 w 406"/>
                <a:gd name="T23" fmla="*/ 386991 h 407"/>
                <a:gd name="T24" fmla="*/ 168705 w 406"/>
                <a:gd name="T25" fmla="*/ 49614 h 407"/>
                <a:gd name="T26" fmla="*/ 244788 w 406"/>
                <a:gd name="T27" fmla="*/ 23153 h 407"/>
                <a:gd name="T28" fmla="*/ 188553 w 406"/>
                <a:gd name="T29" fmla="*/ 47960 h 407"/>
                <a:gd name="T30" fmla="*/ 234864 w 406"/>
                <a:gd name="T31" fmla="*/ 19846 h 407"/>
                <a:gd name="T32" fmla="*/ 190207 w 406"/>
                <a:gd name="T33" fmla="*/ 39691 h 407"/>
                <a:gd name="T34" fmla="*/ 170359 w 406"/>
                <a:gd name="T35" fmla="*/ 51268 h 407"/>
                <a:gd name="T36" fmla="*/ 16540 w 406"/>
                <a:gd name="T37" fmla="*/ 324146 h 407"/>
                <a:gd name="T38" fmla="*/ 18194 w 406"/>
                <a:gd name="T39" fmla="*/ 324146 h 407"/>
                <a:gd name="T40" fmla="*/ 332449 w 406"/>
                <a:gd name="T41" fmla="*/ 625140 h 407"/>
                <a:gd name="T42" fmla="*/ 229902 w 406"/>
                <a:gd name="T43" fmla="*/ 454797 h 407"/>
                <a:gd name="T44" fmla="*/ 84353 w 406"/>
                <a:gd name="T45" fmla="*/ 411798 h 407"/>
                <a:gd name="T46" fmla="*/ 47965 w 406"/>
                <a:gd name="T47" fmla="*/ 415106 h 407"/>
                <a:gd name="T48" fmla="*/ 8270 w 406"/>
                <a:gd name="T49" fmla="*/ 398568 h 407"/>
                <a:gd name="T50" fmla="*/ 14886 w 406"/>
                <a:gd name="T51" fmla="*/ 436605 h 407"/>
                <a:gd name="T52" fmla="*/ 133972 w 406"/>
                <a:gd name="T53" fmla="*/ 583794 h 407"/>
                <a:gd name="T54" fmla="*/ 28118 w 406"/>
                <a:gd name="T55" fmla="*/ 373761 h 407"/>
                <a:gd name="T56" fmla="*/ 31425 w 406"/>
                <a:gd name="T57" fmla="*/ 365492 h 407"/>
                <a:gd name="T58" fmla="*/ 23156 w 406"/>
                <a:gd name="T59" fmla="*/ 355569 h 407"/>
                <a:gd name="T60" fmla="*/ 13232 w 406"/>
                <a:gd name="T61" fmla="*/ 355569 h 407"/>
                <a:gd name="T62" fmla="*/ 466420 w 406"/>
                <a:gd name="T63" fmla="*/ 61191 h 407"/>
                <a:gd name="T64" fmla="*/ 511078 w 406"/>
                <a:gd name="T65" fmla="*/ 69460 h 407"/>
                <a:gd name="T66" fmla="*/ 645049 w 406"/>
                <a:gd name="T67" fmla="*/ 464720 h 407"/>
                <a:gd name="T68" fmla="*/ 471382 w 406"/>
                <a:gd name="T69" fmla="*/ 61191 h 407"/>
                <a:gd name="T70" fmla="*/ 471382 w 406"/>
                <a:gd name="T71" fmla="*/ 61191 h 407"/>
                <a:gd name="T72" fmla="*/ 654973 w 406"/>
                <a:gd name="T73" fmla="*/ 223264 h 407"/>
                <a:gd name="T74" fmla="*/ 650011 w 406"/>
                <a:gd name="T75" fmla="*/ 196803 h 407"/>
                <a:gd name="T76" fmla="*/ 562351 w 406"/>
                <a:gd name="T77" fmla="*/ 76075 h 407"/>
                <a:gd name="T78" fmla="*/ 320871 w 406"/>
                <a:gd name="T79" fmla="*/ 11577 h 407"/>
                <a:gd name="T80" fmla="*/ 305985 w 406"/>
                <a:gd name="T81" fmla="*/ 24807 h 407"/>
                <a:gd name="T82" fmla="*/ 279521 w 406"/>
                <a:gd name="T83" fmla="*/ 21500 h 407"/>
                <a:gd name="T84" fmla="*/ 274560 w 406"/>
                <a:gd name="T85" fmla="*/ 33076 h 407"/>
                <a:gd name="T86" fmla="*/ 296061 w 406"/>
                <a:gd name="T87" fmla="*/ 28115 h 407"/>
                <a:gd name="T88" fmla="*/ 317563 w 406"/>
                <a:gd name="T89" fmla="*/ 31422 h 407"/>
                <a:gd name="T90" fmla="*/ 305985 w 406"/>
                <a:gd name="T91" fmla="*/ 90959 h 407"/>
                <a:gd name="T92" fmla="*/ 370490 w 406"/>
                <a:gd name="T93" fmla="*/ 44653 h 407"/>
                <a:gd name="T94" fmla="*/ 400261 w 406"/>
                <a:gd name="T95" fmla="*/ 41345 h 407"/>
                <a:gd name="T96" fmla="*/ 491230 w 406"/>
                <a:gd name="T97" fmla="*/ 61191 h 407"/>
                <a:gd name="T98" fmla="*/ 469728 w 406"/>
                <a:gd name="T99" fmla="*/ 82690 h 407"/>
                <a:gd name="T100" fmla="*/ 393646 w 406"/>
                <a:gd name="T101" fmla="*/ 74421 h 407"/>
                <a:gd name="T102" fmla="*/ 310947 w 406"/>
                <a:gd name="T103" fmla="*/ 158766 h 407"/>
                <a:gd name="T104" fmla="*/ 365528 w 406"/>
                <a:gd name="T105" fmla="*/ 309262 h 407"/>
                <a:gd name="T106" fmla="*/ 529271 w 406"/>
                <a:gd name="T107" fmla="*/ 353915 h 407"/>
                <a:gd name="T108" fmla="*/ 539195 w 406"/>
                <a:gd name="T109" fmla="*/ 570564 h 407"/>
                <a:gd name="T110" fmla="*/ 613624 w 406"/>
                <a:gd name="T111" fmla="*/ 128997 h 407"/>
                <a:gd name="T112" fmla="*/ 347334 w 406"/>
                <a:gd name="T113" fmla="*/ 11577 h 407"/>
                <a:gd name="T114" fmla="*/ 353950 w 406"/>
                <a:gd name="T115" fmla="*/ 11577 h 407"/>
                <a:gd name="T116" fmla="*/ 444919 w 406"/>
                <a:gd name="T117" fmla="*/ 23153 h 407"/>
                <a:gd name="T118" fmla="*/ 448227 w 406"/>
                <a:gd name="T119" fmla="*/ 38038 h 407"/>
                <a:gd name="T120" fmla="*/ 456497 w 406"/>
                <a:gd name="T121" fmla="*/ 28115 h 407"/>
                <a:gd name="T122" fmla="*/ 382068 w 406"/>
                <a:gd name="T123" fmla="*/ 54576 h 407"/>
                <a:gd name="T124" fmla="*/ 461458 w 406"/>
                <a:gd name="T125" fmla="*/ 57883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06" h="407">
                  <a:moveTo>
                    <a:pt x="44" y="222"/>
                  </a:moveTo>
                  <a:cubicBezTo>
                    <a:pt x="44" y="223"/>
                    <a:pt x="45" y="223"/>
                    <a:pt x="45" y="223"/>
                  </a:cubicBezTo>
                  <a:cubicBezTo>
                    <a:pt x="45" y="223"/>
                    <a:pt x="45" y="223"/>
                    <a:pt x="45" y="223"/>
                  </a:cubicBezTo>
                  <a:cubicBezTo>
                    <a:pt x="45" y="222"/>
                    <a:pt x="45" y="222"/>
                    <a:pt x="45" y="222"/>
                  </a:cubicBezTo>
                  <a:cubicBezTo>
                    <a:pt x="45" y="221"/>
                    <a:pt x="45" y="221"/>
                    <a:pt x="45" y="221"/>
                  </a:cubicBezTo>
                  <a:cubicBezTo>
                    <a:pt x="45" y="221"/>
                    <a:pt x="45" y="221"/>
                    <a:pt x="45" y="221"/>
                  </a:cubicBezTo>
                  <a:cubicBezTo>
                    <a:pt x="45" y="221"/>
                    <a:pt x="45" y="221"/>
                    <a:pt x="45" y="221"/>
                  </a:cubicBezTo>
                  <a:cubicBezTo>
                    <a:pt x="44" y="221"/>
                    <a:pt x="44" y="221"/>
                    <a:pt x="44" y="221"/>
                  </a:cubicBezTo>
                  <a:cubicBezTo>
                    <a:pt x="44" y="222"/>
                    <a:pt x="44" y="222"/>
                    <a:pt x="44" y="222"/>
                  </a:cubicBezTo>
                  <a:close/>
                  <a:moveTo>
                    <a:pt x="45" y="221"/>
                  </a:moveTo>
                  <a:cubicBezTo>
                    <a:pt x="45" y="221"/>
                    <a:pt x="45" y="221"/>
                    <a:pt x="45" y="221"/>
                  </a:cubicBezTo>
                  <a:cubicBezTo>
                    <a:pt x="45" y="221"/>
                    <a:pt x="45" y="221"/>
                    <a:pt x="45" y="221"/>
                  </a:cubicBezTo>
                  <a:cubicBezTo>
                    <a:pt x="45" y="221"/>
                    <a:pt x="45" y="220"/>
                    <a:pt x="45" y="220"/>
                  </a:cubicBezTo>
                  <a:cubicBezTo>
                    <a:pt x="45" y="219"/>
                    <a:pt x="45" y="219"/>
                    <a:pt x="45" y="219"/>
                  </a:cubicBezTo>
                  <a:cubicBezTo>
                    <a:pt x="45" y="219"/>
                    <a:pt x="45" y="219"/>
                    <a:pt x="45" y="219"/>
                  </a:cubicBezTo>
                  <a:cubicBezTo>
                    <a:pt x="45" y="219"/>
                    <a:pt x="45" y="219"/>
                    <a:pt x="45" y="219"/>
                  </a:cubicBezTo>
                  <a:cubicBezTo>
                    <a:pt x="44" y="220"/>
                    <a:pt x="44" y="220"/>
                    <a:pt x="44" y="220"/>
                  </a:cubicBezTo>
                  <a:cubicBezTo>
                    <a:pt x="44" y="220"/>
                    <a:pt x="44" y="220"/>
                    <a:pt x="45" y="221"/>
                  </a:cubicBezTo>
                  <a:close/>
                  <a:moveTo>
                    <a:pt x="47" y="225"/>
                  </a:moveTo>
                  <a:cubicBezTo>
                    <a:pt x="47" y="224"/>
                    <a:pt x="47" y="224"/>
                    <a:pt x="47" y="224"/>
                  </a:cubicBezTo>
                  <a:cubicBezTo>
                    <a:pt x="47" y="224"/>
                    <a:pt x="47" y="224"/>
                    <a:pt x="47" y="224"/>
                  </a:cubicBezTo>
                  <a:cubicBezTo>
                    <a:pt x="46" y="224"/>
                    <a:pt x="46" y="224"/>
                    <a:pt x="46" y="224"/>
                  </a:cubicBezTo>
                  <a:cubicBezTo>
                    <a:pt x="46" y="225"/>
                    <a:pt x="46" y="225"/>
                    <a:pt x="46" y="225"/>
                  </a:cubicBezTo>
                  <a:cubicBezTo>
                    <a:pt x="46" y="225"/>
                    <a:pt x="46" y="225"/>
                    <a:pt x="46" y="225"/>
                  </a:cubicBezTo>
                  <a:cubicBezTo>
                    <a:pt x="46" y="226"/>
                    <a:pt x="46" y="226"/>
                    <a:pt x="46" y="226"/>
                  </a:cubicBezTo>
                  <a:cubicBezTo>
                    <a:pt x="46" y="227"/>
                    <a:pt x="46" y="227"/>
                    <a:pt x="46" y="227"/>
                  </a:cubicBezTo>
                  <a:cubicBezTo>
                    <a:pt x="47" y="226"/>
                    <a:pt x="47" y="226"/>
                    <a:pt x="47" y="226"/>
                  </a:cubicBezTo>
                  <a:cubicBezTo>
                    <a:pt x="47" y="226"/>
                    <a:pt x="47" y="225"/>
                    <a:pt x="47" y="225"/>
                  </a:cubicBezTo>
                  <a:close/>
                  <a:moveTo>
                    <a:pt x="40" y="214"/>
                  </a:moveTo>
                  <a:cubicBezTo>
                    <a:pt x="40" y="215"/>
                    <a:pt x="40" y="215"/>
                    <a:pt x="40" y="215"/>
                  </a:cubicBezTo>
                  <a:cubicBezTo>
                    <a:pt x="39" y="215"/>
                    <a:pt x="39" y="215"/>
                    <a:pt x="39" y="215"/>
                  </a:cubicBezTo>
                  <a:cubicBezTo>
                    <a:pt x="39" y="215"/>
                    <a:pt x="39" y="216"/>
                    <a:pt x="40" y="216"/>
                  </a:cubicBezTo>
                  <a:cubicBezTo>
                    <a:pt x="40" y="216"/>
                    <a:pt x="40" y="216"/>
                    <a:pt x="40" y="216"/>
                  </a:cubicBezTo>
                  <a:cubicBezTo>
                    <a:pt x="40" y="216"/>
                    <a:pt x="40" y="216"/>
                    <a:pt x="40" y="216"/>
                  </a:cubicBezTo>
                  <a:cubicBezTo>
                    <a:pt x="40" y="216"/>
                    <a:pt x="40" y="216"/>
                    <a:pt x="40" y="216"/>
                  </a:cubicBezTo>
                  <a:cubicBezTo>
                    <a:pt x="40" y="216"/>
                    <a:pt x="40" y="216"/>
                    <a:pt x="40" y="215"/>
                  </a:cubicBezTo>
                  <a:cubicBezTo>
                    <a:pt x="40" y="214"/>
                    <a:pt x="40" y="214"/>
                    <a:pt x="40" y="214"/>
                  </a:cubicBezTo>
                  <a:cubicBezTo>
                    <a:pt x="40" y="214"/>
                    <a:pt x="40" y="214"/>
                    <a:pt x="40" y="214"/>
                  </a:cubicBezTo>
                  <a:cubicBezTo>
                    <a:pt x="40" y="214"/>
                    <a:pt x="40" y="214"/>
                    <a:pt x="40" y="214"/>
                  </a:cubicBezTo>
                  <a:close/>
                  <a:moveTo>
                    <a:pt x="44" y="217"/>
                  </a:moveTo>
                  <a:cubicBezTo>
                    <a:pt x="43" y="217"/>
                    <a:pt x="43" y="217"/>
                    <a:pt x="43" y="217"/>
                  </a:cubicBezTo>
                  <a:cubicBezTo>
                    <a:pt x="43" y="217"/>
                    <a:pt x="43" y="217"/>
                    <a:pt x="43" y="217"/>
                  </a:cubicBezTo>
                  <a:cubicBezTo>
                    <a:pt x="43" y="218"/>
                    <a:pt x="43" y="219"/>
                    <a:pt x="43" y="219"/>
                  </a:cubicBezTo>
                  <a:cubicBezTo>
                    <a:pt x="43" y="219"/>
                    <a:pt x="43" y="219"/>
                    <a:pt x="43" y="219"/>
                  </a:cubicBezTo>
                  <a:cubicBezTo>
                    <a:pt x="44" y="219"/>
                    <a:pt x="44" y="218"/>
                    <a:pt x="44" y="217"/>
                  </a:cubicBezTo>
                  <a:cubicBezTo>
                    <a:pt x="44" y="217"/>
                    <a:pt x="44" y="217"/>
                    <a:pt x="44" y="217"/>
                  </a:cubicBezTo>
                  <a:close/>
                  <a:moveTo>
                    <a:pt x="41" y="215"/>
                  </a:moveTo>
                  <a:cubicBezTo>
                    <a:pt x="42" y="214"/>
                    <a:pt x="42" y="214"/>
                    <a:pt x="42" y="214"/>
                  </a:cubicBezTo>
                  <a:cubicBezTo>
                    <a:pt x="42" y="214"/>
                    <a:pt x="42" y="214"/>
                    <a:pt x="42" y="214"/>
                  </a:cubicBezTo>
                  <a:cubicBezTo>
                    <a:pt x="41" y="214"/>
                    <a:pt x="41" y="214"/>
                    <a:pt x="41" y="214"/>
                  </a:cubicBezTo>
                  <a:cubicBezTo>
                    <a:pt x="41" y="214"/>
                    <a:pt x="41" y="214"/>
                    <a:pt x="41" y="214"/>
                  </a:cubicBezTo>
                  <a:cubicBezTo>
                    <a:pt x="41" y="214"/>
                    <a:pt x="41" y="214"/>
                    <a:pt x="41" y="214"/>
                  </a:cubicBezTo>
                  <a:cubicBezTo>
                    <a:pt x="41" y="214"/>
                    <a:pt x="41" y="215"/>
                    <a:pt x="41" y="215"/>
                  </a:cubicBezTo>
                  <a:close/>
                  <a:moveTo>
                    <a:pt x="39" y="213"/>
                  </a:moveTo>
                  <a:cubicBezTo>
                    <a:pt x="39" y="212"/>
                    <a:pt x="39" y="212"/>
                    <a:pt x="39" y="212"/>
                  </a:cubicBezTo>
                  <a:cubicBezTo>
                    <a:pt x="39" y="212"/>
                    <a:pt x="39" y="212"/>
                    <a:pt x="39" y="212"/>
                  </a:cubicBezTo>
                  <a:cubicBezTo>
                    <a:pt x="39" y="211"/>
                    <a:pt x="39" y="211"/>
                    <a:pt x="39" y="211"/>
                  </a:cubicBezTo>
                  <a:cubicBezTo>
                    <a:pt x="38" y="211"/>
                    <a:pt x="38" y="211"/>
                    <a:pt x="38" y="211"/>
                  </a:cubicBezTo>
                  <a:cubicBezTo>
                    <a:pt x="38" y="211"/>
                    <a:pt x="38" y="211"/>
                    <a:pt x="38" y="211"/>
                  </a:cubicBezTo>
                  <a:cubicBezTo>
                    <a:pt x="38" y="212"/>
                    <a:pt x="38" y="212"/>
                    <a:pt x="38" y="213"/>
                  </a:cubicBezTo>
                  <a:lnTo>
                    <a:pt x="39" y="213"/>
                  </a:lnTo>
                  <a:close/>
                  <a:moveTo>
                    <a:pt x="41" y="224"/>
                  </a:moveTo>
                  <a:cubicBezTo>
                    <a:pt x="41" y="224"/>
                    <a:pt x="41" y="224"/>
                    <a:pt x="41" y="224"/>
                  </a:cubicBezTo>
                  <a:cubicBezTo>
                    <a:pt x="41" y="224"/>
                    <a:pt x="41" y="224"/>
                    <a:pt x="41" y="224"/>
                  </a:cubicBezTo>
                  <a:cubicBezTo>
                    <a:pt x="41" y="224"/>
                    <a:pt x="41" y="224"/>
                    <a:pt x="41" y="224"/>
                  </a:cubicBezTo>
                  <a:cubicBezTo>
                    <a:pt x="40" y="224"/>
                    <a:pt x="40" y="224"/>
                    <a:pt x="40" y="224"/>
                  </a:cubicBezTo>
                  <a:cubicBezTo>
                    <a:pt x="40" y="224"/>
                    <a:pt x="40" y="224"/>
                    <a:pt x="40" y="224"/>
                  </a:cubicBezTo>
                  <a:cubicBezTo>
                    <a:pt x="40" y="224"/>
                    <a:pt x="40" y="224"/>
                    <a:pt x="40" y="224"/>
                  </a:cubicBezTo>
                  <a:cubicBezTo>
                    <a:pt x="40" y="224"/>
                    <a:pt x="40" y="224"/>
                    <a:pt x="40" y="224"/>
                  </a:cubicBezTo>
                  <a:cubicBezTo>
                    <a:pt x="40" y="224"/>
                    <a:pt x="40" y="224"/>
                    <a:pt x="40" y="224"/>
                  </a:cubicBezTo>
                  <a:cubicBezTo>
                    <a:pt x="40" y="224"/>
                    <a:pt x="40" y="224"/>
                    <a:pt x="40" y="224"/>
                  </a:cubicBezTo>
                  <a:cubicBezTo>
                    <a:pt x="40" y="225"/>
                    <a:pt x="40" y="225"/>
                    <a:pt x="40" y="225"/>
                  </a:cubicBezTo>
                  <a:cubicBezTo>
                    <a:pt x="40" y="225"/>
                    <a:pt x="40" y="225"/>
                    <a:pt x="40" y="225"/>
                  </a:cubicBezTo>
                  <a:cubicBezTo>
                    <a:pt x="40" y="225"/>
                    <a:pt x="40" y="225"/>
                    <a:pt x="40" y="225"/>
                  </a:cubicBezTo>
                  <a:cubicBezTo>
                    <a:pt x="40" y="225"/>
                    <a:pt x="40" y="225"/>
                    <a:pt x="40" y="225"/>
                  </a:cubicBezTo>
                  <a:cubicBezTo>
                    <a:pt x="41" y="225"/>
                    <a:pt x="41" y="225"/>
                    <a:pt x="41" y="225"/>
                  </a:cubicBezTo>
                  <a:cubicBezTo>
                    <a:pt x="41" y="225"/>
                    <a:pt x="41" y="225"/>
                    <a:pt x="41" y="225"/>
                  </a:cubicBezTo>
                  <a:cubicBezTo>
                    <a:pt x="41" y="225"/>
                    <a:pt x="41" y="225"/>
                    <a:pt x="41" y="225"/>
                  </a:cubicBezTo>
                  <a:cubicBezTo>
                    <a:pt x="41" y="225"/>
                    <a:pt x="41" y="225"/>
                    <a:pt x="41" y="225"/>
                  </a:cubicBezTo>
                  <a:cubicBezTo>
                    <a:pt x="41" y="225"/>
                    <a:pt x="41" y="225"/>
                    <a:pt x="41" y="225"/>
                  </a:cubicBezTo>
                  <a:cubicBezTo>
                    <a:pt x="41" y="225"/>
                    <a:pt x="41" y="225"/>
                    <a:pt x="41" y="225"/>
                  </a:cubicBezTo>
                  <a:lnTo>
                    <a:pt x="41" y="224"/>
                  </a:lnTo>
                  <a:close/>
                  <a:moveTo>
                    <a:pt x="48" y="239"/>
                  </a:moveTo>
                  <a:cubicBezTo>
                    <a:pt x="49" y="239"/>
                    <a:pt x="49" y="239"/>
                    <a:pt x="49" y="239"/>
                  </a:cubicBezTo>
                  <a:cubicBezTo>
                    <a:pt x="49" y="239"/>
                    <a:pt x="49" y="239"/>
                    <a:pt x="49" y="239"/>
                  </a:cubicBezTo>
                  <a:cubicBezTo>
                    <a:pt x="49" y="238"/>
                    <a:pt x="48" y="238"/>
                    <a:pt x="48" y="238"/>
                  </a:cubicBezTo>
                  <a:cubicBezTo>
                    <a:pt x="48" y="238"/>
                    <a:pt x="48" y="238"/>
                    <a:pt x="48" y="238"/>
                  </a:cubicBezTo>
                  <a:cubicBezTo>
                    <a:pt x="48" y="238"/>
                    <a:pt x="48" y="238"/>
                    <a:pt x="48" y="238"/>
                  </a:cubicBezTo>
                  <a:cubicBezTo>
                    <a:pt x="48" y="238"/>
                    <a:pt x="48" y="238"/>
                    <a:pt x="48" y="238"/>
                  </a:cubicBezTo>
                  <a:cubicBezTo>
                    <a:pt x="48" y="238"/>
                    <a:pt x="48" y="238"/>
                    <a:pt x="48" y="238"/>
                  </a:cubicBezTo>
                  <a:cubicBezTo>
                    <a:pt x="48" y="238"/>
                    <a:pt x="48" y="238"/>
                    <a:pt x="48" y="238"/>
                  </a:cubicBezTo>
                  <a:cubicBezTo>
                    <a:pt x="48" y="238"/>
                    <a:pt x="48" y="238"/>
                    <a:pt x="48" y="238"/>
                  </a:cubicBezTo>
                  <a:cubicBezTo>
                    <a:pt x="48" y="239"/>
                    <a:pt x="48" y="239"/>
                    <a:pt x="48" y="239"/>
                  </a:cubicBezTo>
                  <a:close/>
                  <a:moveTo>
                    <a:pt x="52" y="230"/>
                  </a:moveTo>
                  <a:cubicBezTo>
                    <a:pt x="51" y="230"/>
                    <a:pt x="51" y="230"/>
                    <a:pt x="51" y="230"/>
                  </a:cubicBezTo>
                  <a:cubicBezTo>
                    <a:pt x="51" y="230"/>
                    <a:pt x="51" y="230"/>
                    <a:pt x="51" y="230"/>
                  </a:cubicBezTo>
                  <a:cubicBezTo>
                    <a:pt x="51" y="231"/>
                    <a:pt x="52" y="232"/>
                    <a:pt x="52" y="232"/>
                  </a:cubicBezTo>
                  <a:cubicBezTo>
                    <a:pt x="52" y="231"/>
                    <a:pt x="52" y="231"/>
                    <a:pt x="52" y="231"/>
                  </a:cubicBezTo>
                  <a:cubicBezTo>
                    <a:pt x="53" y="231"/>
                    <a:pt x="53" y="231"/>
                    <a:pt x="53" y="231"/>
                  </a:cubicBezTo>
                  <a:cubicBezTo>
                    <a:pt x="52" y="230"/>
                    <a:pt x="52" y="230"/>
                    <a:pt x="52" y="230"/>
                  </a:cubicBezTo>
                  <a:close/>
                  <a:moveTo>
                    <a:pt x="3" y="184"/>
                  </a:moveTo>
                  <a:cubicBezTo>
                    <a:pt x="3" y="183"/>
                    <a:pt x="3" y="181"/>
                    <a:pt x="5" y="179"/>
                  </a:cubicBezTo>
                  <a:cubicBezTo>
                    <a:pt x="5" y="179"/>
                    <a:pt x="5" y="180"/>
                    <a:pt x="5" y="181"/>
                  </a:cubicBezTo>
                  <a:cubicBezTo>
                    <a:pt x="5" y="182"/>
                    <a:pt x="5" y="182"/>
                    <a:pt x="5" y="182"/>
                  </a:cubicBezTo>
                  <a:cubicBezTo>
                    <a:pt x="5" y="182"/>
                    <a:pt x="5" y="182"/>
                    <a:pt x="5" y="182"/>
                  </a:cubicBezTo>
                  <a:cubicBezTo>
                    <a:pt x="5" y="181"/>
                    <a:pt x="6" y="181"/>
                    <a:pt x="6" y="180"/>
                  </a:cubicBezTo>
                  <a:cubicBezTo>
                    <a:pt x="6" y="181"/>
                    <a:pt x="6" y="181"/>
                    <a:pt x="6" y="181"/>
                  </a:cubicBezTo>
                  <a:cubicBezTo>
                    <a:pt x="6" y="183"/>
                    <a:pt x="6" y="184"/>
                    <a:pt x="6" y="185"/>
                  </a:cubicBezTo>
                  <a:cubicBezTo>
                    <a:pt x="6" y="186"/>
                    <a:pt x="6" y="188"/>
                    <a:pt x="6" y="189"/>
                  </a:cubicBezTo>
                  <a:cubicBezTo>
                    <a:pt x="6" y="190"/>
                    <a:pt x="6" y="191"/>
                    <a:pt x="6" y="192"/>
                  </a:cubicBezTo>
                  <a:cubicBezTo>
                    <a:pt x="6" y="194"/>
                    <a:pt x="6" y="195"/>
                    <a:pt x="7" y="199"/>
                  </a:cubicBezTo>
                  <a:cubicBezTo>
                    <a:pt x="7" y="199"/>
                    <a:pt x="7" y="199"/>
                    <a:pt x="7" y="199"/>
                  </a:cubicBezTo>
                  <a:cubicBezTo>
                    <a:pt x="7" y="199"/>
                    <a:pt x="7" y="199"/>
                    <a:pt x="7" y="199"/>
                  </a:cubicBezTo>
                  <a:cubicBezTo>
                    <a:pt x="7" y="199"/>
                    <a:pt x="7" y="199"/>
                    <a:pt x="7" y="199"/>
                  </a:cubicBezTo>
                  <a:cubicBezTo>
                    <a:pt x="7" y="199"/>
                    <a:pt x="7" y="199"/>
                    <a:pt x="7" y="199"/>
                  </a:cubicBezTo>
                  <a:cubicBezTo>
                    <a:pt x="9" y="195"/>
                    <a:pt x="9" y="194"/>
                    <a:pt x="9" y="184"/>
                  </a:cubicBezTo>
                  <a:cubicBezTo>
                    <a:pt x="9" y="174"/>
                    <a:pt x="9" y="172"/>
                    <a:pt x="10" y="170"/>
                  </a:cubicBezTo>
                  <a:cubicBezTo>
                    <a:pt x="11" y="166"/>
                    <a:pt x="12" y="163"/>
                    <a:pt x="13" y="160"/>
                  </a:cubicBezTo>
                  <a:cubicBezTo>
                    <a:pt x="14" y="158"/>
                    <a:pt x="15" y="155"/>
                    <a:pt x="16" y="153"/>
                  </a:cubicBezTo>
                  <a:cubicBezTo>
                    <a:pt x="16" y="153"/>
                    <a:pt x="16" y="153"/>
                    <a:pt x="16" y="153"/>
                  </a:cubicBezTo>
                  <a:cubicBezTo>
                    <a:pt x="16" y="153"/>
                    <a:pt x="16" y="153"/>
                    <a:pt x="16" y="153"/>
                  </a:cubicBezTo>
                  <a:cubicBezTo>
                    <a:pt x="22" y="138"/>
                    <a:pt x="23" y="135"/>
                    <a:pt x="24" y="133"/>
                  </a:cubicBezTo>
                  <a:cubicBezTo>
                    <a:pt x="24" y="133"/>
                    <a:pt x="24" y="133"/>
                    <a:pt x="24" y="133"/>
                  </a:cubicBezTo>
                  <a:cubicBezTo>
                    <a:pt x="24" y="132"/>
                    <a:pt x="24" y="132"/>
                    <a:pt x="24" y="132"/>
                  </a:cubicBezTo>
                  <a:cubicBezTo>
                    <a:pt x="28" y="127"/>
                    <a:pt x="31" y="122"/>
                    <a:pt x="34" y="116"/>
                  </a:cubicBezTo>
                  <a:cubicBezTo>
                    <a:pt x="37" y="109"/>
                    <a:pt x="41" y="102"/>
                    <a:pt x="48" y="96"/>
                  </a:cubicBezTo>
                  <a:cubicBezTo>
                    <a:pt x="48" y="96"/>
                    <a:pt x="48" y="96"/>
                    <a:pt x="48" y="96"/>
                  </a:cubicBezTo>
                  <a:cubicBezTo>
                    <a:pt x="48" y="96"/>
                    <a:pt x="48" y="96"/>
                    <a:pt x="48" y="96"/>
                  </a:cubicBezTo>
                  <a:cubicBezTo>
                    <a:pt x="49" y="95"/>
                    <a:pt x="51" y="93"/>
                    <a:pt x="52" y="92"/>
                  </a:cubicBezTo>
                  <a:cubicBezTo>
                    <a:pt x="53" y="91"/>
                    <a:pt x="53" y="90"/>
                    <a:pt x="54" y="90"/>
                  </a:cubicBezTo>
                  <a:cubicBezTo>
                    <a:pt x="50" y="94"/>
                    <a:pt x="50" y="95"/>
                    <a:pt x="49" y="97"/>
                  </a:cubicBezTo>
                  <a:cubicBezTo>
                    <a:pt x="49" y="97"/>
                    <a:pt x="49" y="97"/>
                    <a:pt x="49" y="97"/>
                  </a:cubicBezTo>
                  <a:cubicBezTo>
                    <a:pt x="49" y="97"/>
                    <a:pt x="49" y="97"/>
                    <a:pt x="49" y="97"/>
                  </a:cubicBezTo>
                  <a:cubicBezTo>
                    <a:pt x="50" y="97"/>
                    <a:pt x="50" y="97"/>
                    <a:pt x="50" y="97"/>
                  </a:cubicBezTo>
                  <a:cubicBezTo>
                    <a:pt x="54" y="93"/>
                    <a:pt x="62" y="85"/>
                    <a:pt x="62" y="85"/>
                  </a:cubicBezTo>
                  <a:cubicBezTo>
                    <a:pt x="62" y="85"/>
                    <a:pt x="62" y="85"/>
                    <a:pt x="62" y="85"/>
                  </a:cubicBezTo>
                  <a:cubicBezTo>
                    <a:pt x="62" y="85"/>
                    <a:pt x="62" y="85"/>
                    <a:pt x="62" y="85"/>
                  </a:cubicBezTo>
                  <a:cubicBezTo>
                    <a:pt x="62" y="84"/>
                    <a:pt x="62" y="84"/>
                    <a:pt x="62" y="84"/>
                  </a:cubicBezTo>
                  <a:cubicBezTo>
                    <a:pt x="61" y="84"/>
                    <a:pt x="60" y="84"/>
                    <a:pt x="60" y="84"/>
                  </a:cubicBezTo>
                  <a:cubicBezTo>
                    <a:pt x="59" y="84"/>
                    <a:pt x="59" y="84"/>
                    <a:pt x="59" y="84"/>
                  </a:cubicBezTo>
                  <a:cubicBezTo>
                    <a:pt x="59" y="82"/>
                    <a:pt x="60" y="81"/>
                    <a:pt x="61" y="79"/>
                  </a:cubicBezTo>
                  <a:cubicBezTo>
                    <a:pt x="62" y="78"/>
                    <a:pt x="63" y="76"/>
                    <a:pt x="64" y="75"/>
                  </a:cubicBezTo>
                  <a:cubicBezTo>
                    <a:pt x="64" y="75"/>
                    <a:pt x="64" y="75"/>
                    <a:pt x="63" y="74"/>
                  </a:cubicBezTo>
                  <a:cubicBezTo>
                    <a:pt x="63" y="74"/>
                    <a:pt x="63" y="74"/>
                    <a:pt x="63" y="74"/>
                  </a:cubicBezTo>
                  <a:cubicBezTo>
                    <a:pt x="63" y="74"/>
                    <a:pt x="63" y="74"/>
                    <a:pt x="63" y="74"/>
                  </a:cubicBezTo>
                  <a:cubicBezTo>
                    <a:pt x="63" y="74"/>
                    <a:pt x="63" y="74"/>
                    <a:pt x="63" y="74"/>
                  </a:cubicBezTo>
                  <a:cubicBezTo>
                    <a:pt x="62" y="74"/>
                    <a:pt x="60" y="76"/>
                    <a:pt x="57" y="79"/>
                  </a:cubicBezTo>
                  <a:cubicBezTo>
                    <a:pt x="59" y="76"/>
                    <a:pt x="62" y="73"/>
                    <a:pt x="62" y="73"/>
                  </a:cubicBezTo>
                  <a:cubicBezTo>
                    <a:pt x="62" y="73"/>
                    <a:pt x="78" y="62"/>
                    <a:pt x="80" y="61"/>
                  </a:cubicBezTo>
                  <a:cubicBezTo>
                    <a:pt x="79" y="63"/>
                    <a:pt x="77" y="64"/>
                    <a:pt x="76" y="65"/>
                  </a:cubicBezTo>
                  <a:cubicBezTo>
                    <a:pt x="73" y="69"/>
                    <a:pt x="71" y="72"/>
                    <a:pt x="69" y="76"/>
                  </a:cubicBezTo>
                  <a:cubicBezTo>
                    <a:pt x="68" y="76"/>
                    <a:pt x="68" y="76"/>
                    <a:pt x="68" y="76"/>
                  </a:cubicBezTo>
                  <a:cubicBezTo>
                    <a:pt x="69" y="76"/>
                    <a:pt x="69" y="76"/>
                    <a:pt x="69" y="76"/>
                  </a:cubicBezTo>
                  <a:cubicBezTo>
                    <a:pt x="70" y="76"/>
                    <a:pt x="72" y="75"/>
                    <a:pt x="73" y="74"/>
                  </a:cubicBezTo>
                  <a:cubicBezTo>
                    <a:pt x="74" y="73"/>
                    <a:pt x="75" y="73"/>
                    <a:pt x="76" y="72"/>
                  </a:cubicBezTo>
                  <a:cubicBezTo>
                    <a:pt x="76" y="73"/>
                    <a:pt x="76" y="73"/>
                    <a:pt x="76" y="73"/>
                  </a:cubicBezTo>
                  <a:cubicBezTo>
                    <a:pt x="76" y="73"/>
                    <a:pt x="76" y="73"/>
                    <a:pt x="76" y="73"/>
                  </a:cubicBezTo>
                  <a:cubicBezTo>
                    <a:pt x="78" y="73"/>
                    <a:pt x="79" y="73"/>
                    <a:pt x="79" y="73"/>
                  </a:cubicBezTo>
                  <a:cubicBezTo>
                    <a:pt x="79" y="73"/>
                    <a:pt x="79" y="73"/>
                    <a:pt x="79" y="73"/>
                  </a:cubicBezTo>
                  <a:cubicBezTo>
                    <a:pt x="81" y="71"/>
                    <a:pt x="81" y="70"/>
                    <a:pt x="82" y="69"/>
                  </a:cubicBezTo>
                  <a:cubicBezTo>
                    <a:pt x="82" y="69"/>
                    <a:pt x="82" y="69"/>
                    <a:pt x="82" y="69"/>
                  </a:cubicBezTo>
                  <a:cubicBezTo>
                    <a:pt x="81" y="69"/>
                    <a:pt x="81" y="69"/>
                    <a:pt x="81" y="69"/>
                  </a:cubicBezTo>
                  <a:cubicBezTo>
                    <a:pt x="81" y="68"/>
                    <a:pt x="81" y="67"/>
                    <a:pt x="83" y="64"/>
                  </a:cubicBezTo>
                  <a:cubicBezTo>
                    <a:pt x="83" y="64"/>
                    <a:pt x="83" y="64"/>
                    <a:pt x="83" y="64"/>
                  </a:cubicBezTo>
                  <a:cubicBezTo>
                    <a:pt x="83" y="63"/>
                    <a:pt x="83" y="63"/>
                    <a:pt x="83" y="63"/>
                  </a:cubicBezTo>
                  <a:cubicBezTo>
                    <a:pt x="83" y="63"/>
                    <a:pt x="83" y="63"/>
                    <a:pt x="83" y="63"/>
                  </a:cubicBezTo>
                  <a:cubicBezTo>
                    <a:pt x="82" y="63"/>
                    <a:pt x="82" y="63"/>
                    <a:pt x="80" y="64"/>
                  </a:cubicBezTo>
                  <a:cubicBezTo>
                    <a:pt x="80" y="64"/>
                    <a:pt x="80" y="64"/>
                    <a:pt x="80" y="64"/>
                  </a:cubicBezTo>
                  <a:cubicBezTo>
                    <a:pt x="80" y="64"/>
                    <a:pt x="81" y="63"/>
                    <a:pt x="83" y="59"/>
                  </a:cubicBezTo>
                  <a:cubicBezTo>
                    <a:pt x="84" y="58"/>
                    <a:pt x="84" y="57"/>
                    <a:pt x="85" y="56"/>
                  </a:cubicBezTo>
                  <a:cubicBezTo>
                    <a:pt x="86" y="55"/>
                    <a:pt x="86" y="54"/>
                    <a:pt x="87" y="53"/>
                  </a:cubicBezTo>
                  <a:cubicBezTo>
                    <a:pt x="87" y="53"/>
                    <a:pt x="87" y="53"/>
                    <a:pt x="87" y="53"/>
                  </a:cubicBezTo>
                  <a:cubicBezTo>
                    <a:pt x="87" y="53"/>
                    <a:pt x="87" y="53"/>
                    <a:pt x="86" y="52"/>
                  </a:cubicBezTo>
                  <a:cubicBezTo>
                    <a:pt x="87" y="52"/>
                    <a:pt x="87" y="51"/>
                    <a:pt x="87" y="51"/>
                  </a:cubicBezTo>
                  <a:cubicBezTo>
                    <a:pt x="87" y="51"/>
                    <a:pt x="87" y="51"/>
                    <a:pt x="87" y="51"/>
                  </a:cubicBezTo>
                  <a:cubicBezTo>
                    <a:pt x="87" y="51"/>
                    <a:pt x="87" y="51"/>
                    <a:pt x="87" y="51"/>
                  </a:cubicBezTo>
                  <a:cubicBezTo>
                    <a:pt x="86" y="51"/>
                    <a:pt x="86" y="51"/>
                    <a:pt x="85" y="50"/>
                  </a:cubicBezTo>
                  <a:cubicBezTo>
                    <a:pt x="85" y="50"/>
                    <a:pt x="85" y="50"/>
                    <a:pt x="85" y="50"/>
                  </a:cubicBezTo>
                  <a:cubicBezTo>
                    <a:pt x="85" y="50"/>
                    <a:pt x="85" y="50"/>
                    <a:pt x="85" y="50"/>
                  </a:cubicBezTo>
                  <a:cubicBezTo>
                    <a:pt x="85" y="49"/>
                    <a:pt x="86" y="47"/>
                    <a:pt x="91" y="41"/>
                  </a:cubicBezTo>
                  <a:cubicBezTo>
                    <a:pt x="91" y="41"/>
                    <a:pt x="91" y="41"/>
                    <a:pt x="91" y="41"/>
                  </a:cubicBezTo>
                  <a:cubicBezTo>
                    <a:pt x="91" y="41"/>
                    <a:pt x="91" y="41"/>
                    <a:pt x="91" y="41"/>
                  </a:cubicBezTo>
                  <a:cubicBezTo>
                    <a:pt x="91" y="41"/>
                    <a:pt x="91" y="41"/>
                    <a:pt x="91" y="41"/>
                  </a:cubicBezTo>
                  <a:cubicBezTo>
                    <a:pt x="91" y="41"/>
                    <a:pt x="91" y="41"/>
                    <a:pt x="91" y="41"/>
                  </a:cubicBezTo>
                  <a:cubicBezTo>
                    <a:pt x="91" y="41"/>
                    <a:pt x="91" y="41"/>
                    <a:pt x="91" y="41"/>
                  </a:cubicBezTo>
                  <a:cubicBezTo>
                    <a:pt x="91" y="41"/>
                    <a:pt x="91" y="41"/>
                    <a:pt x="91" y="41"/>
                  </a:cubicBezTo>
                  <a:cubicBezTo>
                    <a:pt x="90" y="41"/>
                    <a:pt x="89" y="42"/>
                    <a:pt x="88" y="43"/>
                  </a:cubicBezTo>
                  <a:cubicBezTo>
                    <a:pt x="87" y="44"/>
                    <a:pt x="85" y="46"/>
                    <a:pt x="84" y="46"/>
                  </a:cubicBezTo>
                  <a:cubicBezTo>
                    <a:pt x="84" y="45"/>
                    <a:pt x="86" y="44"/>
                    <a:pt x="86" y="43"/>
                  </a:cubicBezTo>
                  <a:cubicBezTo>
                    <a:pt x="87" y="42"/>
                    <a:pt x="88" y="41"/>
                    <a:pt x="89" y="40"/>
                  </a:cubicBezTo>
                  <a:cubicBezTo>
                    <a:pt x="89" y="40"/>
                    <a:pt x="89" y="40"/>
                    <a:pt x="89" y="40"/>
                  </a:cubicBezTo>
                  <a:cubicBezTo>
                    <a:pt x="89" y="40"/>
                    <a:pt x="89" y="40"/>
                    <a:pt x="89" y="40"/>
                  </a:cubicBezTo>
                  <a:cubicBezTo>
                    <a:pt x="79" y="44"/>
                    <a:pt x="63" y="63"/>
                    <a:pt x="51" y="77"/>
                  </a:cubicBezTo>
                  <a:cubicBezTo>
                    <a:pt x="52" y="76"/>
                    <a:pt x="53" y="73"/>
                    <a:pt x="59" y="66"/>
                  </a:cubicBezTo>
                  <a:cubicBezTo>
                    <a:pt x="59" y="66"/>
                    <a:pt x="59" y="66"/>
                    <a:pt x="59" y="66"/>
                  </a:cubicBezTo>
                  <a:cubicBezTo>
                    <a:pt x="58" y="66"/>
                    <a:pt x="58" y="66"/>
                    <a:pt x="58" y="66"/>
                  </a:cubicBezTo>
                  <a:cubicBezTo>
                    <a:pt x="59" y="66"/>
                    <a:pt x="59" y="66"/>
                    <a:pt x="60" y="64"/>
                  </a:cubicBezTo>
                  <a:cubicBezTo>
                    <a:pt x="60" y="64"/>
                    <a:pt x="60" y="64"/>
                    <a:pt x="60" y="64"/>
                  </a:cubicBezTo>
                  <a:cubicBezTo>
                    <a:pt x="60" y="64"/>
                    <a:pt x="60" y="64"/>
                    <a:pt x="60" y="64"/>
                  </a:cubicBezTo>
                  <a:cubicBezTo>
                    <a:pt x="60" y="63"/>
                    <a:pt x="60" y="63"/>
                    <a:pt x="60" y="63"/>
                  </a:cubicBezTo>
                  <a:cubicBezTo>
                    <a:pt x="60" y="63"/>
                    <a:pt x="60" y="63"/>
                    <a:pt x="60" y="63"/>
                  </a:cubicBezTo>
                  <a:cubicBezTo>
                    <a:pt x="60" y="63"/>
                    <a:pt x="60" y="63"/>
                    <a:pt x="60" y="63"/>
                  </a:cubicBezTo>
                  <a:cubicBezTo>
                    <a:pt x="60" y="63"/>
                    <a:pt x="60" y="63"/>
                    <a:pt x="60" y="63"/>
                  </a:cubicBezTo>
                  <a:cubicBezTo>
                    <a:pt x="61" y="62"/>
                    <a:pt x="63" y="60"/>
                    <a:pt x="64" y="59"/>
                  </a:cubicBezTo>
                  <a:cubicBezTo>
                    <a:pt x="67" y="57"/>
                    <a:pt x="69" y="54"/>
                    <a:pt x="71" y="52"/>
                  </a:cubicBezTo>
                  <a:cubicBezTo>
                    <a:pt x="71" y="52"/>
                    <a:pt x="71" y="52"/>
                    <a:pt x="71" y="52"/>
                  </a:cubicBezTo>
                  <a:cubicBezTo>
                    <a:pt x="71" y="52"/>
                    <a:pt x="71" y="52"/>
                    <a:pt x="71" y="52"/>
                  </a:cubicBezTo>
                  <a:cubicBezTo>
                    <a:pt x="71" y="52"/>
                    <a:pt x="71" y="52"/>
                    <a:pt x="71" y="52"/>
                  </a:cubicBezTo>
                  <a:cubicBezTo>
                    <a:pt x="71" y="52"/>
                    <a:pt x="71" y="52"/>
                    <a:pt x="71" y="52"/>
                  </a:cubicBezTo>
                  <a:cubicBezTo>
                    <a:pt x="71" y="52"/>
                    <a:pt x="71" y="52"/>
                    <a:pt x="71" y="52"/>
                  </a:cubicBezTo>
                  <a:cubicBezTo>
                    <a:pt x="71" y="52"/>
                    <a:pt x="71" y="52"/>
                    <a:pt x="71" y="52"/>
                  </a:cubicBezTo>
                  <a:cubicBezTo>
                    <a:pt x="69" y="54"/>
                    <a:pt x="67" y="56"/>
                    <a:pt x="64" y="59"/>
                  </a:cubicBezTo>
                  <a:cubicBezTo>
                    <a:pt x="61" y="62"/>
                    <a:pt x="61" y="62"/>
                    <a:pt x="61" y="62"/>
                  </a:cubicBezTo>
                  <a:cubicBezTo>
                    <a:pt x="49" y="74"/>
                    <a:pt x="47" y="76"/>
                    <a:pt x="39" y="88"/>
                  </a:cubicBezTo>
                  <a:cubicBezTo>
                    <a:pt x="28" y="105"/>
                    <a:pt x="27" y="106"/>
                    <a:pt x="22" y="117"/>
                  </a:cubicBezTo>
                  <a:cubicBezTo>
                    <a:pt x="13" y="136"/>
                    <a:pt x="13" y="136"/>
                    <a:pt x="9" y="148"/>
                  </a:cubicBezTo>
                  <a:cubicBezTo>
                    <a:pt x="9" y="148"/>
                    <a:pt x="9" y="148"/>
                    <a:pt x="9" y="148"/>
                  </a:cubicBezTo>
                  <a:cubicBezTo>
                    <a:pt x="9" y="149"/>
                    <a:pt x="9" y="149"/>
                    <a:pt x="9" y="149"/>
                  </a:cubicBezTo>
                  <a:cubicBezTo>
                    <a:pt x="7" y="155"/>
                    <a:pt x="5" y="163"/>
                    <a:pt x="4" y="168"/>
                  </a:cubicBezTo>
                  <a:cubicBezTo>
                    <a:pt x="2" y="180"/>
                    <a:pt x="2" y="180"/>
                    <a:pt x="2" y="180"/>
                  </a:cubicBezTo>
                  <a:cubicBezTo>
                    <a:pt x="2" y="180"/>
                    <a:pt x="2" y="183"/>
                    <a:pt x="1" y="188"/>
                  </a:cubicBezTo>
                  <a:cubicBezTo>
                    <a:pt x="1" y="188"/>
                    <a:pt x="1" y="190"/>
                    <a:pt x="1" y="194"/>
                  </a:cubicBezTo>
                  <a:cubicBezTo>
                    <a:pt x="0" y="195"/>
                    <a:pt x="0" y="195"/>
                    <a:pt x="0" y="195"/>
                  </a:cubicBezTo>
                  <a:cubicBezTo>
                    <a:pt x="1" y="195"/>
                    <a:pt x="1" y="195"/>
                    <a:pt x="1" y="195"/>
                  </a:cubicBezTo>
                  <a:cubicBezTo>
                    <a:pt x="1" y="195"/>
                    <a:pt x="1" y="189"/>
                    <a:pt x="1" y="189"/>
                  </a:cubicBezTo>
                  <a:cubicBezTo>
                    <a:pt x="1" y="189"/>
                    <a:pt x="1" y="189"/>
                    <a:pt x="1" y="189"/>
                  </a:cubicBezTo>
                  <a:cubicBezTo>
                    <a:pt x="2" y="188"/>
                    <a:pt x="2" y="188"/>
                    <a:pt x="2" y="188"/>
                  </a:cubicBezTo>
                  <a:cubicBezTo>
                    <a:pt x="2" y="188"/>
                    <a:pt x="2" y="188"/>
                    <a:pt x="2" y="188"/>
                  </a:cubicBezTo>
                  <a:cubicBezTo>
                    <a:pt x="2" y="188"/>
                    <a:pt x="2" y="188"/>
                    <a:pt x="2" y="188"/>
                  </a:cubicBezTo>
                  <a:cubicBezTo>
                    <a:pt x="2" y="188"/>
                    <a:pt x="2" y="188"/>
                    <a:pt x="2" y="188"/>
                  </a:cubicBezTo>
                  <a:cubicBezTo>
                    <a:pt x="3" y="187"/>
                    <a:pt x="3" y="186"/>
                    <a:pt x="3" y="184"/>
                  </a:cubicBezTo>
                  <a:close/>
                  <a:moveTo>
                    <a:pt x="47" y="230"/>
                  </a:moveTo>
                  <a:cubicBezTo>
                    <a:pt x="48" y="230"/>
                    <a:pt x="48" y="230"/>
                    <a:pt x="48" y="230"/>
                  </a:cubicBezTo>
                  <a:cubicBezTo>
                    <a:pt x="48" y="229"/>
                    <a:pt x="48" y="229"/>
                    <a:pt x="48" y="229"/>
                  </a:cubicBezTo>
                  <a:cubicBezTo>
                    <a:pt x="48" y="228"/>
                    <a:pt x="48" y="228"/>
                    <a:pt x="48" y="228"/>
                  </a:cubicBezTo>
                  <a:cubicBezTo>
                    <a:pt x="47" y="228"/>
                    <a:pt x="47" y="228"/>
                    <a:pt x="47" y="228"/>
                  </a:cubicBezTo>
                  <a:cubicBezTo>
                    <a:pt x="47" y="228"/>
                    <a:pt x="47" y="228"/>
                    <a:pt x="47" y="228"/>
                  </a:cubicBezTo>
                  <a:cubicBezTo>
                    <a:pt x="47" y="229"/>
                    <a:pt x="47" y="229"/>
                    <a:pt x="47" y="229"/>
                  </a:cubicBezTo>
                  <a:lnTo>
                    <a:pt x="47" y="230"/>
                  </a:lnTo>
                  <a:close/>
                  <a:moveTo>
                    <a:pt x="48" y="234"/>
                  </a:moveTo>
                  <a:cubicBezTo>
                    <a:pt x="49" y="233"/>
                    <a:pt x="49" y="233"/>
                    <a:pt x="49" y="233"/>
                  </a:cubicBezTo>
                  <a:cubicBezTo>
                    <a:pt x="49" y="233"/>
                    <a:pt x="49" y="233"/>
                    <a:pt x="49" y="233"/>
                  </a:cubicBezTo>
                  <a:cubicBezTo>
                    <a:pt x="49" y="232"/>
                    <a:pt x="48" y="232"/>
                    <a:pt x="48" y="232"/>
                  </a:cubicBezTo>
                  <a:cubicBezTo>
                    <a:pt x="48" y="232"/>
                    <a:pt x="48" y="232"/>
                    <a:pt x="48" y="232"/>
                  </a:cubicBezTo>
                  <a:cubicBezTo>
                    <a:pt x="47" y="232"/>
                    <a:pt x="47" y="232"/>
                    <a:pt x="47" y="232"/>
                  </a:cubicBezTo>
                  <a:cubicBezTo>
                    <a:pt x="48" y="233"/>
                    <a:pt x="48" y="234"/>
                    <a:pt x="48" y="234"/>
                  </a:cubicBezTo>
                  <a:close/>
                  <a:moveTo>
                    <a:pt x="76" y="49"/>
                  </a:moveTo>
                  <a:cubicBezTo>
                    <a:pt x="77" y="47"/>
                    <a:pt x="80" y="46"/>
                    <a:pt x="82" y="44"/>
                  </a:cubicBezTo>
                  <a:cubicBezTo>
                    <a:pt x="82" y="44"/>
                    <a:pt x="82" y="44"/>
                    <a:pt x="82" y="44"/>
                  </a:cubicBezTo>
                  <a:cubicBezTo>
                    <a:pt x="86" y="41"/>
                    <a:pt x="86" y="41"/>
                    <a:pt x="86" y="41"/>
                  </a:cubicBezTo>
                  <a:cubicBezTo>
                    <a:pt x="86" y="41"/>
                    <a:pt x="86" y="41"/>
                    <a:pt x="86" y="41"/>
                  </a:cubicBezTo>
                  <a:cubicBezTo>
                    <a:pt x="86" y="41"/>
                    <a:pt x="86" y="41"/>
                    <a:pt x="86" y="41"/>
                  </a:cubicBezTo>
                  <a:cubicBezTo>
                    <a:pt x="87" y="41"/>
                    <a:pt x="89" y="39"/>
                    <a:pt x="89" y="39"/>
                  </a:cubicBezTo>
                  <a:cubicBezTo>
                    <a:pt x="89" y="39"/>
                    <a:pt x="90" y="38"/>
                    <a:pt x="91" y="37"/>
                  </a:cubicBezTo>
                  <a:cubicBezTo>
                    <a:pt x="95" y="35"/>
                    <a:pt x="99" y="32"/>
                    <a:pt x="102" y="30"/>
                  </a:cubicBezTo>
                  <a:cubicBezTo>
                    <a:pt x="102" y="30"/>
                    <a:pt x="102" y="30"/>
                    <a:pt x="102" y="30"/>
                  </a:cubicBezTo>
                  <a:cubicBezTo>
                    <a:pt x="102" y="30"/>
                    <a:pt x="102" y="30"/>
                    <a:pt x="102" y="30"/>
                  </a:cubicBezTo>
                  <a:cubicBezTo>
                    <a:pt x="102" y="30"/>
                    <a:pt x="102" y="30"/>
                    <a:pt x="102" y="30"/>
                  </a:cubicBezTo>
                  <a:cubicBezTo>
                    <a:pt x="102" y="30"/>
                    <a:pt x="102" y="30"/>
                    <a:pt x="102" y="30"/>
                  </a:cubicBezTo>
                  <a:cubicBezTo>
                    <a:pt x="102" y="30"/>
                    <a:pt x="102" y="30"/>
                    <a:pt x="102" y="30"/>
                  </a:cubicBezTo>
                  <a:cubicBezTo>
                    <a:pt x="101" y="30"/>
                    <a:pt x="101" y="30"/>
                    <a:pt x="101" y="30"/>
                  </a:cubicBezTo>
                  <a:cubicBezTo>
                    <a:pt x="100" y="31"/>
                    <a:pt x="95" y="34"/>
                    <a:pt x="91" y="37"/>
                  </a:cubicBezTo>
                  <a:cubicBezTo>
                    <a:pt x="89" y="38"/>
                    <a:pt x="89" y="38"/>
                    <a:pt x="89" y="38"/>
                  </a:cubicBezTo>
                  <a:cubicBezTo>
                    <a:pt x="88" y="39"/>
                    <a:pt x="88" y="39"/>
                    <a:pt x="88" y="39"/>
                  </a:cubicBezTo>
                  <a:cubicBezTo>
                    <a:pt x="88" y="39"/>
                    <a:pt x="88" y="39"/>
                    <a:pt x="88" y="39"/>
                  </a:cubicBezTo>
                  <a:cubicBezTo>
                    <a:pt x="84" y="42"/>
                    <a:pt x="84" y="42"/>
                    <a:pt x="76" y="48"/>
                  </a:cubicBezTo>
                  <a:cubicBezTo>
                    <a:pt x="75" y="49"/>
                    <a:pt x="75" y="49"/>
                    <a:pt x="75" y="49"/>
                  </a:cubicBezTo>
                  <a:cubicBezTo>
                    <a:pt x="76" y="49"/>
                    <a:pt x="76" y="49"/>
                    <a:pt x="76" y="49"/>
                  </a:cubicBezTo>
                  <a:close/>
                  <a:moveTo>
                    <a:pt x="141" y="14"/>
                  </a:moveTo>
                  <a:cubicBezTo>
                    <a:pt x="141" y="14"/>
                    <a:pt x="141" y="14"/>
                    <a:pt x="141" y="14"/>
                  </a:cubicBezTo>
                  <a:cubicBezTo>
                    <a:pt x="141" y="14"/>
                    <a:pt x="141" y="14"/>
                    <a:pt x="141" y="14"/>
                  </a:cubicBezTo>
                  <a:cubicBezTo>
                    <a:pt x="142" y="14"/>
                    <a:pt x="142" y="14"/>
                    <a:pt x="142" y="14"/>
                  </a:cubicBezTo>
                  <a:cubicBezTo>
                    <a:pt x="143" y="14"/>
                    <a:pt x="143" y="14"/>
                    <a:pt x="143" y="14"/>
                  </a:cubicBezTo>
                  <a:cubicBezTo>
                    <a:pt x="143" y="14"/>
                    <a:pt x="143" y="14"/>
                    <a:pt x="143" y="14"/>
                  </a:cubicBezTo>
                  <a:cubicBezTo>
                    <a:pt x="143" y="14"/>
                    <a:pt x="143" y="14"/>
                    <a:pt x="143" y="14"/>
                  </a:cubicBezTo>
                  <a:cubicBezTo>
                    <a:pt x="143" y="14"/>
                    <a:pt x="143" y="14"/>
                    <a:pt x="143" y="14"/>
                  </a:cubicBezTo>
                  <a:cubicBezTo>
                    <a:pt x="143" y="14"/>
                    <a:pt x="143" y="14"/>
                    <a:pt x="144" y="14"/>
                  </a:cubicBezTo>
                  <a:cubicBezTo>
                    <a:pt x="143" y="15"/>
                    <a:pt x="143" y="15"/>
                    <a:pt x="143" y="15"/>
                  </a:cubicBezTo>
                  <a:cubicBezTo>
                    <a:pt x="143" y="15"/>
                    <a:pt x="143" y="15"/>
                    <a:pt x="143" y="15"/>
                  </a:cubicBezTo>
                  <a:cubicBezTo>
                    <a:pt x="144" y="15"/>
                    <a:pt x="148" y="14"/>
                    <a:pt x="148" y="14"/>
                  </a:cubicBezTo>
                  <a:cubicBezTo>
                    <a:pt x="149" y="13"/>
                    <a:pt x="149" y="13"/>
                    <a:pt x="149" y="13"/>
                  </a:cubicBezTo>
                  <a:cubicBezTo>
                    <a:pt x="149" y="13"/>
                    <a:pt x="149" y="13"/>
                    <a:pt x="149" y="13"/>
                  </a:cubicBezTo>
                  <a:cubicBezTo>
                    <a:pt x="150" y="12"/>
                    <a:pt x="150" y="12"/>
                    <a:pt x="150" y="12"/>
                  </a:cubicBezTo>
                  <a:cubicBezTo>
                    <a:pt x="151" y="12"/>
                    <a:pt x="151" y="12"/>
                    <a:pt x="151" y="12"/>
                  </a:cubicBezTo>
                  <a:cubicBezTo>
                    <a:pt x="152" y="11"/>
                    <a:pt x="152" y="11"/>
                    <a:pt x="152" y="11"/>
                  </a:cubicBezTo>
                  <a:cubicBezTo>
                    <a:pt x="152" y="11"/>
                    <a:pt x="152" y="11"/>
                    <a:pt x="152" y="11"/>
                  </a:cubicBezTo>
                  <a:cubicBezTo>
                    <a:pt x="152" y="11"/>
                    <a:pt x="152" y="11"/>
                    <a:pt x="152" y="11"/>
                  </a:cubicBezTo>
                  <a:cubicBezTo>
                    <a:pt x="149" y="11"/>
                    <a:pt x="149" y="11"/>
                    <a:pt x="149" y="11"/>
                  </a:cubicBezTo>
                  <a:cubicBezTo>
                    <a:pt x="145" y="12"/>
                    <a:pt x="145" y="12"/>
                    <a:pt x="145" y="12"/>
                  </a:cubicBezTo>
                  <a:cubicBezTo>
                    <a:pt x="145" y="13"/>
                    <a:pt x="145" y="13"/>
                    <a:pt x="145" y="13"/>
                  </a:cubicBezTo>
                  <a:cubicBezTo>
                    <a:pt x="145" y="13"/>
                    <a:pt x="145" y="13"/>
                    <a:pt x="145" y="13"/>
                  </a:cubicBezTo>
                  <a:cubicBezTo>
                    <a:pt x="144" y="12"/>
                    <a:pt x="144" y="13"/>
                    <a:pt x="143" y="13"/>
                  </a:cubicBezTo>
                  <a:cubicBezTo>
                    <a:pt x="141" y="13"/>
                    <a:pt x="141" y="14"/>
                    <a:pt x="141" y="14"/>
                  </a:cubicBezTo>
                  <a:close/>
                  <a:moveTo>
                    <a:pt x="115" y="24"/>
                  </a:moveTo>
                  <a:cubicBezTo>
                    <a:pt x="113" y="26"/>
                    <a:pt x="111" y="28"/>
                    <a:pt x="111" y="30"/>
                  </a:cubicBezTo>
                  <a:cubicBezTo>
                    <a:pt x="112" y="30"/>
                    <a:pt x="112" y="30"/>
                    <a:pt x="112" y="30"/>
                  </a:cubicBezTo>
                  <a:cubicBezTo>
                    <a:pt x="112" y="30"/>
                    <a:pt x="112" y="30"/>
                    <a:pt x="112" y="30"/>
                  </a:cubicBezTo>
                  <a:cubicBezTo>
                    <a:pt x="112" y="30"/>
                    <a:pt x="112" y="30"/>
                    <a:pt x="112" y="30"/>
                  </a:cubicBezTo>
                  <a:cubicBezTo>
                    <a:pt x="113" y="30"/>
                    <a:pt x="114" y="29"/>
                    <a:pt x="114" y="29"/>
                  </a:cubicBezTo>
                  <a:cubicBezTo>
                    <a:pt x="114" y="29"/>
                    <a:pt x="114" y="29"/>
                    <a:pt x="114" y="29"/>
                  </a:cubicBezTo>
                  <a:cubicBezTo>
                    <a:pt x="114" y="30"/>
                    <a:pt x="114" y="30"/>
                    <a:pt x="114" y="30"/>
                  </a:cubicBezTo>
                  <a:cubicBezTo>
                    <a:pt x="115" y="30"/>
                    <a:pt x="116" y="30"/>
                    <a:pt x="116" y="30"/>
                  </a:cubicBezTo>
                  <a:cubicBezTo>
                    <a:pt x="116" y="29"/>
                    <a:pt x="117" y="29"/>
                    <a:pt x="118" y="28"/>
                  </a:cubicBezTo>
                  <a:cubicBezTo>
                    <a:pt x="118" y="28"/>
                    <a:pt x="119" y="27"/>
                    <a:pt x="119" y="26"/>
                  </a:cubicBezTo>
                  <a:cubicBezTo>
                    <a:pt x="120" y="26"/>
                    <a:pt x="120" y="25"/>
                    <a:pt x="121" y="25"/>
                  </a:cubicBezTo>
                  <a:cubicBezTo>
                    <a:pt x="121" y="24"/>
                    <a:pt x="121" y="24"/>
                    <a:pt x="121" y="24"/>
                  </a:cubicBezTo>
                  <a:cubicBezTo>
                    <a:pt x="122" y="24"/>
                    <a:pt x="122" y="24"/>
                    <a:pt x="122" y="24"/>
                  </a:cubicBezTo>
                  <a:cubicBezTo>
                    <a:pt x="123" y="23"/>
                    <a:pt x="123" y="23"/>
                    <a:pt x="124" y="22"/>
                  </a:cubicBezTo>
                  <a:cubicBezTo>
                    <a:pt x="124" y="22"/>
                    <a:pt x="125" y="21"/>
                    <a:pt x="125" y="21"/>
                  </a:cubicBezTo>
                  <a:cubicBezTo>
                    <a:pt x="126" y="20"/>
                    <a:pt x="126" y="20"/>
                    <a:pt x="126" y="20"/>
                  </a:cubicBezTo>
                  <a:cubicBezTo>
                    <a:pt x="127" y="20"/>
                    <a:pt x="127" y="20"/>
                    <a:pt x="127" y="20"/>
                  </a:cubicBezTo>
                  <a:cubicBezTo>
                    <a:pt x="128" y="19"/>
                    <a:pt x="128" y="19"/>
                    <a:pt x="129" y="19"/>
                  </a:cubicBezTo>
                  <a:cubicBezTo>
                    <a:pt x="129" y="19"/>
                    <a:pt x="129" y="19"/>
                    <a:pt x="129" y="19"/>
                  </a:cubicBezTo>
                  <a:cubicBezTo>
                    <a:pt x="129" y="19"/>
                    <a:pt x="129" y="19"/>
                    <a:pt x="129" y="19"/>
                  </a:cubicBezTo>
                  <a:cubicBezTo>
                    <a:pt x="129" y="19"/>
                    <a:pt x="130" y="19"/>
                    <a:pt x="135" y="15"/>
                  </a:cubicBezTo>
                  <a:cubicBezTo>
                    <a:pt x="135" y="15"/>
                    <a:pt x="135" y="15"/>
                    <a:pt x="135" y="15"/>
                  </a:cubicBezTo>
                  <a:cubicBezTo>
                    <a:pt x="135" y="15"/>
                    <a:pt x="135" y="15"/>
                    <a:pt x="135" y="15"/>
                  </a:cubicBezTo>
                  <a:cubicBezTo>
                    <a:pt x="136" y="15"/>
                    <a:pt x="136" y="15"/>
                    <a:pt x="136" y="15"/>
                  </a:cubicBezTo>
                  <a:cubicBezTo>
                    <a:pt x="137" y="15"/>
                    <a:pt x="137" y="15"/>
                    <a:pt x="137" y="15"/>
                  </a:cubicBezTo>
                  <a:cubicBezTo>
                    <a:pt x="139" y="14"/>
                    <a:pt x="141" y="12"/>
                    <a:pt x="142" y="12"/>
                  </a:cubicBezTo>
                  <a:cubicBezTo>
                    <a:pt x="142" y="12"/>
                    <a:pt x="142" y="12"/>
                    <a:pt x="142" y="12"/>
                  </a:cubicBezTo>
                  <a:cubicBezTo>
                    <a:pt x="143" y="12"/>
                    <a:pt x="143" y="12"/>
                    <a:pt x="143" y="12"/>
                  </a:cubicBezTo>
                  <a:cubicBezTo>
                    <a:pt x="143" y="11"/>
                    <a:pt x="143" y="11"/>
                    <a:pt x="143" y="11"/>
                  </a:cubicBezTo>
                  <a:cubicBezTo>
                    <a:pt x="143" y="11"/>
                    <a:pt x="143" y="11"/>
                    <a:pt x="143" y="11"/>
                  </a:cubicBezTo>
                  <a:cubicBezTo>
                    <a:pt x="143" y="11"/>
                    <a:pt x="143" y="11"/>
                    <a:pt x="143" y="11"/>
                  </a:cubicBezTo>
                  <a:cubicBezTo>
                    <a:pt x="143" y="11"/>
                    <a:pt x="143" y="11"/>
                    <a:pt x="143" y="11"/>
                  </a:cubicBezTo>
                  <a:cubicBezTo>
                    <a:pt x="143" y="11"/>
                    <a:pt x="143" y="11"/>
                    <a:pt x="141" y="12"/>
                  </a:cubicBezTo>
                  <a:cubicBezTo>
                    <a:pt x="141" y="12"/>
                    <a:pt x="141" y="12"/>
                    <a:pt x="141" y="12"/>
                  </a:cubicBezTo>
                  <a:cubicBezTo>
                    <a:pt x="141" y="12"/>
                    <a:pt x="141" y="12"/>
                    <a:pt x="141" y="12"/>
                  </a:cubicBezTo>
                  <a:cubicBezTo>
                    <a:pt x="135" y="14"/>
                    <a:pt x="135" y="14"/>
                    <a:pt x="135" y="14"/>
                  </a:cubicBezTo>
                  <a:cubicBezTo>
                    <a:pt x="135" y="14"/>
                    <a:pt x="135" y="14"/>
                    <a:pt x="135" y="14"/>
                  </a:cubicBezTo>
                  <a:cubicBezTo>
                    <a:pt x="131" y="15"/>
                    <a:pt x="131" y="15"/>
                    <a:pt x="131" y="15"/>
                  </a:cubicBezTo>
                  <a:cubicBezTo>
                    <a:pt x="129" y="16"/>
                    <a:pt x="129" y="16"/>
                    <a:pt x="129" y="16"/>
                  </a:cubicBezTo>
                  <a:cubicBezTo>
                    <a:pt x="125" y="18"/>
                    <a:pt x="125" y="18"/>
                    <a:pt x="125" y="18"/>
                  </a:cubicBezTo>
                  <a:cubicBezTo>
                    <a:pt x="125" y="18"/>
                    <a:pt x="125" y="18"/>
                    <a:pt x="125" y="18"/>
                  </a:cubicBezTo>
                  <a:cubicBezTo>
                    <a:pt x="125" y="18"/>
                    <a:pt x="125" y="18"/>
                    <a:pt x="124" y="18"/>
                  </a:cubicBezTo>
                  <a:cubicBezTo>
                    <a:pt x="124" y="18"/>
                    <a:pt x="124" y="18"/>
                    <a:pt x="124" y="18"/>
                  </a:cubicBezTo>
                  <a:cubicBezTo>
                    <a:pt x="124" y="19"/>
                    <a:pt x="124" y="19"/>
                    <a:pt x="124" y="19"/>
                  </a:cubicBezTo>
                  <a:cubicBezTo>
                    <a:pt x="121" y="20"/>
                    <a:pt x="121" y="20"/>
                    <a:pt x="121" y="20"/>
                  </a:cubicBezTo>
                  <a:cubicBezTo>
                    <a:pt x="119" y="21"/>
                    <a:pt x="117" y="22"/>
                    <a:pt x="115" y="24"/>
                  </a:cubicBezTo>
                  <a:close/>
                  <a:moveTo>
                    <a:pt x="91" y="37"/>
                  </a:moveTo>
                  <a:cubicBezTo>
                    <a:pt x="91" y="37"/>
                    <a:pt x="91" y="37"/>
                    <a:pt x="91" y="37"/>
                  </a:cubicBezTo>
                  <a:cubicBezTo>
                    <a:pt x="91" y="37"/>
                    <a:pt x="91" y="37"/>
                    <a:pt x="91" y="37"/>
                  </a:cubicBezTo>
                  <a:cubicBezTo>
                    <a:pt x="91" y="37"/>
                    <a:pt x="91" y="37"/>
                    <a:pt x="91" y="37"/>
                  </a:cubicBezTo>
                  <a:cubicBezTo>
                    <a:pt x="91" y="37"/>
                    <a:pt x="91" y="37"/>
                    <a:pt x="91" y="37"/>
                  </a:cubicBezTo>
                  <a:cubicBezTo>
                    <a:pt x="91" y="37"/>
                    <a:pt x="91" y="37"/>
                    <a:pt x="91" y="37"/>
                  </a:cubicBezTo>
                  <a:cubicBezTo>
                    <a:pt x="91" y="37"/>
                    <a:pt x="91" y="37"/>
                    <a:pt x="91" y="37"/>
                  </a:cubicBezTo>
                  <a:cubicBezTo>
                    <a:pt x="92" y="37"/>
                    <a:pt x="92" y="37"/>
                    <a:pt x="94" y="36"/>
                  </a:cubicBezTo>
                  <a:cubicBezTo>
                    <a:pt x="93" y="37"/>
                    <a:pt x="93" y="37"/>
                    <a:pt x="93" y="37"/>
                  </a:cubicBezTo>
                  <a:cubicBezTo>
                    <a:pt x="93" y="37"/>
                    <a:pt x="92" y="38"/>
                    <a:pt x="92" y="38"/>
                  </a:cubicBezTo>
                  <a:cubicBezTo>
                    <a:pt x="92" y="38"/>
                    <a:pt x="92" y="38"/>
                    <a:pt x="92" y="38"/>
                  </a:cubicBezTo>
                  <a:cubicBezTo>
                    <a:pt x="92" y="38"/>
                    <a:pt x="92" y="38"/>
                    <a:pt x="92" y="38"/>
                  </a:cubicBezTo>
                  <a:cubicBezTo>
                    <a:pt x="92" y="38"/>
                    <a:pt x="92" y="38"/>
                    <a:pt x="92" y="38"/>
                  </a:cubicBezTo>
                  <a:cubicBezTo>
                    <a:pt x="92" y="38"/>
                    <a:pt x="92" y="38"/>
                    <a:pt x="92" y="38"/>
                  </a:cubicBezTo>
                  <a:cubicBezTo>
                    <a:pt x="93" y="38"/>
                    <a:pt x="93" y="38"/>
                    <a:pt x="93" y="38"/>
                  </a:cubicBezTo>
                  <a:cubicBezTo>
                    <a:pt x="93" y="38"/>
                    <a:pt x="93" y="38"/>
                    <a:pt x="93" y="38"/>
                  </a:cubicBezTo>
                  <a:cubicBezTo>
                    <a:pt x="94" y="38"/>
                    <a:pt x="94" y="38"/>
                    <a:pt x="96" y="36"/>
                  </a:cubicBezTo>
                  <a:cubicBezTo>
                    <a:pt x="96" y="36"/>
                    <a:pt x="96" y="36"/>
                    <a:pt x="96" y="36"/>
                  </a:cubicBezTo>
                  <a:cubicBezTo>
                    <a:pt x="96" y="36"/>
                    <a:pt x="96" y="36"/>
                    <a:pt x="96" y="36"/>
                  </a:cubicBezTo>
                  <a:cubicBezTo>
                    <a:pt x="97" y="36"/>
                    <a:pt x="101" y="33"/>
                    <a:pt x="103" y="31"/>
                  </a:cubicBezTo>
                  <a:cubicBezTo>
                    <a:pt x="103" y="30"/>
                    <a:pt x="103" y="30"/>
                    <a:pt x="104" y="29"/>
                  </a:cubicBezTo>
                  <a:cubicBezTo>
                    <a:pt x="104" y="30"/>
                    <a:pt x="104" y="30"/>
                    <a:pt x="103" y="30"/>
                  </a:cubicBezTo>
                  <a:cubicBezTo>
                    <a:pt x="103" y="30"/>
                    <a:pt x="103" y="30"/>
                    <a:pt x="103" y="30"/>
                  </a:cubicBezTo>
                  <a:cubicBezTo>
                    <a:pt x="104" y="30"/>
                    <a:pt x="104" y="30"/>
                    <a:pt x="104" y="30"/>
                  </a:cubicBezTo>
                  <a:cubicBezTo>
                    <a:pt x="104" y="30"/>
                    <a:pt x="104" y="30"/>
                    <a:pt x="108" y="27"/>
                  </a:cubicBezTo>
                  <a:cubicBezTo>
                    <a:pt x="110" y="27"/>
                    <a:pt x="111" y="26"/>
                    <a:pt x="111" y="25"/>
                  </a:cubicBezTo>
                  <a:cubicBezTo>
                    <a:pt x="111" y="25"/>
                    <a:pt x="111" y="25"/>
                    <a:pt x="111" y="25"/>
                  </a:cubicBezTo>
                  <a:cubicBezTo>
                    <a:pt x="111" y="25"/>
                    <a:pt x="111" y="25"/>
                    <a:pt x="111" y="25"/>
                  </a:cubicBezTo>
                  <a:cubicBezTo>
                    <a:pt x="111" y="25"/>
                    <a:pt x="115" y="23"/>
                    <a:pt x="115" y="23"/>
                  </a:cubicBezTo>
                  <a:cubicBezTo>
                    <a:pt x="115" y="23"/>
                    <a:pt x="115" y="23"/>
                    <a:pt x="115" y="23"/>
                  </a:cubicBezTo>
                  <a:cubicBezTo>
                    <a:pt x="115" y="23"/>
                    <a:pt x="115" y="23"/>
                    <a:pt x="115" y="23"/>
                  </a:cubicBezTo>
                  <a:cubicBezTo>
                    <a:pt x="115" y="22"/>
                    <a:pt x="115" y="22"/>
                    <a:pt x="115" y="22"/>
                  </a:cubicBezTo>
                  <a:cubicBezTo>
                    <a:pt x="115" y="22"/>
                    <a:pt x="115" y="22"/>
                    <a:pt x="115" y="22"/>
                  </a:cubicBezTo>
                  <a:cubicBezTo>
                    <a:pt x="115" y="22"/>
                    <a:pt x="115" y="22"/>
                    <a:pt x="115" y="22"/>
                  </a:cubicBezTo>
                  <a:cubicBezTo>
                    <a:pt x="115" y="22"/>
                    <a:pt x="115" y="22"/>
                    <a:pt x="115" y="22"/>
                  </a:cubicBezTo>
                  <a:cubicBezTo>
                    <a:pt x="113" y="23"/>
                    <a:pt x="110" y="25"/>
                    <a:pt x="108" y="26"/>
                  </a:cubicBezTo>
                  <a:cubicBezTo>
                    <a:pt x="106" y="27"/>
                    <a:pt x="106" y="27"/>
                    <a:pt x="106" y="27"/>
                  </a:cubicBezTo>
                  <a:cubicBezTo>
                    <a:pt x="106" y="27"/>
                    <a:pt x="106" y="27"/>
                    <a:pt x="106" y="27"/>
                  </a:cubicBezTo>
                  <a:cubicBezTo>
                    <a:pt x="104" y="29"/>
                    <a:pt x="94" y="35"/>
                    <a:pt x="91" y="37"/>
                  </a:cubicBezTo>
                  <a:close/>
                  <a:moveTo>
                    <a:pt x="10" y="196"/>
                  </a:moveTo>
                  <a:cubicBezTo>
                    <a:pt x="10" y="196"/>
                    <a:pt x="10" y="196"/>
                    <a:pt x="10" y="196"/>
                  </a:cubicBezTo>
                  <a:cubicBezTo>
                    <a:pt x="10" y="196"/>
                    <a:pt x="10" y="196"/>
                    <a:pt x="10" y="196"/>
                  </a:cubicBezTo>
                  <a:cubicBezTo>
                    <a:pt x="10" y="197"/>
                    <a:pt x="10" y="197"/>
                    <a:pt x="10" y="198"/>
                  </a:cubicBezTo>
                  <a:cubicBezTo>
                    <a:pt x="10" y="200"/>
                    <a:pt x="10" y="201"/>
                    <a:pt x="11" y="202"/>
                  </a:cubicBezTo>
                  <a:cubicBezTo>
                    <a:pt x="11" y="202"/>
                    <a:pt x="11" y="202"/>
                    <a:pt x="11" y="202"/>
                  </a:cubicBezTo>
                  <a:cubicBezTo>
                    <a:pt x="11" y="202"/>
                    <a:pt x="11" y="202"/>
                    <a:pt x="11" y="202"/>
                  </a:cubicBezTo>
                  <a:cubicBezTo>
                    <a:pt x="11" y="201"/>
                    <a:pt x="11" y="201"/>
                    <a:pt x="11" y="199"/>
                  </a:cubicBezTo>
                  <a:cubicBezTo>
                    <a:pt x="11" y="198"/>
                    <a:pt x="11" y="197"/>
                    <a:pt x="10" y="196"/>
                  </a:cubicBezTo>
                  <a:close/>
                  <a:moveTo>
                    <a:pt x="12" y="195"/>
                  </a:moveTo>
                  <a:cubicBezTo>
                    <a:pt x="12" y="195"/>
                    <a:pt x="12" y="195"/>
                    <a:pt x="12" y="195"/>
                  </a:cubicBezTo>
                  <a:cubicBezTo>
                    <a:pt x="12" y="195"/>
                    <a:pt x="12" y="195"/>
                    <a:pt x="12" y="194"/>
                  </a:cubicBezTo>
                  <a:cubicBezTo>
                    <a:pt x="12" y="194"/>
                    <a:pt x="12" y="192"/>
                    <a:pt x="12" y="192"/>
                  </a:cubicBezTo>
                  <a:cubicBezTo>
                    <a:pt x="12" y="192"/>
                    <a:pt x="12" y="192"/>
                    <a:pt x="12" y="192"/>
                  </a:cubicBezTo>
                  <a:cubicBezTo>
                    <a:pt x="12" y="192"/>
                    <a:pt x="12" y="192"/>
                    <a:pt x="12" y="192"/>
                  </a:cubicBezTo>
                  <a:cubicBezTo>
                    <a:pt x="11" y="193"/>
                    <a:pt x="11" y="193"/>
                    <a:pt x="12" y="194"/>
                  </a:cubicBezTo>
                  <a:cubicBezTo>
                    <a:pt x="12" y="194"/>
                    <a:pt x="12" y="195"/>
                    <a:pt x="12" y="195"/>
                  </a:cubicBezTo>
                  <a:close/>
                  <a:moveTo>
                    <a:pt x="11" y="195"/>
                  </a:moveTo>
                  <a:cubicBezTo>
                    <a:pt x="11" y="195"/>
                    <a:pt x="11" y="195"/>
                    <a:pt x="11" y="195"/>
                  </a:cubicBezTo>
                  <a:cubicBezTo>
                    <a:pt x="11" y="195"/>
                    <a:pt x="11" y="195"/>
                    <a:pt x="11" y="195"/>
                  </a:cubicBezTo>
                  <a:cubicBezTo>
                    <a:pt x="11" y="195"/>
                    <a:pt x="11" y="195"/>
                    <a:pt x="11" y="196"/>
                  </a:cubicBezTo>
                  <a:cubicBezTo>
                    <a:pt x="11" y="196"/>
                    <a:pt x="11" y="196"/>
                    <a:pt x="11" y="196"/>
                  </a:cubicBezTo>
                  <a:cubicBezTo>
                    <a:pt x="11" y="196"/>
                    <a:pt x="12" y="196"/>
                    <a:pt x="12" y="196"/>
                  </a:cubicBezTo>
                  <a:cubicBezTo>
                    <a:pt x="12" y="195"/>
                    <a:pt x="11" y="195"/>
                    <a:pt x="11" y="195"/>
                  </a:cubicBezTo>
                  <a:close/>
                  <a:moveTo>
                    <a:pt x="279" y="403"/>
                  </a:moveTo>
                  <a:cubicBezTo>
                    <a:pt x="279" y="403"/>
                    <a:pt x="279" y="403"/>
                    <a:pt x="279" y="403"/>
                  </a:cubicBezTo>
                  <a:cubicBezTo>
                    <a:pt x="256" y="406"/>
                    <a:pt x="251" y="405"/>
                    <a:pt x="225" y="401"/>
                  </a:cubicBezTo>
                  <a:cubicBezTo>
                    <a:pt x="226" y="401"/>
                    <a:pt x="226" y="401"/>
                    <a:pt x="227" y="401"/>
                  </a:cubicBezTo>
                  <a:cubicBezTo>
                    <a:pt x="227" y="401"/>
                    <a:pt x="227" y="401"/>
                    <a:pt x="227" y="401"/>
                  </a:cubicBezTo>
                  <a:cubicBezTo>
                    <a:pt x="227" y="401"/>
                    <a:pt x="227" y="401"/>
                    <a:pt x="227" y="401"/>
                  </a:cubicBezTo>
                  <a:cubicBezTo>
                    <a:pt x="226" y="400"/>
                    <a:pt x="226" y="400"/>
                    <a:pt x="226" y="400"/>
                  </a:cubicBezTo>
                  <a:cubicBezTo>
                    <a:pt x="225" y="399"/>
                    <a:pt x="223" y="399"/>
                    <a:pt x="220" y="398"/>
                  </a:cubicBezTo>
                  <a:cubicBezTo>
                    <a:pt x="220" y="398"/>
                    <a:pt x="220" y="397"/>
                    <a:pt x="221" y="397"/>
                  </a:cubicBezTo>
                  <a:cubicBezTo>
                    <a:pt x="220" y="393"/>
                    <a:pt x="211" y="391"/>
                    <a:pt x="206" y="390"/>
                  </a:cubicBezTo>
                  <a:cubicBezTo>
                    <a:pt x="208" y="390"/>
                    <a:pt x="208" y="390"/>
                    <a:pt x="208" y="390"/>
                  </a:cubicBezTo>
                  <a:cubicBezTo>
                    <a:pt x="210" y="389"/>
                    <a:pt x="210" y="389"/>
                    <a:pt x="210" y="389"/>
                  </a:cubicBezTo>
                  <a:cubicBezTo>
                    <a:pt x="210" y="389"/>
                    <a:pt x="210" y="389"/>
                    <a:pt x="210" y="388"/>
                  </a:cubicBezTo>
                  <a:cubicBezTo>
                    <a:pt x="211" y="388"/>
                    <a:pt x="211" y="388"/>
                    <a:pt x="211" y="388"/>
                  </a:cubicBezTo>
                  <a:cubicBezTo>
                    <a:pt x="209" y="386"/>
                    <a:pt x="207" y="384"/>
                    <a:pt x="205" y="383"/>
                  </a:cubicBezTo>
                  <a:cubicBezTo>
                    <a:pt x="203" y="381"/>
                    <a:pt x="202" y="380"/>
                    <a:pt x="200" y="378"/>
                  </a:cubicBezTo>
                  <a:cubicBezTo>
                    <a:pt x="201" y="378"/>
                    <a:pt x="201" y="378"/>
                    <a:pt x="201" y="378"/>
                  </a:cubicBezTo>
                  <a:cubicBezTo>
                    <a:pt x="201" y="378"/>
                    <a:pt x="201" y="378"/>
                    <a:pt x="201" y="378"/>
                  </a:cubicBezTo>
                  <a:cubicBezTo>
                    <a:pt x="200" y="374"/>
                    <a:pt x="197" y="372"/>
                    <a:pt x="194" y="370"/>
                  </a:cubicBezTo>
                  <a:cubicBezTo>
                    <a:pt x="190" y="368"/>
                    <a:pt x="187" y="366"/>
                    <a:pt x="186" y="362"/>
                  </a:cubicBezTo>
                  <a:cubicBezTo>
                    <a:pt x="186" y="361"/>
                    <a:pt x="186" y="360"/>
                    <a:pt x="186" y="360"/>
                  </a:cubicBezTo>
                  <a:cubicBezTo>
                    <a:pt x="186" y="355"/>
                    <a:pt x="190" y="352"/>
                    <a:pt x="192" y="351"/>
                  </a:cubicBezTo>
                  <a:cubicBezTo>
                    <a:pt x="192" y="351"/>
                    <a:pt x="192" y="351"/>
                    <a:pt x="192" y="350"/>
                  </a:cubicBezTo>
                  <a:cubicBezTo>
                    <a:pt x="192" y="346"/>
                    <a:pt x="190" y="338"/>
                    <a:pt x="173" y="312"/>
                  </a:cubicBezTo>
                  <a:cubicBezTo>
                    <a:pt x="173" y="311"/>
                    <a:pt x="174" y="309"/>
                    <a:pt x="174" y="308"/>
                  </a:cubicBezTo>
                  <a:cubicBezTo>
                    <a:pt x="174" y="307"/>
                    <a:pt x="174" y="306"/>
                    <a:pt x="174" y="305"/>
                  </a:cubicBezTo>
                  <a:cubicBezTo>
                    <a:pt x="173" y="304"/>
                    <a:pt x="173" y="303"/>
                    <a:pt x="173" y="302"/>
                  </a:cubicBezTo>
                  <a:cubicBezTo>
                    <a:pt x="173" y="301"/>
                    <a:pt x="173" y="301"/>
                    <a:pt x="173" y="300"/>
                  </a:cubicBezTo>
                  <a:cubicBezTo>
                    <a:pt x="173" y="300"/>
                    <a:pt x="173" y="300"/>
                    <a:pt x="173" y="300"/>
                  </a:cubicBezTo>
                  <a:cubicBezTo>
                    <a:pt x="174" y="299"/>
                    <a:pt x="174" y="298"/>
                    <a:pt x="174" y="297"/>
                  </a:cubicBezTo>
                  <a:cubicBezTo>
                    <a:pt x="174" y="295"/>
                    <a:pt x="173" y="291"/>
                    <a:pt x="172" y="287"/>
                  </a:cubicBezTo>
                  <a:cubicBezTo>
                    <a:pt x="171" y="285"/>
                    <a:pt x="168" y="279"/>
                    <a:pt x="163" y="276"/>
                  </a:cubicBezTo>
                  <a:cubicBezTo>
                    <a:pt x="161" y="275"/>
                    <a:pt x="160" y="276"/>
                    <a:pt x="159" y="276"/>
                  </a:cubicBezTo>
                  <a:cubicBezTo>
                    <a:pt x="158" y="277"/>
                    <a:pt x="157" y="277"/>
                    <a:pt x="156" y="277"/>
                  </a:cubicBezTo>
                  <a:cubicBezTo>
                    <a:pt x="154" y="277"/>
                    <a:pt x="153" y="276"/>
                    <a:pt x="152" y="275"/>
                  </a:cubicBezTo>
                  <a:cubicBezTo>
                    <a:pt x="151" y="275"/>
                    <a:pt x="150" y="274"/>
                    <a:pt x="149" y="274"/>
                  </a:cubicBezTo>
                  <a:cubicBezTo>
                    <a:pt x="144" y="272"/>
                    <a:pt x="142" y="273"/>
                    <a:pt x="139" y="275"/>
                  </a:cubicBezTo>
                  <a:cubicBezTo>
                    <a:pt x="139" y="275"/>
                    <a:pt x="139" y="275"/>
                    <a:pt x="139" y="275"/>
                  </a:cubicBezTo>
                  <a:cubicBezTo>
                    <a:pt x="139" y="275"/>
                    <a:pt x="139" y="275"/>
                    <a:pt x="139" y="275"/>
                  </a:cubicBezTo>
                  <a:cubicBezTo>
                    <a:pt x="138" y="276"/>
                    <a:pt x="136" y="275"/>
                    <a:pt x="135" y="275"/>
                  </a:cubicBezTo>
                  <a:cubicBezTo>
                    <a:pt x="132" y="275"/>
                    <a:pt x="130" y="275"/>
                    <a:pt x="128" y="278"/>
                  </a:cubicBezTo>
                  <a:cubicBezTo>
                    <a:pt x="126" y="276"/>
                    <a:pt x="126" y="276"/>
                    <a:pt x="114" y="275"/>
                  </a:cubicBezTo>
                  <a:cubicBezTo>
                    <a:pt x="114" y="275"/>
                    <a:pt x="114" y="275"/>
                    <a:pt x="112" y="276"/>
                  </a:cubicBezTo>
                  <a:cubicBezTo>
                    <a:pt x="109" y="275"/>
                    <a:pt x="109" y="275"/>
                    <a:pt x="107" y="275"/>
                  </a:cubicBezTo>
                  <a:cubicBezTo>
                    <a:pt x="102" y="273"/>
                    <a:pt x="99" y="270"/>
                    <a:pt x="96" y="266"/>
                  </a:cubicBezTo>
                  <a:cubicBezTo>
                    <a:pt x="92" y="262"/>
                    <a:pt x="89" y="258"/>
                    <a:pt x="84" y="256"/>
                  </a:cubicBezTo>
                  <a:cubicBezTo>
                    <a:pt x="84" y="256"/>
                    <a:pt x="81" y="255"/>
                    <a:pt x="71" y="260"/>
                  </a:cubicBezTo>
                  <a:cubicBezTo>
                    <a:pt x="70" y="260"/>
                    <a:pt x="69" y="259"/>
                    <a:pt x="68" y="259"/>
                  </a:cubicBezTo>
                  <a:cubicBezTo>
                    <a:pt x="68" y="259"/>
                    <a:pt x="67" y="258"/>
                    <a:pt x="67" y="258"/>
                  </a:cubicBezTo>
                  <a:cubicBezTo>
                    <a:pt x="66" y="258"/>
                    <a:pt x="66" y="258"/>
                    <a:pt x="66" y="258"/>
                  </a:cubicBezTo>
                  <a:cubicBezTo>
                    <a:pt x="65" y="257"/>
                    <a:pt x="64" y="257"/>
                    <a:pt x="63" y="256"/>
                  </a:cubicBezTo>
                  <a:cubicBezTo>
                    <a:pt x="61" y="255"/>
                    <a:pt x="59" y="253"/>
                    <a:pt x="56" y="254"/>
                  </a:cubicBezTo>
                  <a:cubicBezTo>
                    <a:pt x="55" y="250"/>
                    <a:pt x="55" y="250"/>
                    <a:pt x="53" y="249"/>
                  </a:cubicBezTo>
                  <a:cubicBezTo>
                    <a:pt x="53" y="245"/>
                    <a:pt x="53" y="245"/>
                    <a:pt x="52" y="244"/>
                  </a:cubicBezTo>
                  <a:cubicBezTo>
                    <a:pt x="51" y="244"/>
                    <a:pt x="51" y="244"/>
                    <a:pt x="50" y="245"/>
                  </a:cubicBezTo>
                  <a:cubicBezTo>
                    <a:pt x="50" y="246"/>
                    <a:pt x="50" y="246"/>
                    <a:pt x="50" y="246"/>
                  </a:cubicBezTo>
                  <a:cubicBezTo>
                    <a:pt x="50" y="246"/>
                    <a:pt x="51" y="247"/>
                    <a:pt x="51" y="249"/>
                  </a:cubicBezTo>
                  <a:cubicBezTo>
                    <a:pt x="50" y="249"/>
                    <a:pt x="50" y="249"/>
                    <a:pt x="50" y="249"/>
                  </a:cubicBezTo>
                  <a:cubicBezTo>
                    <a:pt x="50" y="249"/>
                    <a:pt x="50" y="249"/>
                    <a:pt x="50" y="247"/>
                  </a:cubicBezTo>
                  <a:cubicBezTo>
                    <a:pt x="50" y="247"/>
                    <a:pt x="50" y="247"/>
                    <a:pt x="50" y="247"/>
                  </a:cubicBezTo>
                  <a:cubicBezTo>
                    <a:pt x="50" y="246"/>
                    <a:pt x="50" y="246"/>
                    <a:pt x="50" y="246"/>
                  </a:cubicBezTo>
                  <a:cubicBezTo>
                    <a:pt x="49" y="246"/>
                    <a:pt x="49" y="246"/>
                    <a:pt x="49" y="246"/>
                  </a:cubicBezTo>
                  <a:cubicBezTo>
                    <a:pt x="49" y="246"/>
                    <a:pt x="49" y="246"/>
                    <a:pt x="49" y="246"/>
                  </a:cubicBezTo>
                  <a:cubicBezTo>
                    <a:pt x="47" y="247"/>
                    <a:pt x="47" y="248"/>
                    <a:pt x="46" y="250"/>
                  </a:cubicBezTo>
                  <a:cubicBezTo>
                    <a:pt x="45" y="251"/>
                    <a:pt x="45" y="251"/>
                    <a:pt x="44" y="252"/>
                  </a:cubicBezTo>
                  <a:cubicBezTo>
                    <a:pt x="43" y="254"/>
                    <a:pt x="41" y="253"/>
                    <a:pt x="40" y="253"/>
                  </a:cubicBezTo>
                  <a:cubicBezTo>
                    <a:pt x="39" y="253"/>
                    <a:pt x="38" y="253"/>
                    <a:pt x="37" y="254"/>
                  </a:cubicBezTo>
                  <a:cubicBezTo>
                    <a:pt x="36" y="253"/>
                    <a:pt x="36" y="253"/>
                    <a:pt x="35" y="251"/>
                  </a:cubicBezTo>
                  <a:cubicBezTo>
                    <a:pt x="34" y="251"/>
                    <a:pt x="34" y="252"/>
                    <a:pt x="33" y="252"/>
                  </a:cubicBezTo>
                  <a:cubicBezTo>
                    <a:pt x="33" y="252"/>
                    <a:pt x="32" y="251"/>
                    <a:pt x="32" y="250"/>
                  </a:cubicBezTo>
                  <a:cubicBezTo>
                    <a:pt x="32" y="250"/>
                    <a:pt x="32" y="250"/>
                    <a:pt x="32" y="250"/>
                  </a:cubicBezTo>
                  <a:cubicBezTo>
                    <a:pt x="31" y="250"/>
                    <a:pt x="31" y="250"/>
                    <a:pt x="31" y="250"/>
                  </a:cubicBezTo>
                  <a:cubicBezTo>
                    <a:pt x="31" y="252"/>
                    <a:pt x="31" y="254"/>
                    <a:pt x="31" y="255"/>
                  </a:cubicBezTo>
                  <a:cubicBezTo>
                    <a:pt x="30" y="258"/>
                    <a:pt x="30" y="258"/>
                    <a:pt x="30" y="258"/>
                  </a:cubicBezTo>
                  <a:cubicBezTo>
                    <a:pt x="30" y="256"/>
                    <a:pt x="30" y="256"/>
                    <a:pt x="30" y="256"/>
                  </a:cubicBezTo>
                  <a:cubicBezTo>
                    <a:pt x="30" y="256"/>
                    <a:pt x="30" y="255"/>
                    <a:pt x="30" y="254"/>
                  </a:cubicBezTo>
                  <a:cubicBezTo>
                    <a:pt x="30" y="253"/>
                    <a:pt x="30" y="252"/>
                    <a:pt x="29" y="251"/>
                  </a:cubicBezTo>
                  <a:cubicBezTo>
                    <a:pt x="29" y="251"/>
                    <a:pt x="29" y="251"/>
                    <a:pt x="29" y="251"/>
                  </a:cubicBezTo>
                  <a:cubicBezTo>
                    <a:pt x="28" y="251"/>
                    <a:pt x="28" y="251"/>
                    <a:pt x="28" y="251"/>
                  </a:cubicBezTo>
                  <a:cubicBezTo>
                    <a:pt x="27" y="252"/>
                    <a:pt x="25" y="263"/>
                    <a:pt x="25" y="263"/>
                  </a:cubicBezTo>
                  <a:cubicBezTo>
                    <a:pt x="25" y="264"/>
                    <a:pt x="25" y="264"/>
                    <a:pt x="25" y="264"/>
                  </a:cubicBezTo>
                  <a:cubicBezTo>
                    <a:pt x="25" y="267"/>
                    <a:pt x="26" y="269"/>
                    <a:pt x="26" y="272"/>
                  </a:cubicBezTo>
                  <a:cubicBezTo>
                    <a:pt x="26" y="273"/>
                    <a:pt x="27" y="275"/>
                    <a:pt x="27" y="276"/>
                  </a:cubicBezTo>
                  <a:cubicBezTo>
                    <a:pt x="27" y="275"/>
                    <a:pt x="26" y="274"/>
                    <a:pt x="23" y="274"/>
                  </a:cubicBezTo>
                  <a:cubicBezTo>
                    <a:pt x="23" y="274"/>
                    <a:pt x="23" y="274"/>
                    <a:pt x="23" y="274"/>
                  </a:cubicBezTo>
                  <a:cubicBezTo>
                    <a:pt x="23" y="274"/>
                    <a:pt x="23" y="274"/>
                    <a:pt x="23" y="274"/>
                  </a:cubicBezTo>
                  <a:cubicBezTo>
                    <a:pt x="23" y="274"/>
                    <a:pt x="23" y="274"/>
                    <a:pt x="23" y="274"/>
                  </a:cubicBezTo>
                  <a:cubicBezTo>
                    <a:pt x="23" y="274"/>
                    <a:pt x="23" y="274"/>
                    <a:pt x="22" y="279"/>
                  </a:cubicBezTo>
                  <a:cubicBezTo>
                    <a:pt x="21" y="279"/>
                    <a:pt x="21" y="279"/>
                    <a:pt x="21" y="279"/>
                  </a:cubicBezTo>
                  <a:cubicBezTo>
                    <a:pt x="20" y="278"/>
                    <a:pt x="20" y="278"/>
                    <a:pt x="11" y="250"/>
                  </a:cubicBezTo>
                  <a:cubicBezTo>
                    <a:pt x="10" y="250"/>
                    <a:pt x="10" y="250"/>
                    <a:pt x="9" y="249"/>
                  </a:cubicBezTo>
                  <a:cubicBezTo>
                    <a:pt x="9" y="248"/>
                    <a:pt x="9" y="248"/>
                    <a:pt x="9" y="248"/>
                  </a:cubicBezTo>
                  <a:cubicBezTo>
                    <a:pt x="9" y="248"/>
                    <a:pt x="9" y="248"/>
                    <a:pt x="9" y="248"/>
                  </a:cubicBezTo>
                  <a:cubicBezTo>
                    <a:pt x="8" y="248"/>
                    <a:pt x="8" y="248"/>
                    <a:pt x="8" y="248"/>
                  </a:cubicBezTo>
                  <a:cubicBezTo>
                    <a:pt x="8" y="249"/>
                    <a:pt x="8" y="249"/>
                    <a:pt x="7" y="252"/>
                  </a:cubicBezTo>
                  <a:cubicBezTo>
                    <a:pt x="7" y="252"/>
                    <a:pt x="6" y="250"/>
                    <a:pt x="5" y="241"/>
                  </a:cubicBezTo>
                  <a:cubicBezTo>
                    <a:pt x="5" y="241"/>
                    <a:pt x="5" y="241"/>
                    <a:pt x="5" y="241"/>
                  </a:cubicBezTo>
                  <a:cubicBezTo>
                    <a:pt x="3" y="223"/>
                    <a:pt x="3" y="223"/>
                    <a:pt x="3" y="223"/>
                  </a:cubicBezTo>
                  <a:cubicBezTo>
                    <a:pt x="3" y="223"/>
                    <a:pt x="3" y="223"/>
                    <a:pt x="3" y="223"/>
                  </a:cubicBezTo>
                  <a:cubicBezTo>
                    <a:pt x="3" y="223"/>
                    <a:pt x="3" y="223"/>
                    <a:pt x="3" y="223"/>
                  </a:cubicBezTo>
                  <a:cubicBezTo>
                    <a:pt x="2" y="224"/>
                    <a:pt x="2" y="224"/>
                    <a:pt x="2" y="227"/>
                  </a:cubicBezTo>
                  <a:cubicBezTo>
                    <a:pt x="2" y="229"/>
                    <a:pt x="2" y="235"/>
                    <a:pt x="3" y="243"/>
                  </a:cubicBezTo>
                  <a:cubicBezTo>
                    <a:pt x="3" y="242"/>
                    <a:pt x="3" y="242"/>
                    <a:pt x="3" y="242"/>
                  </a:cubicBezTo>
                  <a:cubicBezTo>
                    <a:pt x="3" y="242"/>
                    <a:pt x="3" y="242"/>
                    <a:pt x="3" y="242"/>
                  </a:cubicBezTo>
                  <a:cubicBezTo>
                    <a:pt x="3" y="242"/>
                    <a:pt x="3" y="242"/>
                    <a:pt x="3" y="242"/>
                  </a:cubicBezTo>
                  <a:cubicBezTo>
                    <a:pt x="3" y="242"/>
                    <a:pt x="3" y="242"/>
                    <a:pt x="3" y="242"/>
                  </a:cubicBezTo>
                  <a:cubicBezTo>
                    <a:pt x="3" y="242"/>
                    <a:pt x="3" y="242"/>
                    <a:pt x="3" y="242"/>
                  </a:cubicBezTo>
                  <a:cubicBezTo>
                    <a:pt x="3" y="247"/>
                    <a:pt x="3" y="247"/>
                    <a:pt x="3" y="247"/>
                  </a:cubicBezTo>
                  <a:cubicBezTo>
                    <a:pt x="6" y="258"/>
                    <a:pt x="6" y="258"/>
                    <a:pt x="6" y="258"/>
                  </a:cubicBezTo>
                  <a:cubicBezTo>
                    <a:pt x="6" y="260"/>
                    <a:pt x="6" y="260"/>
                    <a:pt x="6" y="260"/>
                  </a:cubicBezTo>
                  <a:cubicBezTo>
                    <a:pt x="6" y="260"/>
                    <a:pt x="6" y="260"/>
                    <a:pt x="6" y="260"/>
                  </a:cubicBezTo>
                  <a:cubicBezTo>
                    <a:pt x="6" y="260"/>
                    <a:pt x="6" y="260"/>
                    <a:pt x="6" y="260"/>
                  </a:cubicBezTo>
                  <a:cubicBezTo>
                    <a:pt x="6" y="260"/>
                    <a:pt x="6" y="260"/>
                    <a:pt x="6" y="260"/>
                  </a:cubicBezTo>
                  <a:cubicBezTo>
                    <a:pt x="7" y="260"/>
                    <a:pt x="7" y="261"/>
                    <a:pt x="7" y="262"/>
                  </a:cubicBezTo>
                  <a:cubicBezTo>
                    <a:pt x="7" y="263"/>
                    <a:pt x="8" y="264"/>
                    <a:pt x="8" y="265"/>
                  </a:cubicBezTo>
                  <a:cubicBezTo>
                    <a:pt x="9" y="265"/>
                    <a:pt x="9" y="265"/>
                    <a:pt x="9" y="265"/>
                  </a:cubicBezTo>
                  <a:cubicBezTo>
                    <a:pt x="9" y="264"/>
                    <a:pt x="9" y="264"/>
                    <a:pt x="9" y="264"/>
                  </a:cubicBezTo>
                  <a:cubicBezTo>
                    <a:pt x="9" y="266"/>
                    <a:pt x="10" y="267"/>
                    <a:pt x="14" y="273"/>
                  </a:cubicBezTo>
                  <a:cubicBezTo>
                    <a:pt x="15" y="273"/>
                    <a:pt x="15" y="273"/>
                    <a:pt x="15" y="273"/>
                  </a:cubicBezTo>
                  <a:cubicBezTo>
                    <a:pt x="15" y="273"/>
                    <a:pt x="15" y="273"/>
                    <a:pt x="15" y="273"/>
                  </a:cubicBezTo>
                  <a:cubicBezTo>
                    <a:pt x="15" y="272"/>
                    <a:pt x="15" y="272"/>
                    <a:pt x="14" y="271"/>
                  </a:cubicBezTo>
                  <a:cubicBezTo>
                    <a:pt x="16" y="274"/>
                    <a:pt x="18" y="277"/>
                    <a:pt x="19" y="279"/>
                  </a:cubicBezTo>
                  <a:cubicBezTo>
                    <a:pt x="20" y="281"/>
                    <a:pt x="21" y="283"/>
                    <a:pt x="22" y="285"/>
                  </a:cubicBezTo>
                  <a:cubicBezTo>
                    <a:pt x="22" y="285"/>
                    <a:pt x="22" y="285"/>
                    <a:pt x="22" y="285"/>
                  </a:cubicBezTo>
                  <a:cubicBezTo>
                    <a:pt x="22" y="285"/>
                    <a:pt x="22" y="285"/>
                    <a:pt x="22" y="285"/>
                  </a:cubicBezTo>
                  <a:cubicBezTo>
                    <a:pt x="22" y="285"/>
                    <a:pt x="22" y="285"/>
                    <a:pt x="22" y="285"/>
                  </a:cubicBezTo>
                  <a:cubicBezTo>
                    <a:pt x="24" y="285"/>
                    <a:pt x="24" y="285"/>
                    <a:pt x="25" y="286"/>
                  </a:cubicBezTo>
                  <a:cubicBezTo>
                    <a:pt x="26" y="286"/>
                    <a:pt x="26" y="286"/>
                    <a:pt x="26" y="286"/>
                  </a:cubicBezTo>
                  <a:cubicBezTo>
                    <a:pt x="27" y="286"/>
                    <a:pt x="27" y="286"/>
                    <a:pt x="27" y="286"/>
                  </a:cubicBezTo>
                  <a:cubicBezTo>
                    <a:pt x="27" y="286"/>
                    <a:pt x="27" y="286"/>
                    <a:pt x="27" y="286"/>
                  </a:cubicBezTo>
                  <a:cubicBezTo>
                    <a:pt x="26" y="285"/>
                    <a:pt x="26" y="284"/>
                    <a:pt x="25" y="283"/>
                  </a:cubicBezTo>
                  <a:cubicBezTo>
                    <a:pt x="25" y="281"/>
                    <a:pt x="25" y="280"/>
                    <a:pt x="24" y="279"/>
                  </a:cubicBezTo>
                  <a:cubicBezTo>
                    <a:pt x="25" y="279"/>
                    <a:pt x="27" y="279"/>
                    <a:pt x="34" y="293"/>
                  </a:cubicBezTo>
                  <a:cubicBezTo>
                    <a:pt x="37" y="298"/>
                    <a:pt x="39" y="303"/>
                    <a:pt x="41" y="308"/>
                  </a:cubicBezTo>
                  <a:cubicBezTo>
                    <a:pt x="43" y="313"/>
                    <a:pt x="45" y="318"/>
                    <a:pt x="47" y="322"/>
                  </a:cubicBezTo>
                  <a:cubicBezTo>
                    <a:pt x="47" y="323"/>
                    <a:pt x="51" y="329"/>
                    <a:pt x="53" y="329"/>
                  </a:cubicBezTo>
                  <a:cubicBezTo>
                    <a:pt x="62" y="342"/>
                    <a:pt x="62" y="342"/>
                    <a:pt x="81" y="353"/>
                  </a:cubicBezTo>
                  <a:cubicBezTo>
                    <a:pt x="96" y="363"/>
                    <a:pt x="97" y="363"/>
                    <a:pt x="101" y="365"/>
                  </a:cubicBezTo>
                  <a:cubicBezTo>
                    <a:pt x="104" y="366"/>
                    <a:pt x="107" y="366"/>
                    <a:pt x="110" y="366"/>
                  </a:cubicBezTo>
                  <a:cubicBezTo>
                    <a:pt x="113" y="367"/>
                    <a:pt x="116" y="367"/>
                    <a:pt x="119" y="368"/>
                  </a:cubicBezTo>
                  <a:cubicBezTo>
                    <a:pt x="128" y="371"/>
                    <a:pt x="136" y="376"/>
                    <a:pt x="144" y="381"/>
                  </a:cubicBezTo>
                  <a:cubicBezTo>
                    <a:pt x="151" y="385"/>
                    <a:pt x="157" y="389"/>
                    <a:pt x="165" y="392"/>
                  </a:cubicBezTo>
                  <a:cubicBezTo>
                    <a:pt x="194" y="401"/>
                    <a:pt x="194" y="401"/>
                    <a:pt x="194" y="401"/>
                  </a:cubicBezTo>
                  <a:cubicBezTo>
                    <a:pt x="217" y="407"/>
                    <a:pt x="251" y="407"/>
                    <a:pt x="272" y="404"/>
                  </a:cubicBezTo>
                  <a:cubicBezTo>
                    <a:pt x="272" y="404"/>
                    <a:pt x="272" y="404"/>
                    <a:pt x="272" y="404"/>
                  </a:cubicBezTo>
                  <a:cubicBezTo>
                    <a:pt x="272" y="404"/>
                    <a:pt x="272" y="404"/>
                    <a:pt x="272" y="404"/>
                  </a:cubicBezTo>
                  <a:cubicBezTo>
                    <a:pt x="272" y="404"/>
                    <a:pt x="272" y="404"/>
                    <a:pt x="272" y="404"/>
                  </a:cubicBezTo>
                  <a:cubicBezTo>
                    <a:pt x="272" y="404"/>
                    <a:pt x="272" y="404"/>
                    <a:pt x="272" y="404"/>
                  </a:cubicBezTo>
                  <a:cubicBezTo>
                    <a:pt x="272" y="404"/>
                    <a:pt x="272" y="404"/>
                    <a:pt x="272" y="404"/>
                  </a:cubicBezTo>
                  <a:cubicBezTo>
                    <a:pt x="279" y="403"/>
                    <a:pt x="279" y="403"/>
                    <a:pt x="279" y="403"/>
                  </a:cubicBezTo>
                  <a:close/>
                  <a:moveTo>
                    <a:pt x="19" y="222"/>
                  </a:moveTo>
                  <a:cubicBezTo>
                    <a:pt x="19" y="222"/>
                    <a:pt x="19" y="222"/>
                    <a:pt x="19" y="222"/>
                  </a:cubicBezTo>
                  <a:cubicBezTo>
                    <a:pt x="17" y="223"/>
                    <a:pt x="17" y="224"/>
                    <a:pt x="17" y="225"/>
                  </a:cubicBezTo>
                  <a:cubicBezTo>
                    <a:pt x="17" y="226"/>
                    <a:pt x="17" y="226"/>
                    <a:pt x="17" y="226"/>
                  </a:cubicBezTo>
                  <a:cubicBezTo>
                    <a:pt x="17" y="226"/>
                    <a:pt x="17" y="226"/>
                    <a:pt x="17" y="226"/>
                  </a:cubicBezTo>
                  <a:cubicBezTo>
                    <a:pt x="17" y="226"/>
                    <a:pt x="17" y="226"/>
                    <a:pt x="17" y="226"/>
                  </a:cubicBezTo>
                  <a:cubicBezTo>
                    <a:pt x="17" y="226"/>
                    <a:pt x="17" y="226"/>
                    <a:pt x="17" y="226"/>
                  </a:cubicBezTo>
                  <a:cubicBezTo>
                    <a:pt x="21" y="226"/>
                    <a:pt x="22" y="225"/>
                    <a:pt x="23" y="222"/>
                  </a:cubicBezTo>
                  <a:cubicBezTo>
                    <a:pt x="23" y="222"/>
                    <a:pt x="24" y="222"/>
                    <a:pt x="24" y="221"/>
                  </a:cubicBezTo>
                  <a:cubicBezTo>
                    <a:pt x="24" y="221"/>
                    <a:pt x="25" y="220"/>
                    <a:pt x="25" y="220"/>
                  </a:cubicBezTo>
                  <a:cubicBezTo>
                    <a:pt x="25" y="219"/>
                    <a:pt x="25" y="219"/>
                    <a:pt x="25" y="219"/>
                  </a:cubicBezTo>
                  <a:cubicBezTo>
                    <a:pt x="26" y="219"/>
                    <a:pt x="26" y="219"/>
                    <a:pt x="26" y="219"/>
                  </a:cubicBezTo>
                  <a:cubicBezTo>
                    <a:pt x="27" y="219"/>
                    <a:pt x="27" y="219"/>
                    <a:pt x="27" y="219"/>
                  </a:cubicBezTo>
                  <a:cubicBezTo>
                    <a:pt x="27" y="218"/>
                    <a:pt x="27" y="218"/>
                    <a:pt x="27" y="218"/>
                  </a:cubicBezTo>
                  <a:cubicBezTo>
                    <a:pt x="27" y="216"/>
                    <a:pt x="26" y="215"/>
                    <a:pt x="26" y="214"/>
                  </a:cubicBezTo>
                  <a:cubicBezTo>
                    <a:pt x="25" y="214"/>
                    <a:pt x="24" y="214"/>
                    <a:pt x="23" y="214"/>
                  </a:cubicBezTo>
                  <a:cubicBezTo>
                    <a:pt x="23" y="214"/>
                    <a:pt x="23" y="214"/>
                    <a:pt x="23" y="214"/>
                  </a:cubicBezTo>
                  <a:cubicBezTo>
                    <a:pt x="23" y="215"/>
                    <a:pt x="23" y="215"/>
                    <a:pt x="23" y="215"/>
                  </a:cubicBezTo>
                  <a:cubicBezTo>
                    <a:pt x="23" y="214"/>
                    <a:pt x="23" y="214"/>
                    <a:pt x="23" y="214"/>
                  </a:cubicBezTo>
                  <a:cubicBezTo>
                    <a:pt x="22" y="214"/>
                    <a:pt x="22" y="213"/>
                    <a:pt x="21" y="213"/>
                  </a:cubicBezTo>
                  <a:cubicBezTo>
                    <a:pt x="21" y="213"/>
                    <a:pt x="21" y="214"/>
                    <a:pt x="21" y="214"/>
                  </a:cubicBezTo>
                  <a:cubicBezTo>
                    <a:pt x="20" y="215"/>
                    <a:pt x="20" y="215"/>
                    <a:pt x="19" y="215"/>
                  </a:cubicBezTo>
                  <a:cubicBezTo>
                    <a:pt x="18" y="216"/>
                    <a:pt x="18" y="216"/>
                    <a:pt x="18" y="216"/>
                  </a:cubicBezTo>
                  <a:cubicBezTo>
                    <a:pt x="18" y="216"/>
                    <a:pt x="17" y="217"/>
                    <a:pt x="17" y="217"/>
                  </a:cubicBezTo>
                  <a:cubicBezTo>
                    <a:pt x="17" y="217"/>
                    <a:pt x="17" y="217"/>
                    <a:pt x="17" y="217"/>
                  </a:cubicBezTo>
                  <a:cubicBezTo>
                    <a:pt x="17" y="218"/>
                    <a:pt x="18" y="218"/>
                    <a:pt x="18" y="219"/>
                  </a:cubicBezTo>
                  <a:cubicBezTo>
                    <a:pt x="19" y="220"/>
                    <a:pt x="19" y="220"/>
                    <a:pt x="19" y="221"/>
                  </a:cubicBezTo>
                  <a:cubicBezTo>
                    <a:pt x="19" y="221"/>
                    <a:pt x="19" y="221"/>
                    <a:pt x="19" y="221"/>
                  </a:cubicBezTo>
                  <a:lnTo>
                    <a:pt x="19" y="222"/>
                  </a:lnTo>
                  <a:close/>
                  <a:moveTo>
                    <a:pt x="30" y="214"/>
                  </a:moveTo>
                  <a:cubicBezTo>
                    <a:pt x="30" y="214"/>
                    <a:pt x="30" y="214"/>
                    <a:pt x="30" y="214"/>
                  </a:cubicBezTo>
                  <a:cubicBezTo>
                    <a:pt x="29" y="215"/>
                    <a:pt x="29" y="216"/>
                    <a:pt x="30" y="218"/>
                  </a:cubicBezTo>
                  <a:cubicBezTo>
                    <a:pt x="30" y="218"/>
                    <a:pt x="31" y="218"/>
                    <a:pt x="31" y="218"/>
                  </a:cubicBezTo>
                  <a:cubicBezTo>
                    <a:pt x="32" y="217"/>
                    <a:pt x="32" y="216"/>
                    <a:pt x="32" y="215"/>
                  </a:cubicBezTo>
                  <a:cubicBezTo>
                    <a:pt x="32" y="214"/>
                    <a:pt x="32" y="214"/>
                    <a:pt x="32" y="214"/>
                  </a:cubicBezTo>
                  <a:cubicBezTo>
                    <a:pt x="31" y="213"/>
                    <a:pt x="31" y="213"/>
                    <a:pt x="30" y="214"/>
                  </a:cubicBezTo>
                  <a:close/>
                  <a:moveTo>
                    <a:pt x="12" y="219"/>
                  </a:moveTo>
                  <a:cubicBezTo>
                    <a:pt x="12" y="219"/>
                    <a:pt x="12" y="221"/>
                    <a:pt x="12" y="222"/>
                  </a:cubicBezTo>
                  <a:cubicBezTo>
                    <a:pt x="12" y="222"/>
                    <a:pt x="13" y="222"/>
                    <a:pt x="13" y="222"/>
                  </a:cubicBezTo>
                  <a:cubicBezTo>
                    <a:pt x="13" y="221"/>
                    <a:pt x="13" y="221"/>
                    <a:pt x="13" y="221"/>
                  </a:cubicBezTo>
                  <a:cubicBezTo>
                    <a:pt x="14" y="220"/>
                    <a:pt x="14" y="220"/>
                    <a:pt x="14" y="220"/>
                  </a:cubicBezTo>
                  <a:cubicBezTo>
                    <a:pt x="14" y="221"/>
                    <a:pt x="15" y="221"/>
                    <a:pt x="15" y="221"/>
                  </a:cubicBezTo>
                  <a:cubicBezTo>
                    <a:pt x="16" y="221"/>
                    <a:pt x="17" y="220"/>
                    <a:pt x="17" y="219"/>
                  </a:cubicBezTo>
                  <a:cubicBezTo>
                    <a:pt x="17" y="218"/>
                    <a:pt x="17" y="218"/>
                    <a:pt x="17" y="217"/>
                  </a:cubicBezTo>
                  <a:cubicBezTo>
                    <a:pt x="17" y="216"/>
                    <a:pt x="17" y="216"/>
                    <a:pt x="16" y="216"/>
                  </a:cubicBezTo>
                  <a:cubicBezTo>
                    <a:pt x="16" y="215"/>
                    <a:pt x="16" y="215"/>
                    <a:pt x="15" y="215"/>
                  </a:cubicBezTo>
                  <a:cubicBezTo>
                    <a:pt x="14" y="215"/>
                    <a:pt x="14" y="215"/>
                    <a:pt x="14" y="215"/>
                  </a:cubicBezTo>
                  <a:cubicBezTo>
                    <a:pt x="14" y="214"/>
                    <a:pt x="14" y="214"/>
                    <a:pt x="14" y="214"/>
                  </a:cubicBezTo>
                  <a:cubicBezTo>
                    <a:pt x="14" y="213"/>
                    <a:pt x="14" y="213"/>
                    <a:pt x="14" y="213"/>
                  </a:cubicBezTo>
                  <a:cubicBezTo>
                    <a:pt x="13" y="213"/>
                    <a:pt x="13" y="213"/>
                    <a:pt x="13" y="213"/>
                  </a:cubicBezTo>
                  <a:cubicBezTo>
                    <a:pt x="13" y="213"/>
                    <a:pt x="13" y="213"/>
                    <a:pt x="13" y="213"/>
                  </a:cubicBezTo>
                  <a:cubicBezTo>
                    <a:pt x="13" y="213"/>
                    <a:pt x="13" y="213"/>
                    <a:pt x="13" y="213"/>
                  </a:cubicBezTo>
                  <a:cubicBezTo>
                    <a:pt x="12" y="213"/>
                    <a:pt x="12" y="213"/>
                    <a:pt x="12" y="213"/>
                  </a:cubicBezTo>
                  <a:cubicBezTo>
                    <a:pt x="12" y="213"/>
                    <a:pt x="12" y="213"/>
                    <a:pt x="12" y="213"/>
                  </a:cubicBezTo>
                  <a:cubicBezTo>
                    <a:pt x="12" y="213"/>
                    <a:pt x="12" y="212"/>
                    <a:pt x="11" y="211"/>
                  </a:cubicBezTo>
                  <a:cubicBezTo>
                    <a:pt x="11" y="211"/>
                    <a:pt x="11" y="210"/>
                    <a:pt x="10" y="209"/>
                  </a:cubicBezTo>
                  <a:cubicBezTo>
                    <a:pt x="10" y="210"/>
                    <a:pt x="9" y="210"/>
                    <a:pt x="9" y="210"/>
                  </a:cubicBezTo>
                  <a:cubicBezTo>
                    <a:pt x="9" y="209"/>
                    <a:pt x="8" y="208"/>
                    <a:pt x="8" y="208"/>
                  </a:cubicBezTo>
                  <a:cubicBezTo>
                    <a:pt x="7" y="208"/>
                    <a:pt x="6" y="209"/>
                    <a:pt x="6" y="210"/>
                  </a:cubicBezTo>
                  <a:cubicBezTo>
                    <a:pt x="6" y="210"/>
                    <a:pt x="6" y="210"/>
                    <a:pt x="6" y="210"/>
                  </a:cubicBezTo>
                  <a:cubicBezTo>
                    <a:pt x="4" y="213"/>
                    <a:pt x="4" y="216"/>
                    <a:pt x="4" y="220"/>
                  </a:cubicBezTo>
                  <a:cubicBezTo>
                    <a:pt x="4" y="220"/>
                    <a:pt x="4" y="220"/>
                    <a:pt x="4" y="220"/>
                  </a:cubicBezTo>
                  <a:cubicBezTo>
                    <a:pt x="5" y="220"/>
                    <a:pt x="5" y="220"/>
                    <a:pt x="5" y="220"/>
                  </a:cubicBezTo>
                  <a:cubicBezTo>
                    <a:pt x="5" y="220"/>
                    <a:pt x="5" y="219"/>
                    <a:pt x="5" y="218"/>
                  </a:cubicBezTo>
                  <a:cubicBezTo>
                    <a:pt x="6" y="216"/>
                    <a:pt x="6" y="215"/>
                    <a:pt x="6" y="214"/>
                  </a:cubicBezTo>
                  <a:cubicBezTo>
                    <a:pt x="7" y="215"/>
                    <a:pt x="7" y="215"/>
                    <a:pt x="7" y="215"/>
                  </a:cubicBezTo>
                  <a:cubicBezTo>
                    <a:pt x="7" y="215"/>
                    <a:pt x="8" y="215"/>
                    <a:pt x="8" y="215"/>
                  </a:cubicBezTo>
                  <a:cubicBezTo>
                    <a:pt x="9" y="215"/>
                    <a:pt x="9" y="215"/>
                    <a:pt x="9" y="215"/>
                  </a:cubicBezTo>
                  <a:cubicBezTo>
                    <a:pt x="9" y="215"/>
                    <a:pt x="9" y="216"/>
                    <a:pt x="10" y="216"/>
                  </a:cubicBezTo>
                  <a:cubicBezTo>
                    <a:pt x="10" y="216"/>
                    <a:pt x="10" y="216"/>
                    <a:pt x="10" y="216"/>
                  </a:cubicBezTo>
                  <a:cubicBezTo>
                    <a:pt x="10" y="217"/>
                    <a:pt x="10" y="217"/>
                    <a:pt x="11" y="218"/>
                  </a:cubicBezTo>
                  <a:cubicBezTo>
                    <a:pt x="11" y="218"/>
                    <a:pt x="12" y="218"/>
                    <a:pt x="12" y="218"/>
                  </a:cubicBezTo>
                  <a:cubicBezTo>
                    <a:pt x="12" y="219"/>
                    <a:pt x="12" y="219"/>
                    <a:pt x="12" y="219"/>
                  </a:cubicBezTo>
                  <a:cubicBezTo>
                    <a:pt x="12" y="219"/>
                    <a:pt x="12" y="219"/>
                    <a:pt x="12" y="219"/>
                  </a:cubicBezTo>
                  <a:close/>
                  <a:moveTo>
                    <a:pt x="36" y="210"/>
                  </a:moveTo>
                  <a:cubicBezTo>
                    <a:pt x="35" y="210"/>
                    <a:pt x="35" y="210"/>
                    <a:pt x="35" y="210"/>
                  </a:cubicBezTo>
                  <a:cubicBezTo>
                    <a:pt x="35" y="210"/>
                    <a:pt x="35" y="210"/>
                    <a:pt x="35" y="210"/>
                  </a:cubicBezTo>
                  <a:cubicBezTo>
                    <a:pt x="35" y="211"/>
                    <a:pt x="35" y="211"/>
                    <a:pt x="35" y="211"/>
                  </a:cubicBezTo>
                  <a:cubicBezTo>
                    <a:pt x="35" y="211"/>
                    <a:pt x="35" y="211"/>
                    <a:pt x="35" y="211"/>
                  </a:cubicBezTo>
                  <a:cubicBezTo>
                    <a:pt x="36" y="211"/>
                    <a:pt x="36" y="211"/>
                    <a:pt x="36" y="211"/>
                  </a:cubicBezTo>
                  <a:cubicBezTo>
                    <a:pt x="36" y="211"/>
                    <a:pt x="36" y="210"/>
                    <a:pt x="36" y="210"/>
                  </a:cubicBezTo>
                  <a:close/>
                  <a:moveTo>
                    <a:pt x="282" y="37"/>
                  </a:moveTo>
                  <a:cubicBezTo>
                    <a:pt x="283" y="38"/>
                    <a:pt x="283" y="38"/>
                    <a:pt x="284" y="38"/>
                  </a:cubicBezTo>
                  <a:cubicBezTo>
                    <a:pt x="284" y="38"/>
                    <a:pt x="284" y="38"/>
                    <a:pt x="284" y="38"/>
                  </a:cubicBezTo>
                  <a:cubicBezTo>
                    <a:pt x="284" y="37"/>
                    <a:pt x="284" y="37"/>
                    <a:pt x="284" y="37"/>
                  </a:cubicBezTo>
                  <a:cubicBezTo>
                    <a:pt x="283" y="37"/>
                    <a:pt x="283" y="37"/>
                    <a:pt x="282" y="37"/>
                  </a:cubicBezTo>
                  <a:cubicBezTo>
                    <a:pt x="282" y="37"/>
                    <a:pt x="282" y="37"/>
                    <a:pt x="282" y="37"/>
                  </a:cubicBezTo>
                  <a:close/>
                  <a:moveTo>
                    <a:pt x="284" y="36"/>
                  </a:moveTo>
                  <a:cubicBezTo>
                    <a:pt x="283" y="36"/>
                    <a:pt x="283" y="36"/>
                    <a:pt x="283" y="36"/>
                  </a:cubicBezTo>
                  <a:cubicBezTo>
                    <a:pt x="283" y="36"/>
                    <a:pt x="283" y="36"/>
                    <a:pt x="283" y="36"/>
                  </a:cubicBezTo>
                  <a:cubicBezTo>
                    <a:pt x="282" y="36"/>
                    <a:pt x="282" y="36"/>
                    <a:pt x="282" y="36"/>
                  </a:cubicBezTo>
                  <a:cubicBezTo>
                    <a:pt x="282" y="36"/>
                    <a:pt x="282" y="36"/>
                    <a:pt x="282" y="36"/>
                  </a:cubicBezTo>
                  <a:cubicBezTo>
                    <a:pt x="283" y="37"/>
                    <a:pt x="284" y="37"/>
                    <a:pt x="284" y="37"/>
                  </a:cubicBezTo>
                  <a:cubicBezTo>
                    <a:pt x="284" y="37"/>
                    <a:pt x="284" y="37"/>
                    <a:pt x="284" y="37"/>
                  </a:cubicBezTo>
                  <a:cubicBezTo>
                    <a:pt x="284" y="36"/>
                    <a:pt x="284" y="36"/>
                    <a:pt x="284" y="36"/>
                  </a:cubicBezTo>
                  <a:close/>
                  <a:moveTo>
                    <a:pt x="285" y="41"/>
                  </a:moveTo>
                  <a:cubicBezTo>
                    <a:pt x="285" y="41"/>
                    <a:pt x="285" y="41"/>
                    <a:pt x="285" y="41"/>
                  </a:cubicBezTo>
                  <a:cubicBezTo>
                    <a:pt x="285" y="41"/>
                    <a:pt x="284" y="41"/>
                    <a:pt x="284" y="42"/>
                  </a:cubicBezTo>
                  <a:cubicBezTo>
                    <a:pt x="284" y="42"/>
                    <a:pt x="284" y="42"/>
                    <a:pt x="284" y="42"/>
                  </a:cubicBezTo>
                  <a:cubicBezTo>
                    <a:pt x="284" y="42"/>
                    <a:pt x="284" y="42"/>
                    <a:pt x="284" y="42"/>
                  </a:cubicBezTo>
                  <a:cubicBezTo>
                    <a:pt x="287" y="43"/>
                    <a:pt x="291" y="43"/>
                    <a:pt x="292" y="42"/>
                  </a:cubicBezTo>
                  <a:cubicBezTo>
                    <a:pt x="292" y="42"/>
                    <a:pt x="292" y="42"/>
                    <a:pt x="292" y="42"/>
                  </a:cubicBezTo>
                  <a:cubicBezTo>
                    <a:pt x="292" y="41"/>
                    <a:pt x="292" y="41"/>
                    <a:pt x="292" y="41"/>
                  </a:cubicBezTo>
                  <a:cubicBezTo>
                    <a:pt x="292" y="41"/>
                    <a:pt x="292" y="41"/>
                    <a:pt x="292" y="41"/>
                  </a:cubicBezTo>
                  <a:cubicBezTo>
                    <a:pt x="287" y="41"/>
                    <a:pt x="286" y="41"/>
                    <a:pt x="285" y="41"/>
                  </a:cubicBezTo>
                  <a:close/>
                  <a:moveTo>
                    <a:pt x="307" y="42"/>
                  </a:moveTo>
                  <a:cubicBezTo>
                    <a:pt x="307" y="42"/>
                    <a:pt x="308" y="42"/>
                    <a:pt x="309" y="42"/>
                  </a:cubicBezTo>
                  <a:cubicBezTo>
                    <a:pt x="309" y="41"/>
                    <a:pt x="309" y="41"/>
                    <a:pt x="309" y="41"/>
                  </a:cubicBezTo>
                  <a:cubicBezTo>
                    <a:pt x="309" y="41"/>
                    <a:pt x="309" y="41"/>
                    <a:pt x="308" y="39"/>
                  </a:cubicBezTo>
                  <a:cubicBezTo>
                    <a:pt x="308" y="38"/>
                    <a:pt x="308" y="38"/>
                    <a:pt x="308" y="38"/>
                  </a:cubicBezTo>
                  <a:cubicBezTo>
                    <a:pt x="307" y="38"/>
                    <a:pt x="307" y="38"/>
                    <a:pt x="307" y="38"/>
                  </a:cubicBezTo>
                  <a:cubicBezTo>
                    <a:pt x="307" y="38"/>
                    <a:pt x="307" y="38"/>
                    <a:pt x="307" y="38"/>
                  </a:cubicBezTo>
                  <a:cubicBezTo>
                    <a:pt x="307" y="38"/>
                    <a:pt x="307" y="38"/>
                    <a:pt x="307" y="38"/>
                  </a:cubicBezTo>
                  <a:cubicBezTo>
                    <a:pt x="307" y="38"/>
                    <a:pt x="307" y="38"/>
                    <a:pt x="307" y="38"/>
                  </a:cubicBezTo>
                  <a:cubicBezTo>
                    <a:pt x="306" y="38"/>
                    <a:pt x="306" y="38"/>
                    <a:pt x="306" y="39"/>
                  </a:cubicBezTo>
                  <a:cubicBezTo>
                    <a:pt x="305" y="39"/>
                    <a:pt x="305" y="39"/>
                    <a:pt x="305" y="40"/>
                  </a:cubicBezTo>
                  <a:cubicBezTo>
                    <a:pt x="304" y="40"/>
                    <a:pt x="304" y="40"/>
                    <a:pt x="304" y="40"/>
                  </a:cubicBezTo>
                  <a:cubicBezTo>
                    <a:pt x="305" y="40"/>
                    <a:pt x="305" y="40"/>
                    <a:pt x="305" y="40"/>
                  </a:cubicBezTo>
                  <a:cubicBezTo>
                    <a:pt x="306" y="41"/>
                    <a:pt x="306" y="42"/>
                    <a:pt x="307" y="42"/>
                  </a:cubicBezTo>
                  <a:close/>
                  <a:moveTo>
                    <a:pt x="405" y="248"/>
                  </a:moveTo>
                  <a:cubicBezTo>
                    <a:pt x="405" y="248"/>
                    <a:pt x="405" y="248"/>
                    <a:pt x="405" y="248"/>
                  </a:cubicBezTo>
                  <a:cubicBezTo>
                    <a:pt x="404" y="250"/>
                    <a:pt x="404" y="252"/>
                    <a:pt x="403" y="254"/>
                  </a:cubicBezTo>
                  <a:cubicBezTo>
                    <a:pt x="402" y="255"/>
                    <a:pt x="402" y="257"/>
                    <a:pt x="401" y="259"/>
                  </a:cubicBezTo>
                  <a:cubicBezTo>
                    <a:pt x="399" y="264"/>
                    <a:pt x="397" y="265"/>
                    <a:pt x="396" y="265"/>
                  </a:cubicBezTo>
                  <a:cubicBezTo>
                    <a:pt x="395" y="266"/>
                    <a:pt x="395" y="266"/>
                    <a:pt x="393" y="271"/>
                  </a:cubicBezTo>
                  <a:cubicBezTo>
                    <a:pt x="392" y="273"/>
                    <a:pt x="392" y="275"/>
                    <a:pt x="391" y="277"/>
                  </a:cubicBezTo>
                  <a:cubicBezTo>
                    <a:pt x="391" y="278"/>
                    <a:pt x="390" y="279"/>
                    <a:pt x="390" y="281"/>
                  </a:cubicBezTo>
                  <a:cubicBezTo>
                    <a:pt x="389" y="283"/>
                    <a:pt x="389" y="283"/>
                    <a:pt x="385" y="290"/>
                  </a:cubicBezTo>
                  <a:cubicBezTo>
                    <a:pt x="385" y="291"/>
                    <a:pt x="383" y="293"/>
                    <a:pt x="379" y="305"/>
                  </a:cubicBezTo>
                  <a:cubicBezTo>
                    <a:pt x="379" y="305"/>
                    <a:pt x="378" y="307"/>
                    <a:pt x="379" y="309"/>
                  </a:cubicBezTo>
                  <a:cubicBezTo>
                    <a:pt x="379" y="309"/>
                    <a:pt x="379" y="309"/>
                    <a:pt x="379" y="309"/>
                  </a:cubicBezTo>
                  <a:cubicBezTo>
                    <a:pt x="379" y="309"/>
                    <a:pt x="379" y="309"/>
                    <a:pt x="379" y="309"/>
                  </a:cubicBezTo>
                  <a:cubicBezTo>
                    <a:pt x="385" y="307"/>
                    <a:pt x="401" y="270"/>
                    <a:pt x="401" y="270"/>
                  </a:cubicBezTo>
                  <a:cubicBezTo>
                    <a:pt x="402" y="266"/>
                    <a:pt x="402" y="266"/>
                    <a:pt x="402" y="266"/>
                  </a:cubicBezTo>
                  <a:cubicBezTo>
                    <a:pt x="402" y="266"/>
                    <a:pt x="402" y="266"/>
                    <a:pt x="403" y="265"/>
                  </a:cubicBezTo>
                  <a:cubicBezTo>
                    <a:pt x="403" y="265"/>
                    <a:pt x="406" y="256"/>
                    <a:pt x="406" y="248"/>
                  </a:cubicBezTo>
                  <a:cubicBezTo>
                    <a:pt x="406" y="248"/>
                    <a:pt x="406" y="248"/>
                    <a:pt x="406" y="248"/>
                  </a:cubicBezTo>
                  <a:cubicBezTo>
                    <a:pt x="405" y="248"/>
                    <a:pt x="405" y="248"/>
                    <a:pt x="405" y="248"/>
                  </a:cubicBezTo>
                  <a:close/>
                  <a:moveTo>
                    <a:pt x="284" y="37"/>
                  </a:moveTo>
                  <a:cubicBezTo>
                    <a:pt x="284" y="37"/>
                    <a:pt x="284" y="37"/>
                    <a:pt x="284" y="37"/>
                  </a:cubicBezTo>
                  <a:cubicBezTo>
                    <a:pt x="284" y="37"/>
                    <a:pt x="284" y="37"/>
                    <a:pt x="284" y="37"/>
                  </a:cubicBezTo>
                  <a:cubicBezTo>
                    <a:pt x="284" y="37"/>
                    <a:pt x="284" y="37"/>
                    <a:pt x="284" y="37"/>
                  </a:cubicBezTo>
                  <a:cubicBezTo>
                    <a:pt x="285" y="38"/>
                    <a:pt x="285" y="38"/>
                    <a:pt x="285" y="38"/>
                  </a:cubicBezTo>
                  <a:cubicBezTo>
                    <a:pt x="285" y="38"/>
                    <a:pt x="285" y="38"/>
                    <a:pt x="286" y="38"/>
                  </a:cubicBezTo>
                  <a:cubicBezTo>
                    <a:pt x="286" y="38"/>
                    <a:pt x="286" y="38"/>
                    <a:pt x="286" y="38"/>
                  </a:cubicBezTo>
                  <a:cubicBezTo>
                    <a:pt x="286" y="38"/>
                    <a:pt x="286" y="38"/>
                    <a:pt x="286" y="38"/>
                  </a:cubicBezTo>
                  <a:cubicBezTo>
                    <a:pt x="285" y="37"/>
                    <a:pt x="285" y="37"/>
                    <a:pt x="285" y="37"/>
                  </a:cubicBezTo>
                  <a:cubicBezTo>
                    <a:pt x="285" y="37"/>
                    <a:pt x="285" y="37"/>
                    <a:pt x="285" y="37"/>
                  </a:cubicBezTo>
                  <a:cubicBezTo>
                    <a:pt x="286" y="37"/>
                    <a:pt x="286" y="37"/>
                    <a:pt x="286" y="37"/>
                  </a:cubicBezTo>
                  <a:cubicBezTo>
                    <a:pt x="287" y="38"/>
                    <a:pt x="287" y="38"/>
                    <a:pt x="287" y="38"/>
                  </a:cubicBezTo>
                  <a:cubicBezTo>
                    <a:pt x="288" y="38"/>
                    <a:pt x="288" y="38"/>
                    <a:pt x="288" y="38"/>
                  </a:cubicBezTo>
                  <a:cubicBezTo>
                    <a:pt x="288" y="38"/>
                    <a:pt x="288" y="38"/>
                    <a:pt x="288" y="38"/>
                  </a:cubicBezTo>
                  <a:cubicBezTo>
                    <a:pt x="288" y="38"/>
                    <a:pt x="288" y="38"/>
                    <a:pt x="288" y="38"/>
                  </a:cubicBezTo>
                  <a:cubicBezTo>
                    <a:pt x="288" y="37"/>
                    <a:pt x="288" y="37"/>
                    <a:pt x="288" y="37"/>
                  </a:cubicBezTo>
                  <a:cubicBezTo>
                    <a:pt x="287" y="37"/>
                    <a:pt x="287" y="37"/>
                    <a:pt x="287" y="37"/>
                  </a:cubicBezTo>
                  <a:cubicBezTo>
                    <a:pt x="287" y="37"/>
                    <a:pt x="287" y="37"/>
                    <a:pt x="287" y="37"/>
                  </a:cubicBezTo>
                  <a:cubicBezTo>
                    <a:pt x="286" y="37"/>
                    <a:pt x="286" y="37"/>
                    <a:pt x="286" y="37"/>
                  </a:cubicBezTo>
                  <a:cubicBezTo>
                    <a:pt x="286" y="36"/>
                    <a:pt x="286" y="36"/>
                    <a:pt x="286" y="36"/>
                  </a:cubicBezTo>
                  <a:cubicBezTo>
                    <a:pt x="286" y="37"/>
                    <a:pt x="286" y="37"/>
                    <a:pt x="286" y="37"/>
                  </a:cubicBezTo>
                  <a:cubicBezTo>
                    <a:pt x="286" y="37"/>
                    <a:pt x="286" y="37"/>
                    <a:pt x="286" y="37"/>
                  </a:cubicBezTo>
                  <a:cubicBezTo>
                    <a:pt x="285" y="36"/>
                    <a:pt x="285" y="36"/>
                    <a:pt x="285" y="36"/>
                  </a:cubicBezTo>
                  <a:cubicBezTo>
                    <a:pt x="285" y="36"/>
                    <a:pt x="285" y="36"/>
                    <a:pt x="285" y="36"/>
                  </a:cubicBezTo>
                  <a:cubicBezTo>
                    <a:pt x="285" y="36"/>
                    <a:pt x="285" y="36"/>
                    <a:pt x="285" y="36"/>
                  </a:cubicBezTo>
                  <a:cubicBezTo>
                    <a:pt x="285" y="36"/>
                    <a:pt x="285" y="36"/>
                    <a:pt x="285" y="36"/>
                  </a:cubicBezTo>
                  <a:cubicBezTo>
                    <a:pt x="285" y="37"/>
                    <a:pt x="285" y="37"/>
                    <a:pt x="285" y="37"/>
                  </a:cubicBezTo>
                  <a:cubicBezTo>
                    <a:pt x="285" y="37"/>
                    <a:pt x="285" y="37"/>
                    <a:pt x="285" y="37"/>
                  </a:cubicBezTo>
                  <a:cubicBezTo>
                    <a:pt x="285" y="37"/>
                    <a:pt x="285" y="37"/>
                    <a:pt x="285" y="37"/>
                  </a:cubicBezTo>
                  <a:cubicBezTo>
                    <a:pt x="285" y="37"/>
                    <a:pt x="285" y="37"/>
                    <a:pt x="284" y="37"/>
                  </a:cubicBezTo>
                  <a:close/>
                  <a:moveTo>
                    <a:pt x="390" y="266"/>
                  </a:moveTo>
                  <a:cubicBezTo>
                    <a:pt x="391" y="265"/>
                    <a:pt x="392" y="263"/>
                    <a:pt x="392" y="261"/>
                  </a:cubicBezTo>
                  <a:cubicBezTo>
                    <a:pt x="394" y="256"/>
                    <a:pt x="397" y="240"/>
                    <a:pt x="397" y="239"/>
                  </a:cubicBezTo>
                  <a:cubicBezTo>
                    <a:pt x="397" y="239"/>
                    <a:pt x="397" y="239"/>
                    <a:pt x="397" y="239"/>
                  </a:cubicBezTo>
                  <a:cubicBezTo>
                    <a:pt x="396" y="238"/>
                    <a:pt x="396" y="237"/>
                    <a:pt x="396" y="235"/>
                  </a:cubicBezTo>
                  <a:cubicBezTo>
                    <a:pt x="396" y="233"/>
                    <a:pt x="397" y="231"/>
                    <a:pt x="397" y="230"/>
                  </a:cubicBezTo>
                  <a:cubicBezTo>
                    <a:pt x="397" y="228"/>
                    <a:pt x="397" y="226"/>
                    <a:pt x="397" y="224"/>
                  </a:cubicBezTo>
                  <a:cubicBezTo>
                    <a:pt x="397" y="222"/>
                    <a:pt x="397" y="220"/>
                    <a:pt x="396" y="218"/>
                  </a:cubicBezTo>
                  <a:cubicBezTo>
                    <a:pt x="396" y="217"/>
                    <a:pt x="396" y="216"/>
                    <a:pt x="396" y="215"/>
                  </a:cubicBezTo>
                  <a:cubicBezTo>
                    <a:pt x="396" y="214"/>
                    <a:pt x="396" y="214"/>
                    <a:pt x="396" y="214"/>
                  </a:cubicBezTo>
                  <a:cubicBezTo>
                    <a:pt x="396" y="214"/>
                    <a:pt x="396" y="214"/>
                    <a:pt x="396" y="214"/>
                  </a:cubicBezTo>
                  <a:cubicBezTo>
                    <a:pt x="403" y="193"/>
                    <a:pt x="406" y="176"/>
                    <a:pt x="406" y="161"/>
                  </a:cubicBezTo>
                  <a:cubicBezTo>
                    <a:pt x="406" y="149"/>
                    <a:pt x="404" y="139"/>
                    <a:pt x="399" y="131"/>
                  </a:cubicBezTo>
                  <a:cubicBezTo>
                    <a:pt x="399" y="131"/>
                    <a:pt x="399" y="131"/>
                    <a:pt x="399" y="131"/>
                  </a:cubicBezTo>
                  <a:cubicBezTo>
                    <a:pt x="399" y="131"/>
                    <a:pt x="399" y="131"/>
                    <a:pt x="399" y="131"/>
                  </a:cubicBezTo>
                  <a:cubicBezTo>
                    <a:pt x="399" y="132"/>
                    <a:pt x="398" y="133"/>
                    <a:pt x="398" y="133"/>
                  </a:cubicBezTo>
                  <a:cubicBezTo>
                    <a:pt x="397" y="133"/>
                    <a:pt x="397" y="133"/>
                    <a:pt x="397" y="133"/>
                  </a:cubicBezTo>
                  <a:cubicBezTo>
                    <a:pt x="397" y="134"/>
                    <a:pt x="397" y="134"/>
                    <a:pt x="397" y="134"/>
                  </a:cubicBezTo>
                  <a:cubicBezTo>
                    <a:pt x="396" y="134"/>
                    <a:pt x="396" y="135"/>
                    <a:pt x="396" y="135"/>
                  </a:cubicBezTo>
                  <a:cubicBezTo>
                    <a:pt x="395" y="134"/>
                    <a:pt x="395" y="134"/>
                    <a:pt x="395" y="134"/>
                  </a:cubicBezTo>
                  <a:cubicBezTo>
                    <a:pt x="394" y="135"/>
                    <a:pt x="394" y="135"/>
                    <a:pt x="394" y="135"/>
                  </a:cubicBezTo>
                  <a:cubicBezTo>
                    <a:pt x="391" y="133"/>
                    <a:pt x="373" y="108"/>
                    <a:pt x="373" y="107"/>
                  </a:cubicBezTo>
                  <a:cubicBezTo>
                    <a:pt x="360" y="86"/>
                    <a:pt x="340" y="69"/>
                    <a:pt x="330" y="62"/>
                  </a:cubicBezTo>
                  <a:cubicBezTo>
                    <a:pt x="332" y="63"/>
                    <a:pt x="332" y="63"/>
                    <a:pt x="333" y="63"/>
                  </a:cubicBezTo>
                  <a:cubicBezTo>
                    <a:pt x="334" y="63"/>
                    <a:pt x="334" y="63"/>
                    <a:pt x="334" y="63"/>
                  </a:cubicBezTo>
                  <a:cubicBezTo>
                    <a:pt x="333" y="62"/>
                    <a:pt x="333" y="62"/>
                    <a:pt x="333" y="62"/>
                  </a:cubicBezTo>
                  <a:cubicBezTo>
                    <a:pt x="335" y="64"/>
                    <a:pt x="366" y="93"/>
                    <a:pt x="366" y="93"/>
                  </a:cubicBezTo>
                  <a:cubicBezTo>
                    <a:pt x="371" y="97"/>
                    <a:pt x="374" y="103"/>
                    <a:pt x="377" y="109"/>
                  </a:cubicBezTo>
                  <a:cubicBezTo>
                    <a:pt x="380" y="116"/>
                    <a:pt x="383" y="122"/>
                    <a:pt x="389" y="127"/>
                  </a:cubicBezTo>
                  <a:cubicBezTo>
                    <a:pt x="389" y="127"/>
                    <a:pt x="389" y="127"/>
                    <a:pt x="389" y="127"/>
                  </a:cubicBezTo>
                  <a:cubicBezTo>
                    <a:pt x="391" y="126"/>
                    <a:pt x="391" y="126"/>
                    <a:pt x="391" y="126"/>
                  </a:cubicBezTo>
                  <a:cubicBezTo>
                    <a:pt x="391" y="126"/>
                    <a:pt x="391" y="126"/>
                    <a:pt x="391" y="126"/>
                  </a:cubicBezTo>
                  <a:cubicBezTo>
                    <a:pt x="391" y="126"/>
                    <a:pt x="391" y="126"/>
                    <a:pt x="391" y="126"/>
                  </a:cubicBezTo>
                  <a:cubicBezTo>
                    <a:pt x="391" y="125"/>
                    <a:pt x="391" y="125"/>
                    <a:pt x="391" y="124"/>
                  </a:cubicBezTo>
                  <a:cubicBezTo>
                    <a:pt x="392" y="124"/>
                    <a:pt x="392" y="124"/>
                    <a:pt x="392" y="124"/>
                  </a:cubicBezTo>
                  <a:cubicBezTo>
                    <a:pt x="392" y="124"/>
                    <a:pt x="392" y="124"/>
                    <a:pt x="392" y="124"/>
                  </a:cubicBezTo>
                  <a:cubicBezTo>
                    <a:pt x="392" y="123"/>
                    <a:pt x="393" y="122"/>
                    <a:pt x="393" y="122"/>
                  </a:cubicBezTo>
                  <a:cubicBezTo>
                    <a:pt x="393" y="122"/>
                    <a:pt x="393" y="122"/>
                    <a:pt x="393" y="122"/>
                  </a:cubicBezTo>
                  <a:cubicBezTo>
                    <a:pt x="393" y="119"/>
                    <a:pt x="393" y="119"/>
                    <a:pt x="393" y="119"/>
                  </a:cubicBezTo>
                  <a:cubicBezTo>
                    <a:pt x="394" y="118"/>
                    <a:pt x="394" y="118"/>
                    <a:pt x="394" y="118"/>
                  </a:cubicBezTo>
                  <a:cubicBezTo>
                    <a:pt x="394" y="118"/>
                    <a:pt x="394" y="118"/>
                    <a:pt x="394" y="118"/>
                  </a:cubicBezTo>
                  <a:cubicBezTo>
                    <a:pt x="394" y="117"/>
                    <a:pt x="394" y="117"/>
                    <a:pt x="394" y="117"/>
                  </a:cubicBezTo>
                  <a:cubicBezTo>
                    <a:pt x="394" y="117"/>
                    <a:pt x="394" y="116"/>
                    <a:pt x="394" y="116"/>
                  </a:cubicBezTo>
                  <a:cubicBezTo>
                    <a:pt x="394" y="116"/>
                    <a:pt x="394" y="116"/>
                    <a:pt x="392" y="112"/>
                  </a:cubicBezTo>
                  <a:cubicBezTo>
                    <a:pt x="392" y="112"/>
                    <a:pt x="392" y="112"/>
                    <a:pt x="392" y="112"/>
                  </a:cubicBezTo>
                  <a:cubicBezTo>
                    <a:pt x="392" y="112"/>
                    <a:pt x="392" y="112"/>
                    <a:pt x="392" y="111"/>
                  </a:cubicBezTo>
                  <a:cubicBezTo>
                    <a:pt x="392" y="109"/>
                    <a:pt x="391" y="105"/>
                    <a:pt x="384" y="94"/>
                  </a:cubicBezTo>
                  <a:cubicBezTo>
                    <a:pt x="383" y="93"/>
                    <a:pt x="382" y="90"/>
                    <a:pt x="380" y="89"/>
                  </a:cubicBezTo>
                  <a:cubicBezTo>
                    <a:pt x="379" y="87"/>
                    <a:pt x="379" y="87"/>
                    <a:pt x="379" y="87"/>
                  </a:cubicBezTo>
                  <a:cubicBezTo>
                    <a:pt x="379" y="87"/>
                    <a:pt x="379" y="87"/>
                    <a:pt x="379" y="87"/>
                  </a:cubicBezTo>
                  <a:cubicBezTo>
                    <a:pt x="378" y="85"/>
                    <a:pt x="376" y="83"/>
                    <a:pt x="371" y="77"/>
                  </a:cubicBezTo>
                  <a:cubicBezTo>
                    <a:pt x="371" y="77"/>
                    <a:pt x="371" y="77"/>
                    <a:pt x="371" y="77"/>
                  </a:cubicBezTo>
                  <a:cubicBezTo>
                    <a:pt x="371" y="77"/>
                    <a:pt x="371" y="77"/>
                    <a:pt x="371" y="77"/>
                  </a:cubicBezTo>
                  <a:cubicBezTo>
                    <a:pt x="365" y="70"/>
                    <a:pt x="357" y="61"/>
                    <a:pt x="350" y="55"/>
                  </a:cubicBezTo>
                  <a:cubicBezTo>
                    <a:pt x="342" y="47"/>
                    <a:pt x="342" y="47"/>
                    <a:pt x="342" y="47"/>
                  </a:cubicBezTo>
                  <a:cubicBezTo>
                    <a:pt x="341" y="47"/>
                    <a:pt x="341" y="47"/>
                    <a:pt x="341" y="47"/>
                  </a:cubicBezTo>
                  <a:cubicBezTo>
                    <a:pt x="341" y="47"/>
                    <a:pt x="341" y="47"/>
                    <a:pt x="341" y="47"/>
                  </a:cubicBezTo>
                  <a:cubicBezTo>
                    <a:pt x="341" y="47"/>
                    <a:pt x="341" y="47"/>
                    <a:pt x="341" y="47"/>
                  </a:cubicBezTo>
                  <a:cubicBezTo>
                    <a:pt x="341" y="47"/>
                    <a:pt x="341" y="47"/>
                    <a:pt x="340" y="46"/>
                  </a:cubicBezTo>
                  <a:cubicBezTo>
                    <a:pt x="335" y="42"/>
                    <a:pt x="329" y="38"/>
                    <a:pt x="324" y="34"/>
                  </a:cubicBezTo>
                  <a:cubicBezTo>
                    <a:pt x="307" y="24"/>
                    <a:pt x="306" y="23"/>
                    <a:pt x="295" y="18"/>
                  </a:cubicBezTo>
                  <a:cubicBezTo>
                    <a:pt x="277" y="11"/>
                    <a:pt x="276" y="11"/>
                    <a:pt x="264" y="7"/>
                  </a:cubicBezTo>
                  <a:cubicBezTo>
                    <a:pt x="246" y="3"/>
                    <a:pt x="244" y="3"/>
                    <a:pt x="230" y="1"/>
                  </a:cubicBezTo>
                  <a:cubicBezTo>
                    <a:pt x="218" y="0"/>
                    <a:pt x="211" y="0"/>
                    <a:pt x="195" y="0"/>
                  </a:cubicBezTo>
                  <a:cubicBezTo>
                    <a:pt x="195" y="0"/>
                    <a:pt x="195" y="0"/>
                    <a:pt x="195" y="0"/>
                  </a:cubicBezTo>
                  <a:cubicBezTo>
                    <a:pt x="195" y="1"/>
                    <a:pt x="195" y="1"/>
                    <a:pt x="195" y="1"/>
                  </a:cubicBezTo>
                  <a:cubicBezTo>
                    <a:pt x="189" y="1"/>
                    <a:pt x="186" y="1"/>
                    <a:pt x="180" y="2"/>
                  </a:cubicBezTo>
                  <a:cubicBezTo>
                    <a:pt x="177" y="2"/>
                    <a:pt x="173" y="3"/>
                    <a:pt x="170" y="4"/>
                  </a:cubicBezTo>
                  <a:cubicBezTo>
                    <a:pt x="169" y="4"/>
                    <a:pt x="169" y="4"/>
                    <a:pt x="169" y="4"/>
                  </a:cubicBezTo>
                  <a:cubicBezTo>
                    <a:pt x="169" y="4"/>
                    <a:pt x="169" y="4"/>
                    <a:pt x="169" y="4"/>
                  </a:cubicBezTo>
                  <a:cubicBezTo>
                    <a:pt x="169" y="4"/>
                    <a:pt x="169" y="4"/>
                    <a:pt x="169" y="4"/>
                  </a:cubicBezTo>
                  <a:cubicBezTo>
                    <a:pt x="172" y="4"/>
                    <a:pt x="173" y="4"/>
                    <a:pt x="174" y="4"/>
                  </a:cubicBezTo>
                  <a:cubicBezTo>
                    <a:pt x="175" y="4"/>
                    <a:pt x="175" y="4"/>
                    <a:pt x="176" y="4"/>
                  </a:cubicBezTo>
                  <a:cubicBezTo>
                    <a:pt x="176" y="4"/>
                    <a:pt x="176" y="4"/>
                    <a:pt x="176" y="4"/>
                  </a:cubicBezTo>
                  <a:cubicBezTo>
                    <a:pt x="176" y="6"/>
                    <a:pt x="176" y="6"/>
                    <a:pt x="176" y="6"/>
                  </a:cubicBezTo>
                  <a:cubicBezTo>
                    <a:pt x="176" y="6"/>
                    <a:pt x="176" y="6"/>
                    <a:pt x="176" y="6"/>
                  </a:cubicBezTo>
                  <a:cubicBezTo>
                    <a:pt x="177" y="7"/>
                    <a:pt x="184" y="9"/>
                    <a:pt x="187" y="8"/>
                  </a:cubicBezTo>
                  <a:cubicBezTo>
                    <a:pt x="188" y="8"/>
                    <a:pt x="189" y="7"/>
                    <a:pt x="189" y="6"/>
                  </a:cubicBezTo>
                  <a:cubicBezTo>
                    <a:pt x="190" y="6"/>
                    <a:pt x="191" y="7"/>
                    <a:pt x="194" y="7"/>
                  </a:cubicBezTo>
                  <a:cubicBezTo>
                    <a:pt x="193" y="7"/>
                    <a:pt x="193" y="7"/>
                    <a:pt x="192" y="7"/>
                  </a:cubicBezTo>
                  <a:cubicBezTo>
                    <a:pt x="192" y="7"/>
                    <a:pt x="192" y="7"/>
                    <a:pt x="192" y="7"/>
                  </a:cubicBezTo>
                  <a:cubicBezTo>
                    <a:pt x="191" y="8"/>
                    <a:pt x="191" y="8"/>
                    <a:pt x="191" y="8"/>
                  </a:cubicBezTo>
                  <a:cubicBezTo>
                    <a:pt x="191" y="8"/>
                    <a:pt x="191" y="8"/>
                    <a:pt x="191" y="8"/>
                  </a:cubicBezTo>
                  <a:cubicBezTo>
                    <a:pt x="192" y="9"/>
                    <a:pt x="192" y="9"/>
                    <a:pt x="198" y="11"/>
                  </a:cubicBezTo>
                  <a:cubicBezTo>
                    <a:pt x="197" y="12"/>
                    <a:pt x="197" y="12"/>
                    <a:pt x="196" y="13"/>
                  </a:cubicBezTo>
                  <a:cubicBezTo>
                    <a:pt x="196" y="13"/>
                    <a:pt x="195" y="13"/>
                    <a:pt x="195" y="14"/>
                  </a:cubicBezTo>
                  <a:cubicBezTo>
                    <a:pt x="194" y="14"/>
                    <a:pt x="194" y="14"/>
                    <a:pt x="194" y="14"/>
                  </a:cubicBezTo>
                  <a:cubicBezTo>
                    <a:pt x="194" y="14"/>
                    <a:pt x="194" y="14"/>
                    <a:pt x="194" y="14"/>
                  </a:cubicBezTo>
                  <a:cubicBezTo>
                    <a:pt x="195" y="15"/>
                    <a:pt x="195" y="15"/>
                    <a:pt x="195" y="16"/>
                  </a:cubicBezTo>
                  <a:cubicBezTo>
                    <a:pt x="195" y="17"/>
                    <a:pt x="194" y="17"/>
                    <a:pt x="193" y="19"/>
                  </a:cubicBezTo>
                  <a:cubicBezTo>
                    <a:pt x="193" y="19"/>
                    <a:pt x="193" y="19"/>
                    <a:pt x="193" y="19"/>
                  </a:cubicBezTo>
                  <a:cubicBezTo>
                    <a:pt x="192" y="18"/>
                    <a:pt x="192" y="18"/>
                    <a:pt x="192" y="18"/>
                  </a:cubicBezTo>
                  <a:cubicBezTo>
                    <a:pt x="192" y="18"/>
                    <a:pt x="191" y="18"/>
                    <a:pt x="191" y="18"/>
                  </a:cubicBezTo>
                  <a:cubicBezTo>
                    <a:pt x="191" y="18"/>
                    <a:pt x="191" y="18"/>
                    <a:pt x="191" y="18"/>
                  </a:cubicBezTo>
                  <a:cubicBezTo>
                    <a:pt x="191" y="17"/>
                    <a:pt x="191" y="17"/>
                    <a:pt x="191" y="17"/>
                  </a:cubicBezTo>
                  <a:cubicBezTo>
                    <a:pt x="191" y="17"/>
                    <a:pt x="191" y="17"/>
                    <a:pt x="191" y="17"/>
                  </a:cubicBezTo>
                  <a:cubicBezTo>
                    <a:pt x="190" y="16"/>
                    <a:pt x="189" y="16"/>
                    <a:pt x="188" y="16"/>
                  </a:cubicBezTo>
                  <a:cubicBezTo>
                    <a:pt x="187" y="16"/>
                    <a:pt x="187" y="16"/>
                    <a:pt x="186" y="16"/>
                  </a:cubicBezTo>
                  <a:cubicBezTo>
                    <a:pt x="185" y="15"/>
                    <a:pt x="185" y="15"/>
                    <a:pt x="185" y="15"/>
                  </a:cubicBezTo>
                  <a:cubicBezTo>
                    <a:pt x="185" y="15"/>
                    <a:pt x="184" y="15"/>
                    <a:pt x="184" y="15"/>
                  </a:cubicBezTo>
                  <a:cubicBezTo>
                    <a:pt x="184" y="15"/>
                    <a:pt x="183" y="14"/>
                    <a:pt x="182" y="14"/>
                  </a:cubicBezTo>
                  <a:cubicBezTo>
                    <a:pt x="181" y="14"/>
                    <a:pt x="181" y="14"/>
                    <a:pt x="181" y="14"/>
                  </a:cubicBezTo>
                  <a:cubicBezTo>
                    <a:pt x="181" y="14"/>
                    <a:pt x="177" y="13"/>
                    <a:pt x="176" y="13"/>
                  </a:cubicBezTo>
                  <a:cubicBezTo>
                    <a:pt x="177" y="13"/>
                    <a:pt x="177" y="13"/>
                    <a:pt x="177" y="13"/>
                  </a:cubicBezTo>
                  <a:cubicBezTo>
                    <a:pt x="177" y="12"/>
                    <a:pt x="177" y="12"/>
                    <a:pt x="177" y="12"/>
                  </a:cubicBezTo>
                  <a:cubicBezTo>
                    <a:pt x="177" y="12"/>
                    <a:pt x="177" y="12"/>
                    <a:pt x="177" y="12"/>
                  </a:cubicBezTo>
                  <a:cubicBezTo>
                    <a:pt x="175" y="12"/>
                    <a:pt x="175" y="12"/>
                    <a:pt x="175" y="12"/>
                  </a:cubicBezTo>
                  <a:cubicBezTo>
                    <a:pt x="174" y="12"/>
                    <a:pt x="174" y="12"/>
                    <a:pt x="173" y="12"/>
                  </a:cubicBezTo>
                  <a:cubicBezTo>
                    <a:pt x="173" y="12"/>
                    <a:pt x="173" y="12"/>
                    <a:pt x="173" y="12"/>
                  </a:cubicBezTo>
                  <a:cubicBezTo>
                    <a:pt x="173" y="12"/>
                    <a:pt x="173" y="12"/>
                    <a:pt x="173" y="12"/>
                  </a:cubicBezTo>
                  <a:cubicBezTo>
                    <a:pt x="173" y="12"/>
                    <a:pt x="173" y="12"/>
                    <a:pt x="173" y="12"/>
                  </a:cubicBezTo>
                  <a:cubicBezTo>
                    <a:pt x="172" y="11"/>
                    <a:pt x="172" y="11"/>
                    <a:pt x="172" y="11"/>
                  </a:cubicBezTo>
                  <a:cubicBezTo>
                    <a:pt x="172" y="11"/>
                    <a:pt x="172" y="11"/>
                    <a:pt x="172" y="11"/>
                  </a:cubicBezTo>
                  <a:cubicBezTo>
                    <a:pt x="172" y="11"/>
                    <a:pt x="172" y="11"/>
                    <a:pt x="172" y="11"/>
                  </a:cubicBezTo>
                  <a:cubicBezTo>
                    <a:pt x="172" y="11"/>
                    <a:pt x="171" y="11"/>
                    <a:pt x="170" y="12"/>
                  </a:cubicBezTo>
                  <a:cubicBezTo>
                    <a:pt x="169" y="12"/>
                    <a:pt x="169" y="12"/>
                    <a:pt x="169" y="12"/>
                  </a:cubicBezTo>
                  <a:cubicBezTo>
                    <a:pt x="169" y="12"/>
                    <a:pt x="169" y="12"/>
                    <a:pt x="169" y="12"/>
                  </a:cubicBezTo>
                  <a:cubicBezTo>
                    <a:pt x="169" y="12"/>
                    <a:pt x="169" y="12"/>
                    <a:pt x="169" y="12"/>
                  </a:cubicBezTo>
                  <a:cubicBezTo>
                    <a:pt x="169" y="13"/>
                    <a:pt x="169" y="13"/>
                    <a:pt x="169" y="13"/>
                  </a:cubicBezTo>
                  <a:cubicBezTo>
                    <a:pt x="168" y="13"/>
                    <a:pt x="168" y="13"/>
                    <a:pt x="168" y="13"/>
                  </a:cubicBezTo>
                  <a:cubicBezTo>
                    <a:pt x="168" y="13"/>
                    <a:pt x="168" y="13"/>
                    <a:pt x="168" y="13"/>
                  </a:cubicBezTo>
                  <a:cubicBezTo>
                    <a:pt x="168" y="13"/>
                    <a:pt x="168" y="13"/>
                    <a:pt x="168" y="13"/>
                  </a:cubicBezTo>
                  <a:cubicBezTo>
                    <a:pt x="169" y="14"/>
                    <a:pt x="169" y="14"/>
                    <a:pt x="169" y="14"/>
                  </a:cubicBezTo>
                  <a:cubicBezTo>
                    <a:pt x="168" y="14"/>
                    <a:pt x="168" y="14"/>
                    <a:pt x="168" y="14"/>
                  </a:cubicBezTo>
                  <a:cubicBezTo>
                    <a:pt x="168" y="14"/>
                    <a:pt x="168" y="14"/>
                    <a:pt x="168" y="14"/>
                  </a:cubicBezTo>
                  <a:cubicBezTo>
                    <a:pt x="169" y="15"/>
                    <a:pt x="169" y="15"/>
                    <a:pt x="169" y="15"/>
                  </a:cubicBezTo>
                  <a:cubicBezTo>
                    <a:pt x="170" y="15"/>
                    <a:pt x="170" y="15"/>
                    <a:pt x="171" y="15"/>
                  </a:cubicBezTo>
                  <a:cubicBezTo>
                    <a:pt x="171" y="16"/>
                    <a:pt x="171" y="16"/>
                    <a:pt x="171" y="16"/>
                  </a:cubicBezTo>
                  <a:cubicBezTo>
                    <a:pt x="172" y="16"/>
                    <a:pt x="172" y="16"/>
                    <a:pt x="172" y="16"/>
                  </a:cubicBezTo>
                  <a:cubicBezTo>
                    <a:pt x="173" y="16"/>
                    <a:pt x="173" y="16"/>
                    <a:pt x="173" y="16"/>
                  </a:cubicBezTo>
                  <a:cubicBezTo>
                    <a:pt x="173" y="17"/>
                    <a:pt x="173" y="17"/>
                    <a:pt x="173" y="17"/>
                  </a:cubicBezTo>
                  <a:cubicBezTo>
                    <a:pt x="172" y="16"/>
                    <a:pt x="170" y="16"/>
                    <a:pt x="169" y="17"/>
                  </a:cubicBezTo>
                  <a:cubicBezTo>
                    <a:pt x="169" y="17"/>
                    <a:pt x="169" y="17"/>
                    <a:pt x="169" y="17"/>
                  </a:cubicBezTo>
                  <a:cubicBezTo>
                    <a:pt x="168" y="17"/>
                    <a:pt x="168" y="18"/>
                    <a:pt x="168" y="18"/>
                  </a:cubicBezTo>
                  <a:cubicBezTo>
                    <a:pt x="168" y="18"/>
                    <a:pt x="168" y="18"/>
                    <a:pt x="168" y="18"/>
                  </a:cubicBezTo>
                  <a:cubicBezTo>
                    <a:pt x="168" y="19"/>
                    <a:pt x="168" y="19"/>
                    <a:pt x="168" y="19"/>
                  </a:cubicBezTo>
                  <a:cubicBezTo>
                    <a:pt x="167" y="19"/>
                    <a:pt x="167" y="19"/>
                    <a:pt x="167" y="19"/>
                  </a:cubicBezTo>
                  <a:cubicBezTo>
                    <a:pt x="167" y="19"/>
                    <a:pt x="166" y="19"/>
                    <a:pt x="166" y="20"/>
                  </a:cubicBezTo>
                  <a:cubicBezTo>
                    <a:pt x="166" y="20"/>
                    <a:pt x="166" y="20"/>
                    <a:pt x="166" y="20"/>
                  </a:cubicBezTo>
                  <a:cubicBezTo>
                    <a:pt x="166" y="20"/>
                    <a:pt x="166" y="20"/>
                    <a:pt x="166" y="20"/>
                  </a:cubicBezTo>
                  <a:cubicBezTo>
                    <a:pt x="166" y="21"/>
                    <a:pt x="167" y="21"/>
                    <a:pt x="168" y="22"/>
                  </a:cubicBezTo>
                  <a:cubicBezTo>
                    <a:pt x="168" y="22"/>
                    <a:pt x="168" y="22"/>
                    <a:pt x="168" y="22"/>
                  </a:cubicBezTo>
                  <a:cubicBezTo>
                    <a:pt x="168" y="22"/>
                    <a:pt x="167" y="23"/>
                    <a:pt x="167" y="23"/>
                  </a:cubicBezTo>
                  <a:cubicBezTo>
                    <a:pt x="167" y="23"/>
                    <a:pt x="167" y="23"/>
                    <a:pt x="167" y="23"/>
                  </a:cubicBezTo>
                  <a:cubicBezTo>
                    <a:pt x="167" y="24"/>
                    <a:pt x="167" y="24"/>
                    <a:pt x="167" y="24"/>
                  </a:cubicBezTo>
                  <a:cubicBezTo>
                    <a:pt x="168" y="24"/>
                    <a:pt x="168" y="24"/>
                    <a:pt x="168" y="24"/>
                  </a:cubicBezTo>
                  <a:cubicBezTo>
                    <a:pt x="169" y="24"/>
                    <a:pt x="170" y="25"/>
                    <a:pt x="171" y="25"/>
                  </a:cubicBezTo>
                  <a:cubicBezTo>
                    <a:pt x="171" y="25"/>
                    <a:pt x="171" y="24"/>
                    <a:pt x="173" y="23"/>
                  </a:cubicBezTo>
                  <a:cubicBezTo>
                    <a:pt x="173" y="23"/>
                    <a:pt x="174" y="22"/>
                    <a:pt x="175" y="22"/>
                  </a:cubicBezTo>
                  <a:cubicBezTo>
                    <a:pt x="176" y="21"/>
                    <a:pt x="176" y="21"/>
                    <a:pt x="176" y="21"/>
                  </a:cubicBezTo>
                  <a:cubicBezTo>
                    <a:pt x="176" y="21"/>
                    <a:pt x="176" y="21"/>
                    <a:pt x="176" y="21"/>
                  </a:cubicBezTo>
                  <a:cubicBezTo>
                    <a:pt x="176" y="21"/>
                    <a:pt x="176" y="21"/>
                    <a:pt x="176" y="21"/>
                  </a:cubicBezTo>
                  <a:cubicBezTo>
                    <a:pt x="176" y="20"/>
                    <a:pt x="175" y="19"/>
                    <a:pt x="174" y="19"/>
                  </a:cubicBezTo>
                  <a:cubicBezTo>
                    <a:pt x="175" y="18"/>
                    <a:pt x="175" y="18"/>
                    <a:pt x="175" y="18"/>
                  </a:cubicBezTo>
                  <a:cubicBezTo>
                    <a:pt x="175" y="17"/>
                    <a:pt x="175" y="17"/>
                    <a:pt x="175" y="17"/>
                  </a:cubicBezTo>
                  <a:cubicBezTo>
                    <a:pt x="175" y="17"/>
                    <a:pt x="174" y="17"/>
                    <a:pt x="174" y="17"/>
                  </a:cubicBezTo>
                  <a:cubicBezTo>
                    <a:pt x="175" y="17"/>
                    <a:pt x="176" y="16"/>
                    <a:pt x="177" y="16"/>
                  </a:cubicBezTo>
                  <a:cubicBezTo>
                    <a:pt x="177" y="17"/>
                    <a:pt x="178" y="17"/>
                    <a:pt x="178" y="17"/>
                  </a:cubicBezTo>
                  <a:cubicBezTo>
                    <a:pt x="179" y="17"/>
                    <a:pt x="179" y="17"/>
                    <a:pt x="179" y="17"/>
                  </a:cubicBezTo>
                  <a:cubicBezTo>
                    <a:pt x="179" y="18"/>
                    <a:pt x="179" y="18"/>
                    <a:pt x="179" y="18"/>
                  </a:cubicBezTo>
                  <a:cubicBezTo>
                    <a:pt x="178" y="18"/>
                    <a:pt x="178" y="18"/>
                    <a:pt x="177" y="19"/>
                  </a:cubicBezTo>
                  <a:cubicBezTo>
                    <a:pt x="177" y="19"/>
                    <a:pt x="177" y="19"/>
                    <a:pt x="177" y="19"/>
                  </a:cubicBezTo>
                  <a:cubicBezTo>
                    <a:pt x="178" y="19"/>
                    <a:pt x="178" y="19"/>
                    <a:pt x="178" y="19"/>
                  </a:cubicBezTo>
                  <a:cubicBezTo>
                    <a:pt x="178" y="20"/>
                    <a:pt x="178" y="20"/>
                    <a:pt x="179" y="20"/>
                  </a:cubicBezTo>
                  <a:cubicBezTo>
                    <a:pt x="179" y="20"/>
                    <a:pt x="179" y="20"/>
                    <a:pt x="179" y="20"/>
                  </a:cubicBezTo>
                  <a:cubicBezTo>
                    <a:pt x="179" y="20"/>
                    <a:pt x="178" y="20"/>
                    <a:pt x="178" y="21"/>
                  </a:cubicBezTo>
                  <a:cubicBezTo>
                    <a:pt x="178" y="21"/>
                    <a:pt x="178" y="21"/>
                    <a:pt x="178" y="21"/>
                  </a:cubicBezTo>
                  <a:cubicBezTo>
                    <a:pt x="178" y="21"/>
                    <a:pt x="178" y="21"/>
                    <a:pt x="178" y="21"/>
                  </a:cubicBezTo>
                  <a:cubicBezTo>
                    <a:pt x="179" y="22"/>
                    <a:pt x="180" y="21"/>
                    <a:pt x="181" y="21"/>
                  </a:cubicBezTo>
                  <a:cubicBezTo>
                    <a:pt x="181" y="21"/>
                    <a:pt x="181" y="21"/>
                    <a:pt x="181" y="21"/>
                  </a:cubicBezTo>
                  <a:cubicBezTo>
                    <a:pt x="180" y="22"/>
                    <a:pt x="180" y="23"/>
                    <a:pt x="180" y="23"/>
                  </a:cubicBezTo>
                  <a:cubicBezTo>
                    <a:pt x="180" y="24"/>
                    <a:pt x="180" y="24"/>
                    <a:pt x="180" y="24"/>
                  </a:cubicBezTo>
                  <a:cubicBezTo>
                    <a:pt x="180" y="24"/>
                    <a:pt x="180" y="24"/>
                    <a:pt x="180" y="24"/>
                  </a:cubicBezTo>
                  <a:cubicBezTo>
                    <a:pt x="180" y="24"/>
                    <a:pt x="180" y="24"/>
                    <a:pt x="180" y="24"/>
                  </a:cubicBezTo>
                  <a:cubicBezTo>
                    <a:pt x="181" y="24"/>
                    <a:pt x="182" y="24"/>
                    <a:pt x="182" y="24"/>
                  </a:cubicBezTo>
                  <a:cubicBezTo>
                    <a:pt x="183" y="24"/>
                    <a:pt x="183" y="24"/>
                    <a:pt x="184" y="23"/>
                  </a:cubicBezTo>
                  <a:cubicBezTo>
                    <a:pt x="184" y="23"/>
                    <a:pt x="184" y="23"/>
                    <a:pt x="185" y="22"/>
                  </a:cubicBezTo>
                  <a:cubicBezTo>
                    <a:pt x="185" y="22"/>
                    <a:pt x="187" y="22"/>
                    <a:pt x="188" y="21"/>
                  </a:cubicBezTo>
                  <a:cubicBezTo>
                    <a:pt x="188" y="21"/>
                    <a:pt x="191" y="20"/>
                    <a:pt x="192" y="19"/>
                  </a:cubicBezTo>
                  <a:cubicBezTo>
                    <a:pt x="192" y="20"/>
                    <a:pt x="190" y="21"/>
                    <a:pt x="188" y="23"/>
                  </a:cubicBezTo>
                  <a:cubicBezTo>
                    <a:pt x="188" y="23"/>
                    <a:pt x="188" y="23"/>
                    <a:pt x="188" y="23"/>
                  </a:cubicBezTo>
                  <a:cubicBezTo>
                    <a:pt x="189" y="24"/>
                    <a:pt x="189" y="24"/>
                    <a:pt x="189" y="24"/>
                  </a:cubicBezTo>
                  <a:cubicBezTo>
                    <a:pt x="188" y="25"/>
                    <a:pt x="187" y="25"/>
                    <a:pt x="186" y="25"/>
                  </a:cubicBezTo>
                  <a:cubicBezTo>
                    <a:pt x="185" y="25"/>
                    <a:pt x="184" y="25"/>
                    <a:pt x="184" y="26"/>
                  </a:cubicBezTo>
                  <a:cubicBezTo>
                    <a:pt x="183" y="26"/>
                    <a:pt x="183" y="26"/>
                    <a:pt x="183" y="26"/>
                  </a:cubicBezTo>
                  <a:cubicBezTo>
                    <a:pt x="184" y="26"/>
                    <a:pt x="184" y="26"/>
                    <a:pt x="184" y="26"/>
                  </a:cubicBezTo>
                  <a:cubicBezTo>
                    <a:pt x="184" y="28"/>
                    <a:pt x="185" y="28"/>
                    <a:pt x="189" y="28"/>
                  </a:cubicBezTo>
                  <a:cubicBezTo>
                    <a:pt x="196" y="28"/>
                    <a:pt x="198" y="32"/>
                    <a:pt x="199" y="36"/>
                  </a:cubicBezTo>
                  <a:cubicBezTo>
                    <a:pt x="197" y="36"/>
                    <a:pt x="195" y="37"/>
                    <a:pt x="192" y="37"/>
                  </a:cubicBezTo>
                  <a:cubicBezTo>
                    <a:pt x="190" y="38"/>
                    <a:pt x="187" y="39"/>
                    <a:pt x="184" y="39"/>
                  </a:cubicBezTo>
                  <a:cubicBezTo>
                    <a:pt x="184" y="39"/>
                    <a:pt x="184" y="39"/>
                    <a:pt x="184" y="39"/>
                  </a:cubicBezTo>
                  <a:cubicBezTo>
                    <a:pt x="183" y="39"/>
                    <a:pt x="183" y="39"/>
                    <a:pt x="183" y="39"/>
                  </a:cubicBezTo>
                  <a:cubicBezTo>
                    <a:pt x="183" y="40"/>
                    <a:pt x="183" y="40"/>
                    <a:pt x="183" y="40"/>
                  </a:cubicBezTo>
                  <a:cubicBezTo>
                    <a:pt x="182" y="41"/>
                    <a:pt x="182" y="42"/>
                    <a:pt x="181" y="42"/>
                  </a:cubicBezTo>
                  <a:cubicBezTo>
                    <a:pt x="181" y="42"/>
                    <a:pt x="181" y="42"/>
                    <a:pt x="181" y="42"/>
                  </a:cubicBezTo>
                  <a:cubicBezTo>
                    <a:pt x="181" y="43"/>
                    <a:pt x="181" y="43"/>
                    <a:pt x="181" y="43"/>
                  </a:cubicBezTo>
                  <a:cubicBezTo>
                    <a:pt x="184" y="46"/>
                    <a:pt x="186" y="50"/>
                    <a:pt x="186" y="53"/>
                  </a:cubicBezTo>
                  <a:cubicBezTo>
                    <a:pt x="186" y="54"/>
                    <a:pt x="186" y="54"/>
                    <a:pt x="186" y="54"/>
                  </a:cubicBezTo>
                  <a:cubicBezTo>
                    <a:pt x="185" y="55"/>
                    <a:pt x="185" y="55"/>
                    <a:pt x="185" y="55"/>
                  </a:cubicBezTo>
                  <a:cubicBezTo>
                    <a:pt x="186" y="55"/>
                    <a:pt x="186" y="55"/>
                    <a:pt x="186" y="55"/>
                  </a:cubicBezTo>
                  <a:cubicBezTo>
                    <a:pt x="187" y="55"/>
                    <a:pt x="188" y="56"/>
                    <a:pt x="190" y="59"/>
                  </a:cubicBezTo>
                  <a:cubicBezTo>
                    <a:pt x="190" y="59"/>
                    <a:pt x="190" y="59"/>
                    <a:pt x="190" y="59"/>
                  </a:cubicBezTo>
                  <a:cubicBezTo>
                    <a:pt x="190" y="59"/>
                    <a:pt x="190" y="59"/>
                    <a:pt x="190" y="59"/>
                  </a:cubicBezTo>
                  <a:cubicBezTo>
                    <a:pt x="203" y="60"/>
                    <a:pt x="208" y="60"/>
                    <a:pt x="214" y="51"/>
                  </a:cubicBezTo>
                  <a:cubicBezTo>
                    <a:pt x="214" y="51"/>
                    <a:pt x="214" y="51"/>
                    <a:pt x="214" y="51"/>
                  </a:cubicBezTo>
                  <a:cubicBezTo>
                    <a:pt x="214" y="51"/>
                    <a:pt x="214" y="51"/>
                    <a:pt x="214" y="51"/>
                  </a:cubicBezTo>
                  <a:cubicBezTo>
                    <a:pt x="214" y="50"/>
                    <a:pt x="213" y="50"/>
                    <a:pt x="213" y="49"/>
                  </a:cubicBezTo>
                  <a:cubicBezTo>
                    <a:pt x="213" y="49"/>
                    <a:pt x="214" y="48"/>
                    <a:pt x="214" y="47"/>
                  </a:cubicBezTo>
                  <a:cubicBezTo>
                    <a:pt x="214" y="47"/>
                    <a:pt x="214" y="47"/>
                    <a:pt x="214" y="47"/>
                  </a:cubicBezTo>
                  <a:cubicBezTo>
                    <a:pt x="214" y="47"/>
                    <a:pt x="214" y="47"/>
                    <a:pt x="214" y="47"/>
                  </a:cubicBezTo>
                  <a:cubicBezTo>
                    <a:pt x="213" y="46"/>
                    <a:pt x="213" y="45"/>
                    <a:pt x="213" y="44"/>
                  </a:cubicBezTo>
                  <a:cubicBezTo>
                    <a:pt x="213" y="43"/>
                    <a:pt x="213" y="42"/>
                    <a:pt x="214" y="40"/>
                  </a:cubicBezTo>
                  <a:cubicBezTo>
                    <a:pt x="214" y="39"/>
                    <a:pt x="215" y="38"/>
                    <a:pt x="215" y="36"/>
                  </a:cubicBezTo>
                  <a:cubicBezTo>
                    <a:pt x="215" y="35"/>
                    <a:pt x="214" y="34"/>
                    <a:pt x="214" y="34"/>
                  </a:cubicBezTo>
                  <a:cubicBezTo>
                    <a:pt x="214" y="31"/>
                    <a:pt x="216" y="31"/>
                    <a:pt x="218" y="31"/>
                  </a:cubicBezTo>
                  <a:cubicBezTo>
                    <a:pt x="219" y="31"/>
                    <a:pt x="221" y="31"/>
                    <a:pt x="222" y="31"/>
                  </a:cubicBezTo>
                  <a:cubicBezTo>
                    <a:pt x="222" y="31"/>
                    <a:pt x="222" y="31"/>
                    <a:pt x="222" y="31"/>
                  </a:cubicBezTo>
                  <a:cubicBezTo>
                    <a:pt x="222" y="30"/>
                    <a:pt x="222" y="30"/>
                    <a:pt x="222" y="30"/>
                  </a:cubicBezTo>
                  <a:cubicBezTo>
                    <a:pt x="223" y="29"/>
                    <a:pt x="223" y="29"/>
                    <a:pt x="224" y="27"/>
                  </a:cubicBezTo>
                  <a:cubicBezTo>
                    <a:pt x="225" y="28"/>
                    <a:pt x="250" y="31"/>
                    <a:pt x="255" y="37"/>
                  </a:cubicBezTo>
                  <a:cubicBezTo>
                    <a:pt x="254" y="38"/>
                    <a:pt x="252" y="38"/>
                    <a:pt x="251" y="38"/>
                  </a:cubicBezTo>
                  <a:cubicBezTo>
                    <a:pt x="250" y="39"/>
                    <a:pt x="249" y="39"/>
                    <a:pt x="248" y="39"/>
                  </a:cubicBezTo>
                  <a:cubicBezTo>
                    <a:pt x="248" y="39"/>
                    <a:pt x="248" y="39"/>
                    <a:pt x="248" y="39"/>
                  </a:cubicBezTo>
                  <a:cubicBezTo>
                    <a:pt x="248" y="41"/>
                    <a:pt x="248" y="41"/>
                    <a:pt x="248" y="41"/>
                  </a:cubicBezTo>
                  <a:cubicBezTo>
                    <a:pt x="249" y="41"/>
                    <a:pt x="249" y="41"/>
                    <a:pt x="249" y="41"/>
                  </a:cubicBezTo>
                  <a:cubicBezTo>
                    <a:pt x="251" y="42"/>
                    <a:pt x="258" y="42"/>
                    <a:pt x="258" y="42"/>
                  </a:cubicBezTo>
                  <a:cubicBezTo>
                    <a:pt x="259" y="42"/>
                    <a:pt x="259" y="42"/>
                    <a:pt x="259" y="42"/>
                  </a:cubicBezTo>
                  <a:cubicBezTo>
                    <a:pt x="259" y="41"/>
                    <a:pt x="259" y="41"/>
                    <a:pt x="259" y="41"/>
                  </a:cubicBezTo>
                  <a:cubicBezTo>
                    <a:pt x="257" y="39"/>
                    <a:pt x="257" y="39"/>
                    <a:pt x="257" y="39"/>
                  </a:cubicBezTo>
                  <a:cubicBezTo>
                    <a:pt x="257" y="39"/>
                    <a:pt x="257" y="39"/>
                    <a:pt x="257" y="39"/>
                  </a:cubicBezTo>
                  <a:cubicBezTo>
                    <a:pt x="257" y="38"/>
                    <a:pt x="257" y="37"/>
                    <a:pt x="254" y="32"/>
                  </a:cubicBezTo>
                  <a:cubicBezTo>
                    <a:pt x="255" y="32"/>
                    <a:pt x="256" y="32"/>
                    <a:pt x="256" y="32"/>
                  </a:cubicBezTo>
                  <a:cubicBezTo>
                    <a:pt x="259" y="33"/>
                    <a:pt x="259" y="33"/>
                    <a:pt x="259" y="33"/>
                  </a:cubicBezTo>
                  <a:cubicBezTo>
                    <a:pt x="258" y="32"/>
                    <a:pt x="258" y="32"/>
                    <a:pt x="258" y="32"/>
                  </a:cubicBezTo>
                  <a:cubicBezTo>
                    <a:pt x="256" y="29"/>
                    <a:pt x="249" y="28"/>
                    <a:pt x="244" y="28"/>
                  </a:cubicBezTo>
                  <a:cubicBezTo>
                    <a:pt x="239" y="28"/>
                    <a:pt x="231" y="24"/>
                    <a:pt x="230" y="23"/>
                  </a:cubicBezTo>
                  <a:cubicBezTo>
                    <a:pt x="230" y="23"/>
                    <a:pt x="231" y="23"/>
                    <a:pt x="231" y="22"/>
                  </a:cubicBezTo>
                  <a:cubicBezTo>
                    <a:pt x="231" y="22"/>
                    <a:pt x="231" y="22"/>
                    <a:pt x="231" y="22"/>
                  </a:cubicBezTo>
                  <a:cubicBezTo>
                    <a:pt x="235" y="24"/>
                    <a:pt x="239" y="24"/>
                    <a:pt x="242" y="25"/>
                  </a:cubicBezTo>
                  <a:cubicBezTo>
                    <a:pt x="246" y="25"/>
                    <a:pt x="250" y="26"/>
                    <a:pt x="253" y="27"/>
                  </a:cubicBezTo>
                  <a:cubicBezTo>
                    <a:pt x="257" y="29"/>
                    <a:pt x="261" y="31"/>
                    <a:pt x="264" y="33"/>
                  </a:cubicBezTo>
                  <a:cubicBezTo>
                    <a:pt x="268" y="35"/>
                    <a:pt x="272" y="38"/>
                    <a:pt x="276" y="39"/>
                  </a:cubicBezTo>
                  <a:cubicBezTo>
                    <a:pt x="277" y="39"/>
                    <a:pt x="278" y="39"/>
                    <a:pt x="279" y="39"/>
                  </a:cubicBezTo>
                  <a:cubicBezTo>
                    <a:pt x="279" y="39"/>
                    <a:pt x="279" y="39"/>
                    <a:pt x="280" y="39"/>
                  </a:cubicBezTo>
                  <a:cubicBezTo>
                    <a:pt x="280" y="39"/>
                    <a:pt x="280" y="39"/>
                    <a:pt x="280" y="39"/>
                  </a:cubicBezTo>
                  <a:cubicBezTo>
                    <a:pt x="280" y="39"/>
                    <a:pt x="280" y="39"/>
                    <a:pt x="280" y="39"/>
                  </a:cubicBezTo>
                  <a:cubicBezTo>
                    <a:pt x="280" y="38"/>
                    <a:pt x="278" y="37"/>
                    <a:pt x="276" y="35"/>
                  </a:cubicBezTo>
                  <a:cubicBezTo>
                    <a:pt x="276" y="35"/>
                    <a:pt x="276" y="35"/>
                    <a:pt x="277" y="35"/>
                  </a:cubicBezTo>
                  <a:cubicBezTo>
                    <a:pt x="277" y="35"/>
                    <a:pt x="277" y="35"/>
                    <a:pt x="277" y="35"/>
                  </a:cubicBezTo>
                  <a:cubicBezTo>
                    <a:pt x="277" y="35"/>
                    <a:pt x="277" y="35"/>
                    <a:pt x="277" y="35"/>
                  </a:cubicBezTo>
                  <a:cubicBezTo>
                    <a:pt x="277" y="35"/>
                    <a:pt x="277" y="35"/>
                    <a:pt x="269" y="29"/>
                  </a:cubicBezTo>
                  <a:cubicBezTo>
                    <a:pt x="269" y="29"/>
                    <a:pt x="269" y="28"/>
                    <a:pt x="269" y="28"/>
                  </a:cubicBezTo>
                  <a:cubicBezTo>
                    <a:pt x="270" y="28"/>
                    <a:pt x="271" y="28"/>
                    <a:pt x="272" y="28"/>
                  </a:cubicBezTo>
                  <a:cubicBezTo>
                    <a:pt x="273" y="28"/>
                    <a:pt x="274" y="28"/>
                    <a:pt x="274" y="28"/>
                  </a:cubicBezTo>
                  <a:cubicBezTo>
                    <a:pt x="275" y="29"/>
                    <a:pt x="275" y="30"/>
                    <a:pt x="281" y="32"/>
                  </a:cubicBezTo>
                  <a:cubicBezTo>
                    <a:pt x="281" y="33"/>
                    <a:pt x="281" y="33"/>
                    <a:pt x="281" y="33"/>
                  </a:cubicBezTo>
                  <a:cubicBezTo>
                    <a:pt x="281" y="33"/>
                    <a:pt x="281" y="33"/>
                    <a:pt x="281" y="33"/>
                  </a:cubicBezTo>
                  <a:cubicBezTo>
                    <a:pt x="292" y="38"/>
                    <a:pt x="292" y="38"/>
                    <a:pt x="296" y="37"/>
                  </a:cubicBezTo>
                  <a:cubicBezTo>
                    <a:pt x="297" y="37"/>
                    <a:pt x="297" y="37"/>
                    <a:pt x="297" y="37"/>
                  </a:cubicBezTo>
                  <a:cubicBezTo>
                    <a:pt x="297" y="36"/>
                    <a:pt x="297" y="36"/>
                    <a:pt x="297" y="36"/>
                  </a:cubicBezTo>
                  <a:cubicBezTo>
                    <a:pt x="298" y="36"/>
                    <a:pt x="300" y="37"/>
                    <a:pt x="301" y="37"/>
                  </a:cubicBezTo>
                  <a:cubicBezTo>
                    <a:pt x="302" y="38"/>
                    <a:pt x="303" y="38"/>
                    <a:pt x="304" y="38"/>
                  </a:cubicBezTo>
                  <a:cubicBezTo>
                    <a:pt x="304" y="38"/>
                    <a:pt x="304" y="38"/>
                    <a:pt x="304" y="38"/>
                  </a:cubicBezTo>
                  <a:cubicBezTo>
                    <a:pt x="304" y="37"/>
                    <a:pt x="304" y="37"/>
                    <a:pt x="304" y="37"/>
                  </a:cubicBezTo>
                  <a:cubicBezTo>
                    <a:pt x="304" y="36"/>
                    <a:pt x="304" y="36"/>
                    <a:pt x="304" y="36"/>
                  </a:cubicBezTo>
                  <a:cubicBezTo>
                    <a:pt x="308" y="36"/>
                    <a:pt x="312" y="40"/>
                    <a:pt x="314" y="43"/>
                  </a:cubicBezTo>
                  <a:cubicBezTo>
                    <a:pt x="314" y="43"/>
                    <a:pt x="314" y="43"/>
                    <a:pt x="314" y="43"/>
                  </a:cubicBezTo>
                  <a:cubicBezTo>
                    <a:pt x="314" y="43"/>
                    <a:pt x="314" y="43"/>
                    <a:pt x="314" y="43"/>
                  </a:cubicBezTo>
                  <a:cubicBezTo>
                    <a:pt x="315" y="43"/>
                    <a:pt x="315" y="43"/>
                    <a:pt x="315" y="43"/>
                  </a:cubicBezTo>
                  <a:cubicBezTo>
                    <a:pt x="315" y="44"/>
                    <a:pt x="316" y="45"/>
                    <a:pt x="317" y="47"/>
                  </a:cubicBezTo>
                  <a:cubicBezTo>
                    <a:pt x="318" y="48"/>
                    <a:pt x="320" y="49"/>
                    <a:pt x="321" y="51"/>
                  </a:cubicBezTo>
                  <a:cubicBezTo>
                    <a:pt x="320" y="51"/>
                    <a:pt x="320" y="51"/>
                    <a:pt x="320" y="51"/>
                  </a:cubicBezTo>
                  <a:cubicBezTo>
                    <a:pt x="319" y="51"/>
                    <a:pt x="318" y="51"/>
                    <a:pt x="317" y="51"/>
                  </a:cubicBezTo>
                  <a:cubicBezTo>
                    <a:pt x="315" y="50"/>
                    <a:pt x="314" y="50"/>
                    <a:pt x="313" y="50"/>
                  </a:cubicBezTo>
                  <a:cubicBezTo>
                    <a:pt x="312" y="50"/>
                    <a:pt x="312" y="50"/>
                    <a:pt x="312" y="50"/>
                  </a:cubicBezTo>
                  <a:cubicBezTo>
                    <a:pt x="312" y="50"/>
                    <a:pt x="312" y="50"/>
                    <a:pt x="312" y="50"/>
                  </a:cubicBezTo>
                  <a:cubicBezTo>
                    <a:pt x="312" y="51"/>
                    <a:pt x="312" y="52"/>
                    <a:pt x="312" y="53"/>
                  </a:cubicBezTo>
                  <a:cubicBezTo>
                    <a:pt x="311" y="53"/>
                    <a:pt x="311" y="53"/>
                    <a:pt x="311" y="53"/>
                  </a:cubicBezTo>
                  <a:cubicBezTo>
                    <a:pt x="290" y="48"/>
                    <a:pt x="286" y="49"/>
                    <a:pt x="284" y="50"/>
                  </a:cubicBezTo>
                  <a:cubicBezTo>
                    <a:pt x="284" y="50"/>
                    <a:pt x="284" y="51"/>
                    <a:pt x="284" y="51"/>
                  </a:cubicBezTo>
                  <a:cubicBezTo>
                    <a:pt x="284" y="52"/>
                    <a:pt x="284" y="53"/>
                    <a:pt x="284" y="53"/>
                  </a:cubicBezTo>
                  <a:cubicBezTo>
                    <a:pt x="285" y="54"/>
                    <a:pt x="286" y="55"/>
                    <a:pt x="286" y="56"/>
                  </a:cubicBezTo>
                  <a:cubicBezTo>
                    <a:pt x="287" y="56"/>
                    <a:pt x="287" y="56"/>
                    <a:pt x="288" y="57"/>
                  </a:cubicBezTo>
                  <a:cubicBezTo>
                    <a:pt x="287" y="58"/>
                    <a:pt x="287" y="58"/>
                    <a:pt x="287" y="58"/>
                  </a:cubicBezTo>
                  <a:cubicBezTo>
                    <a:pt x="285" y="58"/>
                    <a:pt x="255" y="53"/>
                    <a:pt x="254" y="53"/>
                  </a:cubicBezTo>
                  <a:cubicBezTo>
                    <a:pt x="254" y="53"/>
                    <a:pt x="254" y="53"/>
                    <a:pt x="254" y="53"/>
                  </a:cubicBezTo>
                  <a:cubicBezTo>
                    <a:pt x="252" y="52"/>
                    <a:pt x="252" y="51"/>
                    <a:pt x="252" y="50"/>
                  </a:cubicBezTo>
                  <a:cubicBezTo>
                    <a:pt x="252" y="49"/>
                    <a:pt x="252" y="49"/>
                    <a:pt x="252" y="48"/>
                  </a:cubicBezTo>
                  <a:cubicBezTo>
                    <a:pt x="252" y="47"/>
                    <a:pt x="250" y="47"/>
                    <a:pt x="249" y="46"/>
                  </a:cubicBezTo>
                  <a:cubicBezTo>
                    <a:pt x="249" y="46"/>
                    <a:pt x="249" y="46"/>
                    <a:pt x="249" y="46"/>
                  </a:cubicBezTo>
                  <a:cubicBezTo>
                    <a:pt x="249" y="44"/>
                    <a:pt x="248" y="44"/>
                    <a:pt x="247" y="43"/>
                  </a:cubicBezTo>
                  <a:cubicBezTo>
                    <a:pt x="247" y="43"/>
                    <a:pt x="247" y="43"/>
                    <a:pt x="247" y="43"/>
                  </a:cubicBezTo>
                  <a:cubicBezTo>
                    <a:pt x="247" y="43"/>
                    <a:pt x="247" y="43"/>
                    <a:pt x="247" y="43"/>
                  </a:cubicBezTo>
                  <a:cubicBezTo>
                    <a:pt x="246" y="44"/>
                    <a:pt x="245" y="44"/>
                    <a:pt x="244" y="43"/>
                  </a:cubicBezTo>
                  <a:cubicBezTo>
                    <a:pt x="244" y="43"/>
                    <a:pt x="243" y="43"/>
                    <a:pt x="242" y="43"/>
                  </a:cubicBezTo>
                  <a:cubicBezTo>
                    <a:pt x="242" y="43"/>
                    <a:pt x="242" y="43"/>
                    <a:pt x="242" y="43"/>
                  </a:cubicBezTo>
                  <a:cubicBezTo>
                    <a:pt x="242" y="43"/>
                    <a:pt x="242" y="43"/>
                    <a:pt x="242" y="43"/>
                  </a:cubicBezTo>
                  <a:cubicBezTo>
                    <a:pt x="242" y="43"/>
                    <a:pt x="242" y="43"/>
                    <a:pt x="242" y="43"/>
                  </a:cubicBezTo>
                  <a:cubicBezTo>
                    <a:pt x="240" y="45"/>
                    <a:pt x="240" y="45"/>
                    <a:pt x="238" y="45"/>
                  </a:cubicBezTo>
                  <a:cubicBezTo>
                    <a:pt x="234" y="46"/>
                    <a:pt x="233" y="46"/>
                    <a:pt x="232" y="47"/>
                  </a:cubicBezTo>
                  <a:cubicBezTo>
                    <a:pt x="230" y="47"/>
                    <a:pt x="223" y="49"/>
                    <a:pt x="219" y="52"/>
                  </a:cubicBezTo>
                  <a:cubicBezTo>
                    <a:pt x="218" y="53"/>
                    <a:pt x="217" y="54"/>
                    <a:pt x="217" y="55"/>
                  </a:cubicBezTo>
                  <a:cubicBezTo>
                    <a:pt x="216" y="55"/>
                    <a:pt x="216" y="56"/>
                    <a:pt x="215" y="57"/>
                  </a:cubicBezTo>
                  <a:cubicBezTo>
                    <a:pt x="214" y="57"/>
                    <a:pt x="214" y="58"/>
                    <a:pt x="213" y="59"/>
                  </a:cubicBezTo>
                  <a:cubicBezTo>
                    <a:pt x="212" y="59"/>
                    <a:pt x="211" y="59"/>
                    <a:pt x="210" y="59"/>
                  </a:cubicBezTo>
                  <a:cubicBezTo>
                    <a:pt x="209" y="60"/>
                    <a:pt x="207" y="61"/>
                    <a:pt x="206" y="61"/>
                  </a:cubicBezTo>
                  <a:cubicBezTo>
                    <a:pt x="205" y="61"/>
                    <a:pt x="204" y="60"/>
                    <a:pt x="203" y="60"/>
                  </a:cubicBezTo>
                  <a:cubicBezTo>
                    <a:pt x="203" y="60"/>
                    <a:pt x="202" y="59"/>
                    <a:pt x="201" y="59"/>
                  </a:cubicBezTo>
                  <a:cubicBezTo>
                    <a:pt x="201" y="59"/>
                    <a:pt x="201" y="59"/>
                    <a:pt x="201" y="59"/>
                  </a:cubicBezTo>
                  <a:cubicBezTo>
                    <a:pt x="201" y="60"/>
                    <a:pt x="201" y="60"/>
                    <a:pt x="201" y="60"/>
                  </a:cubicBezTo>
                  <a:cubicBezTo>
                    <a:pt x="200" y="61"/>
                    <a:pt x="200" y="61"/>
                    <a:pt x="200" y="67"/>
                  </a:cubicBezTo>
                  <a:cubicBezTo>
                    <a:pt x="200" y="68"/>
                    <a:pt x="200" y="68"/>
                    <a:pt x="200" y="68"/>
                  </a:cubicBezTo>
                  <a:cubicBezTo>
                    <a:pt x="200" y="68"/>
                    <a:pt x="200" y="68"/>
                    <a:pt x="200" y="68"/>
                  </a:cubicBezTo>
                  <a:cubicBezTo>
                    <a:pt x="200" y="68"/>
                    <a:pt x="200" y="68"/>
                    <a:pt x="200" y="68"/>
                  </a:cubicBezTo>
                  <a:cubicBezTo>
                    <a:pt x="199" y="68"/>
                    <a:pt x="199" y="68"/>
                    <a:pt x="199" y="68"/>
                  </a:cubicBezTo>
                  <a:cubicBezTo>
                    <a:pt x="196" y="71"/>
                    <a:pt x="194" y="75"/>
                    <a:pt x="194" y="78"/>
                  </a:cubicBezTo>
                  <a:cubicBezTo>
                    <a:pt x="194" y="79"/>
                    <a:pt x="195" y="81"/>
                    <a:pt x="195" y="81"/>
                  </a:cubicBezTo>
                  <a:cubicBezTo>
                    <a:pt x="196" y="82"/>
                    <a:pt x="197" y="84"/>
                    <a:pt x="197" y="85"/>
                  </a:cubicBezTo>
                  <a:cubicBezTo>
                    <a:pt x="197" y="89"/>
                    <a:pt x="192" y="93"/>
                    <a:pt x="188" y="96"/>
                  </a:cubicBezTo>
                  <a:cubicBezTo>
                    <a:pt x="188" y="96"/>
                    <a:pt x="188" y="96"/>
                    <a:pt x="188" y="96"/>
                  </a:cubicBezTo>
                  <a:cubicBezTo>
                    <a:pt x="188" y="96"/>
                    <a:pt x="188" y="96"/>
                    <a:pt x="188" y="96"/>
                  </a:cubicBezTo>
                  <a:cubicBezTo>
                    <a:pt x="189" y="98"/>
                    <a:pt x="189" y="98"/>
                    <a:pt x="189" y="98"/>
                  </a:cubicBezTo>
                  <a:cubicBezTo>
                    <a:pt x="189" y="99"/>
                    <a:pt x="189" y="99"/>
                    <a:pt x="189" y="99"/>
                  </a:cubicBezTo>
                  <a:cubicBezTo>
                    <a:pt x="187" y="103"/>
                    <a:pt x="185" y="105"/>
                    <a:pt x="185" y="107"/>
                  </a:cubicBezTo>
                  <a:cubicBezTo>
                    <a:pt x="185" y="108"/>
                    <a:pt x="186" y="109"/>
                    <a:pt x="187" y="111"/>
                  </a:cubicBezTo>
                  <a:cubicBezTo>
                    <a:pt x="184" y="115"/>
                    <a:pt x="183" y="119"/>
                    <a:pt x="183" y="123"/>
                  </a:cubicBezTo>
                  <a:cubicBezTo>
                    <a:pt x="183" y="126"/>
                    <a:pt x="183" y="128"/>
                    <a:pt x="184" y="131"/>
                  </a:cubicBezTo>
                  <a:cubicBezTo>
                    <a:pt x="184" y="131"/>
                    <a:pt x="184" y="131"/>
                    <a:pt x="184" y="131"/>
                  </a:cubicBezTo>
                  <a:cubicBezTo>
                    <a:pt x="185" y="131"/>
                    <a:pt x="185" y="131"/>
                    <a:pt x="185" y="131"/>
                  </a:cubicBezTo>
                  <a:cubicBezTo>
                    <a:pt x="185" y="131"/>
                    <a:pt x="185" y="131"/>
                    <a:pt x="186" y="131"/>
                  </a:cubicBezTo>
                  <a:cubicBezTo>
                    <a:pt x="188" y="133"/>
                    <a:pt x="190" y="137"/>
                    <a:pt x="191" y="141"/>
                  </a:cubicBezTo>
                  <a:cubicBezTo>
                    <a:pt x="192" y="145"/>
                    <a:pt x="193" y="151"/>
                    <a:pt x="192" y="159"/>
                  </a:cubicBezTo>
                  <a:cubicBezTo>
                    <a:pt x="192" y="159"/>
                    <a:pt x="192" y="159"/>
                    <a:pt x="192" y="159"/>
                  </a:cubicBezTo>
                  <a:cubicBezTo>
                    <a:pt x="192" y="159"/>
                    <a:pt x="192" y="159"/>
                    <a:pt x="192" y="159"/>
                  </a:cubicBezTo>
                  <a:cubicBezTo>
                    <a:pt x="194" y="160"/>
                    <a:pt x="196" y="163"/>
                    <a:pt x="197" y="165"/>
                  </a:cubicBezTo>
                  <a:cubicBezTo>
                    <a:pt x="198" y="168"/>
                    <a:pt x="200" y="170"/>
                    <a:pt x="202" y="172"/>
                  </a:cubicBezTo>
                  <a:cubicBezTo>
                    <a:pt x="202" y="172"/>
                    <a:pt x="202" y="172"/>
                    <a:pt x="202" y="172"/>
                  </a:cubicBezTo>
                  <a:cubicBezTo>
                    <a:pt x="204" y="172"/>
                    <a:pt x="204" y="172"/>
                    <a:pt x="204" y="172"/>
                  </a:cubicBezTo>
                  <a:cubicBezTo>
                    <a:pt x="220" y="186"/>
                    <a:pt x="220" y="186"/>
                    <a:pt x="221" y="187"/>
                  </a:cubicBezTo>
                  <a:cubicBezTo>
                    <a:pt x="222" y="187"/>
                    <a:pt x="222" y="187"/>
                    <a:pt x="222" y="187"/>
                  </a:cubicBezTo>
                  <a:cubicBezTo>
                    <a:pt x="222" y="187"/>
                    <a:pt x="222" y="187"/>
                    <a:pt x="222" y="187"/>
                  </a:cubicBezTo>
                  <a:cubicBezTo>
                    <a:pt x="226" y="187"/>
                    <a:pt x="228" y="188"/>
                    <a:pt x="230" y="191"/>
                  </a:cubicBezTo>
                  <a:cubicBezTo>
                    <a:pt x="230" y="191"/>
                    <a:pt x="230" y="191"/>
                    <a:pt x="230" y="191"/>
                  </a:cubicBezTo>
                  <a:cubicBezTo>
                    <a:pt x="231" y="191"/>
                    <a:pt x="231" y="191"/>
                    <a:pt x="231" y="191"/>
                  </a:cubicBezTo>
                  <a:cubicBezTo>
                    <a:pt x="233" y="191"/>
                    <a:pt x="235" y="192"/>
                    <a:pt x="238" y="193"/>
                  </a:cubicBezTo>
                  <a:cubicBezTo>
                    <a:pt x="242" y="195"/>
                    <a:pt x="247" y="197"/>
                    <a:pt x="251" y="193"/>
                  </a:cubicBezTo>
                  <a:cubicBezTo>
                    <a:pt x="255" y="189"/>
                    <a:pt x="258" y="186"/>
                    <a:pt x="267" y="188"/>
                  </a:cubicBezTo>
                  <a:cubicBezTo>
                    <a:pt x="267" y="188"/>
                    <a:pt x="267" y="188"/>
                    <a:pt x="267" y="188"/>
                  </a:cubicBezTo>
                  <a:cubicBezTo>
                    <a:pt x="267" y="188"/>
                    <a:pt x="267" y="188"/>
                    <a:pt x="267" y="188"/>
                  </a:cubicBezTo>
                  <a:cubicBezTo>
                    <a:pt x="286" y="173"/>
                    <a:pt x="286" y="173"/>
                    <a:pt x="288" y="174"/>
                  </a:cubicBezTo>
                  <a:cubicBezTo>
                    <a:pt x="290" y="175"/>
                    <a:pt x="291" y="176"/>
                    <a:pt x="292" y="178"/>
                  </a:cubicBezTo>
                  <a:cubicBezTo>
                    <a:pt x="293" y="179"/>
                    <a:pt x="294" y="181"/>
                    <a:pt x="297" y="182"/>
                  </a:cubicBezTo>
                  <a:cubicBezTo>
                    <a:pt x="298" y="182"/>
                    <a:pt x="300" y="181"/>
                    <a:pt x="301" y="180"/>
                  </a:cubicBezTo>
                  <a:cubicBezTo>
                    <a:pt x="303" y="179"/>
                    <a:pt x="304" y="178"/>
                    <a:pt x="306" y="179"/>
                  </a:cubicBezTo>
                  <a:cubicBezTo>
                    <a:pt x="310" y="182"/>
                    <a:pt x="310" y="182"/>
                    <a:pt x="310" y="182"/>
                  </a:cubicBezTo>
                  <a:cubicBezTo>
                    <a:pt x="313" y="200"/>
                    <a:pt x="313" y="200"/>
                    <a:pt x="313" y="200"/>
                  </a:cubicBezTo>
                  <a:cubicBezTo>
                    <a:pt x="313" y="202"/>
                    <a:pt x="313" y="203"/>
                    <a:pt x="313" y="204"/>
                  </a:cubicBezTo>
                  <a:cubicBezTo>
                    <a:pt x="313" y="205"/>
                    <a:pt x="313" y="206"/>
                    <a:pt x="314" y="208"/>
                  </a:cubicBezTo>
                  <a:cubicBezTo>
                    <a:pt x="315" y="210"/>
                    <a:pt x="318" y="212"/>
                    <a:pt x="320" y="214"/>
                  </a:cubicBezTo>
                  <a:cubicBezTo>
                    <a:pt x="321" y="216"/>
                    <a:pt x="323" y="218"/>
                    <a:pt x="325" y="220"/>
                  </a:cubicBezTo>
                  <a:cubicBezTo>
                    <a:pt x="331" y="239"/>
                    <a:pt x="331" y="239"/>
                    <a:pt x="331" y="239"/>
                  </a:cubicBezTo>
                  <a:cubicBezTo>
                    <a:pt x="331" y="239"/>
                    <a:pt x="331" y="239"/>
                    <a:pt x="331" y="240"/>
                  </a:cubicBezTo>
                  <a:cubicBezTo>
                    <a:pt x="331" y="242"/>
                    <a:pt x="332" y="244"/>
                    <a:pt x="333" y="245"/>
                  </a:cubicBezTo>
                  <a:cubicBezTo>
                    <a:pt x="333" y="245"/>
                    <a:pt x="333" y="245"/>
                    <a:pt x="333" y="245"/>
                  </a:cubicBezTo>
                  <a:cubicBezTo>
                    <a:pt x="333" y="246"/>
                    <a:pt x="333" y="246"/>
                    <a:pt x="333" y="246"/>
                  </a:cubicBezTo>
                  <a:cubicBezTo>
                    <a:pt x="333" y="246"/>
                    <a:pt x="333" y="246"/>
                    <a:pt x="333" y="246"/>
                  </a:cubicBezTo>
                  <a:cubicBezTo>
                    <a:pt x="334" y="248"/>
                    <a:pt x="334" y="249"/>
                    <a:pt x="334" y="250"/>
                  </a:cubicBezTo>
                  <a:cubicBezTo>
                    <a:pt x="334" y="251"/>
                    <a:pt x="334" y="251"/>
                    <a:pt x="334" y="251"/>
                  </a:cubicBezTo>
                  <a:cubicBezTo>
                    <a:pt x="334" y="253"/>
                    <a:pt x="333" y="254"/>
                    <a:pt x="332" y="256"/>
                  </a:cubicBezTo>
                  <a:cubicBezTo>
                    <a:pt x="329" y="262"/>
                    <a:pt x="327" y="278"/>
                    <a:pt x="327" y="278"/>
                  </a:cubicBezTo>
                  <a:cubicBezTo>
                    <a:pt x="327" y="278"/>
                    <a:pt x="327" y="278"/>
                    <a:pt x="327" y="278"/>
                  </a:cubicBezTo>
                  <a:cubicBezTo>
                    <a:pt x="327" y="279"/>
                    <a:pt x="328" y="281"/>
                    <a:pt x="330" y="292"/>
                  </a:cubicBezTo>
                  <a:cubicBezTo>
                    <a:pt x="331" y="297"/>
                    <a:pt x="331" y="299"/>
                    <a:pt x="331" y="301"/>
                  </a:cubicBezTo>
                  <a:cubicBezTo>
                    <a:pt x="331" y="302"/>
                    <a:pt x="331" y="304"/>
                    <a:pt x="331" y="306"/>
                  </a:cubicBezTo>
                  <a:cubicBezTo>
                    <a:pt x="330" y="316"/>
                    <a:pt x="330" y="320"/>
                    <a:pt x="330" y="322"/>
                  </a:cubicBezTo>
                  <a:cubicBezTo>
                    <a:pt x="330" y="324"/>
                    <a:pt x="330" y="324"/>
                    <a:pt x="330" y="325"/>
                  </a:cubicBezTo>
                  <a:cubicBezTo>
                    <a:pt x="331" y="326"/>
                    <a:pt x="331" y="326"/>
                    <a:pt x="331" y="326"/>
                  </a:cubicBezTo>
                  <a:cubicBezTo>
                    <a:pt x="331" y="327"/>
                    <a:pt x="331" y="327"/>
                    <a:pt x="331" y="327"/>
                  </a:cubicBezTo>
                  <a:cubicBezTo>
                    <a:pt x="329" y="337"/>
                    <a:pt x="329" y="339"/>
                    <a:pt x="326" y="345"/>
                  </a:cubicBezTo>
                  <a:cubicBezTo>
                    <a:pt x="325" y="345"/>
                    <a:pt x="325" y="345"/>
                    <a:pt x="325" y="345"/>
                  </a:cubicBezTo>
                  <a:cubicBezTo>
                    <a:pt x="326" y="346"/>
                    <a:pt x="326" y="346"/>
                    <a:pt x="326" y="346"/>
                  </a:cubicBezTo>
                  <a:cubicBezTo>
                    <a:pt x="327" y="347"/>
                    <a:pt x="327" y="347"/>
                    <a:pt x="330" y="346"/>
                  </a:cubicBezTo>
                  <a:cubicBezTo>
                    <a:pt x="330" y="346"/>
                    <a:pt x="330" y="346"/>
                    <a:pt x="330" y="346"/>
                  </a:cubicBezTo>
                  <a:cubicBezTo>
                    <a:pt x="330" y="346"/>
                    <a:pt x="330" y="346"/>
                    <a:pt x="330" y="346"/>
                  </a:cubicBezTo>
                  <a:cubicBezTo>
                    <a:pt x="331" y="345"/>
                    <a:pt x="331" y="345"/>
                    <a:pt x="332" y="345"/>
                  </a:cubicBezTo>
                  <a:cubicBezTo>
                    <a:pt x="334" y="345"/>
                    <a:pt x="340" y="344"/>
                    <a:pt x="352" y="328"/>
                  </a:cubicBezTo>
                  <a:cubicBezTo>
                    <a:pt x="353" y="327"/>
                    <a:pt x="354" y="326"/>
                    <a:pt x="355" y="324"/>
                  </a:cubicBezTo>
                  <a:cubicBezTo>
                    <a:pt x="357" y="322"/>
                    <a:pt x="359" y="319"/>
                    <a:pt x="360" y="317"/>
                  </a:cubicBezTo>
                  <a:cubicBezTo>
                    <a:pt x="361" y="316"/>
                    <a:pt x="361" y="314"/>
                    <a:pt x="362" y="313"/>
                  </a:cubicBezTo>
                  <a:cubicBezTo>
                    <a:pt x="363" y="311"/>
                    <a:pt x="364" y="309"/>
                    <a:pt x="366" y="307"/>
                  </a:cubicBezTo>
                  <a:cubicBezTo>
                    <a:pt x="368" y="305"/>
                    <a:pt x="369" y="305"/>
                    <a:pt x="371" y="302"/>
                  </a:cubicBezTo>
                  <a:cubicBezTo>
                    <a:pt x="372" y="299"/>
                    <a:pt x="373" y="296"/>
                    <a:pt x="374" y="292"/>
                  </a:cubicBezTo>
                  <a:cubicBezTo>
                    <a:pt x="375" y="289"/>
                    <a:pt x="375" y="287"/>
                    <a:pt x="377" y="284"/>
                  </a:cubicBezTo>
                  <a:cubicBezTo>
                    <a:pt x="378" y="280"/>
                    <a:pt x="381" y="278"/>
                    <a:pt x="383" y="275"/>
                  </a:cubicBezTo>
                  <a:cubicBezTo>
                    <a:pt x="386" y="272"/>
                    <a:pt x="388" y="269"/>
                    <a:pt x="390" y="266"/>
                  </a:cubicBezTo>
                  <a:close/>
                  <a:moveTo>
                    <a:pt x="368" y="74"/>
                  </a:moveTo>
                  <a:cubicBezTo>
                    <a:pt x="368" y="73"/>
                    <a:pt x="368" y="73"/>
                    <a:pt x="368" y="73"/>
                  </a:cubicBezTo>
                  <a:cubicBezTo>
                    <a:pt x="368" y="74"/>
                    <a:pt x="368" y="74"/>
                    <a:pt x="369" y="75"/>
                  </a:cubicBezTo>
                  <a:cubicBezTo>
                    <a:pt x="370" y="76"/>
                    <a:pt x="370" y="77"/>
                    <a:pt x="371" y="78"/>
                  </a:cubicBezTo>
                  <a:cubicBezTo>
                    <a:pt x="370" y="78"/>
                    <a:pt x="370" y="78"/>
                    <a:pt x="369" y="77"/>
                  </a:cubicBezTo>
                  <a:cubicBezTo>
                    <a:pt x="368" y="76"/>
                    <a:pt x="367" y="74"/>
                    <a:pt x="364" y="71"/>
                  </a:cubicBezTo>
                  <a:cubicBezTo>
                    <a:pt x="364" y="71"/>
                    <a:pt x="364" y="71"/>
                    <a:pt x="364" y="71"/>
                  </a:cubicBezTo>
                  <a:cubicBezTo>
                    <a:pt x="364" y="71"/>
                    <a:pt x="364" y="71"/>
                    <a:pt x="364" y="71"/>
                  </a:cubicBezTo>
                  <a:cubicBezTo>
                    <a:pt x="363" y="71"/>
                    <a:pt x="363" y="70"/>
                    <a:pt x="363" y="70"/>
                  </a:cubicBezTo>
                  <a:cubicBezTo>
                    <a:pt x="362" y="69"/>
                    <a:pt x="362" y="69"/>
                    <a:pt x="362" y="69"/>
                  </a:cubicBezTo>
                  <a:cubicBezTo>
                    <a:pt x="362" y="69"/>
                    <a:pt x="362" y="69"/>
                    <a:pt x="362" y="69"/>
                  </a:cubicBezTo>
                  <a:cubicBezTo>
                    <a:pt x="361" y="69"/>
                    <a:pt x="361" y="69"/>
                    <a:pt x="361" y="69"/>
                  </a:cubicBezTo>
                  <a:cubicBezTo>
                    <a:pt x="359" y="67"/>
                    <a:pt x="352" y="60"/>
                    <a:pt x="351" y="59"/>
                  </a:cubicBezTo>
                  <a:cubicBezTo>
                    <a:pt x="355" y="62"/>
                    <a:pt x="362" y="68"/>
                    <a:pt x="368" y="74"/>
                  </a:cubicBezTo>
                  <a:close/>
                  <a:moveTo>
                    <a:pt x="193" y="19"/>
                  </a:moveTo>
                  <a:cubicBezTo>
                    <a:pt x="193" y="19"/>
                    <a:pt x="193" y="19"/>
                    <a:pt x="193" y="19"/>
                  </a:cubicBezTo>
                  <a:cubicBezTo>
                    <a:pt x="193" y="19"/>
                    <a:pt x="193" y="19"/>
                    <a:pt x="193" y="19"/>
                  </a:cubicBezTo>
                  <a:close/>
                  <a:moveTo>
                    <a:pt x="199" y="8"/>
                  </a:moveTo>
                  <a:cubicBezTo>
                    <a:pt x="199" y="8"/>
                    <a:pt x="199" y="8"/>
                    <a:pt x="199" y="8"/>
                  </a:cubicBezTo>
                  <a:cubicBezTo>
                    <a:pt x="199" y="8"/>
                    <a:pt x="198" y="8"/>
                    <a:pt x="198" y="8"/>
                  </a:cubicBezTo>
                  <a:cubicBezTo>
                    <a:pt x="197" y="8"/>
                    <a:pt x="197" y="8"/>
                    <a:pt x="197" y="8"/>
                  </a:cubicBezTo>
                  <a:cubicBezTo>
                    <a:pt x="197" y="8"/>
                    <a:pt x="196" y="7"/>
                    <a:pt x="195" y="7"/>
                  </a:cubicBezTo>
                  <a:cubicBezTo>
                    <a:pt x="196" y="7"/>
                    <a:pt x="198" y="8"/>
                    <a:pt x="199" y="8"/>
                  </a:cubicBezTo>
                  <a:close/>
                  <a:moveTo>
                    <a:pt x="210" y="7"/>
                  </a:moveTo>
                  <a:cubicBezTo>
                    <a:pt x="207" y="7"/>
                    <a:pt x="205" y="8"/>
                    <a:pt x="203" y="9"/>
                  </a:cubicBezTo>
                  <a:cubicBezTo>
                    <a:pt x="203" y="9"/>
                    <a:pt x="202" y="8"/>
                    <a:pt x="201" y="8"/>
                  </a:cubicBezTo>
                  <a:cubicBezTo>
                    <a:pt x="201" y="8"/>
                    <a:pt x="201" y="8"/>
                    <a:pt x="201" y="8"/>
                  </a:cubicBezTo>
                  <a:cubicBezTo>
                    <a:pt x="203" y="8"/>
                    <a:pt x="204" y="8"/>
                    <a:pt x="204" y="8"/>
                  </a:cubicBezTo>
                  <a:cubicBezTo>
                    <a:pt x="204" y="8"/>
                    <a:pt x="204" y="8"/>
                    <a:pt x="204" y="8"/>
                  </a:cubicBezTo>
                  <a:cubicBezTo>
                    <a:pt x="204" y="7"/>
                    <a:pt x="204" y="7"/>
                    <a:pt x="204" y="7"/>
                  </a:cubicBezTo>
                  <a:cubicBezTo>
                    <a:pt x="205" y="7"/>
                    <a:pt x="205" y="7"/>
                    <a:pt x="205" y="7"/>
                  </a:cubicBezTo>
                  <a:cubicBezTo>
                    <a:pt x="205" y="7"/>
                    <a:pt x="205" y="7"/>
                    <a:pt x="205" y="7"/>
                  </a:cubicBezTo>
                  <a:cubicBezTo>
                    <a:pt x="203" y="6"/>
                    <a:pt x="203" y="5"/>
                    <a:pt x="199" y="5"/>
                  </a:cubicBezTo>
                  <a:cubicBezTo>
                    <a:pt x="199" y="4"/>
                    <a:pt x="198" y="3"/>
                    <a:pt x="190" y="2"/>
                  </a:cubicBezTo>
                  <a:cubicBezTo>
                    <a:pt x="194" y="2"/>
                    <a:pt x="202" y="2"/>
                    <a:pt x="207" y="2"/>
                  </a:cubicBezTo>
                  <a:cubicBezTo>
                    <a:pt x="205" y="2"/>
                    <a:pt x="205" y="2"/>
                    <a:pt x="205" y="2"/>
                  </a:cubicBezTo>
                  <a:cubicBezTo>
                    <a:pt x="204" y="2"/>
                    <a:pt x="204" y="2"/>
                    <a:pt x="204" y="2"/>
                  </a:cubicBezTo>
                  <a:cubicBezTo>
                    <a:pt x="205" y="3"/>
                    <a:pt x="205" y="3"/>
                    <a:pt x="205" y="3"/>
                  </a:cubicBezTo>
                  <a:cubicBezTo>
                    <a:pt x="206" y="3"/>
                    <a:pt x="207" y="3"/>
                    <a:pt x="208" y="4"/>
                  </a:cubicBezTo>
                  <a:cubicBezTo>
                    <a:pt x="208" y="4"/>
                    <a:pt x="208" y="4"/>
                    <a:pt x="208" y="4"/>
                  </a:cubicBezTo>
                  <a:cubicBezTo>
                    <a:pt x="207" y="4"/>
                    <a:pt x="207" y="4"/>
                    <a:pt x="207" y="4"/>
                  </a:cubicBezTo>
                  <a:cubicBezTo>
                    <a:pt x="208" y="4"/>
                    <a:pt x="208" y="4"/>
                    <a:pt x="208" y="4"/>
                  </a:cubicBezTo>
                  <a:cubicBezTo>
                    <a:pt x="209" y="5"/>
                    <a:pt x="209" y="5"/>
                    <a:pt x="214" y="6"/>
                  </a:cubicBezTo>
                  <a:cubicBezTo>
                    <a:pt x="214" y="7"/>
                    <a:pt x="214" y="7"/>
                    <a:pt x="214" y="7"/>
                  </a:cubicBezTo>
                  <a:cubicBezTo>
                    <a:pt x="213" y="7"/>
                    <a:pt x="211" y="7"/>
                    <a:pt x="210" y="7"/>
                  </a:cubicBezTo>
                  <a:close/>
                  <a:moveTo>
                    <a:pt x="269" y="13"/>
                  </a:moveTo>
                  <a:cubicBezTo>
                    <a:pt x="269" y="13"/>
                    <a:pt x="269" y="13"/>
                    <a:pt x="269" y="13"/>
                  </a:cubicBezTo>
                  <a:close/>
                  <a:moveTo>
                    <a:pt x="269" y="14"/>
                  </a:moveTo>
                  <a:cubicBezTo>
                    <a:pt x="269" y="14"/>
                    <a:pt x="269" y="14"/>
                    <a:pt x="269" y="14"/>
                  </a:cubicBezTo>
                  <a:cubicBezTo>
                    <a:pt x="270" y="14"/>
                    <a:pt x="270" y="14"/>
                    <a:pt x="270" y="14"/>
                  </a:cubicBezTo>
                  <a:cubicBezTo>
                    <a:pt x="270" y="14"/>
                    <a:pt x="270" y="14"/>
                    <a:pt x="270" y="14"/>
                  </a:cubicBezTo>
                  <a:cubicBezTo>
                    <a:pt x="272" y="14"/>
                    <a:pt x="272" y="14"/>
                    <a:pt x="272" y="14"/>
                  </a:cubicBezTo>
                  <a:cubicBezTo>
                    <a:pt x="272" y="14"/>
                    <a:pt x="272" y="14"/>
                    <a:pt x="272" y="14"/>
                  </a:cubicBezTo>
                  <a:cubicBezTo>
                    <a:pt x="272" y="15"/>
                    <a:pt x="273" y="15"/>
                    <a:pt x="273" y="15"/>
                  </a:cubicBezTo>
                  <a:cubicBezTo>
                    <a:pt x="274" y="15"/>
                    <a:pt x="274" y="15"/>
                    <a:pt x="274" y="15"/>
                  </a:cubicBezTo>
                  <a:cubicBezTo>
                    <a:pt x="273" y="15"/>
                    <a:pt x="273" y="15"/>
                    <a:pt x="273" y="15"/>
                  </a:cubicBezTo>
                  <a:cubicBezTo>
                    <a:pt x="273" y="15"/>
                    <a:pt x="273" y="15"/>
                    <a:pt x="273" y="15"/>
                  </a:cubicBezTo>
                  <a:cubicBezTo>
                    <a:pt x="273" y="16"/>
                    <a:pt x="273" y="16"/>
                    <a:pt x="273" y="16"/>
                  </a:cubicBezTo>
                  <a:cubicBezTo>
                    <a:pt x="273" y="15"/>
                    <a:pt x="273" y="15"/>
                    <a:pt x="272" y="15"/>
                  </a:cubicBezTo>
                  <a:cubicBezTo>
                    <a:pt x="271" y="15"/>
                    <a:pt x="271" y="15"/>
                    <a:pt x="270" y="15"/>
                  </a:cubicBezTo>
                  <a:cubicBezTo>
                    <a:pt x="269" y="15"/>
                    <a:pt x="269" y="15"/>
                    <a:pt x="269" y="15"/>
                  </a:cubicBezTo>
                  <a:cubicBezTo>
                    <a:pt x="269" y="15"/>
                    <a:pt x="269" y="15"/>
                    <a:pt x="269" y="15"/>
                  </a:cubicBezTo>
                  <a:cubicBezTo>
                    <a:pt x="269" y="15"/>
                    <a:pt x="269" y="15"/>
                    <a:pt x="269" y="15"/>
                  </a:cubicBezTo>
                  <a:lnTo>
                    <a:pt x="269" y="14"/>
                  </a:lnTo>
                  <a:close/>
                  <a:moveTo>
                    <a:pt x="278" y="27"/>
                  </a:moveTo>
                  <a:cubicBezTo>
                    <a:pt x="278" y="27"/>
                    <a:pt x="277" y="27"/>
                    <a:pt x="276" y="27"/>
                  </a:cubicBezTo>
                  <a:cubicBezTo>
                    <a:pt x="276" y="27"/>
                    <a:pt x="276" y="27"/>
                    <a:pt x="276" y="27"/>
                  </a:cubicBezTo>
                  <a:cubicBezTo>
                    <a:pt x="277" y="27"/>
                    <a:pt x="277" y="27"/>
                    <a:pt x="277" y="27"/>
                  </a:cubicBezTo>
                  <a:cubicBezTo>
                    <a:pt x="277" y="27"/>
                    <a:pt x="278" y="27"/>
                    <a:pt x="278" y="26"/>
                  </a:cubicBezTo>
                  <a:lnTo>
                    <a:pt x="278" y="27"/>
                  </a:lnTo>
                  <a:close/>
                  <a:moveTo>
                    <a:pt x="295" y="24"/>
                  </a:moveTo>
                  <a:cubicBezTo>
                    <a:pt x="295" y="24"/>
                    <a:pt x="295" y="24"/>
                    <a:pt x="291" y="24"/>
                  </a:cubicBezTo>
                  <a:cubicBezTo>
                    <a:pt x="290" y="23"/>
                    <a:pt x="289" y="23"/>
                    <a:pt x="288" y="23"/>
                  </a:cubicBezTo>
                  <a:cubicBezTo>
                    <a:pt x="287" y="22"/>
                    <a:pt x="285" y="22"/>
                    <a:pt x="284" y="22"/>
                  </a:cubicBezTo>
                  <a:cubicBezTo>
                    <a:pt x="283" y="22"/>
                    <a:pt x="282" y="22"/>
                    <a:pt x="281" y="23"/>
                  </a:cubicBezTo>
                  <a:cubicBezTo>
                    <a:pt x="281" y="24"/>
                    <a:pt x="280" y="24"/>
                    <a:pt x="280" y="24"/>
                  </a:cubicBezTo>
                  <a:cubicBezTo>
                    <a:pt x="280" y="25"/>
                    <a:pt x="280" y="25"/>
                    <a:pt x="280" y="25"/>
                  </a:cubicBezTo>
                  <a:cubicBezTo>
                    <a:pt x="278" y="25"/>
                    <a:pt x="278" y="25"/>
                    <a:pt x="278" y="25"/>
                  </a:cubicBezTo>
                  <a:cubicBezTo>
                    <a:pt x="278" y="25"/>
                    <a:pt x="278" y="25"/>
                    <a:pt x="278" y="25"/>
                  </a:cubicBezTo>
                  <a:cubicBezTo>
                    <a:pt x="278" y="25"/>
                    <a:pt x="278" y="25"/>
                    <a:pt x="278" y="25"/>
                  </a:cubicBezTo>
                  <a:cubicBezTo>
                    <a:pt x="277" y="25"/>
                    <a:pt x="277" y="25"/>
                    <a:pt x="277" y="25"/>
                  </a:cubicBezTo>
                  <a:cubicBezTo>
                    <a:pt x="276" y="25"/>
                    <a:pt x="275" y="24"/>
                    <a:pt x="275" y="24"/>
                  </a:cubicBezTo>
                  <a:cubicBezTo>
                    <a:pt x="274" y="24"/>
                    <a:pt x="273" y="24"/>
                    <a:pt x="272" y="23"/>
                  </a:cubicBezTo>
                  <a:cubicBezTo>
                    <a:pt x="271" y="23"/>
                    <a:pt x="271" y="23"/>
                    <a:pt x="271" y="23"/>
                  </a:cubicBezTo>
                  <a:cubicBezTo>
                    <a:pt x="270" y="23"/>
                    <a:pt x="270" y="23"/>
                    <a:pt x="270" y="23"/>
                  </a:cubicBezTo>
                  <a:cubicBezTo>
                    <a:pt x="269" y="22"/>
                    <a:pt x="268" y="21"/>
                    <a:pt x="268" y="21"/>
                  </a:cubicBezTo>
                  <a:cubicBezTo>
                    <a:pt x="267" y="20"/>
                    <a:pt x="266" y="19"/>
                    <a:pt x="265" y="18"/>
                  </a:cubicBezTo>
                  <a:cubicBezTo>
                    <a:pt x="265" y="18"/>
                    <a:pt x="265" y="18"/>
                    <a:pt x="265" y="18"/>
                  </a:cubicBezTo>
                  <a:cubicBezTo>
                    <a:pt x="266" y="18"/>
                    <a:pt x="266" y="18"/>
                    <a:pt x="266" y="18"/>
                  </a:cubicBezTo>
                  <a:cubicBezTo>
                    <a:pt x="265" y="18"/>
                    <a:pt x="265" y="18"/>
                    <a:pt x="265" y="18"/>
                  </a:cubicBezTo>
                  <a:cubicBezTo>
                    <a:pt x="264" y="17"/>
                    <a:pt x="264" y="17"/>
                    <a:pt x="263" y="16"/>
                  </a:cubicBezTo>
                  <a:cubicBezTo>
                    <a:pt x="263" y="16"/>
                    <a:pt x="262" y="15"/>
                    <a:pt x="262" y="15"/>
                  </a:cubicBezTo>
                  <a:cubicBezTo>
                    <a:pt x="262" y="15"/>
                    <a:pt x="262" y="15"/>
                    <a:pt x="262" y="15"/>
                  </a:cubicBezTo>
                  <a:cubicBezTo>
                    <a:pt x="262" y="15"/>
                    <a:pt x="262" y="15"/>
                    <a:pt x="262" y="15"/>
                  </a:cubicBezTo>
                  <a:cubicBezTo>
                    <a:pt x="262" y="15"/>
                    <a:pt x="266" y="15"/>
                    <a:pt x="266" y="16"/>
                  </a:cubicBezTo>
                  <a:cubicBezTo>
                    <a:pt x="266" y="16"/>
                    <a:pt x="266" y="16"/>
                    <a:pt x="266" y="16"/>
                  </a:cubicBezTo>
                  <a:cubicBezTo>
                    <a:pt x="267" y="16"/>
                    <a:pt x="267" y="16"/>
                    <a:pt x="267" y="16"/>
                  </a:cubicBezTo>
                  <a:cubicBezTo>
                    <a:pt x="267" y="16"/>
                    <a:pt x="272" y="18"/>
                    <a:pt x="273" y="18"/>
                  </a:cubicBezTo>
                  <a:cubicBezTo>
                    <a:pt x="274" y="18"/>
                    <a:pt x="274" y="18"/>
                    <a:pt x="274" y="18"/>
                  </a:cubicBezTo>
                  <a:cubicBezTo>
                    <a:pt x="274" y="18"/>
                    <a:pt x="274" y="18"/>
                    <a:pt x="274" y="18"/>
                  </a:cubicBezTo>
                  <a:cubicBezTo>
                    <a:pt x="274" y="18"/>
                    <a:pt x="274" y="18"/>
                    <a:pt x="274" y="18"/>
                  </a:cubicBezTo>
                  <a:cubicBezTo>
                    <a:pt x="274" y="17"/>
                    <a:pt x="274" y="17"/>
                    <a:pt x="274" y="17"/>
                  </a:cubicBezTo>
                  <a:cubicBezTo>
                    <a:pt x="275" y="17"/>
                    <a:pt x="275" y="17"/>
                    <a:pt x="276" y="17"/>
                  </a:cubicBezTo>
                  <a:cubicBezTo>
                    <a:pt x="276" y="17"/>
                    <a:pt x="276" y="17"/>
                    <a:pt x="276" y="17"/>
                  </a:cubicBezTo>
                  <a:cubicBezTo>
                    <a:pt x="276" y="17"/>
                    <a:pt x="276" y="17"/>
                    <a:pt x="276" y="17"/>
                  </a:cubicBezTo>
                  <a:cubicBezTo>
                    <a:pt x="277" y="17"/>
                    <a:pt x="278" y="17"/>
                    <a:pt x="279" y="18"/>
                  </a:cubicBezTo>
                  <a:cubicBezTo>
                    <a:pt x="281" y="18"/>
                    <a:pt x="283" y="19"/>
                    <a:pt x="285" y="19"/>
                  </a:cubicBezTo>
                  <a:cubicBezTo>
                    <a:pt x="291" y="21"/>
                    <a:pt x="295" y="23"/>
                    <a:pt x="295" y="24"/>
                  </a:cubicBezTo>
                  <a:cubicBezTo>
                    <a:pt x="295" y="24"/>
                    <a:pt x="295" y="24"/>
                    <a:pt x="295" y="24"/>
                  </a:cubicBezTo>
                  <a:close/>
                  <a:moveTo>
                    <a:pt x="228" y="30"/>
                  </a:moveTo>
                  <a:cubicBezTo>
                    <a:pt x="227" y="30"/>
                    <a:pt x="227" y="31"/>
                    <a:pt x="227" y="31"/>
                  </a:cubicBezTo>
                  <a:cubicBezTo>
                    <a:pt x="227" y="31"/>
                    <a:pt x="227" y="31"/>
                    <a:pt x="227" y="31"/>
                  </a:cubicBezTo>
                  <a:cubicBezTo>
                    <a:pt x="227" y="32"/>
                    <a:pt x="228" y="32"/>
                    <a:pt x="231" y="34"/>
                  </a:cubicBezTo>
                  <a:cubicBezTo>
                    <a:pt x="231" y="34"/>
                    <a:pt x="231" y="34"/>
                    <a:pt x="230" y="35"/>
                  </a:cubicBezTo>
                  <a:cubicBezTo>
                    <a:pt x="230" y="35"/>
                    <a:pt x="230" y="35"/>
                    <a:pt x="230" y="35"/>
                  </a:cubicBezTo>
                  <a:cubicBezTo>
                    <a:pt x="230" y="35"/>
                    <a:pt x="230" y="35"/>
                    <a:pt x="230" y="35"/>
                  </a:cubicBezTo>
                  <a:cubicBezTo>
                    <a:pt x="231" y="36"/>
                    <a:pt x="232" y="36"/>
                    <a:pt x="232" y="37"/>
                  </a:cubicBezTo>
                  <a:cubicBezTo>
                    <a:pt x="233" y="38"/>
                    <a:pt x="235" y="40"/>
                    <a:pt x="236" y="40"/>
                  </a:cubicBezTo>
                  <a:cubicBezTo>
                    <a:pt x="236" y="40"/>
                    <a:pt x="237" y="40"/>
                    <a:pt x="238" y="40"/>
                  </a:cubicBezTo>
                  <a:cubicBezTo>
                    <a:pt x="238" y="39"/>
                    <a:pt x="238" y="39"/>
                    <a:pt x="238" y="38"/>
                  </a:cubicBezTo>
                  <a:cubicBezTo>
                    <a:pt x="238" y="38"/>
                    <a:pt x="238" y="37"/>
                    <a:pt x="237" y="37"/>
                  </a:cubicBezTo>
                  <a:cubicBezTo>
                    <a:pt x="237" y="36"/>
                    <a:pt x="237" y="36"/>
                    <a:pt x="237" y="36"/>
                  </a:cubicBezTo>
                  <a:cubicBezTo>
                    <a:pt x="235" y="34"/>
                    <a:pt x="234" y="34"/>
                    <a:pt x="232" y="33"/>
                  </a:cubicBezTo>
                  <a:cubicBezTo>
                    <a:pt x="231" y="33"/>
                    <a:pt x="231" y="33"/>
                    <a:pt x="231" y="33"/>
                  </a:cubicBezTo>
                  <a:cubicBezTo>
                    <a:pt x="231" y="32"/>
                    <a:pt x="231" y="31"/>
                    <a:pt x="230" y="30"/>
                  </a:cubicBezTo>
                  <a:cubicBezTo>
                    <a:pt x="229" y="29"/>
                    <a:pt x="228" y="29"/>
                    <a:pt x="228" y="29"/>
                  </a:cubicBezTo>
                  <a:cubicBezTo>
                    <a:pt x="228" y="29"/>
                    <a:pt x="228" y="29"/>
                    <a:pt x="228" y="29"/>
                  </a:cubicBezTo>
                  <a:lnTo>
                    <a:pt x="228" y="30"/>
                  </a:lnTo>
                  <a:close/>
                  <a:moveTo>
                    <a:pt x="278" y="35"/>
                  </a:moveTo>
                  <a:cubicBezTo>
                    <a:pt x="278" y="35"/>
                    <a:pt x="278" y="35"/>
                    <a:pt x="278" y="35"/>
                  </a:cubicBezTo>
                  <a:cubicBezTo>
                    <a:pt x="278" y="35"/>
                    <a:pt x="278" y="35"/>
                    <a:pt x="278" y="35"/>
                  </a:cubicBezTo>
                  <a:cubicBezTo>
                    <a:pt x="279" y="36"/>
                    <a:pt x="280" y="37"/>
                    <a:pt x="281" y="36"/>
                  </a:cubicBezTo>
                  <a:cubicBezTo>
                    <a:pt x="281" y="36"/>
                    <a:pt x="281" y="36"/>
                    <a:pt x="281" y="36"/>
                  </a:cubicBezTo>
                  <a:cubicBezTo>
                    <a:pt x="281" y="36"/>
                    <a:pt x="281" y="36"/>
                    <a:pt x="281" y="36"/>
                  </a:cubicBezTo>
                  <a:cubicBezTo>
                    <a:pt x="281" y="36"/>
                    <a:pt x="281" y="36"/>
                    <a:pt x="281" y="36"/>
                  </a:cubicBezTo>
                  <a:cubicBezTo>
                    <a:pt x="281" y="36"/>
                    <a:pt x="281" y="36"/>
                    <a:pt x="281" y="36"/>
                  </a:cubicBezTo>
                  <a:cubicBezTo>
                    <a:pt x="281" y="36"/>
                    <a:pt x="281" y="36"/>
                    <a:pt x="281" y="36"/>
                  </a:cubicBezTo>
                  <a:cubicBezTo>
                    <a:pt x="282" y="35"/>
                    <a:pt x="282" y="35"/>
                    <a:pt x="282" y="35"/>
                  </a:cubicBezTo>
                  <a:cubicBezTo>
                    <a:pt x="282" y="35"/>
                    <a:pt x="282" y="35"/>
                    <a:pt x="282" y="35"/>
                  </a:cubicBezTo>
                  <a:cubicBezTo>
                    <a:pt x="282" y="35"/>
                    <a:pt x="282" y="35"/>
                    <a:pt x="282" y="35"/>
                  </a:cubicBezTo>
                  <a:cubicBezTo>
                    <a:pt x="281" y="34"/>
                    <a:pt x="280" y="34"/>
                    <a:pt x="279" y="34"/>
                  </a:cubicBezTo>
                  <a:cubicBezTo>
                    <a:pt x="279" y="34"/>
                    <a:pt x="279" y="34"/>
                    <a:pt x="279" y="34"/>
                  </a:cubicBezTo>
                  <a:cubicBezTo>
                    <a:pt x="279" y="34"/>
                    <a:pt x="279" y="34"/>
                    <a:pt x="279" y="34"/>
                  </a:cubicBezTo>
                  <a:cubicBezTo>
                    <a:pt x="279" y="35"/>
                    <a:pt x="279" y="35"/>
                    <a:pt x="279" y="35"/>
                  </a:cubicBezTo>
                  <a:cubicBezTo>
                    <a:pt x="279" y="35"/>
                    <a:pt x="279" y="35"/>
                    <a:pt x="279" y="35"/>
                  </a:cubicBezTo>
                  <a:cubicBezTo>
                    <a:pt x="279" y="35"/>
                    <a:pt x="279" y="35"/>
                    <a:pt x="279" y="35"/>
                  </a:cubicBezTo>
                  <a:lnTo>
                    <a:pt x="278" y="35"/>
                  </a:lnTo>
                  <a:close/>
                </a:path>
              </a:pathLst>
            </a:custGeom>
            <a:solidFill>
              <a:srgbClr val="0070C0"/>
            </a:solidFill>
            <a:ln>
              <a:noFill/>
            </a:ln>
          </p:spPr>
          <p:txBody>
            <a:bodyPr lIns="68568" tIns="34284" rIns="68568" bIns="34284"/>
            <a:lstStyle/>
            <a:p>
              <a:pPr defTabSz="1218565">
                <a:defRPr/>
              </a:pPr>
              <a:endParaRPr lang="zh-CN" altLang="en-US" kern="0" dirty="0">
                <a:solidFill>
                  <a:sysClr val="windowText" lastClr="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71" name="文本框 1"/>
            <p:cNvSpPr txBox="1">
              <a:spLocks noChangeArrowheads="1"/>
            </p:cNvSpPr>
            <p:nvPr/>
          </p:nvSpPr>
          <p:spPr bwMode="auto">
            <a:xfrm>
              <a:off x="977092" y="2642025"/>
              <a:ext cx="497548" cy="500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8" tIns="34284" rIns="68568" bIns="34284">
              <a:spAutoFit/>
            </a:bodyPr>
            <a:lstStyle>
              <a:lvl1pPr>
                <a:defRPr>
                  <a:solidFill>
                    <a:schemeClr val="tx1"/>
                  </a:solidFill>
                  <a:latin typeface="Calibri" panose="020F0502020204030204" pitchFamily="34" charset="0"/>
                  <a:ea typeface="微软雅黑" panose="020B0503020204020204" charset="-122"/>
                </a:defRPr>
              </a:lvl1pPr>
              <a:lvl2pPr marL="742950" indent="-285750">
                <a:defRPr>
                  <a:solidFill>
                    <a:schemeClr val="tx1"/>
                  </a:solidFill>
                  <a:latin typeface="Calibri" panose="020F0502020204030204" pitchFamily="34" charset="0"/>
                  <a:ea typeface="微软雅黑" panose="020B0503020204020204" charset="-122"/>
                </a:defRPr>
              </a:lvl2pPr>
              <a:lvl3pPr marL="1143000" indent="-228600">
                <a:defRPr>
                  <a:solidFill>
                    <a:schemeClr val="tx1"/>
                  </a:solidFill>
                  <a:latin typeface="Calibri" panose="020F0502020204030204" pitchFamily="34" charset="0"/>
                  <a:ea typeface="微软雅黑" panose="020B0503020204020204" charset="-122"/>
                </a:defRPr>
              </a:lvl3pPr>
              <a:lvl4pPr marL="1600200" indent="-228600">
                <a:defRPr>
                  <a:solidFill>
                    <a:schemeClr val="tx1"/>
                  </a:solidFill>
                  <a:latin typeface="Calibri" panose="020F0502020204030204" pitchFamily="34" charset="0"/>
                  <a:ea typeface="微软雅黑" panose="020B0503020204020204" charset="-122"/>
                </a:defRPr>
              </a:lvl4pPr>
              <a:lvl5pPr marL="2057400" indent="-228600">
                <a:defRPr>
                  <a:solidFill>
                    <a:schemeClr val="tx1"/>
                  </a:solidFill>
                  <a:latin typeface="Calibri" panose="020F0502020204030204" pitchFamily="34" charset="0"/>
                  <a:ea typeface="微软雅黑" panose="020B050302020402020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9pPr>
            </a:lstStyle>
            <a:p>
              <a:pPr defTabSz="1218565">
                <a:defRPr/>
              </a:pPr>
              <a:r>
                <a:rPr lang="en-US" altLang="zh-CN"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rPr>
                <a:t>01</a:t>
              </a:r>
              <a:endParaRPr lang="zh-CN" altLang="en-US"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92" name="组合 53"/>
            <p:cNvGrpSpPr/>
            <p:nvPr/>
          </p:nvGrpSpPr>
          <p:grpSpPr bwMode="auto">
            <a:xfrm>
              <a:off x="668079" y="3794891"/>
              <a:ext cx="11327219" cy="1223659"/>
              <a:chOff x="2678519" y="2847139"/>
              <a:chExt cx="22369350" cy="2417231"/>
            </a:xfrm>
          </p:grpSpPr>
          <p:sp>
            <p:nvSpPr>
              <p:cNvPr id="97" name="Freeform 19"/>
              <p:cNvSpPr/>
              <p:nvPr/>
            </p:nvSpPr>
            <p:spPr bwMode="auto">
              <a:xfrm>
                <a:off x="2678519" y="2856133"/>
                <a:ext cx="22369350" cy="2408237"/>
              </a:xfrm>
              <a:custGeom>
                <a:avLst/>
                <a:gdLst>
                  <a:gd name="T0" fmla="*/ 3200 w 3200"/>
                  <a:gd name="T1" fmla="*/ 320 h 640"/>
                  <a:gd name="T2" fmla="*/ 2880 w 3200"/>
                  <a:gd name="T3" fmla="*/ 640 h 640"/>
                  <a:gd name="T4" fmla="*/ 320 w 3200"/>
                  <a:gd name="T5" fmla="*/ 640 h 640"/>
                  <a:gd name="T6" fmla="*/ 0 w 3200"/>
                  <a:gd name="T7" fmla="*/ 320 h 640"/>
                  <a:gd name="T8" fmla="*/ 320 w 3200"/>
                  <a:gd name="T9" fmla="*/ 0 h 640"/>
                  <a:gd name="T10" fmla="*/ 2880 w 3200"/>
                  <a:gd name="T11" fmla="*/ 0 h 640"/>
                  <a:gd name="T12" fmla="*/ 3200 w 320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0" h="640">
                    <a:moveTo>
                      <a:pt x="3200" y="320"/>
                    </a:moveTo>
                    <a:cubicBezTo>
                      <a:pt x="3200" y="496"/>
                      <a:pt x="3056" y="640"/>
                      <a:pt x="2880" y="640"/>
                    </a:cubicBezTo>
                    <a:cubicBezTo>
                      <a:pt x="320" y="640"/>
                      <a:pt x="320" y="640"/>
                      <a:pt x="320" y="640"/>
                    </a:cubicBezTo>
                    <a:cubicBezTo>
                      <a:pt x="144" y="640"/>
                      <a:pt x="0" y="496"/>
                      <a:pt x="0" y="320"/>
                    </a:cubicBezTo>
                    <a:cubicBezTo>
                      <a:pt x="0" y="144"/>
                      <a:pt x="144" y="0"/>
                      <a:pt x="320" y="0"/>
                    </a:cubicBezTo>
                    <a:cubicBezTo>
                      <a:pt x="2880" y="0"/>
                      <a:pt x="2880" y="0"/>
                      <a:pt x="2880" y="0"/>
                    </a:cubicBezTo>
                    <a:cubicBezTo>
                      <a:pt x="3056" y="0"/>
                      <a:pt x="3200" y="144"/>
                      <a:pt x="3200" y="320"/>
                    </a:cubicBezTo>
                    <a:close/>
                  </a:path>
                </a:pathLst>
              </a:custGeom>
              <a:solidFill>
                <a:schemeClr val="accent2">
                  <a:lumMod val="20000"/>
                  <a:lumOff val="80000"/>
                  <a:alpha val="57000"/>
                </a:schemeClr>
              </a:solidFill>
              <a:ln w="28575"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8" name="Freeform 20"/>
              <p:cNvSpPr>
                <a:spLocks noEditPoints="1"/>
              </p:cNvSpPr>
              <p:nvPr/>
            </p:nvSpPr>
            <p:spPr bwMode="auto">
              <a:xfrm>
                <a:off x="2678521" y="2847139"/>
                <a:ext cx="6005513" cy="2408237"/>
              </a:xfrm>
              <a:custGeom>
                <a:avLst/>
                <a:gdLst>
                  <a:gd name="T0" fmla="*/ 1280 w 1600"/>
                  <a:gd name="T1" fmla="*/ 0 h 640"/>
                  <a:gd name="T2" fmla="*/ 320 w 1600"/>
                  <a:gd name="T3" fmla="*/ 0 h 640"/>
                  <a:gd name="T4" fmla="*/ 0 w 1600"/>
                  <a:gd name="T5" fmla="*/ 320 h 640"/>
                  <a:gd name="T6" fmla="*/ 320 w 1600"/>
                  <a:gd name="T7" fmla="*/ 640 h 640"/>
                  <a:gd name="T8" fmla="*/ 1280 w 1600"/>
                  <a:gd name="T9" fmla="*/ 640 h 640"/>
                  <a:gd name="T10" fmla="*/ 1600 w 1600"/>
                  <a:gd name="T11" fmla="*/ 320 h 640"/>
                  <a:gd name="T12" fmla="*/ 1280 w 1600"/>
                  <a:gd name="T13" fmla="*/ 0 h 640"/>
                  <a:gd name="T14" fmla="*/ 1493 w 1600"/>
                  <a:gd name="T15" fmla="*/ 365 h 640"/>
                  <a:gd name="T16" fmla="*/ 1435 w 1600"/>
                  <a:gd name="T17" fmla="*/ 385 h 640"/>
                  <a:gd name="T18" fmla="*/ 1427 w 1600"/>
                  <a:gd name="T19" fmla="*/ 381 h 640"/>
                  <a:gd name="T20" fmla="*/ 1416 w 1600"/>
                  <a:gd name="T21" fmla="*/ 320 h 640"/>
                  <a:gd name="T22" fmla="*/ 1427 w 1600"/>
                  <a:gd name="T23" fmla="*/ 259 h 640"/>
                  <a:gd name="T24" fmla="*/ 1435 w 1600"/>
                  <a:gd name="T25" fmla="*/ 255 h 640"/>
                  <a:gd name="T26" fmla="*/ 1493 w 1600"/>
                  <a:gd name="T27" fmla="*/ 275 h 640"/>
                  <a:gd name="T28" fmla="*/ 1541 w 1600"/>
                  <a:gd name="T29" fmla="*/ 316 h 640"/>
                  <a:gd name="T30" fmla="*/ 1541 w 1600"/>
                  <a:gd name="T31" fmla="*/ 324 h 640"/>
                  <a:gd name="T32" fmla="*/ 1493 w 1600"/>
                  <a:gd name="T33" fmla="*/ 365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0" h="640">
                    <a:moveTo>
                      <a:pt x="1280" y="0"/>
                    </a:moveTo>
                    <a:cubicBezTo>
                      <a:pt x="320" y="0"/>
                      <a:pt x="320" y="0"/>
                      <a:pt x="320" y="0"/>
                    </a:cubicBezTo>
                    <a:cubicBezTo>
                      <a:pt x="144" y="0"/>
                      <a:pt x="0" y="144"/>
                      <a:pt x="0" y="320"/>
                    </a:cubicBezTo>
                    <a:cubicBezTo>
                      <a:pt x="0" y="496"/>
                      <a:pt x="144" y="640"/>
                      <a:pt x="320" y="640"/>
                    </a:cubicBezTo>
                    <a:cubicBezTo>
                      <a:pt x="1280" y="640"/>
                      <a:pt x="1280" y="640"/>
                      <a:pt x="1280" y="640"/>
                    </a:cubicBezTo>
                    <a:cubicBezTo>
                      <a:pt x="1456" y="640"/>
                      <a:pt x="1600" y="496"/>
                      <a:pt x="1600" y="320"/>
                    </a:cubicBezTo>
                    <a:cubicBezTo>
                      <a:pt x="1600" y="144"/>
                      <a:pt x="1456" y="0"/>
                      <a:pt x="1280" y="0"/>
                    </a:cubicBezTo>
                    <a:close/>
                    <a:moveTo>
                      <a:pt x="1493" y="365"/>
                    </a:moveTo>
                    <a:cubicBezTo>
                      <a:pt x="1455" y="387"/>
                      <a:pt x="1435" y="385"/>
                      <a:pt x="1435" y="385"/>
                    </a:cubicBezTo>
                    <a:cubicBezTo>
                      <a:pt x="1432" y="385"/>
                      <a:pt x="1429" y="383"/>
                      <a:pt x="1427" y="381"/>
                    </a:cubicBezTo>
                    <a:cubicBezTo>
                      <a:pt x="1427" y="381"/>
                      <a:pt x="1416" y="364"/>
                      <a:pt x="1416" y="320"/>
                    </a:cubicBezTo>
                    <a:cubicBezTo>
                      <a:pt x="1416" y="276"/>
                      <a:pt x="1427" y="259"/>
                      <a:pt x="1427" y="259"/>
                    </a:cubicBezTo>
                    <a:cubicBezTo>
                      <a:pt x="1429" y="257"/>
                      <a:pt x="1432" y="255"/>
                      <a:pt x="1435" y="255"/>
                    </a:cubicBezTo>
                    <a:cubicBezTo>
                      <a:pt x="1435" y="255"/>
                      <a:pt x="1455" y="253"/>
                      <a:pt x="1493" y="275"/>
                    </a:cubicBezTo>
                    <a:cubicBezTo>
                      <a:pt x="1532" y="297"/>
                      <a:pt x="1541" y="316"/>
                      <a:pt x="1541" y="316"/>
                    </a:cubicBezTo>
                    <a:cubicBezTo>
                      <a:pt x="1542" y="318"/>
                      <a:pt x="1542" y="322"/>
                      <a:pt x="1541" y="324"/>
                    </a:cubicBezTo>
                    <a:cubicBezTo>
                      <a:pt x="1541" y="324"/>
                      <a:pt x="1532" y="343"/>
                      <a:pt x="1493" y="365"/>
                    </a:cubicBezTo>
                    <a:close/>
                  </a:path>
                </a:pathLst>
              </a:custGeom>
              <a:gradFill>
                <a:gsLst>
                  <a:gs pos="0">
                    <a:srgbClr val="DEDEDE"/>
                  </a:gs>
                  <a:gs pos="100000">
                    <a:srgbClr val="FBFBFB"/>
                  </a:gs>
                </a:gsLst>
                <a:lin ang="5400000" scaled="1"/>
              </a:gradFill>
              <a:ln w="31750" cap="flat">
                <a:gradFill>
                  <a:gsLst>
                    <a:gs pos="0">
                      <a:sysClr val="window" lastClr="FFFFFF"/>
                    </a:gs>
                    <a:gs pos="100000">
                      <a:srgbClr val="DDDDDD"/>
                    </a:gs>
                  </a:gsLst>
                  <a:lin ang="5400000" scaled="1"/>
                </a:gradFill>
                <a:prstDash val="solid"/>
                <a:miter lim="800000"/>
              </a:ln>
              <a:effectLst>
                <a:outerShdw blurRad="228600" dist="101600" dir="5400000" algn="t" rotWithShape="0">
                  <a:sysClr val="windowText" lastClr="000000">
                    <a:lumMod val="85000"/>
                    <a:lumOff val="15000"/>
                    <a:alpha val="33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9" name="椭圆 98"/>
              <p:cNvSpPr/>
              <p:nvPr/>
            </p:nvSpPr>
            <p:spPr>
              <a:xfrm>
                <a:off x="2834834" y="3000057"/>
                <a:ext cx="2102400" cy="2102400"/>
              </a:xfrm>
              <a:prstGeom prst="ellipse">
                <a:avLst/>
              </a:prstGeom>
              <a:gradFill>
                <a:gsLst>
                  <a:gs pos="0">
                    <a:srgbClr val="DDDDDD"/>
                  </a:gs>
                  <a:gs pos="100000">
                    <a:srgbClr val="FBFBFB"/>
                  </a:gs>
                </a:gsLst>
                <a:lin ang="5400000" scaled="1"/>
              </a:gradFill>
              <a:ln w="101600" cap="flat">
                <a:gradFill>
                  <a:gsLst>
                    <a:gs pos="0">
                      <a:srgbClr val="FDFDFD"/>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0" name="Freeform 23"/>
              <p:cNvSpPr/>
              <p:nvPr/>
            </p:nvSpPr>
            <p:spPr bwMode="auto">
              <a:xfrm>
                <a:off x="3298659" y="3423401"/>
                <a:ext cx="1174750" cy="1255712"/>
              </a:xfrm>
              <a:custGeom>
                <a:avLst/>
                <a:gdLst>
                  <a:gd name="T0" fmla="*/ 193 w 313"/>
                  <a:gd name="T1" fmla="*/ 279 h 334"/>
                  <a:gd name="T2" fmla="*/ 47 w 313"/>
                  <a:gd name="T3" fmla="*/ 330 h 334"/>
                  <a:gd name="T4" fmla="*/ 28 w 313"/>
                  <a:gd name="T5" fmla="*/ 319 h 334"/>
                  <a:gd name="T6" fmla="*/ 0 w 313"/>
                  <a:gd name="T7" fmla="*/ 167 h 334"/>
                  <a:gd name="T8" fmla="*/ 28 w 313"/>
                  <a:gd name="T9" fmla="*/ 15 h 334"/>
                  <a:gd name="T10" fmla="*/ 47 w 313"/>
                  <a:gd name="T11" fmla="*/ 4 h 334"/>
                  <a:gd name="T12" fmla="*/ 193 w 313"/>
                  <a:gd name="T13" fmla="*/ 55 h 334"/>
                  <a:gd name="T14" fmla="*/ 311 w 313"/>
                  <a:gd name="T15" fmla="*/ 156 h 334"/>
                  <a:gd name="T16" fmla="*/ 311 w 313"/>
                  <a:gd name="T17" fmla="*/ 178 h 334"/>
                  <a:gd name="T18" fmla="*/ 193 w 313"/>
                  <a:gd name="T19" fmla="*/ 27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3" h="334">
                    <a:moveTo>
                      <a:pt x="193" y="279"/>
                    </a:moveTo>
                    <a:cubicBezTo>
                      <a:pt x="98" y="334"/>
                      <a:pt x="47" y="330"/>
                      <a:pt x="47" y="330"/>
                    </a:cubicBezTo>
                    <a:cubicBezTo>
                      <a:pt x="40" y="329"/>
                      <a:pt x="32" y="325"/>
                      <a:pt x="28" y="319"/>
                    </a:cubicBezTo>
                    <a:cubicBezTo>
                      <a:pt x="28" y="319"/>
                      <a:pt x="0" y="277"/>
                      <a:pt x="0" y="167"/>
                    </a:cubicBezTo>
                    <a:cubicBezTo>
                      <a:pt x="0" y="57"/>
                      <a:pt x="28" y="15"/>
                      <a:pt x="28" y="15"/>
                    </a:cubicBezTo>
                    <a:cubicBezTo>
                      <a:pt x="32" y="9"/>
                      <a:pt x="40" y="5"/>
                      <a:pt x="47" y="4"/>
                    </a:cubicBezTo>
                    <a:cubicBezTo>
                      <a:pt x="47" y="4"/>
                      <a:pt x="98" y="0"/>
                      <a:pt x="193" y="55"/>
                    </a:cubicBezTo>
                    <a:cubicBezTo>
                      <a:pt x="289" y="110"/>
                      <a:pt x="311" y="156"/>
                      <a:pt x="311" y="156"/>
                    </a:cubicBezTo>
                    <a:cubicBezTo>
                      <a:pt x="313" y="162"/>
                      <a:pt x="313" y="172"/>
                      <a:pt x="311" y="178"/>
                    </a:cubicBezTo>
                    <a:cubicBezTo>
                      <a:pt x="311" y="178"/>
                      <a:pt x="289" y="224"/>
                      <a:pt x="193" y="279"/>
                    </a:cubicBezTo>
                    <a:close/>
                  </a:path>
                </a:pathLst>
              </a:custGeom>
              <a:solidFill>
                <a:srgbClr val="00B0F0"/>
              </a:solidFill>
              <a:ln w="12700" cap="flat" cmpd="sng" algn="ctr">
                <a:noFill/>
                <a:prstDash val="solid"/>
                <a:miter lim="800000"/>
              </a:ln>
              <a:effectLst>
                <a:innerShdw blurRad="215900" dist="50800" dir="16200000">
                  <a:prstClr val="black">
                    <a:alpha val="42000"/>
                  </a:prstClr>
                </a:innerShdw>
              </a:effectLst>
            </p:spPr>
            <p:txBody>
              <a:bodyPr anchor="ctr"/>
              <a:lstStyle/>
              <a:p>
                <a:pPr algn="ctr" defTabSz="1218565">
                  <a:defRPr/>
                </a:pPr>
                <a:endParaRPr lang="zh-CN" altLang="en-US" kern="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
          <p:nvSpPr>
            <p:cNvPr id="94" name="Freeform 12"/>
            <p:cNvSpPr>
              <a:spLocks noEditPoints="1"/>
            </p:cNvSpPr>
            <p:nvPr/>
          </p:nvSpPr>
          <p:spPr bwMode="auto">
            <a:xfrm>
              <a:off x="2125057" y="4212409"/>
              <a:ext cx="701775" cy="507089"/>
            </a:xfrm>
            <a:custGeom>
              <a:avLst/>
              <a:gdLst>
                <a:gd name="T0" fmla="*/ 57823 w 467"/>
                <a:gd name="T1" fmla="*/ 248018 h 337"/>
                <a:gd name="T2" fmla="*/ 77648 w 467"/>
                <a:gd name="T3" fmla="*/ 315809 h 337"/>
                <a:gd name="T4" fmla="*/ 120602 w 467"/>
                <a:gd name="T5" fmla="*/ 307542 h 337"/>
                <a:gd name="T6" fmla="*/ 185034 w 467"/>
                <a:gd name="T7" fmla="*/ 314156 h 337"/>
                <a:gd name="T8" fmla="*/ 247813 w 467"/>
                <a:gd name="T9" fmla="*/ 314156 h 337"/>
                <a:gd name="T10" fmla="*/ 272594 w 467"/>
                <a:gd name="T11" fmla="*/ 248018 h 337"/>
                <a:gd name="T12" fmla="*/ 330418 w 467"/>
                <a:gd name="T13" fmla="*/ 208335 h 337"/>
                <a:gd name="T14" fmla="*/ 297376 w 467"/>
                <a:gd name="T15" fmla="*/ 170305 h 337"/>
                <a:gd name="T16" fmla="*/ 315549 w 467"/>
                <a:gd name="T17" fmla="*/ 102514 h 337"/>
                <a:gd name="T18" fmla="*/ 264334 w 467"/>
                <a:gd name="T19" fmla="*/ 66138 h 337"/>
                <a:gd name="T20" fmla="*/ 209815 w 467"/>
                <a:gd name="T21" fmla="*/ 33069 h 337"/>
                <a:gd name="T22" fmla="*/ 180078 w 467"/>
                <a:gd name="T23" fmla="*/ 1653 h 337"/>
                <a:gd name="T24" fmla="*/ 123907 w 467"/>
                <a:gd name="T25" fmla="*/ 44643 h 337"/>
                <a:gd name="T26" fmla="*/ 52867 w 467"/>
                <a:gd name="T27" fmla="*/ 47950 h 337"/>
                <a:gd name="T28" fmla="*/ 34694 w 467"/>
                <a:gd name="T29" fmla="*/ 107474 h 337"/>
                <a:gd name="T30" fmla="*/ 21477 w 467"/>
                <a:gd name="T31" fmla="*/ 170305 h 337"/>
                <a:gd name="T32" fmla="*/ 3304 w 467"/>
                <a:gd name="T33" fmla="*/ 203374 h 337"/>
                <a:gd name="T34" fmla="*/ 69388 w 467"/>
                <a:gd name="T35" fmla="*/ 170305 h 337"/>
                <a:gd name="T36" fmla="*/ 297376 w 467"/>
                <a:gd name="T37" fmla="*/ 286047 h 337"/>
                <a:gd name="T38" fmla="*/ 328765 w 467"/>
                <a:gd name="T39" fmla="*/ 317463 h 337"/>
                <a:gd name="T40" fmla="*/ 297376 w 467"/>
                <a:gd name="T41" fmla="*/ 348878 h 337"/>
                <a:gd name="T42" fmla="*/ 327113 w 467"/>
                <a:gd name="T43" fmla="*/ 380294 h 337"/>
                <a:gd name="T44" fmla="*/ 335374 w 467"/>
                <a:gd name="T45" fmla="*/ 405096 h 337"/>
                <a:gd name="T46" fmla="*/ 328765 w 467"/>
                <a:gd name="T47" fmla="*/ 444778 h 337"/>
                <a:gd name="T48" fmla="*/ 388241 w 467"/>
                <a:gd name="T49" fmla="*/ 476194 h 337"/>
                <a:gd name="T50" fmla="*/ 388241 w 467"/>
                <a:gd name="T51" fmla="*/ 476194 h 337"/>
                <a:gd name="T52" fmla="*/ 399805 w 467"/>
                <a:gd name="T53" fmla="*/ 517530 h 337"/>
                <a:gd name="T54" fmla="*/ 464237 w 467"/>
                <a:gd name="T55" fmla="*/ 520837 h 337"/>
                <a:gd name="T56" fmla="*/ 465889 w 467"/>
                <a:gd name="T57" fmla="*/ 520837 h 337"/>
                <a:gd name="T58" fmla="*/ 520408 w 467"/>
                <a:gd name="T59" fmla="*/ 557213 h 337"/>
                <a:gd name="T60" fmla="*/ 553449 w 467"/>
                <a:gd name="T61" fmla="*/ 530758 h 337"/>
                <a:gd name="T62" fmla="*/ 553449 w 467"/>
                <a:gd name="T63" fmla="*/ 530758 h 337"/>
                <a:gd name="T64" fmla="*/ 621185 w 467"/>
                <a:gd name="T65" fmla="*/ 539025 h 337"/>
                <a:gd name="T66" fmla="*/ 637706 w 467"/>
                <a:gd name="T67" fmla="*/ 502649 h 337"/>
                <a:gd name="T68" fmla="*/ 660835 w 467"/>
                <a:gd name="T69" fmla="*/ 489422 h 337"/>
                <a:gd name="T70" fmla="*/ 703789 w 467"/>
                <a:gd name="T71" fmla="*/ 482808 h 337"/>
                <a:gd name="T72" fmla="*/ 705441 w 467"/>
                <a:gd name="T73" fmla="*/ 443125 h 337"/>
                <a:gd name="T74" fmla="*/ 718658 w 467"/>
                <a:gd name="T75" fmla="*/ 421630 h 337"/>
                <a:gd name="T76" fmla="*/ 756656 w 467"/>
                <a:gd name="T77" fmla="*/ 398482 h 337"/>
                <a:gd name="T78" fmla="*/ 730223 w 467"/>
                <a:gd name="T79" fmla="*/ 358799 h 337"/>
                <a:gd name="T80" fmla="*/ 766569 w 467"/>
                <a:gd name="T81" fmla="*/ 335651 h 337"/>
                <a:gd name="T82" fmla="*/ 766569 w 467"/>
                <a:gd name="T83" fmla="*/ 299275 h 337"/>
                <a:gd name="T84" fmla="*/ 730223 w 467"/>
                <a:gd name="T85" fmla="*/ 274473 h 337"/>
                <a:gd name="T86" fmla="*/ 753352 w 467"/>
                <a:gd name="T87" fmla="*/ 238097 h 337"/>
                <a:gd name="T88" fmla="*/ 738483 w 467"/>
                <a:gd name="T89" fmla="*/ 205028 h 337"/>
                <a:gd name="T90" fmla="*/ 695529 w 467"/>
                <a:gd name="T91" fmla="*/ 198414 h 337"/>
                <a:gd name="T92" fmla="*/ 702137 w 467"/>
                <a:gd name="T93" fmla="*/ 153771 h 337"/>
                <a:gd name="T94" fmla="*/ 675704 w 467"/>
                <a:gd name="T95" fmla="*/ 130623 h 337"/>
                <a:gd name="T96" fmla="*/ 637706 w 467"/>
                <a:gd name="T97" fmla="*/ 132276 h 337"/>
                <a:gd name="T98" fmla="*/ 621185 w 467"/>
                <a:gd name="T99" fmla="*/ 95900 h 337"/>
                <a:gd name="T100" fmla="*/ 579883 w 467"/>
                <a:gd name="T101" fmla="*/ 107474 h 337"/>
                <a:gd name="T102" fmla="*/ 553449 w 467"/>
                <a:gd name="T103" fmla="*/ 104167 h 337"/>
                <a:gd name="T104" fmla="*/ 523712 w 467"/>
                <a:gd name="T105" fmla="*/ 79366 h 337"/>
                <a:gd name="T106" fmla="*/ 490670 w 467"/>
                <a:gd name="T107" fmla="*/ 107474 h 337"/>
                <a:gd name="T108" fmla="*/ 465889 w 467"/>
                <a:gd name="T109" fmla="*/ 114088 h 337"/>
                <a:gd name="T110" fmla="*/ 424587 w 467"/>
                <a:gd name="T111" fmla="*/ 102514 h 337"/>
                <a:gd name="T112" fmla="*/ 388241 w 467"/>
                <a:gd name="T113" fmla="*/ 158731 h 337"/>
                <a:gd name="T114" fmla="*/ 388241 w 467"/>
                <a:gd name="T115" fmla="*/ 158731 h 337"/>
                <a:gd name="T116" fmla="*/ 328765 w 467"/>
                <a:gd name="T117" fmla="*/ 190147 h 337"/>
                <a:gd name="T118" fmla="*/ 335374 w 467"/>
                <a:gd name="T119" fmla="*/ 229830 h 337"/>
                <a:gd name="T120" fmla="*/ 303984 w 467"/>
                <a:gd name="T121" fmla="*/ 251325 h 337"/>
                <a:gd name="T122" fmla="*/ 531972 w 467"/>
                <a:gd name="T123" fmla="*/ 162038 h 3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67" h="337">
                  <a:moveTo>
                    <a:pt x="0" y="126"/>
                  </a:moveTo>
                  <a:cubicBezTo>
                    <a:pt x="1" y="132"/>
                    <a:pt x="3" y="138"/>
                    <a:pt x="6" y="143"/>
                  </a:cubicBezTo>
                  <a:cubicBezTo>
                    <a:pt x="6" y="145"/>
                    <a:pt x="8" y="145"/>
                    <a:pt x="9" y="145"/>
                  </a:cubicBezTo>
                  <a:cubicBezTo>
                    <a:pt x="13" y="143"/>
                    <a:pt x="17" y="142"/>
                    <a:pt x="21" y="141"/>
                  </a:cubicBezTo>
                  <a:cubicBezTo>
                    <a:pt x="24" y="146"/>
                    <a:pt x="26" y="150"/>
                    <a:pt x="30" y="154"/>
                  </a:cubicBezTo>
                  <a:cubicBezTo>
                    <a:pt x="35" y="150"/>
                    <a:pt x="35" y="150"/>
                    <a:pt x="35" y="150"/>
                  </a:cubicBezTo>
                  <a:cubicBezTo>
                    <a:pt x="35" y="150"/>
                    <a:pt x="35" y="150"/>
                    <a:pt x="35" y="150"/>
                  </a:cubicBezTo>
                  <a:cubicBezTo>
                    <a:pt x="30" y="154"/>
                    <a:pt x="30" y="154"/>
                    <a:pt x="30" y="154"/>
                  </a:cubicBezTo>
                  <a:cubicBezTo>
                    <a:pt x="33" y="159"/>
                    <a:pt x="36" y="163"/>
                    <a:pt x="40" y="166"/>
                  </a:cubicBezTo>
                  <a:cubicBezTo>
                    <a:pt x="37" y="170"/>
                    <a:pt x="35" y="173"/>
                    <a:pt x="32" y="177"/>
                  </a:cubicBezTo>
                  <a:cubicBezTo>
                    <a:pt x="32" y="178"/>
                    <a:pt x="32" y="180"/>
                    <a:pt x="33" y="180"/>
                  </a:cubicBezTo>
                  <a:cubicBezTo>
                    <a:pt x="37" y="184"/>
                    <a:pt x="42" y="188"/>
                    <a:pt x="47" y="191"/>
                  </a:cubicBezTo>
                  <a:cubicBezTo>
                    <a:pt x="49" y="192"/>
                    <a:pt x="50" y="191"/>
                    <a:pt x="51" y="190"/>
                  </a:cubicBezTo>
                  <a:cubicBezTo>
                    <a:pt x="53" y="187"/>
                    <a:pt x="56" y="183"/>
                    <a:pt x="59" y="180"/>
                  </a:cubicBezTo>
                  <a:cubicBezTo>
                    <a:pt x="63" y="182"/>
                    <a:pt x="68" y="184"/>
                    <a:pt x="73" y="186"/>
                  </a:cubicBezTo>
                  <a:cubicBezTo>
                    <a:pt x="75" y="179"/>
                    <a:pt x="75" y="179"/>
                    <a:pt x="75" y="179"/>
                  </a:cubicBezTo>
                  <a:cubicBezTo>
                    <a:pt x="75" y="179"/>
                    <a:pt x="75" y="179"/>
                    <a:pt x="75" y="179"/>
                  </a:cubicBezTo>
                  <a:cubicBezTo>
                    <a:pt x="73" y="186"/>
                    <a:pt x="73" y="186"/>
                    <a:pt x="73" y="186"/>
                  </a:cubicBezTo>
                  <a:cubicBezTo>
                    <a:pt x="78" y="188"/>
                    <a:pt x="83" y="189"/>
                    <a:pt x="89" y="190"/>
                  </a:cubicBezTo>
                  <a:cubicBezTo>
                    <a:pt x="89" y="194"/>
                    <a:pt x="89" y="198"/>
                    <a:pt x="89" y="203"/>
                  </a:cubicBezTo>
                  <a:cubicBezTo>
                    <a:pt x="89" y="204"/>
                    <a:pt x="90" y="205"/>
                    <a:pt x="91" y="205"/>
                  </a:cubicBezTo>
                  <a:cubicBezTo>
                    <a:pt x="97" y="206"/>
                    <a:pt x="103" y="206"/>
                    <a:pt x="109" y="205"/>
                  </a:cubicBezTo>
                  <a:cubicBezTo>
                    <a:pt x="110" y="205"/>
                    <a:pt x="111" y="204"/>
                    <a:pt x="111" y="203"/>
                  </a:cubicBezTo>
                  <a:cubicBezTo>
                    <a:pt x="111" y="198"/>
                    <a:pt x="112" y="194"/>
                    <a:pt x="112" y="190"/>
                  </a:cubicBezTo>
                  <a:cubicBezTo>
                    <a:pt x="117" y="189"/>
                    <a:pt x="122" y="188"/>
                    <a:pt x="127" y="186"/>
                  </a:cubicBezTo>
                  <a:cubicBezTo>
                    <a:pt x="125" y="179"/>
                    <a:pt x="125" y="179"/>
                    <a:pt x="125" y="179"/>
                  </a:cubicBezTo>
                  <a:cubicBezTo>
                    <a:pt x="125" y="179"/>
                    <a:pt x="125" y="179"/>
                    <a:pt x="125" y="179"/>
                  </a:cubicBezTo>
                  <a:cubicBezTo>
                    <a:pt x="127" y="186"/>
                    <a:pt x="127" y="186"/>
                    <a:pt x="127" y="186"/>
                  </a:cubicBezTo>
                  <a:cubicBezTo>
                    <a:pt x="132" y="184"/>
                    <a:pt x="137" y="182"/>
                    <a:pt x="142" y="180"/>
                  </a:cubicBezTo>
                  <a:cubicBezTo>
                    <a:pt x="144" y="183"/>
                    <a:pt x="147" y="187"/>
                    <a:pt x="150" y="190"/>
                  </a:cubicBezTo>
                  <a:cubicBezTo>
                    <a:pt x="150" y="191"/>
                    <a:pt x="152" y="192"/>
                    <a:pt x="153" y="191"/>
                  </a:cubicBezTo>
                  <a:cubicBezTo>
                    <a:pt x="158" y="188"/>
                    <a:pt x="163" y="184"/>
                    <a:pt x="168" y="180"/>
                  </a:cubicBezTo>
                  <a:cubicBezTo>
                    <a:pt x="168" y="180"/>
                    <a:pt x="169" y="178"/>
                    <a:pt x="168" y="177"/>
                  </a:cubicBezTo>
                  <a:cubicBezTo>
                    <a:pt x="165" y="173"/>
                    <a:pt x="163" y="170"/>
                    <a:pt x="160" y="166"/>
                  </a:cubicBezTo>
                  <a:cubicBezTo>
                    <a:pt x="164" y="163"/>
                    <a:pt x="167" y="159"/>
                    <a:pt x="171" y="154"/>
                  </a:cubicBezTo>
                  <a:cubicBezTo>
                    <a:pt x="165" y="150"/>
                    <a:pt x="165" y="150"/>
                    <a:pt x="165" y="150"/>
                  </a:cubicBezTo>
                  <a:cubicBezTo>
                    <a:pt x="165" y="150"/>
                    <a:pt x="165" y="150"/>
                    <a:pt x="165" y="150"/>
                  </a:cubicBezTo>
                  <a:cubicBezTo>
                    <a:pt x="171" y="154"/>
                    <a:pt x="171" y="154"/>
                    <a:pt x="171" y="154"/>
                  </a:cubicBezTo>
                  <a:cubicBezTo>
                    <a:pt x="174" y="150"/>
                    <a:pt x="176" y="146"/>
                    <a:pt x="179" y="141"/>
                  </a:cubicBezTo>
                  <a:cubicBezTo>
                    <a:pt x="183" y="142"/>
                    <a:pt x="187" y="143"/>
                    <a:pt x="191" y="145"/>
                  </a:cubicBezTo>
                  <a:cubicBezTo>
                    <a:pt x="193" y="145"/>
                    <a:pt x="194" y="145"/>
                    <a:pt x="194" y="143"/>
                  </a:cubicBezTo>
                  <a:cubicBezTo>
                    <a:pt x="197" y="138"/>
                    <a:pt x="199" y="132"/>
                    <a:pt x="200" y="126"/>
                  </a:cubicBezTo>
                  <a:cubicBezTo>
                    <a:pt x="200" y="125"/>
                    <a:pt x="200" y="124"/>
                    <a:pt x="198" y="123"/>
                  </a:cubicBezTo>
                  <a:cubicBezTo>
                    <a:pt x="194" y="122"/>
                    <a:pt x="190" y="120"/>
                    <a:pt x="186" y="119"/>
                  </a:cubicBezTo>
                  <a:cubicBezTo>
                    <a:pt x="187" y="114"/>
                    <a:pt x="187" y="108"/>
                    <a:pt x="187" y="103"/>
                  </a:cubicBezTo>
                  <a:cubicBezTo>
                    <a:pt x="180" y="103"/>
                    <a:pt x="180" y="103"/>
                    <a:pt x="180" y="103"/>
                  </a:cubicBezTo>
                  <a:cubicBezTo>
                    <a:pt x="180" y="103"/>
                    <a:pt x="180" y="103"/>
                    <a:pt x="180" y="103"/>
                  </a:cubicBezTo>
                  <a:cubicBezTo>
                    <a:pt x="180" y="103"/>
                    <a:pt x="180" y="103"/>
                    <a:pt x="180" y="103"/>
                  </a:cubicBezTo>
                  <a:cubicBezTo>
                    <a:pt x="187" y="103"/>
                    <a:pt x="187" y="103"/>
                    <a:pt x="187" y="103"/>
                  </a:cubicBezTo>
                  <a:cubicBezTo>
                    <a:pt x="187" y="98"/>
                    <a:pt x="187" y="93"/>
                    <a:pt x="186" y="87"/>
                  </a:cubicBezTo>
                  <a:cubicBezTo>
                    <a:pt x="190" y="86"/>
                    <a:pt x="194" y="85"/>
                    <a:pt x="198" y="83"/>
                  </a:cubicBezTo>
                  <a:cubicBezTo>
                    <a:pt x="200" y="83"/>
                    <a:pt x="200" y="82"/>
                    <a:pt x="200" y="80"/>
                  </a:cubicBezTo>
                  <a:cubicBezTo>
                    <a:pt x="199" y="74"/>
                    <a:pt x="197" y="68"/>
                    <a:pt x="194" y="63"/>
                  </a:cubicBezTo>
                  <a:cubicBezTo>
                    <a:pt x="194" y="62"/>
                    <a:pt x="193" y="61"/>
                    <a:pt x="191" y="62"/>
                  </a:cubicBezTo>
                  <a:cubicBezTo>
                    <a:pt x="187" y="63"/>
                    <a:pt x="183" y="64"/>
                    <a:pt x="179" y="65"/>
                  </a:cubicBezTo>
                  <a:cubicBezTo>
                    <a:pt x="176" y="61"/>
                    <a:pt x="174" y="56"/>
                    <a:pt x="171" y="52"/>
                  </a:cubicBezTo>
                  <a:cubicBezTo>
                    <a:pt x="165" y="56"/>
                    <a:pt x="165" y="56"/>
                    <a:pt x="165" y="56"/>
                  </a:cubicBezTo>
                  <a:cubicBezTo>
                    <a:pt x="165" y="56"/>
                    <a:pt x="165" y="56"/>
                    <a:pt x="165" y="56"/>
                  </a:cubicBezTo>
                  <a:cubicBezTo>
                    <a:pt x="171" y="52"/>
                    <a:pt x="171" y="52"/>
                    <a:pt x="171" y="52"/>
                  </a:cubicBezTo>
                  <a:cubicBezTo>
                    <a:pt x="167" y="48"/>
                    <a:pt x="164" y="44"/>
                    <a:pt x="160" y="40"/>
                  </a:cubicBezTo>
                  <a:cubicBezTo>
                    <a:pt x="163" y="36"/>
                    <a:pt x="165" y="33"/>
                    <a:pt x="168" y="29"/>
                  </a:cubicBezTo>
                  <a:cubicBezTo>
                    <a:pt x="169" y="28"/>
                    <a:pt x="168" y="27"/>
                    <a:pt x="168" y="26"/>
                  </a:cubicBezTo>
                  <a:cubicBezTo>
                    <a:pt x="163" y="22"/>
                    <a:pt x="158" y="18"/>
                    <a:pt x="153" y="15"/>
                  </a:cubicBezTo>
                  <a:cubicBezTo>
                    <a:pt x="152" y="14"/>
                    <a:pt x="150" y="15"/>
                    <a:pt x="150" y="16"/>
                  </a:cubicBezTo>
                  <a:cubicBezTo>
                    <a:pt x="147" y="19"/>
                    <a:pt x="144" y="23"/>
                    <a:pt x="142" y="26"/>
                  </a:cubicBezTo>
                  <a:cubicBezTo>
                    <a:pt x="137" y="24"/>
                    <a:pt x="132" y="22"/>
                    <a:pt x="127" y="20"/>
                  </a:cubicBezTo>
                  <a:cubicBezTo>
                    <a:pt x="125" y="27"/>
                    <a:pt x="125" y="27"/>
                    <a:pt x="125" y="27"/>
                  </a:cubicBezTo>
                  <a:cubicBezTo>
                    <a:pt x="125" y="27"/>
                    <a:pt x="125" y="27"/>
                    <a:pt x="125" y="27"/>
                  </a:cubicBezTo>
                  <a:cubicBezTo>
                    <a:pt x="127" y="20"/>
                    <a:pt x="127" y="20"/>
                    <a:pt x="127" y="20"/>
                  </a:cubicBezTo>
                  <a:cubicBezTo>
                    <a:pt x="122" y="19"/>
                    <a:pt x="117" y="17"/>
                    <a:pt x="112" y="17"/>
                  </a:cubicBezTo>
                  <a:cubicBezTo>
                    <a:pt x="112" y="12"/>
                    <a:pt x="111" y="8"/>
                    <a:pt x="111" y="3"/>
                  </a:cubicBezTo>
                  <a:cubicBezTo>
                    <a:pt x="111" y="2"/>
                    <a:pt x="110" y="1"/>
                    <a:pt x="109" y="1"/>
                  </a:cubicBezTo>
                  <a:cubicBezTo>
                    <a:pt x="103" y="0"/>
                    <a:pt x="97" y="0"/>
                    <a:pt x="91" y="1"/>
                  </a:cubicBezTo>
                  <a:cubicBezTo>
                    <a:pt x="90" y="1"/>
                    <a:pt x="89" y="2"/>
                    <a:pt x="89" y="3"/>
                  </a:cubicBezTo>
                  <a:cubicBezTo>
                    <a:pt x="89" y="8"/>
                    <a:pt x="89" y="12"/>
                    <a:pt x="89" y="17"/>
                  </a:cubicBezTo>
                  <a:cubicBezTo>
                    <a:pt x="83" y="17"/>
                    <a:pt x="78" y="19"/>
                    <a:pt x="73" y="20"/>
                  </a:cubicBezTo>
                  <a:cubicBezTo>
                    <a:pt x="75" y="27"/>
                    <a:pt x="75" y="27"/>
                    <a:pt x="75" y="27"/>
                  </a:cubicBezTo>
                  <a:cubicBezTo>
                    <a:pt x="75" y="27"/>
                    <a:pt x="75" y="27"/>
                    <a:pt x="75" y="27"/>
                  </a:cubicBezTo>
                  <a:cubicBezTo>
                    <a:pt x="73" y="20"/>
                    <a:pt x="73" y="20"/>
                    <a:pt x="73" y="20"/>
                  </a:cubicBezTo>
                  <a:cubicBezTo>
                    <a:pt x="68" y="22"/>
                    <a:pt x="63" y="24"/>
                    <a:pt x="59" y="26"/>
                  </a:cubicBezTo>
                  <a:cubicBezTo>
                    <a:pt x="56" y="23"/>
                    <a:pt x="53" y="19"/>
                    <a:pt x="51" y="16"/>
                  </a:cubicBezTo>
                  <a:cubicBezTo>
                    <a:pt x="50" y="15"/>
                    <a:pt x="49" y="14"/>
                    <a:pt x="47" y="15"/>
                  </a:cubicBezTo>
                  <a:cubicBezTo>
                    <a:pt x="42" y="18"/>
                    <a:pt x="37" y="22"/>
                    <a:pt x="33" y="26"/>
                  </a:cubicBezTo>
                  <a:cubicBezTo>
                    <a:pt x="32" y="27"/>
                    <a:pt x="32" y="28"/>
                    <a:pt x="32" y="29"/>
                  </a:cubicBezTo>
                  <a:cubicBezTo>
                    <a:pt x="35" y="33"/>
                    <a:pt x="37" y="36"/>
                    <a:pt x="40" y="40"/>
                  </a:cubicBezTo>
                  <a:cubicBezTo>
                    <a:pt x="36" y="44"/>
                    <a:pt x="33" y="48"/>
                    <a:pt x="30" y="52"/>
                  </a:cubicBezTo>
                  <a:cubicBezTo>
                    <a:pt x="35" y="56"/>
                    <a:pt x="35" y="56"/>
                    <a:pt x="35" y="56"/>
                  </a:cubicBezTo>
                  <a:cubicBezTo>
                    <a:pt x="35" y="56"/>
                    <a:pt x="35" y="56"/>
                    <a:pt x="35" y="56"/>
                  </a:cubicBezTo>
                  <a:cubicBezTo>
                    <a:pt x="30" y="52"/>
                    <a:pt x="30" y="52"/>
                    <a:pt x="30" y="52"/>
                  </a:cubicBezTo>
                  <a:cubicBezTo>
                    <a:pt x="26" y="56"/>
                    <a:pt x="24" y="61"/>
                    <a:pt x="21" y="65"/>
                  </a:cubicBezTo>
                  <a:cubicBezTo>
                    <a:pt x="17" y="64"/>
                    <a:pt x="13" y="63"/>
                    <a:pt x="9" y="62"/>
                  </a:cubicBezTo>
                  <a:cubicBezTo>
                    <a:pt x="8" y="61"/>
                    <a:pt x="6" y="62"/>
                    <a:pt x="6" y="63"/>
                  </a:cubicBezTo>
                  <a:cubicBezTo>
                    <a:pt x="3" y="68"/>
                    <a:pt x="1" y="74"/>
                    <a:pt x="0" y="80"/>
                  </a:cubicBezTo>
                  <a:cubicBezTo>
                    <a:pt x="0" y="82"/>
                    <a:pt x="0" y="83"/>
                    <a:pt x="2" y="83"/>
                  </a:cubicBezTo>
                  <a:cubicBezTo>
                    <a:pt x="6" y="85"/>
                    <a:pt x="10" y="86"/>
                    <a:pt x="14" y="87"/>
                  </a:cubicBezTo>
                  <a:cubicBezTo>
                    <a:pt x="13" y="93"/>
                    <a:pt x="13" y="98"/>
                    <a:pt x="13" y="103"/>
                  </a:cubicBezTo>
                  <a:cubicBezTo>
                    <a:pt x="20" y="103"/>
                    <a:pt x="20" y="103"/>
                    <a:pt x="20" y="103"/>
                  </a:cubicBezTo>
                  <a:cubicBezTo>
                    <a:pt x="20" y="103"/>
                    <a:pt x="20" y="103"/>
                    <a:pt x="20" y="103"/>
                  </a:cubicBezTo>
                  <a:cubicBezTo>
                    <a:pt x="20" y="103"/>
                    <a:pt x="20" y="103"/>
                    <a:pt x="20" y="103"/>
                  </a:cubicBezTo>
                  <a:cubicBezTo>
                    <a:pt x="13" y="103"/>
                    <a:pt x="13" y="103"/>
                    <a:pt x="13" y="103"/>
                  </a:cubicBezTo>
                  <a:cubicBezTo>
                    <a:pt x="13" y="108"/>
                    <a:pt x="13" y="114"/>
                    <a:pt x="14" y="119"/>
                  </a:cubicBezTo>
                  <a:cubicBezTo>
                    <a:pt x="10" y="120"/>
                    <a:pt x="6" y="122"/>
                    <a:pt x="2" y="123"/>
                  </a:cubicBezTo>
                  <a:cubicBezTo>
                    <a:pt x="0" y="124"/>
                    <a:pt x="0" y="125"/>
                    <a:pt x="0" y="126"/>
                  </a:cubicBezTo>
                  <a:close/>
                  <a:moveTo>
                    <a:pt x="42" y="103"/>
                  </a:moveTo>
                  <a:cubicBezTo>
                    <a:pt x="42" y="71"/>
                    <a:pt x="68" y="45"/>
                    <a:pt x="100" y="45"/>
                  </a:cubicBezTo>
                  <a:cubicBezTo>
                    <a:pt x="132" y="45"/>
                    <a:pt x="159" y="71"/>
                    <a:pt x="159" y="103"/>
                  </a:cubicBezTo>
                  <a:cubicBezTo>
                    <a:pt x="159" y="135"/>
                    <a:pt x="132" y="162"/>
                    <a:pt x="100" y="162"/>
                  </a:cubicBezTo>
                  <a:cubicBezTo>
                    <a:pt x="68" y="162"/>
                    <a:pt x="42" y="135"/>
                    <a:pt x="42" y="103"/>
                  </a:cubicBezTo>
                  <a:close/>
                  <a:moveTo>
                    <a:pt x="213" y="284"/>
                  </a:moveTo>
                  <a:cubicBezTo>
                    <a:pt x="213" y="284"/>
                    <a:pt x="213" y="284"/>
                    <a:pt x="213" y="284"/>
                  </a:cubicBezTo>
                  <a:cubicBezTo>
                    <a:pt x="213" y="284"/>
                    <a:pt x="213" y="284"/>
                    <a:pt x="213" y="284"/>
                  </a:cubicBezTo>
                  <a:close/>
                  <a:moveTo>
                    <a:pt x="180" y="173"/>
                  </a:moveTo>
                  <a:cubicBezTo>
                    <a:pt x="180" y="173"/>
                    <a:pt x="180" y="173"/>
                    <a:pt x="180" y="173"/>
                  </a:cubicBezTo>
                  <a:close/>
                  <a:moveTo>
                    <a:pt x="180" y="173"/>
                  </a:moveTo>
                  <a:cubicBezTo>
                    <a:pt x="184" y="174"/>
                    <a:pt x="189" y="175"/>
                    <a:pt x="193" y="176"/>
                  </a:cubicBezTo>
                  <a:cubicBezTo>
                    <a:pt x="192" y="181"/>
                    <a:pt x="192" y="186"/>
                    <a:pt x="192" y="192"/>
                  </a:cubicBezTo>
                  <a:cubicBezTo>
                    <a:pt x="192" y="192"/>
                    <a:pt x="192" y="192"/>
                    <a:pt x="192" y="192"/>
                  </a:cubicBezTo>
                  <a:cubicBezTo>
                    <a:pt x="192" y="192"/>
                    <a:pt x="192" y="192"/>
                    <a:pt x="192" y="192"/>
                  </a:cubicBezTo>
                  <a:cubicBezTo>
                    <a:pt x="199" y="192"/>
                    <a:pt x="199" y="192"/>
                    <a:pt x="199" y="192"/>
                  </a:cubicBezTo>
                  <a:cubicBezTo>
                    <a:pt x="199" y="192"/>
                    <a:pt x="199" y="192"/>
                    <a:pt x="199" y="192"/>
                  </a:cubicBezTo>
                  <a:cubicBezTo>
                    <a:pt x="192" y="192"/>
                    <a:pt x="192" y="192"/>
                    <a:pt x="192" y="192"/>
                  </a:cubicBezTo>
                  <a:cubicBezTo>
                    <a:pt x="192" y="192"/>
                    <a:pt x="192" y="192"/>
                    <a:pt x="192" y="192"/>
                  </a:cubicBezTo>
                  <a:cubicBezTo>
                    <a:pt x="192" y="192"/>
                    <a:pt x="192" y="192"/>
                    <a:pt x="192" y="192"/>
                  </a:cubicBezTo>
                  <a:cubicBezTo>
                    <a:pt x="192" y="198"/>
                    <a:pt x="192" y="203"/>
                    <a:pt x="193" y="208"/>
                  </a:cubicBezTo>
                  <a:cubicBezTo>
                    <a:pt x="188" y="209"/>
                    <a:pt x="184" y="210"/>
                    <a:pt x="180" y="211"/>
                  </a:cubicBezTo>
                  <a:cubicBezTo>
                    <a:pt x="180" y="211"/>
                    <a:pt x="180" y="211"/>
                    <a:pt x="180" y="211"/>
                  </a:cubicBezTo>
                  <a:cubicBezTo>
                    <a:pt x="179" y="211"/>
                    <a:pt x="178" y="212"/>
                    <a:pt x="178" y="214"/>
                  </a:cubicBezTo>
                  <a:cubicBezTo>
                    <a:pt x="179" y="220"/>
                    <a:pt x="180" y="226"/>
                    <a:pt x="182" y="231"/>
                  </a:cubicBezTo>
                  <a:cubicBezTo>
                    <a:pt x="182" y="231"/>
                    <a:pt x="182" y="232"/>
                    <a:pt x="183" y="232"/>
                  </a:cubicBezTo>
                  <a:cubicBezTo>
                    <a:pt x="183" y="232"/>
                    <a:pt x="184" y="232"/>
                    <a:pt x="184" y="232"/>
                  </a:cubicBezTo>
                  <a:cubicBezTo>
                    <a:pt x="184" y="232"/>
                    <a:pt x="184" y="232"/>
                    <a:pt x="184" y="232"/>
                  </a:cubicBezTo>
                  <a:cubicBezTo>
                    <a:pt x="189" y="232"/>
                    <a:pt x="193" y="231"/>
                    <a:pt x="198" y="230"/>
                  </a:cubicBezTo>
                  <a:cubicBezTo>
                    <a:pt x="199" y="236"/>
                    <a:pt x="201" y="240"/>
                    <a:pt x="203" y="245"/>
                  </a:cubicBezTo>
                  <a:cubicBezTo>
                    <a:pt x="203" y="245"/>
                    <a:pt x="203" y="245"/>
                    <a:pt x="203" y="245"/>
                  </a:cubicBezTo>
                  <a:cubicBezTo>
                    <a:pt x="203" y="245"/>
                    <a:pt x="203" y="245"/>
                    <a:pt x="203" y="245"/>
                  </a:cubicBezTo>
                  <a:cubicBezTo>
                    <a:pt x="210" y="242"/>
                    <a:pt x="210" y="242"/>
                    <a:pt x="210" y="242"/>
                  </a:cubicBezTo>
                  <a:cubicBezTo>
                    <a:pt x="210" y="242"/>
                    <a:pt x="210" y="242"/>
                    <a:pt x="210" y="242"/>
                  </a:cubicBezTo>
                  <a:cubicBezTo>
                    <a:pt x="203" y="245"/>
                    <a:pt x="203" y="245"/>
                    <a:pt x="203" y="245"/>
                  </a:cubicBezTo>
                  <a:cubicBezTo>
                    <a:pt x="203" y="245"/>
                    <a:pt x="203" y="245"/>
                    <a:pt x="203" y="245"/>
                  </a:cubicBezTo>
                  <a:cubicBezTo>
                    <a:pt x="203" y="245"/>
                    <a:pt x="203" y="245"/>
                    <a:pt x="203" y="245"/>
                  </a:cubicBezTo>
                  <a:cubicBezTo>
                    <a:pt x="205" y="250"/>
                    <a:pt x="208" y="255"/>
                    <a:pt x="210" y="259"/>
                  </a:cubicBezTo>
                  <a:cubicBezTo>
                    <a:pt x="207" y="261"/>
                    <a:pt x="203" y="264"/>
                    <a:pt x="200" y="267"/>
                  </a:cubicBezTo>
                  <a:cubicBezTo>
                    <a:pt x="200" y="267"/>
                    <a:pt x="200" y="267"/>
                    <a:pt x="200" y="267"/>
                  </a:cubicBezTo>
                  <a:cubicBezTo>
                    <a:pt x="199" y="267"/>
                    <a:pt x="199" y="268"/>
                    <a:pt x="199" y="269"/>
                  </a:cubicBezTo>
                  <a:cubicBezTo>
                    <a:pt x="199" y="269"/>
                    <a:pt x="199" y="270"/>
                    <a:pt x="199" y="270"/>
                  </a:cubicBezTo>
                  <a:cubicBezTo>
                    <a:pt x="203" y="276"/>
                    <a:pt x="206" y="280"/>
                    <a:pt x="209" y="284"/>
                  </a:cubicBezTo>
                  <a:cubicBezTo>
                    <a:pt x="210" y="285"/>
                    <a:pt x="210" y="285"/>
                    <a:pt x="211" y="285"/>
                  </a:cubicBezTo>
                  <a:cubicBezTo>
                    <a:pt x="212" y="285"/>
                    <a:pt x="212" y="285"/>
                    <a:pt x="213" y="284"/>
                  </a:cubicBezTo>
                  <a:cubicBezTo>
                    <a:pt x="216" y="282"/>
                    <a:pt x="220" y="280"/>
                    <a:pt x="224" y="277"/>
                  </a:cubicBezTo>
                  <a:cubicBezTo>
                    <a:pt x="227" y="281"/>
                    <a:pt x="230" y="284"/>
                    <a:pt x="235" y="288"/>
                  </a:cubicBezTo>
                  <a:cubicBezTo>
                    <a:pt x="235" y="288"/>
                    <a:pt x="235" y="288"/>
                    <a:pt x="235" y="288"/>
                  </a:cubicBezTo>
                  <a:cubicBezTo>
                    <a:pt x="235" y="288"/>
                    <a:pt x="235" y="288"/>
                    <a:pt x="235" y="288"/>
                  </a:cubicBezTo>
                  <a:cubicBezTo>
                    <a:pt x="240" y="283"/>
                    <a:pt x="240" y="283"/>
                    <a:pt x="240" y="283"/>
                  </a:cubicBezTo>
                  <a:cubicBezTo>
                    <a:pt x="240" y="283"/>
                    <a:pt x="240" y="283"/>
                    <a:pt x="240" y="283"/>
                  </a:cubicBezTo>
                  <a:cubicBezTo>
                    <a:pt x="235" y="288"/>
                    <a:pt x="235" y="288"/>
                    <a:pt x="235" y="288"/>
                  </a:cubicBezTo>
                  <a:cubicBezTo>
                    <a:pt x="235" y="288"/>
                    <a:pt x="235" y="288"/>
                    <a:pt x="235" y="288"/>
                  </a:cubicBezTo>
                  <a:cubicBezTo>
                    <a:pt x="235" y="289"/>
                    <a:pt x="235" y="289"/>
                    <a:pt x="235" y="289"/>
                  </a:cubicBezTo>
                  <a:cubicBezTo>
                    <a:pt x="238" y="292"/>
                    <a:pt x="242" y="295"/>
                    <a:pt x="247" y="298"/>
                  </a:cubicBezTo>
                  <a:cubicBezTo>
                    <a:pt x="245" y="302"/>
                    <a:pt x="243" y="306"/>
                    <a:pt x="241" y="310"/>
                  </a:cubicBezTo>
                  <a:cubicBezTo>
                    <a:pt x="241" y="310"/>
                    <a:pt x="241" y="310"/>
                    <a:pt x="241" y="310"/>
                  </a:cubicBezTo>
                  <a:cubicBezTo>
                    <a:pt x="241" y="311"/>
                    <a:pt x="241" y="311"/>
                    <a:pt x="241" y="312"/>
                  </a:cubicBezTo>
                  <a:cubicBezTo>
                    <a:pt x="241" y="312"/>
                    <a:pt x="241" y="313"/>
                    <a:pt x="242" y="313"/>
                  </a:cubicBezTo>
                  <a:cubicBezTo>
                    <a:pt x="247" y="317"/>
                    <a:pt x="252" y="319"/>
                    <a:pt x="257" y="322"/>
                  </a:cubicBezTo>
                  <a:cubicBezTo>
                    <a:pt x="257" y="322"/>
                    <a:pt x="258" y="322"/>
                    <a:pt x="258" y="322"/>
                  </a:cubicBezTo>
                  <a:cubicBezTo>
                    <a:pt x="259" y="322"/>
                    <a:pt x="259" y="321"/>
                    <a:pt x="260" y="321"/>
                  </a:cubicBezTo>
                  <a:cubicBezTo>
                    <a:pt x="260" y="321"/>
                    <a:pt x="260" y="321"/>
                    <a:pt x="260" y="321"/>
                  </a:cubicBezTo>
                  <a:cubicBezTo>
                    <a:pt x="262" y="317"/>
                    <a:pt x="265" y="313"/>
                    <a:pt x="267" y="310"/>
                  </a:cubicBezTo>
                  <a:cubicBezTo>
                    <a:pt x="272" y="312"/>
                    <a:pt x="276" y="314"/>
                    <a:pt x="281" y="315"/>
                  </a:cubicBezTo>
                  <a:cubicBezTo>
                    <a:pt x="281" y="315"/>
                    <a:pt x="281" y="315"/>
                    <a:pt x="281" y="315"/>
                  </a:cubicBezTo>
                  <a:cubicBezTo>
                    <a:pt x="282" y="315"/>
                    <a:pt x="282" y="315"/>
                    <a:pt x="282" y="315"/>
                  </a:cubicBezTo>
                  <a:cubicBezTo>
                    <a:pt x="284" y="309"/>
                    <a:pt x="284" y="309"/>
                    <a:pt x="284" y="309"/>
                  </a:cubicBezTo>
                  <a:cubicBezTo>
                    <a:pt x="282" y="315"/>
                    <a:pt x="282" y="315"/>
                    <a:pt x="282" y="315"/>
                  </a:cubicBezTo>
                  <a:cubicBezTo>
                    <a:pt x="282" y="315"/>
                    <a:pt x="282" y="315"/>
                    <a:pt x="282" y="315"/>
                  </a:cubicBezTo>
                  <a:cubicBezTo>
                    <a:pt x="282" y="315"/>
                    <a:pt x="282" y="315"/>
                    <a:pt x="282" y="315"/>
                  </a:cubicBezTo>
                  <a:cubicBezTo>
                    <a:pt x="286" y="317"/>
                    <a:pt x="291" y="318"/>
                    <a:pt x="297" y="319"/>
                  </a:cubicBezTo>
                  <a:cubicBezTo>
                    <a:pt x="296" y="324"/>
                    <a:pt x="296" y="328"/>
                    <a:pt x="296" y="333"/>
                  </a:cubicBezTo>
                  <a:cubicBezTo>
                    <a:pt x="296" y="333"/>
                    <a:pt x="296" y="333"/>
                    <a:pt x="296" y="333"/>
                  </a:cubicBezTo>
                  <a:cubicBezTo>
                    <a:pt x="296" y="333"/>
                    <a:pt x="296" y="334"/>
                    <a:pt x="296" y="334"/>
                  </a:cubicBezTo>
                  <a:cubicBezTo>
                    <a:pt x="297" y="335"/>
                    <a:pt x="297" y="335"/>
                    <a:pt x="298" y="335"/>
                  </a:cubicBezTo>
                  <a:cubicBezTo>
                    <a:pt x="303" y="336"/>
                    <a:pt x="309" y="337"/>
                    <a:pt x="315" y="337"/>
                  </a:cubicBezTo>
                  <a:cubicBezTo>
                    <a:pt x="316" y="337"/>
                    <a:pt x="316" y="337"/>
                    <a:pt x="317" y="336"/>
                  </a:cubicBezTo>
                  <a:cubicBezTo>
                    <a:pt x="317" y="336"/>
                    <a:pt x="317" y="335"/>
                    <a:pt x="317" y="335"/>
                  </a:cubicBezTo>
                  <a:cubicBezTo>
                    <a:pt x="317" y="335"/>
                    <a:pt x="317" y="335"/>
                    <a:pt x="317" y="335"/>
                  </a:cubicBezTo>
                  <a:cubicBezTo>
                    <a:pt x="318" y="330"/>
                    <a:pt x="319" y="326"/>
                    <a:pt x="320" y="322"/>
                  </a:cubicBezTo>
                  <a:cubicBezTo>
                    <a:pt x="324" y="322"/>
                    <a:pt x="329" y="322"/>
                    <a:pt x="335" y="321"/>
                  </a:cubicBezTo>
                  <a:cubicBezTo>
                    <a:pt x="335" y="321"/>
                    <a:pt x="335" y="321"/>
                    <a:pt x="335" y="321"/>
                  </a:cubicBezTo>
                  <a:cubicBezTo>
                    <a:pt x="335" y="321"/>
                    <a:pt x="335" y="321"/>
                    <a:pt x="335" y="321"/>
                  </a:cubicBezTo>
                  <a:cubicBezTo>
                    <a:pt x="334" y="314"/>
                    <a:pt x="334" y="314"/>
                    <a:pt x="334" y="314"/>
                  </a:cubicBezTo>
                  <a:cubicBezTo>
                    <a:pt x="334" y="314"/>
                    <a:pt x="334" y="314"/>
                    <a:pt x="334" y="314"/>
                  </a:cubicBezTo>
                  <a:cubicBezTo>
                    <a:pt x="335" y="321"/>
                    <a:pt x="335" y="321"/>
                    <a:pt x="335" y="321"/>
                  </a:cubicBezTo>
                  <a:cubicBezTo>
                    <a:pt x="335" y="321"/>
                    <a:pt x="335" y="321"/>
                    <a:pt x="335" y="321"/>
                  </a:cubicBezTo>
                  <a:cubicBezTo>
                    <a:pt x="335" y="321"/>
                    <a:pt x="335" y="321"/>
                    <a:pt x="335" y="321"/>
                  </a:cubicBezTo>
                  <a:cubicBezTo>
                    <a:pt x="340" y="321"/>
                    <a:pt x="345" y="320"/>
                    <a:pt x="351" y="319"/>
                  </a:cubicBezTo>
                  <a:cubicBezTo>
                    <a:pt x="352" y="323"/>
                    <a:pt x="354" y="327"/>
                    <a:pt x="355" y="331"/>
                  </a:cubicBezTo>
                  <a:cubicBezTo>
                    <a:pt x="356" y="331"/>
                    <a:pt x="356" y="332"/>
                    <a:pt x="357" y="332"/>
                  </a:cubicBezTo>
                  <a:cubicBezTo>
                    <a:pt x="357" y="333"/>
                    <a:pt x="358" y="333"/>
                    <a:pt x="358" y="333"/>
                  </a:cubicBezTo>
                  <a:cubicBezTo>
                    <a:pt x="365" y="331"/>
                    <a:pt x="370" y="329"/>
                    <a:pt x="375" y="327"/>
                  </a:cubicBezTo>
                  <a:cubicBezTo>
                    <a:pt x="375" y="327"/>
                    <a:pt x="376" y="327"/>
                    <a:pt x="376" y="326"/>
                  </a:cubicBezTo>
                  <a:cubicBezTo>
                    <a:pt x="376" y="325"/>
                    <a:pt x="376" y="325"/>
                    <a:pt x="376" y="324"/>
                  </a:cubicBezTo>
                  <a:cubicBezTo>
                    <a:pt x="376" y="324"/>
                    <a:pt x="376" y="324"/>
                    <a:pt x="376" y="324"/>
                  </a:cubicBezTo>
                  <a:cubicBezTo>
                    <a:pt x="375" y="320"/>
                    <a:pt x="374" y="316"/>
                    <a:pt x="373" y="311"/>
                  </a:cubicBezTo>
                  <a:cubicBezTo>
                    <a:pt x="377" y="310"/>
                    <a:pt x="382" y="307"/>
                    <a:pt x="386" y="304"/>
                  </a:cubicBezTo>
                  <a:cubicBezTo>
                    <a:pt x="387" y="304"/>
                    <a:pt x="387" y="304"/>
                    <a:pt x="387" y="304"/>
                  </a:cubicBezTo>
                  <a:cubicBezTo>
                    <a:pt x="386" y="304"/>
                    <a:pt x="386" y="304"/>
                    <a:pt x="386" y="304"/>
                  </a:cubicBezTo>
                  <a:cubicBezTo>
                    <a:pt x="383" y="298"/>
                    <a:pt x="383" y="298"/>
                    <a:pt x="383" y="298"/>
                  </a:cubicBezTo>
                  <a:cubicBezTo>
                    <a:pt x="383" y="298"/>
                    <a:pt x="383" y="298"/>
                    <a:pt x="383" y="298"/>
                  </a:cubicBezTo>
                  <a:cubicBezTo>
                    <a:pt x="386" y="304"/>
                    <a:pt x="386" y="304"/>
                    <a:pt x="386" y="304"/>
                  </a:cubicBezTo>
                  <a:cubicBezTo>
                    <a:pt x="387" y="304"/>
                    <a:pt x="387" y="304"/>
                    <a:pt x="387" y="304"/>
                  </a:cubicBezTo>
                  <a:cubicBezTo>
                    <a:pt x="387" y="304"/>
                    <a:pt x="387" y="304"/>
                    <a:pt x="387" y="304"/>
                  </a:cubicBezTo>
                  <a:cubicBezTo>
                    <a:pt x="391" y="302"/>
                    <a:pt x="395" y="299"/>
                    <a:pt x="400" y="296"/>
                  </a:cubicBezTo>
                  <a:cubicBezTo>
                    <a:pt x="403" y="299"/>
                    <a:pt x="406" y="302"/>
                    <a:pt x="409" y="305"/>
                  </a:cubicBezTo>
                  <a:cubicBezTo>
                    <a:pt x="409" y="305"/>
                    <a:pt x="409" y="305"/>
                    <a:pt x="409" y="305"/>
                  </a:cubicBezTo>
                  <a:cubicBezTo>
                    <a:pt x="409" y="306"/>
                    <a:pt x="410" y="306"/>
                    <a:pt x="411" y="306"/>
                  </a:cubicBezTo>
                  <a:cubicBezTo>
                    <a:pt x="411" y="306"/>
                    <a:pt x="412" y="306"/>
                    <a:pt x="412" y="305"/>
                  </a:cubicBezTo>
                  <a:cubicBezTo>
                    <a:pt x="416" y="302"/>
                    <a:pt x="421" y="298"/>
                    <a:pt x="425" y="294"/>
                  </a:cubicBezTo>
                  <a:cubicBezTo>
                    <a:pt x="425" y="293"/>
                    <a:pt x="426" y="293"/>
                    <a:pt x="426" y="292"/>
                  </a:cubicBezTo>
                  <a:cubicBezTo>
                    <a:pt x="426" y="292"/>
                    <a:pt x="425" y="291"/>
                    <a:pt x="425" y="291"/>
                  </a:cubicBezTo>
                  <a:cubicBezTo>
                    <a:pt x="425" y="291"/>
                    <a:pt x="425" y="291"/>
                    <a:pt x="425" y="291"/>
                  </a:cubicBezTo>
                  <a:cubicBezTo>
                    <a:pt x="422" y="287"/>
                    <a:pt x="419" y="284"/>
                    <a:pt x="417" y="280"/>
                  </a:cubicBezTo>
                  <a:cubicBezTo>
                    <a:pt x="420" y="277"/>
                    <a:pt x="424" y="273"/>
                    <a:pt x="427" y="268"/>
                  </a:cubicBezTo>
                  <a:cubicBezTo>
                    <a:pt x="427" y="268"/>
                    <a:pt x="427" y="268"/>
                    <a:pt x="427" y="268"/>
                  </a:cubicBezTo>
                  <a:cubicBezTo>
                    <a:pt x="427" y="268"/>
                    <a:pt x="427" y="268"/>
                    <a:pt x="427" y="268"/>
                  </a:cubicBezTo>
                  <a:cubicBezTo>
                    <a:pt x="421" y="264"/>
                    <a:pt x="421" y="264"/>
                    <a:pt x="421" y="264"/>
                  </a:cubicBezTo>
                  <a:cubicBezTo>
                    <a:pt x="421" y="264"/>
                    <a:pt x="421" y="264"/>
                    <a:pt x="421" y="264"/>
                  </a:cubicBezTo>
                  <a:cubicBezTo>
                    <a:pt x="427" y="268"/>
                    <a:pt x="427" y="268"/>
                    <a:pt x="427" y="268"/>
                  </a:cubicBezTo>
                  <a:cubicBezTo>
                    <a:pt x="427" y="268"/>
                    <a:pt x="427" y="268"/>
                    <a:pt x="427" y="268"/>
                  </a:cubicBezTo>
                  <a:cubicBezTo>
                    <a:pt x="427" y="268"/>
                    <a:pt x="427" y="268"/>
                    <a:pt x="427" y="268"/>
                  </a:cubicBezTo>
                  <a:cubicBezTo>
                    <a:pt x="430" y="264"/>
                    <a:pt x="432" y="260"/>
                    <a:pt x="435" y="255"/>
                  </a:cubicBezTo>
                  <a:cubicBezTo>
                    <a:pt x="439" y="257"/>
                    <a:pt x="444" y="258"/>
                    <a:pt x="447" y="260"/>
                  </a:cubicBezTo>
                  <a:cubicBezTo>
                    <a:pt x="447" y="260"/>
                    <a:pt x="447" y="260"/>
                    <a:pt x="447" y="260"/>
                  </a:cubicBezTo>
                  <a:cubicBezTo>
                    <a:pt x="448" y="260"/>
                    <a:pt x="449" y="260"/>
                    <a:pt x="449" y="260"/>
                  </a:cubicBezTo>
                  <a:cubicBezTo>
                    <a:pt x="450" y="260"/>
                    <a:pt x="450" y="259"/>
                    <a:pt x="451" y="259"/>
                  </a:cubicBezTo>
                  <a:cubicBezTo>
                    <a:pt x="453" y="254"/>
                    <a:pt x="455" y="249"/>
                    <a:pt x="458" y="243"/>
                  </a:cubicBezTo>
                  <a:cubicBezTo>
                    <a:pt x="458" y="243"/>
                    <a:pt x="458" y="242"/>
                    <a:pt x="458" y="241"/>
                  </a:cubicBezTo>
                  <a:cubicBezTo>
                    <a:pt x="457" y="241"/>
                    <a:pt x="457" y="240"/>
                    <a:pt x="456" y="240"/>
                  </a:cubicBezTo>
                  <a:cubicBezTo>
                    <a:pt x="452" y="238"/>
                    <a:pt x="448" y="236"/>
                    <a:pt x="444" y="234"/>
                  </a:cubicBezTo>
                  <a:cubicBezTo>
                    <a:pt x="446" y="229"/>
                    <a:pt x="448" y="223"/>
                    <a:pt x="449" y="219"/>
                  </a:cubicBezTo>
                  <a:cubicBezTo>
                    <a:pt x="449" y="219"/>
                    <a:pt x="449" y="219"/>
                    <a:pt x="449" y="219"/>
                  </a:cubicBezTo>
                  <a:cubicBezTo>
                    <a:pt x="449" y="219"/>
                    <a:pt x="449" y="219"/>
                    <a:pt x="449" y="219"/>
                  </a:cubicBezTo>
                  <a:cubicBezTo>
                    <a:pt x="442" y="217"/>
                    <a:pt x="442" y="217"/>
                    <a:pt x="442" y="217"/>
                  </a:cubicBezTo>
                  <a:cubicBezTo>
                    <a:pt x="442" y="217"/>
                    <a:pt x="442" y="217"/>
                    <a:pt x="442" y="217"/>
                  </a:cubicBezTo>
                  <a:cubicBezTo>
                    <a:pt x="449" y="219"/>
                    <a:pt x="449" y="219"/>
                    <a:pt x="449" y="219"/>
                  </a:cubicBezTo>
                  <a:cubicBezTo>
                    <a:pt x="449" y="219"/>
                    <a:pt x="449" y="219"/>
                    <a:pt x="449" y="219"/>
                  </a:cubicBezTo>
                  <a:cubicBezTo>
                    <a:pt x="449" y="219"/>
                    <a:pt x="449" y="219"/>
                    <a:pt x="449" y="219"/>
                  </a:cubicBezTo>
                  <a:cubicBezTo>
                    <a:pt x="450" y="213"/>
                    <a:pt x="451" y="208"/>
                    <a:pt x="451" y="204"/>
                  </a:cubicBezTo>
                  <a:cubicBezTo>
                    <a:pt x="455" y="203"/>
                    <a:pt x="460" y="203"/>
                    <a:pt x="464" y="203"/>
                  </a:cubicBezTo>
                  <a:cubicBezTo>
                    <a:pt x="464" y="203"/>
                    <a:pt x="464" y="203"/>
                    <a:pt x="464" y="203"/>
                  </a:cubicBezTo>
                  <a:cubicBezTo>
                    <a:pt x="465" y="203"/>
                    <a:pt x="465" y="203"/>
                    <a:pt x="466" y="202"/>
                  </a:cubicBezTo>
                  <a:cubicBezTo>
                    <a:pt x="466" y="202"/>
                    <a:pt x="467" y="201"/>
                    <a:pt x="467" y="201"/>
                  </a:cubicBezTo>
                  <a:cubicBezTo>
                    <a:pt x="467" y="195"/>
                    <a:pt x="467" y="189"/>
                    <a:pt x="467" y="183"/>
                  </a:cubicBezTo>
                  <a:cubicBezTo>
                    <a:pt x="467" y="183"/>
                    <a:pt x="466" y="182"/>
                    <a:pt x="466" y="182"/>
                  </a:cubicBezTo>
                  <a:cubicBezTo>
                    <a:pt x="465" y="181"/>
                    <a:pt x="465" y="181"/>
                    <a:pt x="464" y="181"/>
                  </a:cubicBezTo>
                  <a:cubicBezTo>
                    <a:pt x="464" y="181"/>
                    <a:pt x="464" y="181"/>
                    <a:pt x="464" y="181"/>
                  </a:cubicBezTo>
                  <a:cubicBezTo>
                    <a:pt x="460" y="181"/>
                    <a:pt x="455" y="181"/>
                    <a:pt x="451" y="180"/>
                  </a:cubicBezTo>
                  <a:cubicBezTo>
                    <a:pt x="451" y="176"/>
                    <a:pt x="450" y="171"/>
                    <a:pt x="449" y="165"/>
                  </a:cubicBezTo>
                  <a:cubicBezTo>
                    <a:pt x="449" y="165"/>
                    <a:pt x="449" y="165"/>
                    <a:pt x="449" y="165"/>
                  </a:cubicBezTo>
                  <a:cubicBezTo>
                    <a:pt x="449" y="165"/>
                    <a:pt x="449" y="165"/>
                    <a:pt x="449" y="165"/>
                  </a:cubicBezTo>
                  <a:cubicBezTo>
                    <a:pt x="442" y="166"/>
                    <a:pt x="442" y="166"/>
                    <a:pt x="442" y="166"/>
                  </a:cubicBezTo>
                  <a:cubicBezTo>
                    <a:pt x="442" y="166"/>
                    <a:pt x="442" y="166"/>
                    <a:pt x="442" y="166"/>
                  </a:cubicBezTo>
                  <a:cubicBezTo>
                    <a:pt x="449" y="165"/>
                    <a:pt x="449" y="165"/>
                    <a:pt x="449" y="165"/>
                  </a:cubicBezTo>
                  <a:cubicBezTo>
                    <a:pt x="449" y="165"/>
                    <a:pt x="449" y="165"/>
                    <a:pt x="449" y="165"/>
                  </a:cubicBezTo>
                  <a:cubicBezTo>
                    <a:pt x="449" y="165"/>
                    <a:pt x="449" y="165"/>
                    <a:pt x="449" y="165"/>
                  </a:cubicBezTo>
                  <a:cubicBezTo>
                    <a:pt x="448" y="161"/>
                    <a:pt x="446" y="155"/>
                    <a:pt x="444" y="150"/>
                  </a:cubicBezTo>
                  <a:cubicBezTo>
                    <a:pt x="448" y="148"/>
                    <a:pt x="452" y="146"/>
                    <a:pt x="456" y="144"/>
                  </a:cubicBezTo>
                  <a:cubicBezTo>
                    <a:pt x="457" y="144"/>
                    <a:pt x="457" y="143"/>
                    <a:pt x="458" y="143"/>
                  </a:cubicBezTo>
                  <a:cubicBezTo>
                    <a:pt x="458" y="142"/>
                    <a:pt x="458" y="141"/>
                    <a:pt x="458" y="141"/>
                  </a:cubicBezTo>
                  <a:cubicBezTo>
                    <a:pt x="455" y="135"/>
                    <a:pt x="453" y="130"/>
                    <a:pt x="451" y="125"/>
                  </a:cubicBezTo>
                  <a:cubicBezTo>
                    <a:pt x="450" y="125"/>
                    <a:pt x="450" y="124"/>
                    <a:pt x="449" y="124"/>
                  </a:cubicBezTo>
                  <a:cubicBezTo>
                    <a:pt x="449" y="124"/>
                    <a:pt x="448" y="124"/>
                    <a:pt x="447" y="124"/>
                  </a:cubicBezTo>
                  <a:cubicBezTo>
                    <a:pt x="447" y="124"/>
                    <a:pt x="447" y="124"/>
                    <a:pt x="447" y="124"/>
                  </a:cubicBezTo>
                  <a:cubicBezTo>
                    <a:pt x="443" y="126"/>
                    <a:pt x="439" y="127"/>
                    <a:pt x="435" y="129"/>
                  </a:cubicBezTo>
                  <a:cubicBezTo>
                    <a:pt x="432" y="124"/>
                    <a:pt x="430" y="120"/>
                    <a:pt x="427" y="116"/>
                  </a:cubicBezTo>
                  <a:cubicBezTo>
                    <a:pt x="427" y="116"/>
                    <a:pt x="427" y="116"/>
                    <a:pt x="427" y="116"/>
                  </a:cubicBezTo>
                  <a:cubicBezTo>
                    <a:pt x="427" y="116"/>
                    <a:pt x="427" y="116"/>
                    <a:pt x="427" y="116"/>
                  </a:cubicBezTo>
                  <a:cubicBezTo>
                    <a:pt x="421" y="120"/>
                    <a:pt x="421" y="120"/>
                    <a:pt x="421" y="120"/>
                  </a:cubicBezTo>
                  <a:cubicBezTo>
                    <a:pt x="421" y="120"/>
                    <a:pt x="421" y="120"/>
                    <a:pt x="421" y="120"/>
                  </a:cubicBezTo>
                  <a:cubicBezTo>
                    <a:pt x="427" y="116"/>
                    <a:pt x="427" y="116"/>
                    <a:pt x="427" y="116"/>
                  </a:cubicBezTo>
                  <a:cubicBezTo>
                    <a:pt x="427" y="116"/>
                    <a:pt x="427" y="116"/>
                    <a:pt x="427" y="116"/>
                  </a:cubicBezTo>
                  <a:cubicBezTo>
                    <a:pt x="427" y="116"/>
                    <a:pt x="427" y="116"/>
                    <a:pt x="427" y="116"/>
                  </a:cubicBezTo>
                  <a:cubicBezTo>
                    <a:pt x="424" y="111"/>
                    <a:pt x="420" y="107"/>
                    <a:pt x="417" y="104"/>
                  </a:cubicBezTo>
                  <a:cubicBezTo>
                    <a:pt x="419" y="100"/>
                    <a:pt x="422" y="97"/>
                    <a:pt x="425" y="93"/>
                  </a:cubicBezTo>
                  <a:cubicBezTo>
                    <a:pt x="425" y="93"/>
                    <a:pt x="425" y="93"/>
                    <a:pt x="425" y="93"/>
                  </a:cubicBezTo>
                  <a:cubicBezTo>
                    <a:pt x="425" y="93"/>
                    <a:pt x="426" y="92"/>
                    <a:pt x="426" y="92"/>
                  </a:cubicBezTo>
                  <a:cubicBezTo>
                    <a:pt x="426" y="91"/>
                    <a:pt x="425" y="90"/>
                    <a:pt x="425" y="90"/>
                  </a:cubicBezTo>
                  <a:cubicBezTo>
                    <a:pt x="421" y="86"/>
                    <a:pt x="416" y="82"/>
                    <a:pt x="412" y="78"/>
                  </a:cubicBezTo>
                  <a:cubicBezTo>
                    <a:pt x="412" y="78"/>
                    <a:pt x="411" y="78"/>
                    <a:pt x="411" y="78"/>
                  </a:cubicBezTo>
                  <a:cubicBezTo>
                    <a:pt x="410" y="78"/>
                    <a:pt x="409" y="78"/>
                    <a:pt x="409" y="79"/>
                  </a:cubicBezTo>
                  <a:cubicBezTo>
                    <a:pt x="409" y="79"/>
                    <a:pt x="409" y="79"/>
                    <a:pt x="409" y="79"/>
                  </a:cubicBezTo>
                  <a:cubicBezTo>
                    <a:pt x="406" y="82"/>
                    <a:pt x="403" y="85"/>
                    <a:pt x="400" y="88"/>
                  </a:cubicBezTo>
                  <a:cubicBezTo>
                    <a:pt x="395" y="85"/>
                    <a:pt x="391" y="82"/>
                    <a:pt x="387" y="80"/>
                  </a:cubicBezTo>
                  <a:cubicBezTo>
                    <a:pt x="387" y="80"/>
                    <a:pt x="387" y="80"/>
                    <a:pt x="387" y="80"/>
                  </a:cubicBezTo>
                  <a:cubicBezTo>
                    <a:pt x="386" y="80"/>
                    <a:pt x="386" y="80"/>
                    <a:pt x="386" y="80"/>
                  </a:cubicBezTo>
                  <a:cubicBezTo>
                    <a:pt x="383" y="86"/>
                    <a:pt x="383" y="86"/>
                    <a:pt x="383" y="86"/>
                  </a:cubicBezTo>
                  <a:cubicBezTo>
                    <a:pt x="386" y="80"/>
                    <a:pt x="386" y="80"/>
                    <a:pt x="386" y="80"/>
                  </a:cubicBezTo>
                  <a:cubicBezTo>
                    <a:pt x="387" y="80"/>
                    <a:pt x="387" y="80"/>
                    <a:pt x="387" y="80"/>
                  </a:cubicBezTo>
                  <a:cubicBezTo>
                    <a:pt x="386" y="80"/>
                    <a:pt x="386" y="80"/>
                    <a:pt x="386" y="80"/>
                  </a:cubicBezTo>
                  <a:cubicBezTo>
                    <a:pt x="382" y="77"/>
                    <a:pt x="377" y="74"/>
                    <a:pt x="373" y="73"/>
                  </a:cubicBezTo>
                  <a:cubicBezTo>
                    <a:pt x="374" y="68"/>
                    <a:pt x="375" y="64"/>
                    <a:pt x="376" y="60"/>
                  </a:cubicBezTo>
                  <a:cubicBezTo>
                    <a:pt x="376" y="60"/>
                    <a:pt x="376" y="60"/>
                    <a:pt x="376" y="60"/>
                  </a:cubicBezTo>
                  <a:cubicBezTo>
                    <a:pt x="376" y="59"/>
                    <a:pt x="376" y="59"/>
                    <a:pt x="376" y="58"/>
                  </a:cubicBezTo>
                  <a:cubicBezTo>
                    <a:pt x="376" y="57"/>
                    <a:pt x="375" y="57"/>
                    <a:pt x="375" y="57"/>
                  </a:cubicBezTo>
                  <a:cubicBezTo>
                    <a:pt x="370" y="55"/>
                    <a:pt x="365" y="53"/>
                    <a:pt x="358" y="51"/>
                  </a:cubicBezTo>
                  <a:cubicBezTo>
                    <a:pt x="358" y="51"/>
                    <a:pt x="357" y="51"/>
                    <a:pt x="357" y="52"/>
                  </a:cubicBezTo>
                  <a:cubicBezTo>
                    <a:pt x="356" y="52"/>
                    <a:pt x="356" y="53"/>
                    <a:pt x="355" y="53"/>
                  </a:cubicBezTo>
                  <a:cubicBezTo>
                    <a:pt x="355" y="53"/>
                    <a:pt x="355" y="53"/>
                    <a:pt x="355" y="53"/>
                  </a:cubicBezTo>
                  <a:cubicBezTo>
                    <a:pt x="354" y="57"/>
                    <a:pt x="352" y="61"/>
                    <a:pt x="351" y="65"/>
                  </a:cubicBezTo>
                  <a:cubicBezTo>
                    <a:pt x="345" y="64"/>
                    <a:pt x="340" y="63"/>
                    <a:pt x="335" y="63"/>
                  </a:cubicBezTo>
                  <a:cubicBezTo>
                    <a:pt x="335" y="63"/>
                    <a:pt x="335" y="63"/>
                    <a:pt x="335" y="63"/>
                  </a:cubicBezTo>
                  <a:cubicBezTo>
                    <a:pt x="335" y="63"/>
                    <a:pt x="335" y="63"/>
                    <a:pt x="335" y="63"/>
                  </a:cubicBezTo>
                  <a:cubicBezTo>
                    <a:pt x="334" y="70"/>
                    <a:pt x="334" y="70"/>
                    <a:pt x="334" y="70"/>
                  </a:cubicBezTo>
                  <a:cubicBezTo>
                    <a:pt x="334" y="70"/>
                    <a:pt x="334" y="70"/>
                    <a:pt x="334" y="70"/>
                  </a:cubicBezTo>
                  <a:cubicBezTo>
                    <a:pt x="335" y="63"/>
                    <a:pt x="335" y="63"/>
                    <a:pt x="335" y="63"/>
                  </a:cubicBezTo>
                  <a:cubicBezTo>
                    <a:pt x="335" y="63"/>
                    <a:pt x="335" y="63"/>
                    <a:pt x="335" y="63"/>
                  </a:cubicBezTo>
                  <a:cubicBezTo>
                    <a:pt x="335" y="63"/>
                    <a:pt x="335" y="63"/>
                    <a:pt x="335" y="63"/>
                  </a:cubicBezTo>
                  <a:cubicBezTo>
                    <a:pt x="329" y="62"/>
                    <a:pt x="324" y="62"/>
                    <a:pt x="320" y="62"/>
                  </a:cubicBezTo>
                  <a:cubicBezTo>
                    <a:pt x="319" y="58"/>
                    <a:pt x="318" y="53"/>
                    <a:pt x="317" y="49"/>
                  </a:cubicBezTo>
                  <a:cubicBezTo>
                    <a:pt x="317" y="49"/>
                    <a:pt x="317" y="49"/>
                    <a:pt x="317" y="49"/>
                  </a:cubicBezTo>
                  <a:cubicBezTo>
                    <a:pt x="317" y="49"/>
                    <a:pt x="317" y="48"/>
                    <a:pt x="317" y="48"/>
                  </a:cubicBezTo>
                  <a:cubicBezTo>
                    <a:pt x="316" y="47"/>
                    <a:pt x="316" y="47"/>
                    <a:pt x="315" y="47"/>
                  </a:cubicBezTo>
                  <a:cubicBezTo>
                    <a:pt x="309" y="47"/>
                    <a:pt x="303" y="48"/>
                    <a:pt x="298" y="49"/>
                  </a:cubicBezTo>
                  <a:cubicBezTo>
                    <a:pt x="297" y="49"/>
                    <a:pt x="297" y="49"/>
                    <a:pt x="296" y="50"/>
                  </a:cubicBezTo>
                  <a:cubicBezTo>
                    <a:pt x="296" y="50"/>
                    <a:pt x="296" y="51"/>
                    <a:pt x="296" y="51"/>
                  </a:cubicBezTo>
                  <a:cubicBezTo>
                    <a:pt x="296" y="51"/>
                    <a:pt x="296" y="51"/>
                    <a:pt x="296" y="51"/>
                  </a:cubicBezTo>
                  <a:cubicBezTo>
                    <a:pt x="296" y="56"/>
                    <a:pt x="296" y="60"/>
                    <a:pt x="297" y="65"/>
                  </a:cubicBezTo>
                  <a:cubicBezTo>
                    <a:pt x="291" y="66"/>
                    <a:pt x="286" y="67"/>
                    <a:pt x="282" y="68"/>
                  </a:cubicBezTo>
                  <a:cubicBezTo>
                    <a:pt x="282" y="68"/>
                    <a:pt x="282" y="68"/>
                    <a:pt x="282" y="68"/>
                  </a:cubicBezTo>
                  <a:cubicBezTo>
                    <a:pt x="282" y="69"/>
                    <a:pt x="282" y="69"/>
                    <a:pt x="282" y="69"/>
                  </a:cubicBezTo>
                  <a:cubicBezTo>
                    <a:pt x="284" y="75"/>
                    <a:pt x="284" y="75"/>
                    <a:pt x="284" y="75"/>
                  </a:cubicBezTo>
                  <a:cubicBezTo>
                    <a:pt x="284" y="75"/>
                    <a:pt x="284" y="75"/>
                    <a:pt x="284" y="75"/>
                  </a:cubicBezTo>
                  <a:cubicBezTo>
                    <a:pt x="282" y="69"/>
                    <a:pt x="282" y="69"/>
                    <a:pt x="282" y="69"/>
                  </a:cubicBezTo>
                  <a:cubicBezTo>
                    <a:pt x="281" y="69"/>
                    <a:pt x="281" y="69"/>
                    <a:pt x="281" y="69"/>
                  </a:cubicBezTo>
                  <a:cubicBezTo>
                    <a:pt x="281" y="69"/>
                    <a:pt x="281" y="69"/>
                    <a:pt x="281" y="69"/>
                  </a:cubicBezTo>
                  <a:cubicBezTo>
                    <a:pt x="276" y="70"/>
                    <a:pt x="272" y="72"/>
                    <a:pt x="267" y="74"/>
                  </a:cubicBezTo>
                  <a:cubicBezTo>
                    <a:pt x="265" y="70"/>
                    <a:pt x="262" y="67"/>
                    <a:pt x="260" y="63"/>
                  </a:cubicBezTo>
                  <a:cubicBezTo>
                    <a:pt x="259" y="63"/>
                    <a:pt x="259" y="62"/>
                    <a:pt x="258" y="62"/>
                  </a:cubicBezTo>
                  <a:cubicBezTo>
                    <a:pt x="258" y="62"/>
                    <a:pt x="257" y="62"/>
                    <a:pt x="257" y="62"/>
                  </a:cubicBezTo>
                  <a:cubicBezTo>
                    <a:pt x="252" y="64"/>
                    <a:pt x="247" y="67"/>
                    <a:pt x="242" y="71"/>
                  </a:cubicBezTo>
                  <a:cubicBezTo>
                    <a:pt x="241" y="71"/>
                    <a:pt x="241" y="72"/>
                    <a:pt x="241" y="72"/>
                  </a:cubicBezTo>
                  <a:cubicBezTo>
                    <a:pt x="241" y="73"/>
                    <a:pt x="241" y="73"/>
                    <a:pt x="241" y="74"/>
                  </a:cubicBezTo>
                  <a:cubicBezTo>
                    <a:pt x="243" y="78"/>
                    <a:pt x="245" y="82"/>
                    <a:pt x="247" y="86"/>
                  </a:cubicBezTo>
                  <a:cubicBezTo>
                    <a:pt x="242" y="89"/>
                    <a:pt x="238" y="92"/>
                    <a:pt x="235" y="95"/>
                  </a:cubicBezTo>
                  <a:cubicBezTo>
                    <a:pt x="235" y="96"/>
                    <a:pt x="235" y="96"/>
                    <a:pt x="235" y="96"/>
                  </a:cubicBezTo>
                  <a:cubicBezTo>
                    <a:pt x="235" y="96"/>
                    <a:pt x="235" y="96"/>
                    <a:pt x="235" y="96"/>
                  </a:cubicBezTo>
                  <a:cubicBezTo>
                    <a:pt x="240" y="101"/>
                    <a:pt x="240" y="101"/>
                    <a:pt x="240" y="101"/>
                  </a:cubicBezTo>
                  <a:cubicBezTo>
                    <a:pt x="240" y="101"/>
                    <a:pt x="240" y="101"/>
                    <a:pt x="240" y="101"/>
                  </a:cubicBezTo>
                  <a:cubicBezTo>
                    <a:pt x="235" y="96"/>
                    <a:pt x="235" y="96"/>
                    <a:pt x="235" y="96"/>
                  </a:cubicBezTo>
                  <a:cubicBezTo>
                    <a:pt x="235" y="96"/>
                    <a:pt x="235" y="96"/>
                    <a:pt x="235" y="96"/>
                  </a:cubicBezTo>
                  <a:cubicBezTo>
                    <a:pt x="235" y="96"/>
                    <a:pt x="235" y="96"/>
                    <a:pt x="235" y="96"/>
                  </a:cubicBezTo>
                  <a:cubicBezTo>
                    <a:pt x="230" y="100"/>
                    <a:pt x="227" y="103"/>
                    <a:pt x="224" y="107"/>
                  </a:cubicBezTo>
                  <a:cubicBezTo>
                    <a:pt x="220" y="104"/>
                    <a:pt x="216" y="102"/>
                    <a:pt x="213" y="100"/>
                  </a:cubicBezTo>
                  <a:cubicBezTo>
                    <a:pt x="212" y="99"/>
                    <a:pt x="212" y="99"/>
                    <a:pt x="211" y="99"/>
                  </a:cubicBezTo>
                  <a:cubicBezTo>
                    <a:pt x="210" y="99"/>
                    <a:pt x="210" y="99"/>
                    <a:pt x="209" y="100"/>
                  </a:cubicBezTo>
                  <a:cubicBezTo>
                    <a:pt x="206" y="103"/>
                    <a:pt x="203" y="108"/>
                    <a:pt x="199" y="114"/>
                  </a:cubicBezTo>
                  <a:cubicBezTo>
                    <a:pt x="199" y="114"/>
                    <a:pt x="199" y="115"/>
                    <a:pt x="199" y="115"/>
                  </a:cubicBezTo>
                  <a:cubicBezTo>
                    <a:pt x="199" y="116"/>
                    <a:pt x="199" y="117"/>
                    <a:pt x="200" y="117"/>
                  </a:cubicBezTo>
                  <a:cubicBezTo>
                    <a:pt x="200" y="117"/>
                    <a:pt x="200" y="117"/>
                    <a:pt x="200" y="117"/>
                  </a:cubicBezTo>
                  <a:cubicBezTo>
                    <a:pt x="203" y="120"/>
                    <a:pt x="207" y="123"/>
                    <a:pt x="210" y="125"/>
                  </a:cubicBezTo>
                  <a:cubicBezTo>
                    <a:pt x="208" y="129"/>
                    <a:pt x="205" y="134"/>
                    <a:pt x="203" y="139"/>
                  </a:cubicBezTo>
                  <a:cubicBezTo>
                    <a:pt x="203" y="139"/>
                    <a:pt x="203" y="139"/>
                    <a:pt x="203" y="139"/>
                  </a:cubicBezTo>
                  <a:cubicBezTo>
                    <a:pt x="203" y="139"/>
                    <a:pt x="203" y="139"/>
                    <a:pt x="203" y="139"/>
                  </a:cubicBezTo>
                  <a:cubicBezTo>
                    <a:pt x="210" y="142"/>
                    <a:pt x="210" y="142"/>
                    <a:pt x="210" y="142"/>
                  </a:cubicBezTo>
                  <a:cubicBezTo>
                    <a:pt x="203" y="139"/>
                    <a:pt x="203" y="139"/>
                    <a:pt x="203" y="139"/>
                  </a:cubicBezTo>
                  <a:cubicBezTo>
                    <a:pt x="203" y="139"/>
                    <a:pt x="203" y="139"/>
                    <a:pt x="203" y="139"/>
                  </a:cubicBezTo>
                  <a:cubicBezTo>
                    <a:pt x="203" y="139"/>
                    <a:pt x="203" y="139"/>
                    <a:pt x="203" y="139"/>
                  </a:cubicBezTo>
                  <a:cubicBezTo>
                    <a:pt x="201" y="143"/>
                    <a:pt x="199" y="148"/>
                    <a:pt x="198" y="154"/>
                  </a:cubicBezTo>
                  <a:cubicBezTo>
                    <a:pt x="193" y="153"/>
                    <a:pt x="189" y="152"/>
                    <a:pt x="184" y="152"/>
                  </a:cubicBezTo>
                  <a:cubicBezTo>
                    <a:pt x="184" y="152"/>
                    <a:pt x="183" y="152"/>
                    <a:pt x="183" y="152"/>
                  </a:cubicBezTo>
                  <a:cubicBezTo>
                    <a:pt x="182" y="152"/>
                    <a:pt x="182" y="153"/>
                    <a:pt x="182" y="153"/>
                  </a:cubicBezTo>
                  <a:cubicBezTo>
                    <a:pt x="180" y="158"/>
                    <a:pt x="179" y="164"/>
                    <a:pt x="178" y="170"/>
                  </a:cubicBezTo>
                  <a:cubicBezTo>
                    <a:pt x="178" y="172"/>
                    <a:pt x="179" y="173"/>
                    <a:pt x="180" y="173"/>
                  </a:cubicBezTo>
                  <a:close/>
                  <a:moveTo>
                    <a:pt x="228" y="192"/>
                  </a:moveTo>
                  <a:cubicBezTo>
                    <a:pt x="228" y="140"/>
                    <a:pt x="271" y="98"/>
                    <a:pt x="322" y="98"/>
                  </a:cubicBezTo>
                  <a:cubicBezTo>
                    <a:pt x="374" y="98"/>
                    <a:pt x="416" y="140"/>
                    <a:pt x="416" y="192"/>
                  </a:cubicBezTo>
                  <a:cubicBezTo>
                    <a:pt x="416" y="244"/>
                    <a:pt x="374" y="286"/>
                    <a:pt x="322" y="286"/>
                  </a:cubicBezTo>
                  <a:cubicBezTo>
                    <a:pt x="271" y="286"/>
                    <a:pt x="228" y="244"/>
                    <a:pt x="228" y="192"/>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14:hiddenLine>
              </a:ext>
            </a:extLst>
          </p:spPr>
          <p:txBody>
            <a:bodyPr lIns="68568" tIns="34284" rIns="68568" bIns="34284"/>
            <a:lstStyle/>
            <a:p>
              <a:pPr defTabSz="1218565">
                <a:defRPr/>
              </a:pPr>
              <a:endParaRPr lang="zh-CN" altLang="en-US" kern="0">
                <a:solidFill>
                  <a:sysClr val="windowText" lastClr="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5" name="文本框 104"/>
            <p:cNvSpPr txBox="1">
              <a:spLocks noChangeArrowheads="1"/>
            </p:cNvSpPr>
            <p:nvPr/>
          </p:nvSpPr>
          <p:spPr bwMode="auto">
            <a:xfrm>
              <a:off x="982868" y="4151733"/>
              <a:ext cx="497548" cy="5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8" tIns="34284" rIns="68568" bIns="34284">
              <a:spAutoFit/>
            </a:bodyPr>
            <a:lstStyle>
              <a:lvl1pPr>
                <a:defRPr>
                  <a:solidFill>
                    <a:schemeClr val="tx1"/>
                  </a:solidFill>
                  <a:latin typeface="Calibri" panose="020F0502020204030204" pitchFamily="34" charset="0"/>
                  <a:ea typeface="微软雅黑" panose="020B0503020204020204" charset="-122"/>
                </a:defRPr>
              </a:lvl1pPr>
              <a:lvl2pPr marL="742950" indent="-285750">
                <a:defRPr>
                  <a:solidFill>
                    <a:schemeClr val="tx1"/>
                  </a:solidFill>
                  <a:latin typeface="Calibri" panose="020F0502020204030204" pitchFamily="34" charset="0"/>
                  <a:ea typeface="微软雅黑" panose="020B0503020204020204" charset="-122"/>
                </a:defRPr>
              </a:lvl2pPr>
              <a:lvl3pPr marL="1143000" indent="-228600">
                <a:defRPr>
                  <a:solidFill>
                    <a:schemeClr val="tx1"/>
                  </a:solidFill>
                  <a:latin typeface="Calibri" panose="020F0502020204030204" pitchFamily="34" charset="0"/>
                  <a:ea typeface="微软雅黑" panose="020B0503020204020204" charset="-122"/>
                </a:defRPr>
              </a:lvl3pPr>
              <a:lvl4pPr marL="1600200" indent="-228600">
                <a:defRPr>
                  <a:solidFill>
                    <a:schemeClr val="tx1"/>
                  </a:solidFill>
                  <a:latin typeface="Calibri" panose="020F0502020204030204" pitchFamily="34" charset="0"/>
                  <a:ea typeface="微软雅黑" panose="020B0503020204020204" charset="-122"/>
                </a:defRPr>
              </a:lvl4pPr>
              <a:lvl5pPr marL="2057400" indent="-228600">
                <a:defRPr>
                  <a:solidFill>
                    <a:schemeClr val="tx1"/>
                  </a:solidFill>
                  <a:latin typeface="Calibri" panose="020F0502020204030204" pitchFamily="34" charset="0"/>
                  <a:ea typeface="微软雅黑" panose="020B050302020402020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9pPr>
            </a:lstStyle>
            <a:p>
              <a:pPr defTabSz="1218565">
                <a:defRPr/>
              </a:pPr>
              <a:r>
                <a:rPr lang="en-US" altLang="zh-CN"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rPr>
                <a:t>02</a:t>
              </a:r>
              <a:endParaRPr lang="zh-CN" altLang="en-US"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02" name="组合 58"/>
            <p:cNvGrpSpPr/>
            <p:nvPr/>
          </p:nvGrpSpPr>
          <p:grpSpPr bwMode="auto">
            <a:xfrm>
              <a:off x="668080" y="5307487"/>
              <a:ext cx="11327218" cy="1223657"/>
              <a:chOff x="2678521" y="2847139"/>
              <a:chExt cx="20665151" cy="2417231"/>
            </a:xfrm>
          </p:grpSpPr>
          <p:sp>
            <p:nvSpPr>
              <p:cNvPr id="107" name="Freeform 19"/>
              <p:cNvSpPr/>
              <p:nvPr/>
            </p:nvSpPr>
            <p:spPr bwMode="auto">
              <a:xfrm>
                <a:off x="2678521" y="2856133"/>
                <a:ext cx="20665151" cy="2408237"/>
              </a:xfrm>
              <a:custGeom>
                <a:avLst/>
                <a:gdLst>
                  <a:gd name="T0" fmla="*/ 3200 w 3200"/>
                  <a:gd name="T1" fmla="*/ 320 h 640"/>
                  <a:gd name="T2" fmla="*/ 2880 w 3200"/>
                  <a:gd name="T3" fmla="*/ 640 h 640"/>
                  <a:gd name="T4" fmla="*/ 320 w 3200"/>
                  <a:gd name="T5" fmla="*/ 640 h 640"/>
                  <a:gd name="T6" fmla="*/ 0 w 3200"/>
                  <a:gd name="T7" fmla="*/ 320 h 640"/>
                  <a:gd name="T8" fmla="*/ 320 w 3200"/>
                  <a:gd name="T9" fmla="*/ 0 h 640"/>
                  <a:gd name="T10" fmla="*/ 2880 w 3200"/>
                  <a:gd name="T11" fmla="*/ 0 h 640"/>
                  <a:gd name="T12" fmla="*/ 3200 w 320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0" h="640">
                    <a:moveTo>
                      <a:pt x="3200" y="320"/>
                    </a:moveTo>
                    <a:cubicBezTo>
                      <a:pt x="3200" y="496"/>
                      <a:pt x="3056" y="640"/>
                      <a:pt x="2880" y="640"/>
                    </a:cubicBezTo>
                    <a:cubicBezTo>
                      <a:pt x="320" y="640"/>
                      <a:pt x="320" y="640"/>
                      <a:pt x="320" y="640"/>
                    </a:cubicBezTo>
                    <a:cubicBezTo>
                      <a:pt x="144" y="640"/>
                      <a:pt x="0" y="496"/>
                      <a:pt x="0" y="320"/>
                    </a:cubicBezTo>
                    <a:cubicBezTo>
                      <a:pt x="0" y="144"/>
                      <a:pt x="144" y="0"/>
                      <a:pt x="320" y="0"/>
                    </a:cubicBezTo>
                    <a:cubicBezTo>
                      <a:pt x="2880" y="0"/>
                      <a:pt x="2880" y="0"/>
                      <a:pt x="2880" y="0"/>
                    </a:cubicBezTo>
                    <a:cubicBezTo>
                      <a:pt x="3056" y="0"/>
                      <a:pt x="3200" y="144"/>
                      <a:pt x="3200" y="320"/>
                    </a:cubicBezTo>
                    <a:close/>
                  </a:path>
                </a:pathLst>
              </a:custGeom>
              <a:solidFill>
                <a:schemeClr val="accent3">
                  <a:lumMod val="20000"/>
                  <a:lumOff val="80000"/>
                </a:schemeClr>
              </a:solidFill>
              <a:ln w="28575"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8" name="Freeform 20"/>
              <p:cNvSpPr>
                <a:spLocks noEditPoints="1"/>
              </p:cNvSpPr>
              <p:nvPr/>
            </p:nvSpPr>
            <p:spPr bwMode="auto">
              <a:xfrm>
                <a:off x="2678521" y="2847139"/>
                <a:ext cx="5783923" cy="2408237"/>
              </a:xfrm>
              <a:custGeom>
                <a:avLst/>
                <a:gdLst>
                  <a:gd name="T0" fmla="*/ 1280 w 1600"/>
                  <a:gd name="T1" fmla="*/ 0 h 640"/>
                  <a:gd name="T2" fmla="*/ 320 w 1600"/>
                  <a:gd name="T3" fmla="*/ 0 h 640"/>
                  <a:gd name="T4" fmla="*/ 0 w 1600"/>
                  <a:gd name="T5" fmla="*/ 320 h 640"/>
                  <a:gd name="T6" fmla="*/ 320 w 1600"/>
                  <a:gd name="T7" fmla="*/ 640 h 640"/>
                  <a:gd name="T8" fmla="*/ 1280 w 1600"/>
                  <a:gd name="T9" fmla="*/ 640 h 640"/>
                  <a:gd name="T10" fmla="*/ 1600 w 1600"/>
                  <a:gd name="T11" fmla="*/ 320 h 640"/>
                  <a:gd name="T12" fmla="*/ 1280 w 1600"/>
                  <a:gd name="T13" fmla="*/ 0 h 640"/>
                  <a:gd name="T14" fmla="*/ 1493 w 1600"/>
                  <a:gd name="T15" fmla="*/ 365 h 640"/>
                  <a:gd name="T16" fmla="*/ 1435 w 1600"/>
                  <a:gd name="T17" fmla="*/ 385 h 640"/>
                  <a:gd name="T18" fmla="*/ 1427 w 1600"/>
                  <a:gd name="T19" fmla="*/ 381 h 640"/>
                  <a:gd name="T20" fmla="*/ 1416 w 1600"/>
                  <a:gd name="T21" fmla="*/ 320 h 640"/>
                  <a:gd name="T22" fmla="*/ 1427 w 1600"/>
                  <a:gd name="T23" fmla="*/ 259 h 640"/>
                  <a:gd name="T24" fmla="*/ 1435 w 1600"/>
                  <a:gd name="T25" fmla="*/ 255 h 640"/>
                  <a:gd name="T26" fmla="*/ 1493 w 1600"/>
                  <a:gd name="T27" fmla="*/ 275 h 640"/>
                  <a:gd name="T28" fmla="*/ 1541 w 1600"/>
                  <a:gd name="T29" fmla="*/ 316 h 640"/>
                  <a:gd name="T30" fmla="*/ 1541 w 1600"/>
                  <a:gd name="T31" fmla="*/ 324 h 640"/>
                  <a:gd name="T32" fmla="*/ 1493 w 1600"/>
                  <a:gd name="T33" fmla="*/ 365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0" h="640">
                    <a:moveTo>
                      <a:pt x="1280" y="0"/>
                    </a:moveTo>
                    <a:cubicBezTo>
                      <a:pt x="320" y="0"/>
                      <a:pt x="320" y="0"/>
                      <a:pt x="320" y="0"/>
                    </a:cubicBezTo>
                    <a:cubicBezTo>
                      <a:pt x="144" y="0"/>
                      <a:pt x="0" y="144"/>
                      <a:pt x="0" y="320"/>
                    </a:cubicBezTo>
                    <a:cubicBezTo>
                      <a:pt x="0" y="496"/>
                      <a:pt x="144" y="640"/>
                      <a:pt x="320" y="640"/>
                    </a:cubicBezTo>
                    <a:cubicBezTo>
                      <a:pt x="1280" y="640"/>
                      <a:pt x="1280" y="640"/>
                      <a:pt x="1280" y="640"/>
                    </a:cubicBezTo>
                    <a:cubicBezTo>
                      <a:pt x="1456" y="640"/>
                      <a:pt x="1600" y="496"/>
                      <a:pt x="1600" y="320"/>
                    </a:cubicBezTo>
                    <a:cubicBezTo>
                      <a:pt x="1600" y="144"/>
                      <a:pt x="1456" y="0"/>
                      <a:pt x="1280" y="0"/>
                    </a:cubicBezTo>
                    <a:close/>
                    <a:moveTo>
                      <a:pt x="1493" y="365"/>
                    </a:moveTo>
                    <a:cubicBezTo>
                      <a:pt x="1455" y="387"/>
                      <a:pt x="1435" y="385"/>
                      <a:pt x="1435" y="385"/>
                    </a:cubicBezTo>
                    <a:cubicBezTo>
                      <a:pt x="1432" y="385"/>
                      <a:pt x="1429" y="383"/>
                      <a:pt x="1427" y="381"/>
                    </a:cubicBezTo>
                    <a:cubicBezTo>
                      <a:pt x="1427" y="381"/>
                      <a:pt x="1416" y="364"/>
                      <a:pt x="1416" y="320"/>
                    </a:cubicBezTo>
                    <a:cubicBezTo>
                      <a:pt x="1416" y="276"/>
                      <a:pt x="1427" y="259"/>
                      <a:pt x="1427" y="259"/>
                    </a:cubicBezTo>
                    <a:cubicBezTo>
                      <a:pt x="1429" y="257"/>
                      <a:pt x="1432" y="255"/>
                      <a:pt x="1435" y="255"/>
                    </a:cubicBezTo>
                    <a:cubicBezTo>
                      <a:pt x="1435" y="255"/>
                      <a:pt x="1455" y="253"/>
                      <a:pt x="1493" y="275"/>
                    </a:cubicBezTo>
                    <a:cubicBezTo>
                      <a:pt x="1532" y="297"/>
                      <a:pt x="1541" y="316"/>
                      <a:pt x="1541" y="316"/>
                    </a:cubicBezTo>
                    <a:cubicBezTo>
                      <a:pt x="1542" y="318"/>
                      <a:pt x="1542" y="322"/>
                      <a:pt x="1541" y="324"/>
                    </a:cubicBezTo>
                    <a:cubicBezTo>
                      <a:pt x="1541" y="324"/>
                      <a:pt x="1532" y="343"/>
                      <a:pt x="1493" y="365"/>
                    </a:cubicBezTo>
                    <a:close/>
                  </a:path>
                </a:pathLst>
              </a:custGeom>
              <a:gradFill>
                <a:gsLst>
                  <a:gs pos="0">
                    <a:srgbClr val="DEDEDE"/>
                  </a:gs>
                  <a:gs pos="100000">
                    <a:srgbClr val="FBFBFB"/>
                  </a:gs>
                </a:gsLst>
                <a:lin ang="5400000" scaled="1"/>
              </a:gradFill>
              <a:ln w="31750" cap="flat">
                <a:gradFill>
                  <a:gsLst>
                    <a:gs pos="0">
                      <a:sysClr val="window" lastClr="FFFFFF"/>
                    </a:gs>
                    <a:gs pos="100000">
                      <a:srgbClr val="DDDDDD"/>
                    </a:gs>
                  </a:gsLst>
                  <a:lin ang="5400000" scaled="1"/>
                </a:gradFill>
                <a:prstDash val="solid"/>
                <a:miter lim="800000"/>
              </a:ln>
              <a:effectLst>
                <a:outerShdw blurRad="228600" dist="101600" dir="5400000" algn="t" rotWithShape="0">
                  <a:sysClr val="windowText" lastClr="000000">
                    <a:lumMod val="85000"/>
                    <a:lumOff val="15000"/>
                    <a:alpha val="33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9" name="椭圆 108"/>
              <p:cNvSpPr/>
              <p:nvPr/>
            </p:nvSpPr>
            <p:spPr>
              <a:xfrm>
                <a:off x="2834834" y="3000057"/>
                <a:ext cx="2102400" cy="2102400"/>
              </a:xfrm>
              <a:prstGeom prst="ellipse">
                <a:avLst/>
              </a:prstGeom>
              <a:gradFill>
                <a:gsLst>
                  <a:gs pos="0">
                    <a:srgbClr val="DDDDDD"/>
                  </a:gs>
                  <a:gs pos="100000">
                    <a:srgbClr val="FBFBFB"/>
                  </a:gs>
                </a:gsLst>
                <a:lin ang="5400000" scaled="1"/>
              </a:gradFill>
              <a:ln w="101600" cap="flat">
                <a:gradFill>
                  <a:gsLst>
                    <a:gs pos="0">
                      <a:srgbClr val="FDFDFD"/>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10" name="Freeform 23"/>
              <p:cNvSpPr/>
              <p:nvPr/>
            </p:nvSpPr>
            <p:spPr bwMode="auto">
              <a:xfrm>
                <a:off x="3298659" y="3423401"/>
                <a:ext cx="1174750" cy="1255712"/>
              </a:xfrm>
              <a:custGeom>
                <a:avLst/>
                <a:gdLst>
                  <a:gd name="T0" fmla="*/ 193 w 313"/>
                  <a:gd name="T1" fmla="*/ 279 h 334"/>
                  <a:gd name="T2" fmla="*/ 47 w 313"/>
                  <a:gd name="T3" fmla="*/ 330 h 334"/>
                  <a:gd name="T4" fmla="*/ 28 w 313"/>
                  <a:gd name="T5" fmla="*/ 319 h 334"/>
                  <a:gd name="T6" fmla="*/ 0 w 313"/>
                  <a:gd name="T7" fmla="*/ 167 h 334"/>
                  <a:gd name="T8" fmla="*/ 28 w 313"/>
                  <a:gd name="T9" fmla="*/ 15 h 334"/>
                  <a:gd name="T10" fmla="*/ 47 w 313"/>
                  <a:gd name="T11" fmla="*/ 4 h 334"/>
                  <a:gd name="T12" fmla="*/ 193 w 313"/>
                  <a:gd name="T13" fmla="*/ 55 h 334"/>
                  <a:gd name="T14" fmla="*/ 311 w 313"/>
                  <a:gd name="T15" fmla="*/ 156 h 334"/>
                  <a:gd name="T16" fmla="*/ 311 w 313"/>
                  <a:gd name="T17" fmla="*/ 178 h 334"/>
                  <a:gd name="T18" fmla="*/ 193 w 313"/>
                  <a:gd name="T19" fmla="*/ 27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3" h="334">
                    <a:moveTo>
                      <a:pt x="193" y="279"/>
                    </a:moveTo>
                    <a:cubicBezTo>
                      <a:pt x="98" y="334"/>
                      <a:pt x="47" y="330"/>
                      <a:pt x="47" y="330"/>
                    </a:cubicBezTo>
                    <a:cubicBezTo>
                      <a:pt x="40" y="329"/>
                      <a:pt x="32" y="325"/>
                      <a:pt x="28" y="319"/>
                    </a:cubicBezTo>
                    <a:cubicBezTo>
                      <a:pt x="28" y="319"/>
                      <a:pt x="0" y="277"/>
                      <a:pt x="0" y="167"/>
                    </a:cubicBezTo>
                    <a:cubicBezTo>
                      <a:pt x="0" y="57"/>
                      <a:pt x="28" y="15"/>
                      <a:pt x="28" y="15"/>
                    </a:cubicBezTo>
                    <a:cubicBezTo>
                      <a:pt x="32" y="9"/>
                      <a:pt x="40" y="5"/>
                      <a:pt x="47" y="4"/>
                    </a:cubicBezTo>
                    <a:cubicBezTo>
                      <a:pt x="47" y="4"/>
                      <a:pt x="98" y="0"/>
                      <a:pt x="193" y="55"/>
                    </a:cubicBezTo>
                    <a:cubicBezTo>
                      <a:pt x="289" y="110"/>
                      <a:pt x="311" y="156"/>
                      <a:pt x="311" y="156"/>
                    </a:cubicBezTo>
                    <a:cubicBezTo>
                      <a:pt x="313" y="162"/>
                      <a:pt x="313" y="172"/>
                      <a:pt x="311" y="178"/>
                    </a:cubicBezTo>
                    <a:cubicBezTo>
                      <a:pt x="311" y="178"/>
                      <a:pt x="289" y="224"/>
                      <a:pt x="193" y="279"/>
                    </a:cubicBezTo>
                    <a:close/>
                  </a:path>
                </a:pathLst>
              </a:custGeom>
              <a:solidFill>
                <a:srgbClr val="0070C0"/>
              </a:solidFill>
              <a:ln w="12700" cap="flat" cmpd="sng" algn="ctr">
                <a:noFill/>
                <a:prstDash val="solid"/>
                <a:miter lim="800000"/>
              </a:ln>
              <a:effectLst>
                <a:innerShdw blurRad="215900" dist="50800" dir="16200000">
                  <a:prstClr val="black">
                    <a:alpha val="42000"/>
                  </a:prstClr>
                </a:innerShdw>
              </a:effectLst>
            </p:spPr>
            <p:txBody>
              <a:bodyPr anchor="ctr"/>
              <a:lstStyle/>
              <a:p>
                <a:pPr algn="ctr" defTabSz="1218565">
                  <a:defRPr/>
                </a:pPr>
                <a:endParaRPr lang="zh-CN" altLang="en-US" kern="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
          <p:nvSpPr>
            <p:cNvPr id="104" name="Freeform 10"/>
            <p:cNvSpPr>
              <a:spLocks noEditPoints="1"/>
            </p:cNvSpPr>
            <p:nvPr/>
          </p:nvSpPr>
          <p:spPr bwMode="auto">
            <a:xfrm>
              <a:off x="2354625" y="5762565"/>
              <a:ext cx="672118" cy="472417"/>
            </a:xfrm>
            <a:custGeom>
              <a:avLst/>
              <a:gdLst>
                <a:gd name="T0" fmla="*/ 342000 w 500"/>
                <a:gd name="T1" fmla="*/ 0 h 327"/>
                <a:gd name="T2" fmla="*/ 192888 w 500"/>
                <a:gd name="T3" fmla="*/ 92075 h 327"/>
                <a:gd name="T4" fmla="*/ 192888 w 500"/>
                <a:gd name="T5" fmla="*/ 30163 h 327"/>
                <a:gd name="T6" fmla="*/ 124488 w 500"/>
                <a:gd name="T7" fmla="*/ 30163 h 327"/>
                <a:gd name="T8" fmla="*/ 124488 w 500"/>
                <a:gd name="T9" fmla="*/ 133350 h 327"/>
                <a:gd name="T10" fmla="*/ 0 w 500"/>
                <a:gd name="T11" fmla="*/ 209550 h 327"/>
                <a:gd name="T12" fmla="*/ 0 w 500"/>
                <a:gd name="T13" fmla="*/ 212725 h 327"/>
                <a:gd name="T14" fmla="*/ 73872 w 500"/>
                <a:gd name="T15" fmla="*/ 212725 h 327"/>
                <a:gd name="T16" fmla="*/ 342000 w 500"/>
                <a:gd name="T17" fmla="*/ 49213 h 327"/>
                <a:gd name="T18" fmla="*/ 610128 w 500"/>
                <a:gd name="T19" fmla="*/ 212725 h 327"/>
                <a:gd name="T20" fmla="*/ 684000 w 500"/>
                <a:gd name="T21" fmla="*/ 212725 h 327"/>
                <a:gd name="T22" fmla="*/ 684000 w 500"/>
                <a:gd name="T23" fmla="*/ 207963 h 327"/>
                <a:gd name="T24" fmla="*/ 342000 w 500"/>
                <a:gd name="T25" fmla="*/ 0 h 327"/>
                <a:gd name="T26" fmla="*/ 101232 w 500"/>
                <a:gd name="T27" fmla="*/ 242888 h 327"/>
                <a:gd name="T28" fmla="*/ 101232 w 500"/>
                <a:gd name="T29" fmla="*/ 519113 h 327"/>
                <a:gd name="T30" fmla="*/ 238032 w 500"/>
                <a:gd name="T31" fmla="*/ 519113 h 327"/>
                <a:gd name="T32" fmla="*/ 238032 w 500"/>
                <a:gd name="T33" fmla="*/ 355600 h 327"/>
                <a:gd name="T34" fmla="*/ 445968 w 500"/>
                <a:gd name="T35" fmla="*/ 355600 h 327"/>
                <a:gd name="T36" fmla="*/ 445968 w 500"/>
                <a:gd name="T37" fmla="*/ 519113 h 327"/>
                <a:gd name="T38" fmla="*/ 582768 w 500"/>
                <a:gd name="T39" fmla="*/ 519113 h 327"/>
                <a:gd name="T40" fmla="*/ 582768 w 500"/>
                <a:gd name="T41" fmla="*/ 242888 h 327"/>
                <a:gd name="T42" fmla="*/ 342000 w 500"/>
                <a:gd name="T43" fmla="*/ 98425 h 327"/>
                <a:gd name="T44" fmla="*/ 101232 w 500"/>
                <a:gd name="T45" fmla="*/ 242888 h 3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00" h="327">
                  <a:moveTo>
                    <a:pt x="250" y="0"/>
                  </a:moveTo>
                  <a:lnTo>
                    <a:pt x="141" y="58"/>
                  </a:lnTo>
                  <a:lnTo>
                    <a:pt x="141" y="19"/>
                  </a:lnTo>
                  <a:lnTo>
                    <a:pt x="91" y="19"/>
                  </a:lnTo>
                  <a:lnTo>
                    <a:pt x="91" y="84"/>
                  </a:lnTo>
                  <a:lnTo>
                    <a:pt x="0" y="132"/>
                  </a:lnTo>
                  <a:lnTo>
                    <a:pt x="0" y="134"/>
                  </a:lnTo>
                  <a:lnTo>
                    <a:pt x="54" y="134"/>
                  </a:lnTo>
                  <a:lnTo>
                    <a:pt x="250" y="31"/>
                  </a:lnTo>
                  <a:lnTo>
                    <a:pt x="446" y="134"/>
                  </a:lnTo>
                  <a:lnTo>
                    <a:pt x="500" y="134"/>
                  </a:lnTo>
                  <a:lnTo>
                    <a:pt x="500" y="131"/>
                  </a:lnTo>
                  <a:lnTo>
                    <a:pt x="250" y="0"/>
                  </a:lnTo>
                  <a:close/>
                  <a:moveTo>
                    <a:pt x="74" y="153"/>
                  </a:moveTo>
                  <a:lnTo>
                    <a:pt x="74" y="327"/>
                  </a:lnTo>
                  <a:lnTo>
                    <a:pt x="174" y="327"/>
                  </a:lnTo>
                  <a:lnTo>
                    <a:pt x="174" y="224"/>
                  </a:lnTo>
                  <a:lnTo>
                    <a:pt x="326" y="224"/>
                  </a:lnTo>
                  <a:lnTo>
                    <a:pt x="326" y="327"/>
                  </a:lnTo>
                  <a:lnTo>
                    <a:pt x="426" y="327"/>
                  </a:lnTo>
                  <a:lnTo>
                    <a:pt x="426" y="153"/>
                  </a:lnTo>
                  <a:lnTo>
                    <a:pt x="250" y="62"/>
                  </a:lnTo>
                  <a:lnTo>
                    <a:pt x="74" y="153"/>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lIns="68568" tIns="34284" rIns="68568" bIns="34284"/>
            <a:lstStyle/>
            <a:p>
              <a:pPr defTabSz="1218565">
                <a:defRPr/>
              </a:pPr>
              <a:endParaRPr lang="zh-CN" altLang="en-US" kern="0">
                <a:solidFill>
                  <a:sysClr val="windowText" lastClr="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5" name="文本框 105"/>
            <p:cNvSpPr txBox="1">
              <a:spLocks noChangeArrowheads="1"/>
            </p:cNvSpPr>
            <p:nvPr/>
          </p:nvSpPr>
          <p:spPr bwMode="auto">
            <a:xfrm>
              <a:off x="1015079" y="5661437"/>
              <a:ext cx="538580" cy="5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8" tIns="34284" rIns="68568" bIns="34284">
              <a:spAutoFit/>
            </a:bodyPr>
            <a:lstStyle>
              <a:lvl1pPr>
                <a:defRPr>
                  <a:solidFill>
                    <a:schemeClr val="tx1"/>
                  </a:solidFill>
                  <a:latin typeface="Calibri" panose="020F0502020204030204" pitchFamily="34" charset="0"/>
                  <a:ea typeface="微软雅黑" panose="020B0503020204020204" charset="-122"/>
                </a:defRPr>
              </a:lvl1pPr>
              <a:lvl2pPr marL="742950" indent="-285750">
                <a:defRPr>
                  <a:solidFill>
                    <a:schemeClr val="tx1"/>
                  </a:solidFill>
                  <a:latin typeface="Calibri" panose="020F0502020204030204" pitchFamily="34" charset="0"/>
                  <a:ea typeface="微软雅黑" panose="020B0503020204020204" charset="-122"/>
                </a:defRPr>
              </a:lvl2pPr>
              <a:lvl3pPr marL="1143000" indent="-228600">
                <a:defRPr>
                  <a:solidFill>
                    <a:schemeClr val="tx1"/>
                  </a:solidFill>
                  <a:latin typeface="Calibri" panose="020F0502020204030204" pitchFamily="34" charset="0"/>
                  <a:ea typeface="微软雅黑" panose="020B0503020204020204" charset="-122"/>
                </a:defRPr>
              </a:lvl3pPr>
              <a:lvl4pPr marL="1600200" indent="-228600">
                <a:defRPr>
                  <a:solidFill>
                    <a:schemeClr val="tx1"/>
                  </a:solidFill>
                  <a:latin typeface="Calibri" panose="020F0502020204030204" pitchFamily="34" charset="0"/>
                  <a:ea typeface="微软雅黑" panose="020B0503020204020204" charset="-122"/>
                </a:defRPr>
              </a:lvl4pPr>
              <a:lvl5pPr marL="2057400" indent="-228600">
                <a:defRPr>
                  <a:solidFill>
                    <a:schemeClr val="tx1"/>
                  </a:solidFill>
                  <a:latin typeface="Calibri" panose="020F0502020204030204" pitchFamily="34" charset="0"/>
                  <a:ea typeface="微软雅黑" panose="020B050302020402020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9pPr>
            </a:lstStyle>
            <a:p>
              <a:pPr defTabSz="1218565">
                <a:defRPr/>
              </a:pPr>
              <a:r>
                <a:rPr lang="en-US" altLang="zh-CN"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rPr>
                <a:t>03</a:t>
              </a:r>
              <a:endParaRPr lang="zh-CN" altLang="en-US"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 name="TextBox 52">
              <a:extLst>
                <a:ext uri="{FF2B5EF4-FFF2-40B4-BE49-F238E27FC236}">
                  <a16:creationId xmlns:a16="http://schemas.microsoft.com/office/drawing/2014/main" id="{218296A4-55D3-815C-6B68-106CC4A398AB}"/>
                </a:ext>
              </a:extLst>
            </p:cNvPr>
            <p:cNvSpPr txBox="1"/>
            <p:nvPr/>
          </p:nvSpPr>
          <p:spPr>
            <a:xfrm>
              <a:off x="3788258" y="2491670"/>
              <a:ext cx="7858831" cy="812719"/>
            </a:xfrm>
            <a:prstGeom prst="rect">
              <a:avLst/>
            </a:prstGeom>
            <a:noFill/>
          </p:spPr>
          <p:txBody>
            <a:bodyPr wrap="square" lIns="68577" tIns="34288" rIns="68577" bIns="34288" rtlCol="0">
              <a:spAutoFit/>
            </a:bodyPr>
            <a:lstStyle>
              <a:defPPr>
                <a:defRPr lang="zh-CN"/>
              </a:defPPr>
              <a:lvl1pPr algn="ctr" defTabSz="1218565">
                <a:lnSpc>
                  <a:spcPct val="130000"/>
                </a:lnSpc>
                <a:defRPr sz="1600">
                  <a:solidFill>
                    <a:schemeClr val="bg1"/>
                  </a:solidFill>
                </a:defRPr>
              </a:lvl1pPr>
            </a:lstStyle>
            <a:p>
              <a:pPr algn="l"/>
              <a:r>
                <a:rPr lang="zh-CN" altLang="en-US" sz="2000" b="1" dirty="0">
                  <a:solidFill>
                    <a:sysClr val="windowText" lastClr="000000"/>
                  </a:solidFill>
                  <a:latin typeface="黑体" panose="02010609060101010101" pitchFamily="49" charset="-122"/>
                  <a:ea typeface="黑体" panose="02010609060101010101" pitchFamily="49" charset="-122"/>
                  <a:sym typeface="Times New Roman" panose="02020603050405020304" pitchFamily="18" charset="0"/>
                </a:rPr>
                <a:t>基本思想：把原有的多个指标转化成</a:t>
              </a:r>
              <a:r>
                <a:rPr lang="zh-CN" altLang="en-US" sz="2000" b="1" dirty="0">
                  <a:solidFill>
                    <a:srgbClr val="C00000"/>
                  </a:solidFill>
                  <a:latin typeface="黑体" panose="02010609060101010101" pitchFamily="49" charset="-122"/>
                  <a:ea typeface="黑体" panose="02010609060101010101" pitchFamily="49" charset="-122"/>
                  <a:sym typeface="Times New Roman" panose="02020603050405020304" pitchFamily="18" charset="0"/>
                </a:rPr>
                <a:t>少数几个代表性较好的综合指标，</a:t>
              </a:r>
              <a:r>
                <a:rPr lang="zh-CN" altLang="en-US" sz="2000" b="1" dirty="0">
                  <a:solidFill>
                    <a:sysClr val="windowText" lastClr="000000"/>
                  </a:solidFill>
                  <a:latin typeface="黑体" panose="02010609060101010101" pitchFamily="49" charset="-122"/>
                  <a:ea typeface="黑体" panose="02010609060101010101" pitchFamily="49" charset="-122"/>
                  <a:sym typeface="Times New Roman" panose="02020603050405020304" pitchFamily="18" charset="0"/>
                </a:rPr>
                <a:t>这少数几个指标能够反映原来指标大部分的信息</a:t>
              </a:r>
            </a:p>
          </p:txBody>
        </p:sp>
        <p:sp>
          <p:nvSpPr>
            <p:cNvPr id="5" name="TextBox 52">
              <a:extLst>
                <a:ext uri="{FF2B5EF4-FFF2-40B4-BE49-F238E27FC236}">
                  <a16:creationId xmlns:a16="http://schemas.microsoft.com/office/drawing/2014/main" id="{5B89A896-5EF0-C2E4-615A-CDD0829CD31F}"/>
                </a:ext>
              </a:extLst>
            </p:cNvPr>
            <p:cNvSpPr txBox="1"/>
            <p:nvPr/>
          </p:nvSpPr>
          <p:spPr>
            <a:xfrm>
              <a:off x="3788258" y="4010387"/>
              <a:ext cx="7858831" cy="812719"/>
            </a:xfrm>
            <a:prstGeom prst="rect">
              <a:avLst/>
            </a:prstGeom>
            <a:noFill/>
          </p:spPr>
          <p:txBody>
            <a:bodyPr wrap="square" lIns="68577" tIns="34288" rIns="68577" bIns="34288" rtlCol="0">
              <a:spAutoFit/>
            </a:bodyPr>
            <a:lstStyle>
              <a:defPPr>
                <a:defRPr lang="zh-CN"/>
              </a:defPPr>
              <a:lvl1pPr algn="ctr" defTabSz="1218565">
                <a:lnSpc>
                  <a:spcPct val="130000"/>
                </a:lnSpc>
                <a:defRPr sz="1600">
                  <a:solidFill>
                    <a:schemeClr val="bg1"/>
                  </a:solidFill>
                </a:defRPr>
              </a:lvl1pPr>
            </a:lstStyle>
            <a:p>
              <a:pPr algn="l"/>
              <a:r>
                <a:rPr lang="zh-CN" altLang="en-US" sz="2000" b="1" dirty="0">
                  <a:solidFill>
                    <a:sysClr val="windowText" lastClr="000000"/>
                  </a:solidFill>
                  <a:latin typeface="黑体" panose="02010609060101010101" pitchFamily="49" charset="-122"/>
                  <a:ea typeface="黑体" panose="02010609060101010101" pitchFamily="49" charset="-122"/>
                  <a:sym typeface="Times New Roman" panose="02020603050405020304" pitchFamily="18" charset="0"/>
                </a:rPr>
                <a:t>计算原理：主成分分析数学模型中的</a:t>
              </a:r>
              <a:r>
                <a:rPr lang="zh-CN" altLang="en-US" sz="2000" b="1" dirty="0">
                  <a:solidFill>
                    <a:srgbClr val="C00000"/>
                  </a:solidFill>
                  <a:latin typeface="黑体" panose="02010609060101010101" pitchFamily="49" charset="-122"/>
                  <a:ea typeface="黑体" panose="02010609060101010101" pitchFamily="49" charset="-122"/>
                  <a:sym typeface="Times New Roman" panose="02020603050405020304" pitchFamily="18" charset="0"/>
                </a:rPr>
                <a:t>正交变换</a:t>
              </a:r>
              <a:r>
                <a:rPr lang="zh-CN" altLang="en-US" sz="2000" b="1" dirty="0">
                  <a:solidFill>
                    <a:sysClr val="windowText" lastClr="000000"/>
                  </a:solidFill>
                  <a:latin typeface="黑体" panose="02010609060101010101" pitchFamily="49" charset="-122"/>
                  <a:ea typeface="黑体" panose="02010609060101010101" pitchFamily="49" charset="-122"/>
                  <a:sym typeface="Times New Roman" panose="02020603050405020304" pitchFamily="18" charset="0"/>
                </a:rPr>
                <a:t>，在几何上就是作一个</a:t>
              </a:r>
              <a:r>
                <a:rPr lang="zh-CN" altLang="en-US" sz="2000" b="1" dirty="0">
                  <a:solidFill>
                    <a:srgbClr val="C00000"/>
                  </a:solidFill>
                  <a:latin typeface="黑体" panose="02010609060101010101" pitchFamily="49" charset="-122"/>
                  <a:ea typeface="黑体" panose="02010609060101010101" pitchFamily="49" charset="-122"/>
                  <a:sym typeface="Times New Roman" panose="02020603050405020304" pitchFamily="18" charset="0"/>
                </a:rPr>
                <a:t>坐标旋转</a:t>
              </a:r>
              <a:r>
                <a:rPr lang="zh-CN" altLang="en-US" sz="2000" b="1" dirty="0">
                  <a:solidFill>
                    <a:sysClr val="windowText" lastClr="000000"/>
                  </a:solidFill>
                  <a:latin typeface="黑体" panose="02010609060101010101" pitchFamily="49" charset="-122"/>
                  <a:ea typeface="黑体" panose="02010609060101010101" pitchFamily="49" charset="-122"/>
                  <a:sym typeface="Times New Roman" panose="02020603050405020304" pitchFamily="18" charset="0"/>
                </a:rPr>
                <a:t>。</a:t>
              </a:r>
            </a:p>
          </p:txBody>
        </p:sp>
        <p:sp>
          <p:nvSpPr>
            <p:cNvPr id="6" name="TextBox 52">
              <a:extLst>
                <a:ext uri="{FF2B5EF4-FFF2-40B4-BE49-F238E27FC236}">
                  <a16:creationId xmlns:a16="http://schemas.microsoft.com/office/drawing/2014/main" id="{7FC24C29-4CA4-6CCF-33D4-C967A1588138}"/>
                </a:ext>
              </a:extLst>
            </p:cNvPr>
            <p:cNvSpPr txBox="1"/>
            <p:nvPr/>
          </p:nvSpPr>
          <p:spPr>
            <a:xfrm>
              <a:off x="3788258" y="5529104"/>
              <a:ext cx="7858831" cy="812719"/>
            </a:xfrm>
            <a:prstGeom prst="rect">
              <a:avLst/>
            </a:prstGeom>
            <a:noFill/>
          </p:spPr>
          <p:txBody>
            <a:bodyPr wrap="square" lIns="68577" tIns="34288" rIns="68577" bIns="34288" rtlCol="0">
              <a:spAutoFit/>
            </a:bodyPr>
            <a:lstStyle>
              <a:defPPr>
                <a:defRPr lang="zh-CN"/>
              </a:defPPr>
              <a:lvl1pPr algn="ctr" defTabSz="1218565">
                <a:lnSpc>
                  <a:spcPct val="130000"/>
                </a:lnSpc>
                <a:defRPr sz="1600">
                  <a:solidFill>
                    <a:schemeClr val="bg1"/>
                  </a:solidFill>
                </a:defRPr>
              </a:lvl1pPr>
            </a:lstStyle>
            <a:p>
              <a:pPr algn="l"/>
              <a:r>
                <a:rPr lang="zh-CN" altLang="en-US" sz="2000" b="1" dirty="0">
                  <a:solidFill>
                    <a:sysClr val="windowText" lastClr="000000"/>
                  </a:solidFill>
                  <a:latin typeface="黑体" panose="02010609060101010101" pitchFamily="49" charset="-122"/>
                  <a:ea typeface="黑体" panose="02010609060101010101" pitchFamily="49" charset="-122"/>
                  <a:sym typeface="Times New Roman" panose="02020603050405020304" pitchFamily="18" charset="0"/>
                </a:rPr>
                <a:t>降维满足条件：①每个主成分的系数</a:t>
              </a:r>
              <a:r>
                <a:rPr lang="zh-CN" altLang="en-US" sz="2000" b="1" dirty="0">
                  <a:solidFill>
                    <a:srgbClr val="C00000"/>
                  </a:solidFill>
                  <a:latin typeface="黑体" panose="02010609060101010101" pitchFamily="49" charset="-122"/>
                  <a:ea typeface="黑体" panose="02010609060101010101" pitchFamily="49" charset="-122"/>
                  <a:sym typeface="Times New Roman" panose="02020603050405020304" pitchFamily="18" charset="0"/>
                </a:rPr>
                <a:t>平方和为</a:t>
              </a:r>
              <a:r>
                <a:rPr lang="en-US" altLang="zh-CN" sz="2000" b="1" dirty="0">
                  <a:solidFill>
                    <a:srgbClr val="C00000"/>
                  </a:solidFill>
                  <a:latin typeface="黑体" panose="02010609060101010101" pitchFamily="49" charset="-122"/>
                  <a:ea typeface="黑体" panose="02010609060101010101" pitchFamily="49" charset="-122"/>
                  <a:sym typeface="Times New Roman" panose="02020603050405020304" pitchFamily="18" charset="0"/>
                </a:rPr>
                <a:t>1</a:t>
              </a:r>
              <a:r>
                <a:rPr lang="zh-CN" altLang="en-US" sz="2000" b="1" dirty="0">
                  <a:solidFill>
                    <a:sysClr val="windowText" lastClr="000000"/>
                  </a:solidFill>
                  <a:latin typeface="黑体" panose="02010609060101010101" pitchFamily="49" charset="-122"/>
                  <a:ea typeface="黑体" panose="02010609060101010101" pitchFamily="49" charset="-122"/>
                  <a:sym typeface="Times New Roman" panose="02020603050405020304" pitchFamily="18" charset="0"/>
                </a:rPr>
                <a:t>。②主成分之间</a:t>
              </a:r>
              <a:r>
                <a:rPr lang="zh-CN" altLang="en-US" sz="2000" b="1" dirty="0">
                  <a:solidFill>
                    <a:srgbClr val="C00000"/>
                  </a:solidFill>
                  <a:latin typeface="黑体" panose="02010609060101010101" pitchFamily="49" charset="-122"/>
                  <a:ea typeface="黑体" panose="02010609060101010101" pitchFamily="49" charset="-122"/>
                  <a:sym typeface="Times New Roman" panose="02020603050405020304" pitchFamily="18" charset="0"/>
                </a:rPr>
                <a:t>相互独立</a:t>
              </a:r>
              <a:r>
                <a:rPr lang="zh-CN" altLang="en-US" sz="2000" b="1" dirty="0">
                  <a:solidFill>
                    <a:sysClr val="windowText" lastClr="000000"/>
                  </a:solidFill>
                  <a:latin typeface="黑体" panose="02010609060101010101" pitchFamily="49" charset="-122"/>
                  <a:ea typeface="黑体" panose="02010609060101010101" pitchFamily="49" charset="-122"/>
                  <a:sym typeface="Times New Roman" panose="02020603050405020304" pitchFamily="18" charset="0"/>
                </a:rPr>
                <a:t>，即无重叠的信息。③主成分的方差依次</a:t>
              </a:r>
              <a:r>
                <a:rPr lang="zh-CN" altLang="en-US" sz="2000" b="1" dirty="0">
                  <a:solidFill>
                    <a:srgbClr val="C00000"/>
                  </a:solidFill>
                  <a:latin typeface="黑体" panose="02010609060101010101" pitchFamily="49" charset="-122"/>
                  <a:ea typeface="黑体" panose="02010609060101010101" pitchFamily="49" charset="-122"/>
                  <a:sym typeface="Times New Roman" panose="02020603050405020304" pitchFamily="18" charset="0"/>
                </a:rPr>
                <a:t>递减</a:t>
              </a:r>
              <a:r>
                <a:rPr lang="zh-CN" altLang="en-US" sz="2000" b="1" dirty="0">
                  <a:solidFill>
                    <a:sysClr val="windowText" lastClr="000000"/>
                  </a:solidFill>
                  <a:latin typeface="黑体" panose="02010609060101010101" pitchFamily="49" charset="-122"/>
                  <a:ea typeface="黑体" panose="02010609060101010101" pitchFamily="49" charset="-122"/>
                  <a:sym typeface="Times New Roman" panose="02020603050405020304" pitchFamily="18" charset="0"/>
                </a:rPr>
                <a:t>，重要性依次</a:t>
              </a:r>
              <a:r>
                <a:rPr lang="zh-CN" altLang="en-US" sz="2000" b="1" dirty="0">
                  <a:solidFill>
                    <a:srgbClr val="C00000"/>
                  </a:solidFill>
                  <a:latin typeface="黑体" panose="02010609060101010101" pitchFamily="49" charset="-122"/>
                  <a:ea typeface="黑体" panose="02010609060101010101" pitchFamily="49" charset="-122"/>
                  <a:sym typeface="Times New Roman" panose="02020603050405020304" pitchFamily="18" charset="0"/>
                </a:rPr>
                <a:t>递减</a:t>
              </a:r>
              <a:r>
                <a:rPr lang="zh-CN" altLang="en-US" sz="2000" b="1" dirty="0">
                  <a:solidFill>
                    <a:sysClr val="windowText" lastClr="000000"/>
                  </a:solidFill>
                  <a:latin typeface="黑体" panose="02010609060101010101" pitchFamily="49" charset="-122"/>
                  <a:ea typeface="黑体" panose="02010609060101010101" pitchFamily="49" charset="-122"/>
                  <a:sym typeface="Times New Roman" panose="02020603050405020304" pitchFamily="18" charset="0"/>
                </a:rPr>
                <a:t>。</a:t>
              </a:r>
            </a:p>
          </p:txBody>
        </p:sp>
      </p:grpSp>
      <p:sp>
        <p:nvSpPr>
          <p:cNvPr id="58" name="文本框 57">
            <a:extLst>
              <a:ext uri="{FF2B5EF4-FFF2-40B4-BE49-F238E27FC236}">
                <a16:creationId xmlns:a16="http://schemas.microsoft.com/office/drawing/2014/main" id="{66E385C0-46B6-47D9-AA11-521F386398EE}"/>
              </a:ext>
            </a:extLst>
          </p:cNvPr>
          <p:cNvSpPr txBox="1"/>
          <p:nvPr/>
        </p:nvSpPr>
        <p:spPr>
          <a:xfrm>
            <a:off x="298115" y="944284"/>
            <a:ext cx="11595769" cy="1081643"/>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dirty="0">
                <a:latin typeface="Times New Roman" panose="02020603050405020304" pitchFamily="18" charset="0"/>
                <a:sym typeface="Times New Roman" panose="02020603050405020304" pitchFamily="18" charset="0"/>
              </a:rPr>
              <a:t>概念：通过降维技术把多个变量化为少数几个</a:t>
            </a:r>
            <a:r>
              <a:rPr lang="zh-CN" altLang="en-US" dirty="0">
                <a:solidFill>
                  <a:srgbClr val="C00000"/>
                </a:solidFill>
                <a:latin typeface="Times New Roman" panose="02020603050405020304" pitchFamily="18" charset="0"/>
                <a:sym typeface="Times New Roman" panose="02020603050405020304" pitchFamily="18" charset="0"/>
              </a:rPr>
              <a:t>主成分</a:t>
            </a:r>
            <a:r>
              <a:rPr lang="en-US" altLang="zh-CN" dirty="0">
                <a:latin typeface="Times New Roman" panose="02020603050405020304" pitchFamily="18" charset="0"/>
                <a:sym typeface="Times New Roman" panose="02020603050405020304" pitchFamily="18" charset="0"/>
              </a:rPr>
              <a:t>(</a:t>
            </a:r>
            <a:r>
              <a:rPr lang="zh-CN" altLang="en-US" dirty="0">
                <a:latin typeface="Times New Roman" panose="02020603050405020304" pitchFamily="18" charset="0"/>
                <a:sym typeface="Times New Roman" panose="02020603050405020304" pitchFamily="18" charset="0"/>
              </a:rPr>
              <a:t>即综合变量或综合指标</a:t>
            </a:r>
            <a:r>
              <a:rPr lang="en-US" altLang="zh-CN" dirty="0">
                <a:latin typeface="Times New Roman" panose="02020603050405020304" pitchFamily="18" charset="0"/>
                <a:sym typeface="Times New Roman" panose="02020603050405020304" pitchFamily="18" charset="0"/>
              </a:rPr>
              <a:t>)</a:t>
            </a:r>
            <a:r>
              <a:rPr lang="zh-CN" altLang="en-US" dirty="0">
                <a:latin typeface="Times New Roman" panose="02020603050405020304" pitchFamily="18" charset="0"/>
                <a:sym typeface="Times New Roman" panose="02020603050405020304" pitchFamily="18" charset="0"/>
              </a:rPr>
              <a:t>。</a:t>
            </a:r>
            <a:endParaRPr lang="en-US" altLang="zh-CN" dirty="0">
              <a:latin typeface="Times New Roman" panose="02020603050405020304" pitchFamily="18" charset="0"/>
              <a:sym typeface="Times New Roman" panose="02020603050405020304" pitchFamily="18" charset="0"/>
            </a:endParaRPr>
          </a:p>
        </p:txBody>
      </p:sp>
      <p:sp>
        <p:nvSpPr>
          <p:cNvPr id="59" name="灯片编号占位符 3">
            <a:extLst>
              <a:ext uri="{FF2B5EF4-FFF2-40B4-BE49-F238E27FC236}">
                <a16:creationId xmlns:a16="http://schemas.microsoft.com/office/drawing/2014/main" id="{65FB6339-72B3-4D19-B15A-3549C38402FE}"/>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61" name="文本框 60">
            <a:extLst>
              <a:ext uri="{FF2B5EF4-FFF2-40B4-BE49-F238E27FC236}">
                <a16:creationId xmlns:a16="http://schemas.microsoft.com/office/drawing/2014/main" id="{8C32579A-9C75-4E3E-BBB6-F37DD3EF31D3}"/>
              </a:ext>
            </a:extLst>
          </p:cNvPr>
          <p:cNvSpPr txBox="1"/>
          <p:nvPr/>
        </p:nvSpPr>
        <p:spPr>
          <a:xfrm>
            <a:off x="1061390" y="-67577"/>
            <a:ext cx="326677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主成分分析</a:t>
            </a:r>
          </a:p>
        </p:txBody>
      </p:sp>
      <p:sp>
        <p:nvSpPr>
          <p:cNvPr id="62" name="平行四边形 61">
            <a:extLst>
              <a:ext uri="{FF2B5EF4-FFF2-40B4-BE49-F238E27FC236}">
                <a16:creationId xmlns:a16="http://schemas.microsoft.com/office/drawing/2014/main" id="{BC26353B-BA58-428C-B648-8E0401A63A99}"/>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3" name="组合 62">
            <a:extLst>
              <a:ext uri="{FF2B5EF4-FFF2-40B4-BE49-F238E27FC236}">
                <a16:creationId xmlns:a16="http://schemas.microsoft.com/office/drawing/2014/main" id="{9165285A-6DDA-4204-8FD4-2BCD23EC3978}"/>
              </a:ext>
            </a:extLst>
          </p:cNvPr>
          <p:cNvGrpSpPr/>
          <p:nvPr/>
        </p:nvGrpSpPr>
        <p:grpSpPr>
          <a:xfrm>
            <a:off x="-53106" y="0"/>
            <a:ext cx="963271" cy="1033814"/>
            <a:chOff x="-51603" y="0"/>
            <a:chExt cx="1084083" cy="1219009"/>
          </a:xfrm>
        </p:grpSpPr>
        <p:sp>
          <p:nvSpPr>
            <p:cNvPr id="64" name="Freeform 7">
              <a:extLst>
                <a:ext uri="{FF2B5EF4-FFF2-40B4-BE49-F238E27FC236}">
                  <a16:creationId xmlns:a16="http://schemas.microsoft.com/office/drawing/2014/main" id="{ECC5B651-37DC-4C4D-8C15-9BDBC38A7ED1}"/>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 name="Freeform 8">
              <a:extLst>
                <a:ext uri="{FF2B5EF4-FFF2-40B4-BE49-F238E27FC236}">
                  <a16:creationId xmlns:a16="http://schemas.microsoft.com/office/drawing/2014/main" id="{DB5B96F3-1690-4433-94B9-F8E5727054E2}"/>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文本框 73">
              <a:extLst>
                <a:ext uri="{FF2B5EF4-FFF2-40B4-BE49-F238E27FC236}">
                  <a16:creationId xmlns:a16="http://schemas.microsoft.com/office/drawing/2014/main" id="{75619FC7-1EFC-40A2-9453-1A2035FC7DAB}"/>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一</a:t>
              </a:r>
            </a:p>
          </p:txBody>
        </p:sp>
      </p:grpSp>
      <p:sp>
        <p:nvSpPr>
          <p:cNvPr id="75" name="平行四边形 74">
            <a:extLst>
              <a:ext uri="{FF2B5EF4-FFF2-40B4-BE49-F238E27FC236}">
                <a16:creationId xmlns:a16="http://schemas.microsoft.com/office/drawing/2014/main" id="{D007D02F-9988-4DD1-BCDE-62FC3ACDE0E3}"/>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5D143-ED5E-4EE0-A9A3-E63752BE4D4A}"/>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8793C3C4-8331-5C6E-E663-36BCD084E4EE}"/>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87FADD5F-3851-4776-F28A-A53C98237612}"/>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00ACCEEE-86E8-90B1-E5BC-2145993A1A8E}"/>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6A537BD6-FAD3-598C-47F4-8D2654DCD3F1}"/>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主成分分析基本概念</a:t>
            </a:r>
          </a:p>
        </p:txBody>
      </p:sp>
      <p:sp>
        <p:nvSpPr>
          <p:cNvPr id="27" name="矩形 26">
            <a:extLst>
              <a:ext uri="{FF2B5EF4-FFF2-40B4-BE49-F238E27FC236}">
                <a16:creationId xmlns:a16="http://schemas.microsoft.com/office/drawing/2014/main" id="{7B4A0AF5-8C35-5BBA-C33E-7B84F592922E}"/>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479919B7-D38D-6F8F-6EE5-80E6D4BBE7EE}"/>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0D68004E-32F5-9880-7585-2D1DF5FDD0DF}"/>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3418C141-D461-34D2-D795-8AA975184701}"/>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主成分分析应用背景</a:t>
            </a:r>
          </a:p>
        </p:txBody>
      </p:sp>
      <p:sp>
        <p:nvSpPr>
          <p:cNvPr id="31" name="矩形 30">
            <a:extLst>
              <a:ext uri="{FF2B5EF4-FFF2-40B4-BE49-F238E27FC236}">
                <a16:creationId xmlns:a16="http://schemas.microsoft.com/office/drawing/2014/main" id="{528C9765-6AE7-B530-A971-2829B2E167F4}"/>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50E9CFA1-D512-583F-709C-E92AA5A711E6}"/>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B207430A-DD3A-C24D-EE09-C2AE73B8155B}"/>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AA37444C-DAC2-5263-8042-3E5191B484D6}"/>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C71F99F0-C030-8050-0CD9-715BEC9ABAE9}"/>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2A2222D9-F7AA-68D1-A12F-3198FD50ACE0}"/>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E0A237EF-CDC3-5FA2-9042-8F3D4BB2433D}"/>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F4279697-F47F-8F39-A5E0-CFB311122439}"/>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主成分分析应用方式</a:t>
            </a:r>
          </a:p>
        </p:txBody>
      </p:sp>
      <p:sp>
        <p:nvSpPr>
          <p:cNvPr id="39" name="矩形 38">
            <a:extLst>
              <a:ext uri="{FF2B5EF4-FFF2-40B4-BE49-F238E27FC236}">
                <a16:creationId xmlns:a16="http://schemas.microsoft.com/office/drawing/2014/main" id="{2AD8B9DF-A020-CC89-035B-06CCC8E92205}"/>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4928312D-3756-F52E-FED8-8E9256597D19}"/>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0151E3A2-9E65-C94B-D530-93D33C30D61A}"/>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D65026F8-AAF9-0D33-D2B9-BDBB6436017F}"/>
              </a:ext>
            </a:extLst>
          </p:cNvPr>
          <p:cNvSpPr/>
          <p:nvPr/>
        </p:nvSpPr>
        <p:spPr>
          <a:xfrm>
            <a:off x="3277919" y="3290847"/>
            <a:ext cx="8274761" cy="324884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a:extLst>
              <a:ext uri="{FF2B5EF4-FFF2-40B4-BE49-F238E27FC236}">
                <a16:creationId xmlns:a16="http://schemas.microsoft.com/office/drawing/2014/main" id="{BBE78A1C-1DD6-8129-1C87-FC8DAB1C3102}"/>
              </a:ext>
            </a:extLst>
          </p:cNvPr>
          <p:cNvSpPr/>
          <p:nvPr/>
        </p:nvSpPr>
        <p:spPr>
          <a:xfrm>
            <a:off x="3277918" y="173620"/>
            <a:ext cx="8274761" cy="184208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094497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781B939-B1CC-CA76-2F9B-29D10500CD63}"/>
              </a:ext>
            </a:extLst>
          </p:cNvPr>
          <p:cNvPicPr>
            <a:picLocks noChangeAspect="1"/>
          </p:cNvPicPr>
          <p:nvPr/>
        </p:nvPicPr>
        <p:blipFill>
          <a:blip r:embed="rId3"/>
          <a:stretch>
            <a:fillRect/>
          </a:stretch>
        </p:blipFill>
        <p:spPr>
          <a:xfrm>
            <a:off x="3622381" y="1501321"/>
            <a:ext cx="4433599" cy="3212104"/>
          </a:xfrm>
          <a:prstGeom prst="rect">
            <a:avLst/>
          </a:prstGeom>
        </p:spPr>
      </p:pic>
      <p:sp>
        <p:nvSpPr>
          <p:cNvPr id="58" name="文本框 57">
            <a:extLst>
              <a:ext uri="{FF2B5EF4-FFF2-40B4-BE49-F238E27FC236}">
                <a16:creationId xmlns:a16="http://schemas.microsoft.com/office/drawing/2014/main" id="{66E385C0-46B6-47D9-AA11-521F386398EE}"/>
              </a:ext>
            </a:extLst>
          </p:cNvPr>
          <p:cNvSpPr txBox="1"/>
          <p:nvPr/>
        </p:nvSpPr>
        <p:spPr>
          <a:xfrm>
            <a:off x="298115" y="944284"/>
            <a:ext cx="11595769" cy="561500"/>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dirty="0">
                <a:latin typeface="Times New Roman" panose="02020603050405020304" pitchFamily="18" charset="0"/>
                <a:sym typeface="Times New Roman" panose="02020603050405020304" pitchFamily="18" charset="0"/>
              </a:rPr>
              <a:t>流域水环境的治理和保护是加强</a:t>
            </a:r>
            <a:r>
              <a:rPr lang="zh-CN" altLang="en-US" dirty="0">
                <a:solidFill>
                  <a:srgbClr val="C00000"/>
                </a:solidFill>
                <a:latin typeface="Times New Roman" panose="02020603050405020304" pitchFamily="18" charset="0"/>
                <a:sym typeface="Times New Roman" panose="02020603050405020304" pitchFamily="18" charset="0"/>
              </a:rPr>
              <a:t>黄河流域生态环境保护</a:t>
            </a:r>
            <a:r>
              <a:rPr lang="zh-CN" altLang="en-US" dirty="0">
                <a:latin typeface="Times New Roman" panose="02020603050405020304" pitchFamily="18" charset="0"/>
                <a:sym typeface="Times New Roman" panose="02020603050405020304" pitchFamily="18" charset="0"/>
              </a:rPr>
              <a:t>的重要一环。</a:t>
            </a:r>
            <a:endParaRPr lang="en-US" altLang="zh-CN" dirty="0">
              <a:latin typeface="Times New Roman" panose="02020603050405020304" pitchFamily="18" charset="0"/>
              <a:sym typeface="Times New Roman" panose="02020603050405020304" pitchFamily="18" charset="0"/>
            </a:endParaRPr>
          </a:p>
        </p:txBody>
      </p:sp>
      <p:sp>
        <p:nvSpPr>
          <p:cNvPr id="59" name="灯片编号占位符 3">
            <a:extLst>
              <a:ext uri="{FF2B5EF4-FFF2-40B4-BE49-F238E27FC236}">
                <a16:creationId xmlns:a16="http://schemas.microsoft.com/office/drawing/2014/main" id="{65FB6339-72B3-4D19-B15A-3549C38402FE}"/>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61" name="文本框 60">
            <a:extLst>
              <a:ext uri="{FF2B5EF4-FFF2-40B4-BE49-F238E27FC236}">
                <a16:creationId xmlns:a16="http://schemas.microsoft.com/office/drawing/2014/main" id="{8C32579A-9C75-4E3E-BBB6-F37DD3EF31D3}"/>
              </a:ext>
            </a:extLst>
          </p:cNvPr>
          <p:cNvSpPr txBox="1"/>
          <p:nvPr/>
        </p:nvSpPr>
        <p:spPr>
          <a:xfrm>
            <a:off x="1061390" y="-67577"/>
            <a:ext cx="274320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lang="zh-CN" altLang="en-US" sz="3800" kern="0" dirty="0">
                <a:solidFill>
                  <a:srgbClr val="0066CC"/>
                </a:solidFill>
                <a:latin typeface="Times New Roman" panose="02020603050405020304" pitchFamily="18" charset="0"/>
                <a:ea typeface="微软雅黑" panose="020B0503020204020204" pitchFamily="34" charset="-122"/>
                <a:sym typeface="Times New Roman" panose="02020603050405020304" pitchFamily="18" charset="0"/>
              </a:rPr>
              <a:t>研究背景</a:t>
            </a:r>
            <a:endPar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2" name="平行四边形 61">
            <a:extLst>
              <a:ext uri="{FF2B5EF4-FFF2-40B4-BE49-F238E27FC236}">
                <a16:creationId xmlns:a16="http://schemas.microsoft.com/office/drawing/2014/main" id="{BC26353B-BA58-428C-B648-8E0401A63A99}"/>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3" name="组合 62">
            <a:extLst>
              <a:ext uri="{FF2B5EF4-FFF2-40B4-BE49-F238E27FC236}">
                <a16:creationId xmlns:a16="http://schemas.microsoft.com/office/drawing/2014/main" id="{9165285A-6DDA-4204-8FD4-2BCD23EC3978}"/>
              </a:ext>
            </a:extLst>
          </p:cNvPr>
          <p:cNvGrpSpPr/>
          <p:nvPr/>
        </p:nvGrpSpPr>
        <p:grpSpPr>
          <a:xfrm>
            <a:off x="-53106" y="0"/>
            <a:ext cx="963271" cy="1033814"/>
            <a:chOff x="-51603" y="0"/>
            <a:chExt cx="1084083" cy="1219009"/>
          </a:xfrm>
        </p:grpSpPr>
        <p:sp>
          <p:nvSpPr>
            <p:cNvPr id="64" name="Freeform 7">
              <a:extLst>
                <a:ext uri="{FF2B5EF4-FFF2-40B4-BE49-F238E27FC236}">
                  <a16:creationId xmlns:a16="http://schemas.microsoft.com/office/drawing/2014/main" id="{ECC5B651-37DC-4C4D-8C15-9BDBC38A7ED1}"/>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 name="Freeform 8">
              <a:extLst>
                <a:ext uri="{FF2B5EF4-FFF2-40B4-BE49-F238E27FC236}">
                  <a16:creationId xmlns:a16="http://schemas.microsoft.com/office/drawing/2014/main" id="{DB5B96F3-1690-4433-94B9-F8E5727054E2}"/>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文本框 73">
              <a:extLst>
                <a:ext uri="{FF2B5EF4-FFF2-40B4-BE49-F238E27FC236}">
                  <a16:creationId xmlns:a16="http://schemas.microsoft.com/office/drawing/2014/main" id="{75619FC7-1EFC-40A2-9453-1A2035FC7DAB}"/>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a:t>
              </a:r>
              <a:endPar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75" name="平行四边形 74">
            <a:extLst>
              <a:ext uri="{FF2B5EF4-FFF2-40B4-BE49-F238E27FC236}">
                <a16:creationId xmlns:a16="http://schemas.microsoft.com/office/drawing/2014/main" id="{D007D02F-9988-4DD1-BCDE-62FC3ACDE0E3}"/>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5" name="文本框 54">
            <a:extLst>
              <a:ext uri="{FF2B5EF4-FFF2-40B4-BE49-F238E27FC236}">
                <a16:creationId xmlns:a16="http://schemas.microsoft.com/office/drawing/2014/main" id="{4BDB87B8-B2E5-4281-BFEB-5AC32A45AD9B}"/>
              </a:ext>
            </a:extLst>
          </p:cNvPr>
          <p:cNvSpPr txBox="1"/>
          <p:nvPr/>
        </p:nvSpPr>
        <p:spPr>
          <a:xfrm>
            <a:off x="2871752" y="1730995"/>
            <a:ext cx="426895" cy="2752756"/>
          </a:xfrm>
          <a:prstGeom prst="roundRect">
            <a:avLst/>
          </a:prstGeom>
          <a:solidFill>
            <a:srgbClr val="0066CC"/>
          </a:solidFill>
          <a:ln w="15875" cap="flat" cmpd="sng" algn="ctr">
            <a:solidFill>
              <a:sysClr val="window" lastClr="FFFFFF"/>
            </a:solidFill>
            <a:prstDash val="solid"/>
            <a:miter lim="800000"/>
          </a:ln>
          <a:effectLst>
            <a:outerShdw blurRad="127000" dir="5400000" algn="ctr" rotWithShape="0">
              <a:srgbClr val="0575E6">
                <a:alpha val="30000"/>
              </a:srgbClr>
            </a:outerShdw>
          </a:effectLst>
        </p:spPr>
        <p:txBody>
          <a:bodyPr lIns="0" tIns="45720" rIns="0" bIns="45720" rtlCol="0" anchor="ctr"/>
          <a:lstStyle>
            <a:defPPr>
              <a:defRPr lang="zh-CN"/>
            </a:defPPr>
            <a:lvl1pPr marR="0" lvl="0" indent="0" algn="ctr" fontAlgn="auto">
              <a:lnSpc>
                <a:spcPct val="100000"/>
              </a:lnSpc>
              <a:spcBef>
                <a:spcPts val="0"/>
              </a:spcBef>
              <a:spcAft>
                <a:spcPts val="0"/>
              </a:spcAft>
              <a:buClrTx/>
              <a:buSzTx/>
              <a:buFontTx/>
              <a:buNone/>
              <a:tabLst/>
              <a:defRPr kumimoji="0" sz="2000" b="1" i="0" u="none" strike="noStrike" kern="0"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研究区域</a:t>
            </a:r>
          </a:p>
        </p:txBody>
      </p:sp>
      <p:grpSp>
        <p:nvGrpSpPr>
          <p:cNvPr id="8" name="组合 7">
            <a:extLst>
              <a:ext uri="{FF2B5EF4-FFF2-40B4-BE49-F238E27FC236}">
                <a16:creationId xmlns:a16="http://schemas.microsoft.com/office/drawing/2014/main" id="{F9D3851D-DB51-4E71-ABC5-FAC6F2DC1B76}"/>
              </a:ext>
            </a:extLst>
          </p:cNvPr>
          <p:cNvGrpSpPr/>
          <p:nvPr/>
        </p:nvGrpSpPr>
        <p:grpSpPr>
          <a:xfrm>
            <a:off x="346091" y="4713507"/>
            <a:ext cx="11450189" cy="2752756"/>
            <a:chOff x="78377" y="1509295"/>
            <a:chExt cx="11815507" cy="2752756"/>
          </a:xfrm>
        </p:grpSpPr>
        <p:sp>
          <p:nvSpPr>
            <p:cNvPr id="65" name="矩形 64">
              <a:extLst>
                <a:ext uri="{FF2B5EF4-FFF2-40B4-BE49-F238E27FC236}">
                  <a16:creationId xmlns:a16="http://schemas.microsoft.com/office/drawing/2014/main" id="{4AC2C102-69C0-47E5-A76D-3F90327F28A4}"/>
                </a:ext>
              </a:extLst>
            </p:cNvPr>
            <p:cNvSpPr/>
            <p:nvPr/>
          </p:nvSpPr>
          <p:spPr>
            <a:xfrm>
              <a:off x="78377" y="1509295"/>
              <a:ext cx="11815507" cy="2752756"/>
            </a:xfrm>
            <a:prstGeom prst="rect">
              <a:avLst/>
            </a:prstGeom>
            <a:solidFill>
              <a:schemeClr val="bg1"/>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F536895E-3CB2-49C6-BB19-53C957123677}"/>
                </a:ext>
              </a:extLst>
            </p:cNvPr>
            <p:cNvSpPr txBox="1"/>
            <p:nvPr/>
          </p:nvSpPr>
          <p:spPr>
            <a:xfrm>
              <a:off x="1022809" y="1568088"/>
              <a:ext cx="10708747" cy="1893852"/>
            </a:xfrm>
            <a:prstGeom prst="rect">
              <a:avLst/>
            </a:prstGeom>
            <a:noFill/>
          </p:spPr>
          <p:txBody>
            <a:bodyPr wrap="square">
              <a:spAutoFit/>
            </a:bodyPr>
            <a:lstStyle/>
            <a:p>
              <a:pPr fontAlgn="base">
                <a:lnSpc>
                  <a:spcPct val="130000"/>
                </a:lnSpc>
              </a:pPr>
              <a:r>
                <a:rPr lang="zh-CN" altLang="en-US" sz="2000" b="1" i="0" dirty="0">
                  <a:solidFill>
                    <a:srgbClr val="C00000"/>
                  </a:solidFill>
                  <a:effectLst/>
                  <a:latin typeface="微软雅黑" panose="020B0503020204020204" pitchFamily="34" charset="-122"/>
                  <a:ea typeface="微软雅黑" panose="020B0503020204020204" pitchFamily="34" charset="-122"/>
                </a:rPr>
                <a:t>渭河流域</a:t>
              </a:r>
              <a:r>
                <a:rPr lang="zh-CN" altLang="en-US" sz="2000" b="1" i="0" dirty="0">
                  <a:effectLst/>
                  <a:latin typeface="微软雅黑" panose="020B0503020204020204" pitchFamily="34" charset="-122"/>
                  <a:ea typeface="微软雅黑" panose="020B0503020204020204" pitchFamily="34" charset="-122"/>
                </a:rPr>
                <a:t>作为黄河最大的支流，在黄河流域生态保护和高质量发展中占据着重要地位。然而，近年来渭河流域水质受到多种污染物的影响，面临着严峻的</a:t>
              </a:r>
              <a:r>
                <a:rPr lang="zh-CN" altLang="en-US" sz="2000" b="1" i="0" dirty="0">
                  <a:solidFill>
                    <a:srgbClr val="C00000"/>
                  </a:solidFill>
                  <a:effectLst/>
                  <a:latin typeface="微软雅黑" panose="020B0503020204020204" pitchFamily="34" charset="-122"/>
                  <a:ea typeface="微软雅黑" panose="020B0503020204020204" pitchFamily="34" charset="-122"/>
                </a:rPr>
                <a:t>污染形势</a:t>
              </a:r>
              <a:r>
                <a:rPr lang="zh-CN" altLang="en-US" sz="2000" b="1" i="0" dirty="0">
                  <a:effectLst/>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fontAlgn="base">
                <a:lnSpc>
                  <a:spcPct val="130000"/>
                </a:lnSpc>
              </a:pPr>
              <a:endParaRPr lang="en-US" altLang="zh-CN" sz="1200" b="1" dirty="0">
                <a:latin typeface="微软雅黑" panose="020B0503020204020204" pitchFamily="34" charset="-122"/>
                <a:ea typeface="微软雅黑" panose="020B0503020204020204" pitchFamily="34" charset="-122"/>
              </a:endParaRPr>
            </a:p>
            <a:p>
              <a:pPr fontAlgn="base">
                <a:lnSpc>
                  <a:spcPct val="130000"/>
                </a:lnSpc>
              </a:pPr>
              <a:r>
                <a:rPr lang="zh-CN" altLang="en-US" sz="2000" b="1" i="0" dirty="0">
                  <a:effectLst/>
                  <a:latin typeface="微软雅黑" panose="020B0503020204020204" pitchFamily="34" charset="-122"/>
                  <a:ea typeface="微软雅黑" panose="020B0503020204020204" pitchFamily="34" charset="-122"/>
                </a:rPr>
                <a:t>在水质评价研究中，通常需要考虑众多的</a:t>
              </a:r>
              <a:r>
                <a:rPr lang="zh-CN" altLang="en-US" sz="2000" b="1" i="0" dirty="0">
                  <a:solidFill>
                    <a:srgbClr val="C00000"/>
                  </a:solidFill>
                  <a:effectLst/>
                  <a:latin typeface="微软雅黑" panose="020B0503020204020204" pitchFamily="34" charset="-122"/>
                  <a:ea typeface="微软雅黑" panose="020B0503020204020204" pitchFamily="34" charset="-122"/>
                </a:rPr>
                <a:t>水质指标</a:t>
              </a:r>
              <a:r>
                <a:rPr lang="zh-CN" altLang="en-US" sz="2000" b="1" i="0" dirty="0">
                  <a:effectLst/>
                  <a:latin typeface="微软雅黑" panose="020B0503020204020204" pitchFamily="34" charset="-122"/>
                  <a:ea typeface="微软雅黑" panose="020B0503020204020204" pitchFamily="34" charset="-122"/>
                </a:rPr>
                <a:t>，这些指标之间往往存在着复杂的相关性，使得分析过程繁琐且难以抓住关键问题，引出</a:t>
              </a:r>
              <a:r>
                <a:rPr lang="zh-CN" altLang="en-US" sz="2000" b="1" i="0" dirty="0">
                  <a:solidFill>
                    <a:schemeClr val="tx2"/>
                  </a:solidFill>
                  <a:effectLst/>
                  <a:latin typeface="微软雅黑" panose="020B0503020204020204" pitchFamily="34" charset="-122"/>
                  <a:ea typeface="微软雅黑" panose="020B0503020204020204" pitchFamily="34" charset="-122"/>
                </a:rPr>
                <a:t>主成分分析</a:t>
              </a:r>
              <a:r>
                <a:rPr lang="zh-CN" altLang="en-US" sz="2000" b="1" i="0" dirty="0">
                  <a:effectLst/>
                  <a:latin typeface="微软雅黑" panose="020B0503020204020204" pitchFamily="34" charset="-122"/>
                  <a:ea typeface="微软雅黑" panose="020B0503020204020204" pitchFamily="34" charset="-122"/>
                </a:rPr>
                <a:t>等多元统计分析方法的必要性。</a:t>
              </a:r>
              <a:endParaRPr lang="zh-CN" altLang="en-US" sz="2000" b="1" dirty="0">
                <a:latin typeface="微软雅黑" panose="020B0503020204020204" pitchFamily="34" charset="-122"/>
                <a:ea typeface="微软雅黑" panose="020B0503020204020204" pitchFamily="34" charset="-122"/>
              </a:endParaRPr>
            </a:p>
          </p:txBody>
        </p:sp>
        <p:sp>
          <p:nvSpPr>
            <p:cNvPr id="73" name="箭头: 五边形 72">
              <a:extLst>
                <a:ext uri="{FF2B5EF4-FFF2-40B4-BE49-F238E27FC236}">
                  <a16:creationId xmlns:a16="http://schemas.microsoft.com/office/drawing/2014/main" id="{B80713FD-FBD2-4A5D-BB6E-18E3D486484B}"/>
                </a:ext>
              </a:extLst>
            </p:cNvPr>
            <p:cNvSpPr/>
            <p:nvPr/>
          </p:nvSpPr>
          <p:spPr>
            <a:xfrm>
              <a:off x="177633" y="1809276"/>
              <a:ext cx="845178" cy="382462"/>
            </a:xfrm>
            <a:prstGeom prst="homePlate">
              <a:avLst/>
            </a:prstGeom>
            <a:gradFill flip="none" rotWithShape="1">
              <a:gsLst>
                <a:gs pos="0">
                  <a:schemeClr val="accent5">
                    <a:lumMod val="0"/>
                    <a:lumOff val="100000"/>
                  </a:schemeClr>
                </a:gs>
                <a:gs pos="29000">
                  <a:srgbClr val="D1E1EF"/>
                </a:gs>
                <a:gs pos="52000">
                  <a:srgbClr val="97BBDB"/>
                </a:gs>
                <a:gs pos="76000">
                  <a:schemeClr val="accent5">
                    <a:lumMod val="75000"/>
                  </a:schemeClr>
                </a:gs>
                <a:gs pos="100000">
                  <a:schemeClr val="accent5">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箭头: 五边形 75">
              <a:extLst>
                <a:ext uri="{FF2B5EF4-FFF2-40B4-BE49-F238E27FC236}">
                  <a16:creationId xmlns:a16="http://schemas.microsoft.com/office/drawing/2014/main" id="{73733B5D-D8CE-4B1F-8189-0A2D95CDC57C}"/>
                </a:ext>
              </a:extLst>
            </p:cNvPr>
            <p:cNvSpPr/>
            <p:nvPr/>
          </p:nvSpPr>
          <p:spPr>
            <a:xfrm>
              <a:off x="177633" y="2861478"/>
              <a:ext cx="845178" cy="382462"/>
            </a:xfrm>
            <a:prstGeom prst="homePlate">
              <a:avLst/>
            </a:prstGeom>
            <a:gradFill flip="none" rotWithShape="1">
              <a:gsLst>
                <a:gs pos="0">
                  <a:schemeClr val="accent5">
                    <a:lumMod val="0"/>
                    <a:lumOff val="100000"/>
                  </a:schemeClr>
                </a:gs>
                <a:gs pos="29000">
                  <a:srgbClr val="D1E1EF"/>
                </a:gs>
                <a:gs pos="52000">
                  <a:srgbClr val="97BBDB"/>
                </a:gs>
                <a:gs pos="76000">
                  <a:schemeClr val="accent5">
                    <a:lumMod val="75000"/>
                  </a:schemeClr>
                </a:gs>
                <a:gs pos="100000">
                  <a:schemeClr val="accent5">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2119988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66E385C0-46B6-47D9-AA11-521F386398EE}"/>
              </a:ext>
            </a:extLst>
          </p:cNvPr>
          <p:cNvSpPr txBox="1"/>
          <p:nvPr/>
        </p:nvSpPr>
        <p:spPr>
          <a:xfrm>
            <a:off x="308748" y="944284"/>
            <a:ext cx="11595769" cy="561500"/>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dirty="0">
                <a:solidFill>
                  <a:schemeClr val="tx1"/>
                </a:solidFill>
                <a:latin typeface="Times New Roman" panose="02020603050405020304" pitchFamily="18" charset="0"/>
                <a:sym typeface="Times New Roman" panose="02020603050405020304" pitchFamily="18" charset="0"/>
              </a:rPr>
              <a:t>主成分分析通过线性变换将原始数据映射到新的</a:t>
            </a:r>
            <a:r>
              <a:rPr lang="zh-CN" altLang="en-US" dirty="0">
                <a:solidFill>
                  <a:schemeClr val="tx2"/>
                </a:solidFill>
                <a:latin typeface="Times New Roman" panose="02020603050405020304" pitchFamily="18" charset="0"/>
                <a:sym typeface="Times New Roman" panose="02020603050405020304" pitchFamily="18" charset="0"/>
              </a:rPr>
              <a:t>坐标系</a:t>
            </a:r>
            <a:endParaRPr lang="en-US" altLang="zh-CN" dirty="0">
              <a:solidFill>
                <a:schemeClr val="tx2"/>
              </a:solidFill>
              <a:latin typeface="Times New Roman" panose="02020603050405020304" pitchFamily="18" charset="0"/>
              <a:sym typeface="Times New Roman" panose="02020603050405020304" pitchFamily="18" charset="0"/>
            </a:endParaRPr>
          </a:p>
        </p:txBody>
      </p:sp>
      <p:sp>
        <p:nvSpPr>
          <p:cNvPr id="59" name="灯片编号占位符 3">
            <a:extLst>
              <a:ext uri="{FF2B5EF4-FFF2-40B4-BE49-F238E27FC236}">
                <a16:creationId xmlns:a16="http://schemas.microsoft.com/office/drawing/2014/main" id="{65FB6339-72B3-4D19-B15A-3549C38402FE}"/>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62" name="平行四边形 61">
            <a:extLst>
              <a:ext uri="{FF2B5EF4-FFF2-40B4-BE49-F238E27FC236}">
                <a16:creationId xmlns:a16="http://schemas.microsoft.com/office/drawing/2014/main" id="{BC26353B-BA58-428C-B648-8E0401A63A99}"/>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3" name="组合 62">
            <a:extLst>
              <a:ext uri="{FF2B5EF4-FFF2-40B4-BE49-F238E27FC236}">
                <a16:creationId xmlns:a16="http://schemas.microsoft.com/office/drawing/2014/main" id="{9165285A-6DDA-4204-8FD4-2BCD23EC3978}"/>
              </a:ext>
            </a:extLst>
          </p:cNvPr>
          <p:cNvGrpSpPr/>
          <p:nvPr/>
        </p:nvGrpSpPr>
        <p:grpSpPr>
          <a:xfrm>
            <a:off x="-53106" y="0"/>
            <a:ext cx="963271" cy="1033814"/>
            <a:chOff x="-51603" y="0"/>
            <a:chExt cx="1084083" cy="1219009"/>
          </a:xfrm>
        </p:grpSpPr>
        <p:sp>
          <p:nvSpPr>
            <p:cNvPr id="64" name="Freeform 7">
              <a:extLst>
                <a:ext uri="{FF2B5EF4-FFF2-40B4-BE49-F238E27FC236}">
                  <a16:creationId xmlns:a16="http://schemas.microsoft.com/office/drawing/2014/main" id="{ECC5B651-37DC-4C4D-8C15-9BDBC38A7ED1}"/>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 name="Freeform 8">
              <a:extLst>
                <a:ext uri="{FF2B5EF4-FFF2-40B4-BE49-F238E27FC236}">
                  <a16:creationId xmlns:a16="http://schemas.microsoft.com/office/drawing/2014/main" id="{DB5B96F3-1690-4433-94B9-F8E5727054E2}"/>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文本框 73">
              <a:extLst>
                <a:ext uri="{FF2B5EF4-FFF2-40B4-BE49-F238E27FC236}">
                  <a16:creationId xmlns:a16="http://schemas.microsoft.com/office/drawing/2014/main" id="{75619FC7-1EFC-40A2-9453-1A2035FC7DAB}"/>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二</a:t>
              </a:r>
            </a:p>
          </p:txBody>
        </p:sp>
      </p:grpSp>
      <p:sp>
        <p:nvSpPr>
          <p:cNvPr id="75" name="平行四边形 74">
            <a:extLst>
              <a:ext uri="{FF2B5EF4-FFF2-40B4-BE49-F238E27FC236}">
                <a16:creationId xmlns:a16="http://schemas.microsoft.com/office/drawing/2014/main" id="{D007D02F-9988-4DD1-BCDE-62FC3ACDE0E3}"/>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3" name="矩形 52">
            <a:extLst>
              <a:ext uri="{FF2B5EF4-FFF2-40B4-BE49-F238E27FC236}">
                <a16:creationId xmlns:a16="http://schemas.microsoft.com/office/drawing/2014/main" id="{FED7DDB8-61E6-44F0-86FE-D245F1B54072}"/>
              </a:ext>
            </a:extLst>
          </p:cNvPr>
          <p:cNvSpPr/>
          <p:nvPr/>
        </p:nvSpPr>
        <p:spPr>
          <a:xfrm>
            <a:off x="566665" y="1629979"/>
            <a:ext cx="10959028" cy="3541876"/>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5" name="文本框 54">
            <a:extLst>
              <a:ext uri="{FF2B5EF4-FFF2-40B4-BE49-F238E27FC236}">
                <a16:creationId xmlns:a16="http://schemas.microsoft.com/office/drawing/2014/main" id="{4BDB87B8-B2E5-4281-BFEB-5AC32A45AD9B}"/>
              </a:ext>
            </a:extLst>
          </p:cNvPr>
          <p:cNvSpPr txBox="1"/>
          <p:nvPr/>
        </p:nvSpPr>
        <p:spPr>
          <a:xfrm>
            <a:off x="188247" y="1496811"/>
            <a:ext cx="11765878" cy="605137"/>
          </a:xfrm>
          <a:prstGeom prst="roundRect">
            <a:avLst/>
          </a:prstGeom>
          <a:solidFill>
            <a:srgbClr val="0066CC"/>
          </a:solidFill>
          <a:ln w="15875" cap="flat" cmpd="sng" algn="ctr">
            <a:solidFill>
              <a:sysClr val="window" lastClr="FFFFFF"/>
            </a:solidFill>
            <a:prstDash val="solid"/>
            <a:miter lim="800000"/>
          </a:ln>
          <a:effectLst>
            <a:outerShdw blurRad="127000" dir="5400000" algn="ctr" rotWithShape="0">
              <a:srgbClr val="0575E6">
                <a:alpha val="30000"/>
              </a:srgbClr>
            </a:outerShdw>
          </a:effectLst>
        </p:spPr>
        <p:txBody>
          <a:bodyPr lIns="0" tIns="45720" rIns="0" bIns="45720" rtlCol="0" anchor="ctr"/>
          <a:lstStyle>
            <a:defPPr>
              <a:defRPr lang="zh-CN"/>
            </a:defPPr>
            <a:lvl1pPr marR="0" lvl="0" indent="0" algn="ctr" fontAlgn="auto">
              <a:lnSpc>
                <a:spcPct val="100000"/>
              </a:lnSpc>
              <a:spcBef>
                <a:spcPts val="0"/>
              </a:spcBef>
              <a:spcAft>
                <a:spcPts val="0"/>
              </a:spcAft>
              <a:buClrTx/>
              <a:buSzTx/>
              <a:buFontTx/>
              <a:buNone/>
              <a:tabLst/>
              <a:defRPr kumimoji="0" sz="2000" b="1" i="0" u="none" strike="noStrike" kern="0"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渭河流域水体污染物主成分分析</a:t>
            </a:r>
          </a:p>
        </p:txBody>
      </p:sp>
      <p:grpSp>
        <p:nvGrpSpPr>
          <p:cNvPr id="8" name="组合 7">
            <a:extLst>
              <a:ext uri="{FF2B5EF4-FFF2-40B4-BE49-F238E27FC236}">
                <a16:creationId xmlns:a16="http://schemas.microsoft.com/office/drawing/2014/main" id="{F9D3851D-DB51-4E71-ABC5-FAC6F2DC1B76}"/>
              </a:ext>
            </a:extLst>
          </p:cNvPr>
          <p:cNvGrpSpPr/>
          <p:nvPr/>
        </p:nvGrpSpPr>
        <p:grpSpPr>
          <a:xfrm>
            <a:off x="188247" y="4880344"/>
            <a:ext cx="11815507" cy="1891444"/>
            <a:chOff x="78377" y="1509295"/>
            <a:chExt cx="11815507" cy="2752756"/>
          </a:xfrm>
        </p:grpSpPr>
        <p:sp>
          <p:nvSpPr>
            <p:cNvPr id="65" name="矩形 64">
              <a:extLst>
                <a:ext uri="{FF2B5EF4-FFF2-40B4-BE49-F238E27FC236}">
                  <a16:creationId xmlns:a16="http://schemas.microsoft.com/office/drawing/2014/main" id="{4AC2C102-69C0-47E5-A76D-3F90327F28A4}"/>
                </a:ext>
              </a:extLst>
            </p:cNvPr>
            <p:cNvSpPr/>
            <p:nvPr/>
          </p:nvSpPr>
          <p:spPr>
            <a:xfrm>
              <a:off x="78377" y="1509295"/>
              <a:ext cx="11815507" cy="2752756"/>
            </a:xfrm>
            <a:prstGeom prst="rect">
              <a:avLst/>
            </a:prstGeom>
            <a:solidFill>
              <a:schemeClr val="bg1"/>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F536895E-3CB2-49C6-BB19-53C957123677}"/>
                </a:ext>
              </a:extLst>
            </p:cNvPr>
            <p:cNvSpPr txBox="1"/>
            <p:nvPr/>
          </p:nvSpPr>
          <p:spPr>
            <a:xfrm>
              <a:off x="1022809" y="1568088"/>
              <a:ext cx="10708747" cy="263979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在水质评价中的优势：</a:t>
              </a:r>
              <a:endParaRPr kumimoji="0"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3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将大量相关变量转换为少数不相关主成分，实现数据降维或特征提取，筛选出主要污染因子。</a:t>
              </a: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简化水质评价模型：</a:t>
              </a:r>
              <a:endParaRPr kumimoji="0"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3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适用于样本众多的情况，可广泛应用于水质评价分析。</a:t>
              </a:r>
            </a:p>
          </p:txBody>
        </p:sp>
        <p:sp>
          <p:nvSpPr>
            <p:cNvPr id="73" name="箭头: 五边形 72">
              <a:extLst>
                <a:ext uri="{FF2B5EF4-FFF2-40B4-BE49-F238E27FC236}">
                  <a16:creationId xmlns:a16="http://schemas.microsoft.com/office/drawing/2014/main" id="{B80713FD-FBD2-4A5D-BB6E-18E3D486484B}"/>
                </a:ext>
              </a:extLst>
            </p:cNvPr>
            <p:cNvSpPr/>
            <p:nvPr/>
          </p:nvSpPr>
          <p:spPr>
            <a:xfrm>
              <a:off x="177633" y="1771026"/>
              <a:ext cx="845178" cy="382462"/>
            </a:xfrm>
            <a:prstGeom prst="homePlate">
              <a:avLst/>
            </a:prstGeom>
            <a:gradFill flip="none" rotWithShape="1">
              <a:gsLst>
                <a:gs pos="0">
                  <a:schemeClr val="accent5">
                    <a:lumMod val="0"/>
                    <a:lumOff val="100000"/>
                  </a:schemeClr>
                </a:gs>
                <a:gs pos="29000">
                  <a:srgbClr val="D1E1EF"/>
                </a:gs>
                <a:gs pos="52000">
                  <a:srgbClr val="97BBDB"/>
                </a:gs>
                <a:gs pos="76000">
                  <a:schemeClr val="accent5">
                    <a:lumMod val="75000"/>
                  </a:schemeClr>
                </a:gs>
                <a:gs pos="100000">
                  <a:schemeClr val="accent5">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箭头: 五边形 75">
              <a:extLst>
                <a:ext uri="{FF2B5EF4-FFF2-40B4-BE49-F238E27FC236}">
                  <a16:creationId xmlns:a16="http://schemas.microsoft.com/office/drawing/2014/main" id="{73733B5D-D8CE-4B1F-8189-0A2D95CDC57C}"/>
                </a:ext>
              </a:extLst>
            </p:cNvPr>
            <p:cNvSpPr/>
            <p:nvPr/>
          </p:nvSpPr>
          <p:spPr>
            <a:xfrm>
              <a:off x="177633" y="3058068"/>
              <a:ext cx="845178" cy="382462"/>
            </a:xfrm>
            <a:prstGeom prst="homePlate">
              <a:avLst/>
            </a:prstGeom>
            <a:gradFill flip="none" rotWithShape="1">
              <a:gsLst>
                <a:gs pos="0">
                  <a:schemeClr val="accent5">
                    <a:lumMod val="0"/>
                    <a:lumOff val="100000"/>
                  </a:schemeClr>
                </a:gs>
                <a:gs pos="29000">
                  <a:srgbClr val="D1E1EF"/>
                </a:gs>
                <a:gs pos="52000">
                  <a:srgbClr val="97BBDB"/>
                </a:gs>
                <a:gs pos="76000">
                  <a:schemeClr val="accent5">
                    <a:lumMod val="75000"/>
                  </a:schemeClr>
                </a:gs>
                <a:gs pos="100000">
                  <a:schemeClr val="accent5">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文本框 20">
            <a:extLst>
              <a:ext uri="{FF2B5EF4-FFF2-40B4-BE49-F238E27FC236}">
                <a16:creationId xmlns:a16="http://schemas.microsoft.com/office/drawing/2014/main" id="{4CE583F6-5ABE-48A1-9E71-2EE351DC02A1}"/>
              </a:ext>
            </a:extLst>
          </p:cNvPr>
          <p:cNvSpPr txBox="1"/>
          <p:nvPr/>
        </p:nvSpPr>
        <p:spPr>
          <a:xfrm>
            <a:off x="1061390" y="-67577"/>
            <a:ext cx="527845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lang="zh-CN" altLang="en-US" sz="3800" kern="0" dirty="0">
                <a:solidFill>
                  <a:srgbClr val="0066CC"/>
                </a:solidFill>
                <a:latin typeface="Times New Roman" panose="02020603050405020304" pitchFamily="18" charset="0"/>
                <a:ea typeface="微软雅黑" panose="020B0503020204020204" pitchFamily="34" charset="-122"/>
                <a:sym typeface="Times New Roman" panose="02020603050405020304" pitchFamily="18" charset="0"/>
              </a:rPr>
              <a:t>主成分分析应用背景</a:t>
            </a:r>
            <a:endPar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4" name="图片 3">
            <a:extLst>
              <a:ext uri="{FF2B5EF4-FFF2-40B4-BE49-F238E27FC236}">
                <a16:creationId xmlns:a16="http://schemas.microsoft.com/office/drawing/2014/main" id="{449FC36C-CD73-4E2F-5E66-476B527FC3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0475" y="2101948"/>
            <a:ext cx="8867485" cy="2872733"/>
          </a:xfrm>
          <a:prstGeom prst="rect">
            <a:avLst/>
          </a:prstGeom>
        </p:spPr>
      </p:pic>
    </p:spTree>
    <p:extLst>
      <p:ext uri="{BB962C8B-B14F-4D97-AF65-F5344CB8AC3E}">
        <p14:creationId xmlns:p14="http://schemas.microsoft.com/office/powerpoint/2010/main" val="3409349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A4D7A-026C-648E-B634-7CD128592CBA}"/>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4D72FF1F-E3EC-4A0A-88D9-CDC5F8ED3251}"/>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2D8FD891-D352-069A-9247-33989B015B5A}"/>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FEF2ABCE-6C87-33C1-F630-DDFF5F9CF7DA}"/>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AF11679F-E6B5-7237-B0A1-FB271612A532}"/>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主成分分析基本概念</a:t>
            </a:r>
          </a:p>
        </p:txBody>
      </p:sp>
      <p:sp>
        <p:nvSpPr>
          <p:cNvPr id="27" name="矩形 26">
            <a:extLst>
              <a:ext uri="{FF2B5EF4-FFF2-40B4-BE49-F238E27FC236}">
                <a16:creationId xmlns:a16="http://schemas.microsoft.com/office/drawing/2014/main" id="{72F6B060-3F8A-BD45-E595-53B50C5E2235}"/>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9A25AB4B-E5B8-FA47-15F2-07085B73A983}"/>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381E794D-A719-175D-AC21-48A268F6CAAE}"/>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468B2B04-46DC-34FD-A735-7F4DD6397974}"/>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主成分分析应用背景</a:t>
            </a:r>
          </a:p>
        </p:txBody>
      </p:sp>
      <p:sp>
        <p:nvSpPr>
          <p:cNvPr id="31" name="矩形 30">
            <a:extLst>
              <a:ext uri="{FF2B5EF4-FFF2-40B4-BE49-F238E27FC236}">
                <a16:creationId xmlns:a16="http://schemas.microsoft.com/office/drawing/2014/main" id="{FE7F2865-D9AF-40B0-3205-0B4C1EA199D0}"/>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DC78F92A-8471-B14A-0106-9654FC365B86}"/>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0BB6D626-F338-EF34-2787-51A85C4B4588}"/>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507B88E7-1492-62C4-85B0-EEEDEEF661FC}"/>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6F2A8859-3E2F-FBA9-AAC9-4B7C8FA1D675}"/>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D4AF5DC5-464A-9C25-2067-6868A1B23EC8}"/>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9DADD3DC-10B0-E517-737B-97CEEDF17D7E}"/>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932B611C-3EBB-7367-67A0-25722176F978}"/>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主成分分析应用方式</a:t>
            </a:r>
          </a:p>
        </p:txBody>
      </p:sp>
      <p:sp>
        <p:nvSpPr>
          <p:cNvPr id="39" name="矩形 38">
            <a:extLst>
              <a:ext uri="{FF2B5EF4-FFF2-40B4-BE49-F238E27FC236}">
                <a16:creationId xmlns:a16="http://schemas.microsoft.com/office/drawing/2014/main" id="{BE8C0E47-8982-CA28-75E2-2990C265AFE3}"/>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E5D59F97-8414-FBEE-32E6-9924ECC28013}"/>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B1645CCF-EA10-1FDE-D864-0478767E7F30}"/>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2BF7D98B-E1B2-670C-694B-D69DDD854D09}"/>
              </a:ext>
            </a:extLst>
          </p:cNvPr>
          <p:cNvSpPr/>
          <p:nvPr/>
        </p:nvSpPr>
        <p:spPr>
          <a:xfrm>
            <a:off x="3277919" y="5028933"/>
            <a:ext cx="8274761" cy="1510763"/>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a:extLst>
              <a:ext uri="{FF2B5EF4-FFF2-40B4-BE49-F238E27FC236}">
                <a16:creationId xmlns:a16="http://schemas.microsoft.com/office/drawing/2014/main" id="{834B267D-FF10-79F4-FBD0-474BD94D6BE0}"/>
              </a:ext>
            </a:extLst>
          </p:cNvPr>
          <p:cNvSpPr/>
          <p:nvPr/>
        </p:nvSpPr>
        <p:spPr>
          <a:xfrm>
            <a:off x="3277918" y="173620"/>
            <a:ext cx="8274761" cy="330853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144943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46">
            <a:extLst>
              <a:ext uri="{FF2B5EF4-FFF2-40B4-BE49-F238E27FC236}">
                <a16:creationId xmlns:a16="http://schemas.microsoft.com/office/drawing/2014/main" id="{B5D69125-52DD-4C66-9819-4BFF5EC7AC17}"/>
              </a:ext>
            </a:extLst>
          </p:cNvPr>
          <p:cNvSpPr txBox="1"/>
          <p:nvPr/>
        </p:nvSpPr>
        <p:spPr>
          <a:xfrm>
            <a:off x="566665" y="6002992"/>
            <a:ext cx="10882862" cy="731625"/>
          </a:xfrm>
          <a:prstGeom prst="rect">
            <a:avLst/>
          </a:prstGeom>
          <a:gradFill flip="none" rotWithShape="1">
            <a:gsLst>
              <a:gs pos="100000">
                <a:srgbClr val="FFC000">
                  <a:lumMod val="40000"/>
                  <a:lumOff val="60000"/>
                </a:srgbClr>
              </a:gs>
              <a:gs pos="0">
                <a:srgbClr val="FFC000">
                  <a:lumMod val="20000"/>
                  <a:lumOff val="80000"/>
                </a:srgbClr>
              </a:gs>
            </a:gsLst>
            <a:lin ang="5400000" scaled="1"/>
            <a:tileRect/>
          </a:gradFill>
          <a:effectLst>
            <a:outerShdw blurRad="50800" dist="38100" dir="5400000" algn="t" rotWithShape="0">
              <a:prstClr val="black">
                <a:alpha val="40000"/>
              </a:prstClr>
            </a:outerShdw>
          </a:effectLst>
        </p:spPr>
        <p:txBody>
          <a:bodyPr wrap="square" lIns="36000" tIns="45720" rIns="36000" bIns="45720" rtlCol="0" anchor="t">
            <a:noAutofit/>
          </a:bodyPr>
          <a:lstStyle>
            <a:defPPr>
              <a:defRPr lang="en-US"/>
            </a:defPPr>
            <a:lvl1pPr marR="0" lvl="0" indent="0" algn="ctr" defTabSz="914400" fontAlgn="auto">
              <a:lnSpc>
                <a:spcPct val="100000"/>
              </a:lnSpc>
              <a:spcBef>
                <a:spcPts val="0"/>
              </a:spcBef>
              <a:spcAft>
                <a:spcPts val="0"/>
              </a:spcAft>
              <a:buClrTx/>
              <a:buSzTx/>
              <a:buFontTx/>
              <a:buNone/>
              <a:tabLst/>
              <a:defRPr kumimoji="0" sz="2000" b="1" i="0" u="none" strike="noStrike" kern="0" cap="none" spc="0" normalizeH="0" baseline="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a:lnSpc>
                <a:spcPct val="150000"/>
              </a:lnSpc>
            </a:pPr>
            <a:endParaRPr lang="zh-CN" altLang="en-US" sz="1800" dirty="0">
              <a:solidFill>
                <a:schemeClr val="tx1"/>
              </a:solidFill>
            </a:endParaRPr>
          </a:p>
        </p:txBody>
      </p:sp>
      <p:sp>
        <p:nvSpPr>
          <p:cNvPr id="48" name="文本框 47">
            <a:extLst>
              <a:ext uri="{FF2B5EF4-FFF2-40B4-BE49-F238E27FC236}">
                <a16:creationId xmlns:a16="http://schemas.microsoft.com/office/drawing/2014/main" id="{B512EC4F-1DB1-4976-A62F-4C689314A58E}"/>
              </a:ext>
            </a:extLst>
          </p:cNvPr>
          <p:cNvSpPr txBox="1"/>
          <p:nvPr/>
        </p:nvSpPr>
        <p:spPr>
          <a:xfrm>
            <a:off x="497451" y="5988773"/>
            <a:ext cx="10952076" cy="745845"/>
          </a:xfrm>
          <a:prstGeom prst="rect">
            <a:avLst/>
          </a:prstGeom>
          <a:noFill/>
        </p:spPr>
        <p:txBody>
          <a:bodyPr wrap="square" rtlCol="0">
            <a:spAutoFit/>
          </a:bodyPr>
          <a:lstStyle/>
          <a:p>
            <a:pPr algn="ctr">
              <a:lnSpc>
                <a:spcPct val="110000"/>
              </a:lnSpc>
            </a:pPr>
            <a:r>
              <a:rPr lang="zh-CN" altLang="en-US" sz="2000" b="1" dirty="0">
                <a:solidFill>
                  <a:srgbClr val="C00000"/>
                </a:solidFill>
                <a:latin typeface="微软雅黑" panose="020B0503020204020204" pitchFamily="34" charset="-122"/>
                <a:ea typeface="微软雅黑" panose="020B0503020204020204" pitchFamily="34" charset="-122"/>
              </a:rPr>
              <a:t>各分组提取前 </a:t>
            </a:r>
            <a:r>
              <a:rPr lang="en-US" altLang="zh-CN" sz="2000" b="1" dirty="0">
                <a:solidFill>
                  <a:srgbClr val="C00000"/>
                </a:solidFill>
                <a:latin typeface="微软雅黑" panose="020B0503020204020204" pitchFamily="34" charset="-122"/>
                <a:ea typeface="微软雅黑" panose="020B0503020204020204" pitchFamily="34" charset="-122"/>
              </a:rPr>
              <a:t>3 </a:t>
            </a:r>
            <a:r>
              <a:rPr lang="zh-CN" altLang="en-US" sz="2000" b="1" dirty="0">
                <a:solidFill>
                  <a:srgbClr val="C00000"/>
                </a:solidFill>
                <a:latin typeface="微软雅黑" panose="020B0503020204020204" pitchFamily="34" charset="-122"/>
                <a:ea typeface="微软雅黑" panose="020B0503020204020204" pitchFamily="34" charset="-122"/>
              </a:rPr>
              <a:t>项主成分，其累计贡献率分别为 </a:t>
            </a:r>
            <a:r>
              <a:rPr lang="en-US" altLang="zh-CN" sz="2000" b="1" dirty="0">
                <a:solidFill>
                  <a:srgbClr val="C00000"/>
                </a:solidFill>
                <a:latin typeface="微软雅黑" panose="020B0503020204020204" pitchFamily="34" charset="-122"/>
                <a:ea typeface="微软雅黑" panose="020B0503020204020204" pitchFamily="34" charset="-122"/>
              </a:rPr>
              <a:t>82.169%</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76.428%</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75.295%</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81.121%</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79.835%</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78.234%</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84.934% </a:t>
            </a:r>
            <a:r>
              <a:rPr lang="zh-CN" altLang="en-US" sz="2000" b="1" dirty="0">
                <a:solidFill>
                  <a:srgbClr val="C00000"/>
                </a:solidFill>
                <a:latin typeface="微软雅黑" panose="020B0503020204020204" pitchFamily="34" charset="-122"/>
                <a:ea typeface="微软雅黑" panose="020B0503020204020204" pitchFamily="34" charset="-122"/>
              </a:rPr>
              <a:t>和 </a:t>
            </a:r>
            <a:r>
              <a:rPr lang="en-US" altLang="zh-CN" sz="2000" b="1" dirty="0">
                <a:solidFill>
                  <a:srgbClr val="C00000"/>
                </a:solidFill>
                <a:latin typeface="微软雅黑" panose="020B0503020204020204" pitchFamily="34" charset="-122"/>
                <a:ea typeface="微软雅黑" panose="020B0503020204020204" pitchFamily="34" charset="-122"/>
              </a:rPr>
              <a:t>82.756%</a:t>
            </a:r>
            <a:r>
              <a:rPr lang="zh-CN" altLang="en-US" sz="2000" b="1" dirty="0">
                <a:solidFill>
                  <a:srgbClr val="C00000"/>
                </a:solidFill>
                <a:latin typeface="微软雅黑" panose="020B0503020204020204" pitchFamily="34" charset="-122"/>
                <a:ea typeface="微软雅黑" panose="020B0503020204020204" pitchFamily="34" charset="-122"/>
              </a:rPr>
              <a:t>。</a:t>
            </a:r>
          </a:p>
        </p:txBody>
      </p:sp>
      <p:sp>
        <p:nvSpPr>
          <p:cNvPr id="34" name="文本框 33">
            <a:extLst>
              <a:ext uri="{FF2B5EF4-FFF2-40B4-BE49-F238E27FC236}">
                <a16:creationId xmlns:a16="http://schemas.microsoft.com/office/drawing/2014/main" id="{EAC27C75-9878-4AF1-BD21-EDA5BAEF50FF}"/>
              </a:ext>
            </a:extLst>
          </p:cNvPr>
          <p:cNvSpPr txBox="1"/>
          <p:nvPr/>
        </p:nvSpPr>
        <p:spPr>
          <a:xfrm>
            <a:off x="298115" y="898564"/>
            <a:ext cx="11595769" cy="1005788"/>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sz="2400" dirty="0"/>
              <a:t>分别按渭河干流上游断面、渭河干流中下游断面、北洛河和南岸支流断面以及全流域各断面春夏秋冬四季对相关水质监测指标进行</a:t>
            </a:r>
            <a:r>
              <a:rPr lang="zh-CN" altLang="en-US" sz="2400" dirty="0">
                <a:solidFill>
                  <a:srgbClr val="C00000"/>
                </a:solidFill>
              </a:rPr>
              <a:t>主成分分析</a:t>
            </a:r>
            <a:r>
              <a:rPr lang="zh-CN" altLang="en-US" sz="2400" dirty="0"/>
              <a:t>。</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90" y="-67577"/>
            <a:ext cx="514129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主成分分析应用方式</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三</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箭头: 下 4">
            <a:extLst>
              <a:ext uri="{FF2B5EF4-FFF2-40B4-BE49-F238E27FC236}">
                <a16:creationId xmlns:a16="http://schemas.microsoft.com/office/drawing/2014/main" id="{530F889D-5F2E-444D-B27C-99E8E144F8B9}"/>
              </a:ext>
            </a:extLst>
          </p:cNvPr>
          <p:cNvSpPr/>
          <p:nvPr/>
        </p:nvSpPr>
        <p:spPr>
          <a:xfrm rot="21266343">
            <a:off x="1704739" y="2503995"/>
            <a:ext cx="465602" cy="1157224"/>
          </a:xfrm>
          <a:custGeom>
            <a:avLst/>
            <a:gdLst>
              <a:gd name="connsiteX0" fmla="*/ 0 w 740547"/>
              <a:gd name="connsiteY0" fmla="*/ 807425 h 1177698"/>
              <a:gd name="connsiteX1" fmla="*/ 185137 w 740547"/>
              <a:gd name="connsiteY1" fmla="*/ 807425 h 1177698"/>
              <a:gd name="connsiteX2" fmla="*/ 185137 w 740547"/>
              <a:gd name="connsiteY2" fmla="*/ 0 h 1177698"/>
              <a:gd name="connsiteX3" fmla="*/ 555410 w 740547"/>
              <a:gd name="connsiteY3" fmla="*/ 0 h 1177698"/>
              <a:gd name="connsiteX4" fmla="*/ 555410 w 740547"/>
              <a:gd name="connsiteY4" fmla="*/ 807425 h 1177698"/>
              <a:gd name="connsiteX5" fmla="*/ 740547 w 740547"/>
              <a:gd name="connsiteY5" fmla="*/ 807425 h 1177698"/>
              <a:gd name="connsiteX6" fmla="*/ 370274 w 740547"/>
              <a:gd name="connsiteY6" fmla="*/ 1177698 h 1177698"/>
              <a:gd name="connsiteX7" fmla="*/ 0 w 740547"/>
              <a:gd name="connsiteY7" fmla="*/ 807425 h 1177698"/>
              <a:gd name="connsiteX0-1" fmla="*/ 0 w 740547"/>
              <a:gd name="connsiteY0-2" fmla="*/ 923539 h 1293812"/>
              <a:gd name="connsiteX1-3" fmla="*/ 185137 w 740547"/>
              <a:gd name="connsiteY1-4" fmla="*/ 923539 h 1293812"/>
              <a:gd name="connsiteX2-5" fmla="*/ 185137 w 740547"/>
              <a:gd name="connsiteY2-6" fmla="*/ 116114 h 1293812"/>
              <a:gd name="connsiteX3-7" fmla="*/ 366724 w 740547"/>
              <a:gd name="connsiteY3-8" fmla="*/ 0 h 1293812"/>
              <a:gd name="connsiteX4-9" fmla="*/ 555410 w 740547"/>
              <a:gd name="connsiteY4-10" fmla="*/ 923539 h 1293812"/>
              <a:gd name="connsiteX5-11" fmla="*/ 740547 w 740547"/>
              <a:gd name="connsiteY5-12" fmla="*/ 923539 h 1293812"/>
              <a:gd name="connsiteX6-13" fmla="*/ 370274 w 740547"/>
              <a:gd name="connsiteY6-14" fmla="*/ 1293812 h 1293812"/>
              <a:gd name="connsiteX7-15" fmla="*/ 0 w 740547"/>
              <a:gd name="connsiteY7-16" fmla="*/ 923539 h 1293812"/>
              <a:gd name="connsiteX0-17" fmla="*/ 0 w 740547"/>
              <a:gd name="connsiteY0-18" fmla="*/ 947352 h 1317625"/>
              <a:gd name="connsiteX1-19" fmla="*/ 185137 w 740547"/>
              <a:gd name="connsiteY1-20" fmla="*/ 947352 h 1317625"/>
              <a:gd name="connsiteX2-21" fmla="*/ 185137 w 740547"/>
              <a:gd name="connsiteY2-22" fmla="*/ 139927 h 1317625"/>
              <a:gd name="connsiteX3-23" fmla="*/ 183368 w 740547"/>
              <a:gd name="connsiteY3-24" fmla="*/ 0 h 1317625"/>
              <a:gd name="connsiteX4-25" fmla="*/ 555410 w 740547"/>
              <a:gd name="connsiteY4-26" fmla="*/ 947352 h 1317625"/>
              <a:gd name="connsiteX5-27" fmla="*/ 740547 w 740547"/>
              <a:gd name="connsiteY5-28" fmla="*/ 947352 h 1317625"/>
              <a:gd name="connsiteX6-29" fmla="*/ 370274 w 740547"/>
              <a:gd name="connsiteY6-30" fmla="*/ 1317625 h 1317625"/>
              <a:gd name="connsiteX7-31" fmla="*/ 0 w 740547"/>
              <a:gd name="connsiteY7-32" fmla="*/ 947352 h 1317625"/>
              <a:gd name="connsiteX0-33" fmla="*/ 0 w 740547"/>
              <a:gd name="connsiteY0-34" fmla="*/ 947352 h 1317625"/>
              <a:gd name="connsiteX1-35" fmla="*/ 185137 w 740547"/>
              <a:gd name="connsiteY1-36" fmla="*/ 947352 h 1317625"/>
              <a:gd name="connsiteX2-37" fmla="*/ 185137 w 740547"/>
              <a:gd name="connsiteY2-38" fmla="*/ 139927 h 1317625"/>
              <a:gd name="connsiteX3-39" fmla="*/ 173843 w 740547"/>
              <a:gd name="connsiteY3-40" fmla="*/ 0 h 1317625"/>
              <a:gd name="connsiteX4-41" fmla="*/ 555410 w 740547"/>
              <a:gd name="connsiteY4-42" fmla="*/ 947352 h 1317625"/>
              <a:gd name="connsiteX5-43" fmla="*/ 740547 w 740547"/>
              <a:gd name="connsiteY5-44" fmla="*/ 947352 h 1317625"/>
              <a:gd name="connsiteX6-45" fmla="*/ 370274 w 740547"/>
              <a:gd name="connsiteY6-46" fmla="*/ 1317625 h 1317625"/>
              <a:gd name="connsiteX7-47" fmla="*/ 0 w 740547"/>
              <a:gd name="connsiteY7-48" fmla="*/ 947352 h 1317625"/>
              <a:gd name="connsiteX0-49" fmla="*/ 0 w 740547"/>
              <a:gd name="connsiteY0-50" fmla="*/ 947352 h 1317625"/>
              <a:gd name="connsiteX1-51" fmla="*/ 185137 w 740547"/>
              <a:gd name="connsiteY1-52" fmla="*/ 947352 h 1317625"/>
              <a:gd name="connsiteX2-53" fmla="*/ 185137 w 740547"/>
              <a:gd name="connsiteY2-54" fmla="*/ 139927 h 1317625"/>
              <a:gd name="connsiteX3-55" fmla="*/ 173843 w 740547"/>
              <a:gd name="connsiteY3-56" fmla="*/ 0 h 1317625"/>
              <a:gd name="connsiteX4-57" fmla="*/ 555410 w 740547"/>
              <a:gd name="connsiteY4-58" fmla="*/ 947352 h 1317625"/>
              <a:gd name="connsiteX5-59" fmla="*/ 740547 w 740547"/>
              <a:gd name="connsiteY5-60" fmla="*/ 947352 h 1317625"/>
              <a:gd name="connsiteX6-61" fmla="*/ 370274 w 740547"/>
              <a:gd name="connsiteY6-62" fmla="*/ 1317625 h 1317625"/>
              <a:gd name="connsiteX7-63" fmla="*/ 0 w 740547"/>
              <a:gd name="connsiteY7-64" fmla="*/ 947352 h 1317625"/>
              <a:gd name="connsiteX0-65" fmla="*/ 0 w 740547"/>
              <a:gd name="connsiteY0-66" fmla="*/ 947352 h 1317625"/>
              <a:gd name="connsiteX1-67" fmla="*/ 185137 w 740547"/>
              <a:gd name="connsiteY1-68" fmla="*/ 947352 h 1317625"/>
              <a:gd name="connsiteX2-69" fmla="*/ 185137 w 740547"/>
              <a:gd name="connsiteY2-70" fmla="*/ 139927 h 1317625"/>
              <a:gd name="connsiteX3-71" fmla="*/ 173843 w 740547"/>
              <a:gd name="connsiteY3-72" fmla="*/ 0 h 1317625"/>
              <a:gd name="connsiteX4-73" fmla="*/ 555410 w 740547"/>
              <a:gd name="connsiteY4-74" fmla="*/ 947352 h 1317625"/>
              <a:gd name="connsiteX5-75" fmla="*/ 740547 w 740547"/>
              <a:gd name="connsiteY5-76" fmla="*/ 947352 h 1317625"/>
              <a:gd name="connsiteX6-77" fmla="*/ 370274 w 740547"/>
              <a:gd name="connsiteY6-78" fmla="*/ 1317625 h 1317625"/>
              <a:gd name="connsiteX7-79" fmla="*/ 0 w 740547"/>
              <a:gd name="connsiteY7-80" fmla="*/ 947352 h 1317625"/>
              <a:gd name="connsiteX0-81" fmla="*/ 0 w 740547"/>
              <a:gd name="connsiteY0-82" fmla="*/ 947352 h 1317625"/>
              <a:gd name="connsiteX1-83" fmla="*/ 185137 w 740547"/>
              <a:gd name="connsiteY1-84" fmla="*/ 947352 h 1317625"/>
              <a:gd name="connsiteX2-85" fmla="*/ 185137 w 740547"/>
              <a:gd name="connsiteY2-86" fmla="*/ 139927 h 1317625"/>
              <a:gd name="connsiteX3-87" fmla="*/ 173843 w 740547"/>
              <a:gd name="connsiteY3-88" fmla="*/ 0 h 1317625"/>
              <a:gd name="connsiteX4-89" fmla="*/ 555410 w 740547"/>
              <a:gd name="connsiteY4-90" fmla="*/ 947352 h 1317625"/>
              <a:gd name="connsiteX5-91" fmla="*/ 740547 w 740547"/>
              <a:gd name="connsiteY5-92" fmla="*/ 947352 h 1317625"/>
              <a:gd name="connsiteX6-93" fmla="*/ 370274 w 740547"/>
              <a:gd name="connsiteY6-94" fmla="*/ 1317625 h 1317625"/>
              <a:gd name="connsiteX7-95" fmla="*/ 0 w 740547"/>
              <a:gd name="connsiteY7-96" fmla="*/ 947352 h 1317625"/>
              <a:gd name="connsiteX0-97" fmla="*/ 0 w 740547"/>
              <a:gd name="connsiteY0-98" fmla="*/ 947352 h 1317625"/>
              <a:gd name="connsiteX1-99" fmla="*/ 185137 w 740547"/>
              <a:gd name="connsiteY1-100" fmla="*/ 947352 h 1317625"/>
              <a:gd name="connsiteX2-101" fmla="*/ 185137 w 740547"/>
              <a:gd name="connsiteY2-102" fmla="*/ 139927 h 1317625"/>
              <a:gd name="connsiteX3-103" fmla="*/ 173843 w 740547"/>
              <a:gd name="connsiteY3-104" fmla="*/ 0 h 1317625"/>
              <a:gd name="connsiteX4-105" fmla="*/ 555410 w 740547"/>
              <a:gd name="connsiteY4-106" fmla="*/ 947352 h 1317625"/>
              <a:gd name="connsiteX5-107" fmla="*/ 740547 w 740547"/>
              <a:gd name="connsiteY5-108" fmla="*/ 947352 h 1317625"/>
              <a:gd name="connsiteX6-109" fmla="*/ 370274 w 740547"/>
              <a:gd name="connsiteY6-110" fmla="*/ 1317625 h 1317625"/>
              <a:gd name="connsiteX7-111" fmla="*/ 0 w 740547"/>
              <a:gd name="connsiteY7-112" fmla="*/ 947352 h 1317625"/>
              <a:gd name="connsiteX0-113" fmla="*/ 0 w 740547"/>
              <a:gd name="connsiteY0-114" fmla="*/ 947352 h 1317625"/>
              <a:gd name="connsiteX1-115" fmla="*/ 185137 w 740547"/>
              <a:gd name="connsiteY1-116" fmla="*/ 947352 h 1317625"/>
              <a:gd name="connsiteX2-117" fmla="*/ 185137 w 740547"/>
              <a:gd name="connsiteY2-118" fmla="*/ 139927 h 1317625"/>
              <a:gd name="connsiteX3-119" fmla="*/ 173843 w 740547"/>
              <a:gd name="connsiteY3-120" fmla="*/ 0 h 1317625"/>
              <a:gd name="connsiteX4-121" fmla="*/ 555410 w 740547"/>
              <a:gd name="connsiteY4-122" fmla="*/ 947352 h 1317625"/>
              <a:gd name="connsiteX5-123" fmla="*/ 740547 w 740547"/>
              <a:gd name="connsiteY5-124" fmla="*/ 947352 h 1317625"/>
              <a:gd name="connsiteX6-125" fmla="*/ 370274 w 740547"/>
              <a:gd name="connsiteY6-126" fmla="*/ 1317625 h 1317625"/>
              <a:gd name="connsiteX7-127" fmla="*/ 0 w 740547"/>
              <a:gd name="connsiteY7-128" fmla="*/ 947352 h 1317625"/>
              <a:gd name="connsiteX0-129" fmla="*/ 0 w 740547"/>
              <a:gd name="connsiteY0-130" fmla="*/ 947352 h 1317625"/>
              <a:gd name="connsiteX1-131" fmla="*/ 185137 w 740547"/>
              <a:gd name="connsiteY1-132" fmla="*/ 947352 h 1317625"/>
              <a:gd name="connsiteX2-133" fmla="*/ 185137 w 740547"/>
              <a:gd name="connsiteY2-134" fmla="*/ 139927 h 1317625"/>
              <a:gd name="connsiteX3-135" fmla="*/ 173843 w 740547"/>
              <a:gd name="connsiteY3-136" fmla="*/ 0 h 1317625"/>
              <a:gd name="connsiteX4-137" fmla="*/ 555410 w 740547"/>
              <a:gd name="connsiteY4-138" fmla="*/ 947352 h 1317625"/>
              <a:gd name="connsiteX5-139" fmla="*/ 740547 w 740547"/>
              <a:gd name="connsiteY5-140" fmla="*/ 947352 h 1317625"/>
              <a:gd name="connsiteX6-141" fmla="*/ 370274 w 740547"/>
              <a:gd name="connsiteY6-142" fmla="*/ 1317625 h 1317625"/>
              <a:gd name="connsiteX7-143" fmla="*/ 0 w 740547"/>
              <a:gd name="connsiteY7-144" fmla="*/ 947352 h 1317625"/>
              <a:gd name="connsiteX0-145" fmla="*/ 0 w 740547"/>
              <a:gd name="connsiteY0-146" fmla="*/ 947352 h 1317625"/>
              <a:gd name="connsiteX1-147" fmla="*/ 185137 w 740547"/>
              <a:gd name="connsiteY1-148" fmla="*/ 947352 h 1317625"/>
              <a:gd name="connsiteX2-149" fmla="*/ 185137 w 740547"/>
              <a:gd name="connsiteY2-150" fmla="*/ 139927 h 1317625"/>
              <a:gd name="connsiteX3-151" fmla="*/ 173843 w 740547"/>
              <a:gd name="connsiteY3-152" fmla="*/ 0 h 1317625"/>
              <a:gd name="connsiteX4-153" fmla="*/ 555410 w 740547"/>
              <a:gd name="connsiteY4-154" fmla="*/ 947352 h 1317625"/>
              <a:gd name="connsiteX5-155" fmla="*/ 740547 w 740547"/>
              <a:gd name="connsiteY5-156" fmla="*/ 947352 h 1317625"/>
              <a:gd name="connsiteX6-157" fmla="*/ 370274 w 740547"/>
              <a:gd name="connsiteY6-158" fmla="*/ 1317625 h 1317625"/>
              <a:gd name="connsiteX7-159" fmla="*/ 0 w 740547"/>
              <a:gd name="connsiteY7-160" fmla="*/ 947352 h 1317625"/>
              <a:gd name="connsiteX0-161" fmla="*/ 0 w 740547"/>
              <a:gd name="connsiteY0-162" fmla="*/ 947352 h 1317625"/>
              <a:gd name="connsiteX1-163" fmla="*/ 185137 w 740547"/>
              <a:gd name="connsiteY1-164" fmla="*/ 947352 h 1317625"/>
              <a:gd name="connsiteX2-165" fmla="*/ 199424 w 740547"/>
              <a:gd name="connsiteY2-166" fmla="*/ 139927 h 1317625"/>
              <a:gd name="connsiteX3-167" fmla="*/ 173843 w 740547"/>
              <a:gd name="connsiteY3-168" fmla="*/ 0 h 1317625"/>
              <a:gd name="connsiteX4-169" fmla="*/ 555410 w 740547"/>
              <a:gd name="connsiteY4-170" fmla="*/ 947352 h 1317625"/>
              <a:gd name="connsiteX5-171" fmla="*/ 740547 w 740547"/>
              <a:gd name="connsiteY5-172" fmla="*/ 947352 h 1317625"/>
              <a:gd name="connsiteX6-173" fmla="*/ 370274 w 740547"/>
              <a:gd name="connsiteY6-174" fmla="*/ 1317625 h 1317625"/>
              <a:gd name="connsiteX7-175" fmla="*/ 0 w 740547"/>
              <a:gd name="connsiteY7-176" fmla="*/ 947352 h 1317625"/>
              <a:gd name="connsiteX0-177" fmla="*/ 0 w 740547"/>
              <a:gd name="connsiteY0-178" fmla="*/ 947352 h 1317625"/>
              <a:gd name="connsiteX1-179" fmla="*/ 185137 w 740547"/>
              <a:gd name="connsiteY1-180" fmla="*/ 947352 h 1317625"/>
              <a:gd name="connsiteX2-181" fmla="*/ 192280 w 740547"/>
              <a:gd name="connsiteY2-182" fmla="*/ 137545 h 1317625"/>
              <a:gd name="connsiteX3-183" fmla="*/ 173843 w 740547"/>
              <a:gd name="connsiteY3-184" fmla="*/ 0 h 1317625"/>
              <a:gd name="connsiteX4-185" fmla="*/ 555410 w 740547"/>
              <a:gd name="connsiteY4-186" fmla="*/ 947352 h 1317625"/>
              <a:gd name="connsiteX5-187" fmla="*/ 740547 w 740547"/>
              <a:gd name="connsiteY5-188" fmla="*/ 947352 h 1317625"/>
              <a:gd name="connsiteX6-189" fmla="*/ 370274 w 740547"/>
              <a:gd name="connsiteY6-190" fmla="*/ 1317625 h 1317625"/>
              <a:gd name="connsiteX7-191" fmla="*/ 0 w 740547"/>
              <a:gd name="connsiteY7-192" fmla="*/ 947352 h 13176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40547" h="1317625">
                <a:moveTo>
                  <a:pt x="0" y="947352"/>
                </a:moveTo>
                <a:lnTo>
                  <a:pt x="185137" y="947352"/>
                </a:lnTo>
                <a:cubicBezTo>
                  <a:pt x="282769" y="661541"/>
                  <a:pt x="220855" y="466219"/>
                  <a:pt x="192280" y="137545"/>
                </a:cubicBezTo>
                <a:cubicBezTo>
                  <a:pt x="182166" y="-35303"/>
                  <a:pt x="176814" y="46642"/>
                  <a:pt x="173843" y="0"/>
                </a:cubicBezTo>
                <a:cubicBezTo>
                  <a:pt x="348657" y="303877"/>
                  <a:pt x="423459" y="405349"/>
                  <a:pt x="555410" y="947352"/>
                </a:cubicBezTo>
                <a:lnTo>
                  <a:pt x="740547" y="947352"/>
                </a:lnTo>
                <a:lnTo>
                  <a:pt x="370274" y="1317625"/>
                </a:lnTo>
                <a:lnTo>
                  <a:pt x="0" y="947352"/>
                </a:lnTo>
                <a:close/>
              </a:path>
            </a:pathLst>
          </a:custGeom>
          <a:solidFill>
            <a:srgbClr val="DDE9F5"/>
          </a:solidFill>
          <a:ln w="19050">
            <a:noFill/>
          </a:ln>
        </p:spPr>
        <p:txBody>
          <a:bodyPr wrap="square" rtlCol="0" anchor="ctr">
            <a:spAutoFit/>
          </a:bodyPr>
          <a:lstStyle/>
          <a:p>
            <a:pPr algn="ctr"/>
            <a:endParaRPr lang="zh-CN" altLang="en-US" sz="1050" b="1" dirty="0">
              <a:solidFill>
                <a:srgbClr val="FFFF00"/>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AC76D4F3-46AB-4BD0-824F-059C98BFEF0D}"/>
              </a:ext>
            </a:extLst>
          </p:cNvPr>
          <p:cNvSpPr txBox="1"/>
          <p:nvPr/>
        </p:nvSpPr>
        <p:spPr>
          <a:xfrm>
            <a:off x="1005136" y="5156473"/>
            <a:ext cx="2440360" cy="369332"/>
          </a:xfrm>
          <a:prstGeom prst="rect">
            <a:avLst/>
          </a:prstGeom>
          <a:noFill/>
          <a:ln w="9525">
            <a:noFill/>
          </a:ln>
        </p:spPr>
        <p:txBody>
          <a:bodyPr wrap="square">
            <a:spAutoFit/>
          </a:bodyPr>
          <a:lstStyle/>
          <a:p>
            <a:pPr indent="0" algn="ctr"/>
            <a:r>
              <a:rPr lang="zh-CN" altLang="en-US" b="1" dirty="0">
                <a:solidFill>
                  <a:srgbClr val="C00000"/>
                </a:solidFill>
                <a:latin typeface="微软雅黑" panose="020B0503020204020204" pitchFamily="34" charset="-122"/>
                <a:ea typeface="微软雅黑" panose="020B0503020204020204" pitchFamily="34" charset="-122"/>
                <a:sym typeface="+mn-ea"/>
              </a:rPr>
              <a:t>主成分载荷分析</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20" name="椭圆 19">
            <a:extLst>
              <a:ext uri="{FF2B5EF4-FFF2-40B4-BE49-F238E27FC236}">
                <a16:creationId xmlns:a16="http://schemas.microsoft.com/office/drawing/2014/main" id="{16C3CD16-2AAF-420C-B28F-D4371B829C70}"/>
              </a:ext>
            </a:extLst>
          </p:cNvPr>
          <p:cNvSpPr/>
          <p:nvPr/>
        </p:nvSpPr>
        <p:spPr>
          <a:xfrm>
            <a:off x="497450" y="2236758"/>
            <a:ext cx="559776" cy="559776"/>
          </a:xfrm>
          <a:prstGeom prst="ellips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w="19050">
            <a:noFill/>
          </a:ln>
        </p:spPr>
        <p:txBody>
          <a:bodyPr wrap="square" rtlCol="0" anchor="ctr">
            <a:spAutoFit/>
          </a:bodyPr>
          <a:lstStyle/>
          <a:p>
            <a:pPr algn="ctr"/>
            <a:endParaRPr lang="zh-CN" altLang="en-US" sz="1050" b="1" dirty="0">
              <a:solidFill>
                <a:srgbClr val="FFFF00"/>
              </a:solidFill>
              <a:latin typeface="微软雅黑" panose="020B0503020204020204" pitchFamily="34" charset="-122"/>
              <a:ea typeface="微软雅黑" panose="020B0503020204020204" pitchFamily="34" charset="-122"/>
            </a:endParaRPr>
          </a:p>
        </p:txBody>
      </p:sp>
      <p:sp>
        <p:nvSpPr>
          <p:cNvPr id="21" name="椭圆 20">
            <a:extLst>
              <a:ext uri="{FF2B5EF4-FFF2-40B4-BE49-F238E27FC236}">
                <a16:creationId xmlns:a16="http://schemas.microsoft.com/office/drawing/2014/main" id="{64BF838D-D0F0-4D39-BFBF-94CFEE190B0A}"/>
              </a:ext>
            </a:extLst>
          </p:cNvPr>
          <p:cNvSpPr/>
          <p:nvPr/>
        </p:nvSpPr>
        <p:spPr>
          <a:xfrm>
            <a:off x="804252" y="3745206"/>
            <a:ext cx="559776" cy="559776"/>
          </a:xfrm>
          <a:prstGeom prst="ellipse">
            <a:avLst/>
          </a:pr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9050">
            <a:noFill/>
          </a:ln>
        </p:spPr>
        <p:txBody>
          <a:bodyPr wrap="square" rtlCol="0" anchor="ctr">
            <a:spAutoFit/>
          </a:bodyPr>
          <a:lstStyle/>
          <a:p>
            <a:pPr algn="ctr"/>
            <a:endParaRPr lang="zh-CN" altLang="en-US" sz="1050" b="1" dirty="0">
              <a:solidFill>
                <a:srgbClr val="FFFF00"/>
              </a:solidFill>
              <a:latin typeface="微软雅黑" panose="020B0503020204020204" pitchFamily="34" charset="-122"/>
              <a:ea typeface="微软雅黑" panose="020B0503020204020204" pitchFamily="34" charset="-122"/>
            </a:endParaRPr>
          </a:p>
        </p:txBody>
      </p:sp>
      <p:sp>
        <p:nvSpPr>
          <p:cNvPr id="22" name="椭圆 21">
            <a:extLst>
              <a:ext uri="{FF2B5EF4-FFF2-40B4-BE49-F238E27FC236}">
                <a16:creationId xmlns:a16="http://schemas.microsoft.com/office/drawing/2014/main" id="{097406C1-8B80-4B30-82F8-3EC37F1A86FD}"/>
              </a:ext>
            </a:extLst>
          </p:cNvPr>
          <p:cNvSpPr/>
          <p:nvPr/>
        </p:nvSpPr>
        <p:spPr>
          <a:xfrm>
            <a:off x="298115" y="5086149"/>
            <a:ext cx="559776" cy="559776"/>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9050">
            <a:noFill/>
          </a:ln>
        </p:spPr>
        <p:txBody>
          <a:bodyPr wrap="square" rtlCol="0" anchor="ctr">
            <a:spAutoFit/>
          </a:bodyPr>
          <a:lstStyle/>
          <a:p>
            <a:pPr algn="ctr"/>
            <a:endParaRPr lang="zh-CN" altLang="en-US" sz="1050" b="1" dirty="0">
              <a:solidFill>
                <a:srgbClr val="FFFF00"/>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3445C699-5BF3-4AC0-9EC1-1456627B97F2}"/>
              </a:ext>
            </a:extLst>
          </p:cNvPr>
          <p:cNvSpPr txBox="1"/>
          <p:nvPr/>
        </p:nvSpPr>
        <p:spPr>
          <a:xfrm>
            <a:off x="1330254" y="2315545"/>
            <a:ext cx="1790124" cy="369332"/>
          </a:xfrm>
          <a:prstGeom prst="rect">
            <a:avLst/>
          </a:prstGeom>
          <a:noFill/>
          <a:ln w="9525">
            <a:noFill/>
          </a:ln>
        </p:spPr>
        <p:txBody>
          <a:bodyPr wrap="square">
            <a:spAutoFit/>
          </a:bodyPr>
          <a:lstStyle/>
          <a:p>
            <a:pPr indent="0" algn="ctr"/>
            <a:r>
              <a:rPr lang="zh-CN" altLang="en-US" b="1" dirty="0">
                <a:latin typeface="微软雅黑" panose="020B0503020204020204" pitchFamily="34" charset="-122"/>
                <a:ea typeface="微软雅黑" panose="020B0503020204020204" pitchFamily="34" charset="-122"/>
              </a:rPr>
              <a:t>数据预处理</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D692A18D-5B33-42D6-9709-CB4DCF09042A}"/>
              </a:ext>
            </a:extLst>
          </p:cNvPr>
          <p:cNvSpPr txBox="1">
            <a:spLocks/>
          </p:cNvSpPr>
          <p:nvPr/>
        </p:nvSpPr>
        <p:spPr>
          <a:xfrm>
            <a:off x="4915685" y="1946028"/>
            <a:ext cx="6511767" cy="1174294"/>
          </a:xfrm>
          <a:prstGeom prst="roundRect">
            <a:avLst/>
          </a:prstGeom>
          <a:solidFill>
            <a:schemeClr val="bg1"/>
          </a:solidFill>
          <a:ln w="9525">
            <a:noFill/>
          </a:ln>
          <a:effectLst>
            <a:outerShdw blurRad="63500" algn="ctr" rotWithShape="0">
              <a:prstClr val="black">
                <a:alpha val="40000"/>
              </a:prstClr>
            </a:outerShdw>
          </a:effectLst>
        </p:spPr>
        <p:txBody>
          <a:bodyPr wrap="square">
            <a:spAutoFit/>
          </a:bodyPr>
          <a:lstStyle>
            <a:defPPr>
              <a:defRPr lang="zh-CN"/>
            </a:defPPr>
            <a:lvl1pPr indent="0">
              <a:lnSpc>
                <a:spcPct val="120000"/>
              </a:lnSpc>
              <a:defRPr b="1">
                <a:latin typeface="微软雅黑" panose="020B0503020204020204" pitchFamily="34" charset="-122"/>
                <a:ea typeface="微软雅黑" panose="020B0503020204020204" pitchFamily="34" charset="-122"/>
              </a:defRPr>
            </a:lvl1pPr>
          </a:lstStyle>
          <a:p>
            <a:pPr lvl="0" algn="l">
              <a:buClrTx/>
              <a:buSzTx/>
              <a:buFontTx/>
            </a:pPr>
            <a:r>
              <a:rPr lang="zh-CN" altLang="en-US" dirty="0">
                <a:sym typeface="+mn-ea"/>
              </a:rPr>
              <a:t>收集渭河流域 </a:t>
            </a:r>
            <a:r>
              <a:rPr lang="en-US" altLang="zh-CN" dirty="0">
                <a:sym typeface="+mn-ea"/>
              </a:rPr>
              <a:t>2021 </a:t>
            </a:r>
            <a:r>
              <a:rPr lang="zh-CN" altLang="en-US" dirty="0">
                <a:sym typeface="+mn-ea"/>
              </a:rPr>
              <a:t>年 </a:t>
            </a:r>
            <a:r>
              <a:rPr lang="en-US" altLang="zh-CN" dirty="0">
                <a:sym typeface="+mn-ea"/>
              </a:rPr>
              <a:t>1 </a:t>
            </a:r>
            <a:r>
              <a:rPr lang="zh-CN" altLang="en-US" dirty="0">
                <a:sym typeface="+mn-ea"/>
              </a:rPr>
              <a:t>月至 </a:t>
            </a:r>
            <a:r>
              <a:rPr lang="en-US" altLang="zh-CN" dirty="0">
                <a:sym typeface="+mn-ea"/>
              </a:rPr>
              <a:t>2024 </a:t>
            </a:r>
            <a:r>
              <a:rPr lang="zh-CN" altLang="en-US" dirty="0">
                <a:sym typeface="+mn-ea"/>
              </a:rPr>
              <a:t>年 </a:t>
            </a:r>
            <a:r>
              <a:rPr lang="en-US" altLang="zh-CN" dirty="0">
                <a:sym typeface="+mn-ea"/>
              </a:rPr>
              <a:t>3 </a:t>
            </a:r>
            <a:r>
              <a:rPr lang="zh-CN" altLang="en-US" dirty="0">
                <a:sym typeface="+mn-ea"/>
              </a:rPr>
              <a:t>月的</a:t>
            </a:r>
            <a:r>
              <a:rPr lang="zh-CN" altLang="en-US" dirty="0">
                <a:solidFill>
                  <a:srgbClr val="C00000"/>
                </a:solidFill>
                <a:sym typeface="+mn-ea"/>
              </a:rPr>
              <a:t>水质监测数据</a:t>
            </a:r>
            <a:r>
              <a:rPr lang="zh-CN" altLang="en-US" dirty="0">
                <a:sym typeface="+mn-ea"/>
              </a:rPr>
              <a:t>，包括 </a:t>
            </a:r>
            <a:r>
              <a:rPr lang="en-US" altLang="zh-CN" dirty="0">
                <a:sym typeface="+mn-ea"/>
              </a:rPr>
              <a:t>25 </a:t>
            </a:r>
            <a:r>
              <a:rPr lang="zh-CN" altLang="en-US" dirty="0">
                <a:sym typeface="+mn-ea"/>
              </a:rPr>
              <a:t>项水质指标，对数据进行了</a:t>
            </a:r>
            <a:r>
              <a:rPr lang="zh-CN" altLang="en-US" dirty="0">
                <a:solidFill>
                  <a:srgbClr val="C00000"/>
                </a:solidFill>
                <a:sym typeface="+mn-ea"/>
              </a:rPr>
              <a:t>标准化处理</a:t>
            </a:r>
            <a:r>
              <a:rPr lang="zh-CN" altLang="en-US" dirty="0">
                <a:sym typeface="+mn-ea"/>
              </a:rPr>
              <a:t>，以消除不同指标量纲和数量级差异的影响，使各指标具有可比性。</a:t>
            </a:r>
          </a:p>
        </p:txBody>
      </p:sp>
      <p:sp>
        <p:nvSpPr>
          <p:cNvPr id="26" name="文本框 25">
            <a:extLst>
              <a:ext uri="{FF2B5EF4-FFF2-40B4-BE49-F238E27FC236}">
                <a16:creationId xmlns:a16="http://schemas.microsoft.com/office/drawing/2014/main" id="{1EA25D25-388C-4C5E-9498-AAE3AB365B13}"/>
              </a:ext>
            </a:extLst>
          </p:cNvPr>
          <p:cNvSpPr txBox="1">
            <a:spLocks/>
          </p:cNvSpPr>
          <p:nvPr/>
        </p:nvSpPr>
        <p:spPr>
          <a:xfrm>
            <a:off x="4915685" y="3437947"/>
            <a:ext cx="6511767" cy="1174294"/>
          </a:xfrm>
          <a:prstGeom prst="roundRect">
            <a:avLst/>
          </a:prstGeom>
          <a:solidFill>
            <a:schemeClr val="bg1"/>
          </a:solidFill>
          <a:ln w="9525">
            <a:noFill/>
          </a:ln>
          <a:effectLst>
            <a:outerShdw blurRad="63500" algn="ctr" rotWithShape="0">
              <a:prstClr val="black">
                <a:alpha val="40000"/>
              </a:prstClr>
            </a:outerShdw>
          </a:effectLst>
        </p:spPr>
        <p:txBody>
          <a:bodyPr wrap="square">
            <a:spAutoFit/>
          </a:bodyPr>
          <a:lstStyle>
            <a:defPPr>
              <a:defRPr lang="zh-CN"/>
            </a:defPPr>
            <a:lvl1pPr indent="0">
              <a:lnSpc>
                <a:spcPct val="120000"/>
              </a:lnSpc>
              <a:defRPr b="1">
                <a:latin typeface="微软雅黑" panose="020B0503020204020204" pitchFamily="34" charset="-122"/>
                <a:ea typeface="微软雅黑" panose="020B0503020204020204" pitchFamily="34" charset="-122"/>
              </a:defRPr>
            </a:lvl1pPr>
          </a:lstStyle>
          <a:p>
            <a:r>
              <a:rPr lang="zh-CN" altLang="en-US" dirty="0"/>
              <a:t>计算协方差矩阵或相关系数矩阵，并求解其</a:t>
            </a:r>
            <a:r>
              <a:rPr lang="zh-CN" altLang="en-US" dirty="0">
                <a:solidFill>
                  <a:srgbClr val="C00000"/>
                </a:solidFill>
              </a:rPr>
              <a:t>特征值</a:t>
            </a:r>
            <a:r>
              <a:rPr lang="zh-CN" altLang="en-US" dirty="0"/>
              <a:t>和</a:t>
            </a:r>
            <a:r>
              <a:rPr lang="zh-CN" altLang="en-US" dirty="0">
                <a:solidFill>
                  <a:srgbClr val="C00000"/>
                </a:solidFill>
              </a:rPr>
              <a:t>特征向量</a:t>
            </a:r>
            <a:r>
              <a:rPr lang="zh-CN" altLang="en-US" dirty="0"/>
              <a:t>。根据</a:t>
            </a:r>
            <a:r>
              <a:rPr lang="zh-CN" altLang="en-US" dirty="0">
                <a:solidFill>
                  <a:srgbClr val="C00000"/>
                </a:solidFill>
              </a:rPr>
              <a:t>特征值大于 </a:t>
            </a:r>
            <a:r>
              <a:rPr lang="en-US" altLang="zh-CN" dirty="0">
                <a:solidFill>
                  <a:srgbClr val="C00000"/>
                </a:solidFill>
              </a:rPr>
              <a:t>1 </a:t>
            </a:r>
            <a:r>
              <a:rPr lang="zh-CN" altLang="en-US" dirty="0"/>
              <a:t>的原则确定主成分的数量，并通过累计贡献率评估所选主成分对原始数据的代表性。</a:t>
            </a:r>
          </a:p>
        </p:txBody>
      </p:sp>
      <p:sp>
        <p:nvSpPr>
          <p:cNvPr id="27" name="文本框 26">
            <a:extLst>
              <a:ext uri="{FF2B5EF4-FFF2-40B4-BE49-F238E27FC236}">
                <a16:creationId xmlns:a16="http://schemas.microsoft.com/office/drawing/2014/main" id="{2007CFCD-7E36-47E8-9C4F-CC8A69327A64}"/>
              </a:ext>
            </a:extLst>
          </p:cNvPr>
          <p:cNvSpPr txBox="1">
            <a:spLocks/>
          </p:cNvSpPr>
          <p:nvPr/>
        </p:nvSpPr>
        <p:spPr>
          <a:xfrm>
            <a:off x="4937760" y="4962770"/>
            <a:ext cx="6511767" cy="806533"/>
          </a:xfrm>
          <a:prstGeom prst="roundRect">
            <a:avLst/>
          </a:prstGeom>
          <a:solidFill>
            <a:schemeClr val="bg1"/>
          </a:solidFill>
          <a:ln w="9525">
            <a:noFill/>
          </a:ln>
          <a:effectLst>
            <a:outerShdw blurRad="63500" algn="ctr" rotWithShape="0">
              <a:prstClr val="black">
                <a:alpha val="40000"/>
              </a:prstClr>
            </a:outerShdw>
          </a:effectLst>
        </p:spPr>
        <p:txBody>
          <a:bodyPr wrap="square">
            <a:spAutoFit/>
          </a:bodyPr>
          <a:lstStyle>
            <a:defPPr>
              <a:defRPr lang="zh-CN"/>
            </a:defPPr>
            <a:lvl1pPr indent="0">
              <a:lnSpc>
                <a:spcPct val="120000"/>
              </a:lnSpc>
              <a:defRPr b="1">
                <a:latin typeface="微软雅黑" panose="020B0503020204020204" pitchFamily="34" charset="-122"/>
                <a:ea typeface="微软雅黑" panose="020B0503020204020204" pitchFamily="34" charset="-122"/>
              </a:defRPr>
            </a:lvl1pPr>
          </a:lstStyle>
          <a:p>
            <a:pPr lvl="0" algn="l">
              <a:buClrTx/>
              <a:buSzTx/>
              <a:buFontTx/>
            </a:pPr>
            <a:r>
              <a:rPr lang="zh-CN" altLang="en-US" dirty="0">
                <a:sym typeface="+mn-ea"/>
              </a:rPr>
              <a:t>分析各主成分的</a:t>
            </a:r>
            <a:r>
              <a:rPr lang="zh-CN" altLang="en-US" dirty="0">
                <a:solidFill>
                  <a:srgbClr val="C00000"/>
                </a:solidFill>
                <a:sym typeface="+mn-ea"/>
              </a:rPr>
              <a:t>载荷系数</a:t>
            </a:r>
            <a:r>
              <a:rPr lang="zh-CN" altLang="en-US" dirty="0">
                <a:sym typeface="+mn-ea"/>
              </a:rPr>
              <a:t>，确定每个主成分所代表的原始变量组合，即识别出影响水质的主要</a:t>
            </a:r>
            <a:r>
              <a:rPr lang="zh-CN" altLang="en-US" dirty="0">
                <a:solidFill>
                  <a:srgbClr val="C00000"/>
                </a:solidFill>
                <a:sym typeface="+mn-ea"/>
              </a:rPr>
              <a:t>污染物因子</a:t>
            </a:r>
            <a:r>
              <a:rPr lang="zh-CN" altLang="en-US" dirty="0">
                <a:sym typeface="+mn-ea"/>
              </a:rPr>
              <a:t>。</a:t>
            </a:r>
          </a:p>
        </p:txBody>
      </p:sp>
      <p:sp>
        <p:nvSpPr>
          <p:cNvPr id="28" name="箭头: 下 4">
            <a:extLst>
              <a:ext uri="{FF2B5EF4-FFF2-40B4-BE49-F238E27FC236}">
                <a16:creationId xmlns:a16="http://schemas.microsoft.com/office/drawing/2014/main" id="{600D9D2D-7A34-4D68-9A03-0F628E75EC38}"/>
              </a:ext>
            </a:extLst>
          </p:cNvPr>
          <p:cNvSpPr/>
          <p:nvPr/>
        </p:nvSpPr>
        <p:spPr>
          <a:xfrm rot="1763301">
            <a:off x="1618807" y="4089309"/>
            <a:ext cx="465602" cy="1157224"/>
          </a:xfrm>
          <a:custGeom>
            <a:avLst/>
            <a:gdLst>
              <a:gd name="connsiteX0" fmla="*/ 0 w 740547"/>
              <a:gd name="connsiteY0" fmla="*/ 807425 h 1177698"/>
              <a:gd name="connsiteX1" fmla="*/ 185137 w 740547"/>
              <a:gd name="connsiteY1" fmla="*/ 807425 h 1177698"/>
              <a:gd name="connsiteX2" fmla="*/ 185137 w 740547"/>
              <a:gd name="connsiteY2" fmla="*/ 0 h 1177698"/>
              <a:gd name="connsiteX3" fmla="*/ 555410 w 740547"/>
              <a:gd name="connsiteY3" fmla="*/ 0 h 1177698"/>
              <a:gd name="connsiteX4" fmla="*/ 555410 w 740547"/>
              <a:gd name="connsiteY4" fmla="*/ 807425 h 1177698"/>
              <a:gd name="connsiteX5" fmla="*/ 740547 w 740547"/>
              <a:gd name="connsiteY5" fmla="*/ 807425 h 1177698"/>
              <a:gd name="connsiteX6" fmla="*/ 370274 w 740547"/>
              <a:gd name="connsiteY6" fmla="*/ 1177698 h 1177698"/>
              <a:gd name="connsiteX7" fmla="*/ 0 w 740547"/>
              <a:gd name="connsiteY7" fmla="*/ 807425 h 1177698"/>
              <a:gd name="connsiteX0-1" fmla="*/ 0 w 740547"/>
              <a:gd name="connsiteY0-2" fmla="*/ 923539 h 1293812"/>
              <a:gd name="connsiteX1-3" fmla="*/ 185137 w 740547"/>
              <a:gd name="connsiteY1-4" fmla="*/ 923539 h 1293812"/>
              <a:gd name="connsiteX2-5" fmla="*/ 185137 w 740547"/>
              <a:gd name="connsiteY2-6" fmla="*/ 116114 h 1293812"/>
              <a:gd name="connsiteX3-7" fmla="*/ 366724 w 740547"/>
              <a:gd name="connsiteY3-8" fmla="*/ 0 h 1293812"/>
              <a:gd name="connsiteX4-9" fmla="*/ 555410 w 740547"/>
              <a:gd name="connsiteY4-10" fmla="*/ 923539 h 1293812"/>
              <a:gd name="connsiteX5-11" fmla="*/ 740547 w 740547"/>
              <a:gd name="connsiteY5-12" fmla="*/ 923539 h 1293812"/>
              <a:gd name="connsiteX6-13" fmla="*/ 370274 w 740547"/>
              <a:gd name="connsiteY6-14" fmla="*/ 1293812 h 1293812"/>
              <a:gd name="connsiteX7-15" fmla="*/ 0 w 740547"/>
              <a:gd name="connsiteY7-16" fmla="*/ 923539 h 1293812"/>
              <a:gd name="connsiteX0-17" fmla="*/ 0 w 740547"/>
              <a:gd name="connsiteY0-18" fmla="*/ 947352 h 1317625"/>
              <a:gd name="connsiteX1-19" fmla="*/ 185137 w 740547"/>
              <a:gd name="connsiteY1-20" fmla="*/ 947352 h 1317625"/>
              <a:gd name="connsiteX2-21" fmla="*/ 185137 w 740547"/>
              <a:gd name="connsiteY2-22" fmla="*/ 139927 h 1317625"/>
              <a:gd name="connsiteX3-23" fmla="*/ 183368 w 740547"/>
              <a:gd name="connsiteY3-24" fmla="*/ 0 h 1317625"/>
              <a:gd name="connsiteX4-25" fmla="*/ 555410 w 740547"/>
              <a:gd name="connsiteY4-26" fmla="*/ 947352 h 1317625"/>
              <a:gd name="connsiteX5-27" fmla="*/ 740547 w 740547"/>
              <a:gd name="connsiteY5-28" fmla="*/ 947352 h 1317625"/>
              <a:gd name="connsiteX6-29" fmla="*/ 370274 w 740547"/>
              <a:gd name="connsiteY6-30" fmla="*/ 1317625 h 1317625"/>
              <a:gd name="connsiteX7-31" fmla="*/ 0 w 740547"/>
              <a:gd name="connsiteY7-32" fmla="*/ 947352 h 1317625"/>
              <a:gd name="connsiteX0-33" fmla="*/ 0 w 740547"/>
              <a:gd name="connsiteY0-34" fmla="*/ 947352 h 1317625"/>
              <a:gd name="connsiteX1-35" fmla="*/ 185137 w 740547"/>
              <a:gd name="connsiteY1-36" fmla="*/ 947352 h 1317625"/>
              <a:gd name="connsiteX2-37" fmla="*/ 185137 w 740547"/>
              <a:gd name="connsiteY2-38" fmla="*/ 139927 h 1317625"/>
              <a:gd name="connsiteX3-39" fmla="*/ 173843 w 740547"/>
              <a:gd name="connsiteY3-40" fmla="*/ 0 h 1317625"/>
              <a:gd name="connsiteX4-41" fmla="*/ 555410 w 740547"/>
              <a:gd name="connsiteY4-42" fmla="*/ 947352 h 1317625"/>
              <a:gd name="connsiteX5-43" fmla="*/ 740547 w 740547"/>
              <a:gd name="connsiteY5-44" fmla="*/ 947352 h 1317625"/>
              <a:gd name="connsiteX6-45" fmla="*/ 370274 w 740547"/>
              <a:gd name="connsiteY6-46" fmla="*/ 1317625 h 1317625"/>
              <a:gd name="connsiteX7-47" fmla="*/ 0 w 740547"/>
              <a:gd name="connsiteY7-48" fmla="*/ 947352 h 1317625"/>
              <a:gd name="connsiteX0-49" fmla="*/ 0 w 740547"/>
              <a:gd name="connsiteY0-50" fmla="*/ 947352 h 1317625"/>
              <a:gd name="connsiteX1-51" fmla="*/ 185137 w 740547"/>
              <a:gd name="connsiteY1-52" fmla="*/ 947352 h 1317625"/>
              <a:gd name="connsiteX2-53" fmla="*/ 185137 w 740547"/>
              <a:gd name="connsiteY2-54" fmla="*/ 139927 h 1317625"/>
              <a:gd name="connsiteX3-55" fmla="*/ 173843 w 740547"/>
              <a:gd name="connsiteY3-56" fmla="*/ 0 h 1317625"/>
              <a:gd name="connsiteX4-57" fmla="*/ 555410 w 740547"/>
              <a:gd name="connsiteY4-58" fmla="*/ 947352 h 1317625"/>
              <a:gd name="connsiteX5-59" fmla="*/ 740547 w 740547"/>
              <a:gd name="connsiteY5-60" fmla="*/ 947352 h 1317625"/>
              <a:gd name="connsiteX6-61" fmla="*/ 370274 w 740547"/>
              <a:gd name="connsiteY6-62" fmla="*/ 1317625 h 1317625"/>
              <a:gd name="connsiteX7-63" fmla="*/ 0 w 740547"/>
              <a:gd name="connsiteY7-64" fmla="*/ 947352 h 1317625"/>
              <a:gd name="connsiteX0-65" fmla="*/ 0 w 740547"/>
              <a:gd name="connsiteY0-66" fmla="*/ 947352 h 1317625"/>
              <a:gd name="connsiteX1-67" fmla="*/ 185137 w 740547"/>
              <a:gd name="connsiteY1-68" fmla="*/ 947352 h 1317625"/>
              <a:gd name="connsiteX2-69" fmla="*/ 185137 w 740547"/>
              <a:gd name="connsiteY2-70" fmla="*/ 139927 h 1317625"/>
              <a:gd name="connsiteX3-71" fmla="*/ 173843 w 740547"/>
              <a:gd name="connsiteY3-72" fmla="*/ 0 h 1317625"/>
              <a:gd name="connsiteX4-73" fmla="*/ 555410 w 740547"/>
              <a:gd name="connsiteY4-74" fmla="*/ 947352 h 1317625"/>
              <a:gd name="connsiteX5-75" fmla="*/ 740547 w 740547"/>
              <a:gd name="connsiteY5-76" fmla="*/ 947352 h 1317625"/>
              <a:gd name="connsiteX6-77" fmla="*/ 370274 w 740547"/>
              <a:gd name="connsiteY6-78" fmla="*/ 1317625 h 1317625"/>
              <a:gd name="connsiteX7-79" fmla="*/ 0 w 740547"/>
              <a:gd name="connsiteY7-80" fmla="*/ 947352 h 1317625"/>
              <a:gd name="connsiteX0-81" fmla="*/ 0 w 740547"/>
              <a:gd name="connsiteY0-82" fmla="*/ 947352 h 1317625"/>
              <a:gd name="connsiteX1-83" fmla="*/ 185137 w 740547"/>
              <a:gd name="connsiteY1-84" fmla="*/ 947352 h 1317625"/>
              <a:gd name="connsiteX2-85" fmla="*/ 185137 w 740547"/>
              <a:gd name="connsiteY2-86" fmla="*/ 139927 h 1317625"/>
              <a:gd name="connsiteX3-87" fmla="*/ 173843 w 740547"/>
              <a:gd name="connsiteY3-88" fmla="*/ 0 h 1317625"/>
              <a:gd name="connsiteX4-89" fmla="*/ 555410 w 740547"/>
              <a:gd name="connsiteY4-90" fmla="*/ 947352 h 1317625"/>
              <a:gd name="connsiteX5-91" fmla="*/ 740547 w 740547"/>
              <a:gd name="connsiteY5-92" fmla="*/ 947352 h 1317625"/>
              <a:gd name="connsiteX6-93" fmla="*/ 370274 w 740547"/>
              <a:gd name="connsiteY6-94" fmla="*/ 1317625 h 1317625"/>
              <a:gd name="connsiteX7-95" fmla="*/ 0 w 740547"/>
              <a:gd name="connsiteY7-96" fmla="*/ 947352 h 1317625"/>
              <a:gd name="connsiteX0-97" fmla="*/ 0 w 740547"/>
              <a:gd name="connsiteY0-98" fmla="*/ 947352 h 1317625"/>
              <a:gd name="connsiteX1-99" fmla="*/ 185137 w 740547"/>
              <a:gd name="connsiteY1-100" fmla="*/ 947352 h 1317625"/>
              <a:gd name="connsiteX2-101" fmla="*/ 185137 w 740547"/>
              <a:gd name="connsiteY2-102" fmla="*/ 139927 h 1317625"/>
              <a:gd name="connsiteX3-103" fmla="*/ 173843 w 740547"/>
              <a:gd name="connsiteY3-104" fmla="*/ 0 h 1317625"/>
              <a:gd name="connsiteX4-105" fmla="*/ 555410 w 740547"/>
              <a:gd name="connsiteY4-106" fmla="*/ 947352 h 1317625"/>
              <a:gd name="connsiteX5-107" fmla="*/ 740547 w 740547"/>
              <a:gd name="connsiteY5-108" fmla="*/ 947352 h 1317625"/>
              <a:gd name="connsiteX6-109" fmla="*/ 370274 w 740547"/>
              <a:gd name="connsiteY6-110" fmla="*/ 1317625 h 1317625"/>
              <a:gd name="connsiteX7-111" fmla="*/ 0 w 740547"/>
              <a:gd name="connsiteY7-112" fmla="*/ 947352 h 1317625"/>
              <a:gd name="connsiteX0-113" fmla="*/ 0 w 740547"/>
              <a:gd name="connsiteY0-114" fmla="*/ 947352 h 1317625"/>
              <a:gd name="connsiteX1-115" fmla="*/ 185137 w 740547"/>
              <a:gd name="connsiteY1-116" fmla="*/ 947352 h 1317625"/>
              <a:gd name="connsiteX2-117" fmla="*/ 185137 w 740547"/>
              <a:gd name="connsiteY2-118" fmla="*/ 139927 h 1317625"/>
              <a:gd name="connsiteX3-119" fmla="*/ 173843 w 740547"/>
              <a:gd name="connsiteY3-120" fmla="*/ 0 h 1317625"/>
              <a:gd name="connsiteX4-121" fmla="*/ 555410 w 740547"/>
              <a:gd name="connsiteY4-122" fmla="*/ 947352 h 1317625"/>
              <a:gd name="connsiteX5-123" fmla="*/ 740547 w 740547"/>
              <a:gd name="connsiteY5-124" fmla="*/ 947352 h 1317625"/>
              <a:gd name="connsiteX6-125" fmla="*/ 370274 w 740547"/>
              <a:gd name="connsiteY6-126" fmla="*/ 1317625 h 1317625"/>
              <a:gd name="connsiteX7-127" fmla="*/ 0 w 740547"/>
              <a:gd name="connsiteY7-128" fmla="*/ 947352 h 1317625"/>
              <a:gd name="connsiteX0-129" fmla="*/ 0 w 740547"/>
              <a:gd name="connsiteY0-130" fmla="*/ 947352 h 1317625"/>
              <a:gd name="connsiteX1-131" fmla="*/ 185137 w 740547"/>
              <a:gd name="connsiteY1-132" fmla="*/ 947352 h 1317625"/>
              <a:gd name="connsiteX2-133" fmla="*/ 185137 w 740547"/>
              <a:gd name="connsiteY2-134" fmla="*/ 139927 h 1317625"/>
              <a:gd name="connsiteX3-135" fmla="*/ 173843 w 740547"/>
              <a:gd name="connsiteY3-136" fmla="*/ 0 h 1317625"/>
              <a:gd name="connsiteX4-137" fmla="*/ 555410 w 740547"/>
              <a:gd name="connsiteY4-138" fmla="*/ 947352 h 1317625"/>
              <a:gd name="connsiteX5-139" fmla="*/ 740547 w 740547"/>
              <a:gd name="connsiteY5-140" fmla="*/ 947352 h 1317625"/>
              <a:gd name="connsiteX6-141" fmla="*/ 370274 w 740547"/>
              <a:gd name="connsiteY6-142" fmla="*/ 1317625 h 1317625"/>
              <a:gd name="connsiteX7-143" fmla="*/ 0 w 740547"/>
              <a:gd name="connsiteY7-144" fmla="*/ 947352 h 1317625"/>
              <a:gd name="connsiteX0-145" fmla="*/ 0 w 740547"/>
              <a:gd name="connsiteY0-146" fmla="*/ 947352 h 1317625"/>
              <a:gd name="connsiteX1-147" fmla="*/ 185137 w 740547"/>
              <a:gd name="connsiteY1-148" fmla="*/ 947352 h 1317625"/>
              <a:gd name="connsiteX2-149" fmla="*/ 185137 w 740547"/>
              <a:gd name="connsiteY2-150" fmla="*/ 139927 h 1317625"/>
              <a:gd name="connsiteX3-151" fmla="*/ 173843 w 740547"/>
              <a:gd name="connsiteY3-152" fmla="*/ 0 h 1317625"/>
              <a:gd name="connsiteX4-153" fmla="*/ 555410 w 740547"/>
              <a:gd name="connsiteY4-154" fmla="*/ 947352 h 1317625"/>
              <a:gd name="connsiteX5-155" fmla="*/ 740547 w 740547"/>
              <a:gd name="connsiteY5-156" fmla="*/ 947352 h 1317625"/>
              <a:gd name="connsiteX6-157" fmla="*/ 370274 w 740547"/>
              <a:gd name="connsiteY6-158" fmla="*/ 1317625 h 1317625"/>
              <a:gd name="connsiteX7-159" fmla="*/ 0 w 740547"/>
              <a:gd name="connsiteY7-160" fmla="*/ 947352 h 1317625"/>
              <a:gd name="connsiteX0-161" fmla="*/ 0 w 740547"/>
              <a:gd name="connsiteY0-162" fmla="*/ 947352 h 1317625"/>
              <a:gd name="connsiteX1-163" fmla="*/ 185137 w 740547"/>
              <a:gd name="connsiteY1-164" fmla="*/ 947352 h 1317625"/>
              <a:gd name="connsiteX2-165" fmla="*/ 199424 w 740547"/>
              <a:gd name="connsiteY2-166" fmla="*/ 139927 h 1317625"/>
              <a:gd name="connsiteX3-167" fmla="*/ 173843 w 740547"/>
              <a:gd name="connsiteY3-168" fmla="*/ 0 h 1317625"/>
              <a:gd name="connsiteX4-169" fmla="*/ 555410 w 740547"/>
              <a:gd name="connsiteY4-170" fmla="*/ 947352 h 1317625"/>
              <a:gd name="connsiteX5-171" fmla="*/ 740547 w 740547"/>
              <a:gd name="connsiteY5-172" fmla="*/ 947352 h 1317625"/>
              <a:gd name="connsiteX6-173" fmla="*/ 370274 w 740547"/>
              <a:gd name="connsiteY6-174" fmla="*/ 1317625 h 1317625"/>
              <a:gd name="connsiteX7-175" fmla="*/ 0 w 740547"/>
              <a:gd name="connsiteY7-176" fmla="*/ 947352 h 1317625"/>
              <a:gd name="connsiteX0-177" fmla="*/ 0 w 740547"/>
              <a:gd name="connsiteY0-178" fmla="*/ 947352 h 1317625"/>
              <a:gd name="connsiteX1-179" fmla="*/ 185137 w 740547"/>
              <a:gd name="connsiteY1-180" fmla="*/ 947352 h 1317625"/>
              <a:gd name="connsiteX2-181" fmla="*/ 192280 w 740547"/>
              <a:gd name="connsiteY2-182" fmla="*/ 137545 h 1317625"/>
              <a:gd name="connsiteX3-183" fmla="*/ 173843 w 740547"/>
              <a:gd name="connsiteY3-184" fmla="*/ 0 h 1317625"/>
              <a:gd name="connsiteX4-185" fmla="*/ 555410 w 740547"/>
              <a:gd name="connsiteY4-186" fmla="*/ 947352 h 1317625"/>
              <a:gd name="connsiteX5-187" fmla="*/ 740547 w 740547"/>
              <a:gd name="connsiteY5-188" fmla="*/ 947352 h 1317625"/>
              <a:gd name="connsiteX6-189" fmla="*/ 370274 w 740547"/>
              <a:gd name="connsiteY6-190" fmla="*/ 1317625 h 1317625"/>
              <a:gd name="connsiteX7-191" fmla="*/ 0 w 740547"/>
              <a:gd name="connsiteY7-192" fmla="*/ 947352 h 13176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40547" h="1317625">
                <a:moveTo>
                  <a:pt x="0" y="947352"/>
                </a:moveTo>
                <a:lnTo>
                  <a:pt x="185137" y="947352"/>
                </a:lnTo>
                <a:cubicBezTo>
                  <a:pt x="282769" y="661541"/>
                  <a:pt x="220855" y="466219"/>
                  <a:pt x="192280" y="137545"/>
                </a:cubicBezTo>
                <a:cubicBezTo>
                  <a:pt x="182166" y="-35303"/>
                  <a:pt x="176814" y="46642"/>
                  <a:pt x="173843" y="0"/>
                </a:cubicBezTo>
                <a:cubicBezTo>
                  <a:pt x="348657" y="303877"/>
                  <a:pt x="423459" y="405349"/>
                  <a:pt x="555410" y="947352"/>
                </a:cubicBezTo>
                <a:lnTo>
                  <a:pt x="740547" y="947352"/>
                </a:lnTo>
                <a:lnTo>
                  <a:pt x="370274" y="1317625"/>
                </a:lnTo>
                <a:lnTo>
                  <a:pt x="0" y="947352"/>
                </a:lnTo>
                <a:close/>
              </a:path>
            </a:pathLst>
          </a:custGeom>
          <a:solidFill>
            <a:srgbClr val="DDE9F5"/>
          </a:solidFill>
          <a:ln w="19050">
            <a:noFill/>
          </a:ln>
        </p:spPr>
        <p:txBody>
          <a:bodyPr wrap="square" rtlCol="0" anchor="ctr">
            <a:spAutoFit/>
          </a:bodyPr>
          <a:lstStyle/>
          <a:p>
            <a:pPr algn="ctr"/>
            <a:endParaRPr lang="zh-CN" altLang="en-US" sz="1050" b="1" dirty="0">
              <a:solidFill>
                <a:srgbClr val="FFFF00"/>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0D693083-4CC4-40DD-B225-CF15AE97C845}"/>
              </a:ext>
            </a:extLst>
          </p:cNvPr>
          <p:cNvSpPr txBox="1"/>
          <p:nvPr/>
        </p:nvSpPr>
        <p:spPr>
          <a:xfrm>
            <a:off x="1263891" y="2935656"/>
            <a:ext cx="1563865" cy="369332"/>
          </a:xfrm>
          <a:prstGeom prst="rect">
            <a:avLst/>
          </a:prstGeom>
          <a:noFill/>
          <a:ln w="9525">
            <a:noFill/>
          </a:ln>
        </p:spPr>
        <p:txBody>
          <a:bodyPr wrap="square">
            <a:spAutoFit/>
          </a:bodyPr>
          <a:lstStyle/>
          <a:p>
            <a:pPr indent="0" algn="ctr"/>
            <a:r>
              <a:rPr lang="zh-CN" altLang="en-US" b="1" dirty="0">
                <a:solidFill>
                  <a:srgbClr val="1B416F"/>
                </a:solidFill>
                <a:latin typeface="微软雅黑" panose="020B0503020204020204" pitchFamily="34" charset="-122"/>
                <a:ea typeface="微软雅黑" panose="020B0503020204020204" pitchFamily="34" charset="-122"/>
              </a:rPr>
              <a:t>奠定基础</a:t>
            </a:r>
          </a:p>
        </p:txBody>
      </p:sp>
      <p:sp>
        <p:nvSpPr>
          <p:cNvPr id="30" name="文本框 29">
            <a:extLst>
              <a:ext uri="{FF2B5EF4-FFF2-40B4-BE49-F238E27FC236}">
                <a16:creationId xmlns:a16="http://schemas.microsoft.com/office/drawing/2014/main" id="{2B2FA955-B883-430D-B27E-93430794E42B}"/>
              </a:ext>
            </a:extLst>
          </p:cNvPr>
          <p:cNvSpPr txBox="1"/>
          <p:nvPr/>
        </p:nvSpPr>
        <p:spPr>
          <a:xfrm>
            <a:off x="1155609" y="4481505"/>
            <a:ext cx="1563865" cy="369332"/>
          </a:xfrm>
          <a:prstGeom prst="rect">
            <a:avLst/>
          </a:prstGeom>
          <a:noFill/>
          <a:ln w="9525">
            <a:noFill/>
          </a:ln>
        </p:spPr>
        <p:txBody>
          <a:bodyPr wrap="square">
            <a:spAutoFit/>
          </a:bodyPr>
          <a:lstStyle/>
          <a:p>
            <a:pPr indent="0" algn="ctr"/>
            <a:r>
              <a:rPr lang="zh-CN" altLang="en-US" b="1" dirty="0">
                <a:solidFill>
                  <a:srgbClr val="1B416F"/>
                </a:solidFill>
                <a:latin typeface="微软雅黑" panose="020B0503020204020204" pitchFamily="34" charset="-122"/>
                <a:ea typeface="微软雅黑" panose="020B0503020204020204" pitchFamily="34" charset="-122"/>
              </a:rPr>
              <a:t>计算处理</a:t>
            </a:r>
          </a:p>
        </p:txBody>
      </p:sp>
      <p:sp>
        <p:nvSpPr>
          <p:cNvPr id="31" name="文本框 30">
            <a:extLst>
              <a:ext uri="{FF2B5EF4-FFF2-40B4-BE49-F238E27FC236}">
                <a16:creationId xmlns:a16="http://schemas.microsoft.com/office/drawing/2014/main" id="{305A33D7-D05D-4A39-872F-328E0AC9A544}"/>
              </a:ext>
            </a:extLst>
          </p:cNvPr>
          <p:cNvSpPr txBox="1"/>
          <p:nvPr/>
        </p:nvSpPr>
        <p:spPr>
          <a:xfrm>
            <a:off x="1330254" y="3806537"/>
            <a:ext cx="1790124" cy="369332"/>
          </a:xfrm>
          <a:prstGeom prst="rect">
            <a:avLst/>
          </a:prstGeom>
          <a:noFill/>
          <a:ln w="9525">
            <a:noFill/>
          </a:ln>
        </p:spPr>
        <p:txBody>
          <a:bodyPr wrap="square">
            <a:spAutoFit/>
          </a:bodyPr>
          <a:lstStyle/>
          <a:p>
            <a:pPr indent="0" algn="ctr"/>
            <a:r>
              <a:rPr lang="zh-CN" altLang="en-US" b="1" dirty="0">
                <a:solidFill>
                  <a:srgbClr val="C00000"/>
                </a:solidFill>
                <a:latin typeface="微软雅黑" panose="020B0503020204020204" pitchFamily="34" charset="-122"/>
                <a:ea typeface="微软雅黑" panose="020B0503020204020204" pitchFamily="34" charset="-122"/>
              </a:rPr>
              <a:t>构建主成分模型</a:t>
            </a:r>
          </a:p>
        </p:txBody>
      </p:sp>
      <p:cxnSp>
        <p:nvCxnSpPr>
          <p:cNvPr id="6" name="直接连接符 5">
            <a:extLst>
              <a:ext uri="{FF2B5EF4-FFF2-40B4-BE49-F238E27FC236}">
                <a16:creationId xmlns:a16="http://schemas.microsoft.com/office/drawing/2014/main" id="{3D93323D-9575-4BDB-996F-922B4E95B928}"/>
              </a:ext>
            </a:extLst>
          </p:cNvPr>
          <p:cNvCxnSpPr>
            <a:cxnSpLocks/>
          </p:cNvCxnSpPr>
          <p:nvPr/>
        </p:nvCxnSpPr>
        <p:spPr>
          <a:xfrm>
            <a:off x="3120378" y="2549007"/>
            <a:ext cx="1625096" cy="0"/>
          </a:xfrm>
          <a:prstGeom prst="line">
            <a:avLst/>
          </a:prstGeom>
          <a:ln w="22225"/>
        </p:spPr>
        <p:style>
          <a:lnRef idx="1">
            <a:schemeClr val="dk1"/>
          </a:lnRef>
          <a:fillRef idx="0">
            <a:schemeClr val="dk1"/>
          </a:fillRef>
          <a:effectRef idx="0">
            <a:schemeClr val="dk1"/>
          </a:effectRef>
          <a:fontRef idx="minor">
            <a:schemeClr val="tx1"/>
          </a:fontRef>
        </p:style>
      </p:cxnSp>
      <p:cxnSp>
        <p:nvCxnSpPr>
          <p:cNvPr id="44" name="直接连接符 43">
            <a:extLst>
              <a:ext uri="{FF2B5EF4-FFF2-40B4-BE49-F238E27FC236}">
                <a16:creationId xmlns:a16="http://schemas.microsoft.com/office/drawing/2014/main" id="{9C4E2E15-AC3D-4A55-B43E-886E8F9EB0CB}"/>
              </a:ext>
            </a:extLst>
          </p:cNvPr>
          <p:cNvCxnSpPr>
            <a:cxnSpLocks/>
          </p:cNvCxnSpPr>
          <p:nvPr/>
        </p:nvCxnSpPr>
        <p:spPr>
          <a:xfrm>
            <a:off x="3120378" y="3991203"/>
            <a:ext cx="1591322" cy="8205"/>
          </a:xfrm>
          <a:prstGeom prst="line">
            <a:avLst/>
          </a:prstGeom>
          <a:ln w="22225"/>
        </p:spPr>
        <p:style>
          <a:lnRef idx="1">
            <a:schemeClr val="dk1"/>
          </a:lnRef>
          <a:fillRef idx="0">
            <a:schemeClr val="dk1"/>
          </a:fillRef>
          <a:effectRef idx="0">
            <a:schemeClr val="dk1"/>
          </a:effectRef>
          <a:fontRef idx="minor">
            <a:schemeClr val="tx1"/>
          </a:fontRef>
        </p:style>
      </p:cxnSp>
      <p:cxnSp>
        <p:nvCxnSpPr>
          <p:cNvPr id="45" name="直接连接符 44">
            <a:extLst>
              <a:ext uri="{FF2B5EF4-FFF2-40B4-BE49-F238E27FC236}">
                <a16:creationId xmlns:a16="http://schemas.microsoft.com/office/drawing/2014/main" id="{F7799318-0B7D-4FAC-ACF8-6B87D4FAAF55}"/>
              </a:ext>
            </a:extLst>
          </p:cNvPr>
          <p:cNvCxnSpPr>
            <a:cxnSpLocks/>
          </p:cNvCxnSpPr>
          <p:nvPr/>
        </p:nvCxnSpPr>
        <p:spPr>
          <a:xfrm>
            <a:off x="3120378" y="5410137"/>
            <a:ext cx="1610242" cy="0"/>
          </a:xfrm>
          <a:prstGeom prst="line">
            <a:avLst/>
          </a:prstGeom>
          <a:ln w="2222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93286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9BDAD-0F00-0CCA-AEAF-36053DBCB3A4}"/>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C5444D5E-E410-B2C8-F364-FE167AF72973}"/>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BF102CF0-A150-F991-D429-4E2F5391B8E5}"/>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3AF09E51-21DA-60C6-6E01-8090A4369C0B}"/>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934FCC11-E4E2-BA27-3658-2535721E603E}"/>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主成分分析基本概念</a:t>
            </a:r>
          </a:p>
        </p:txBody>
      </p:sp>
      <p:sp>
        <p:nvSpPr>
          <p:cNvPr id="27" name="矩形 26">
            <a:extLst>
              <a:ext uri="{FF2B5EF4-FFF2-40B4-BE49-F238E27FC236}">
                <a16:creationId xmlns:a16="http://schemas.microsoft.com/office/drawing/2014/main" id="{309D4868-DF2A-E28D-1DB6-DC2C44F67959}"/>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EABF2879-AAA7-49C0-37D1-3B0D391B1BE6}"/>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EF3DE97C-8BE7-D833-A0B1-9D8F4C7425DD}"/>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EA63B608-5CEC-3927-2A7C-4A0E4DF97A95}"/>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主成分分析应用背景</a:t>
            </a:r>
          </a:p>
        </p:txBody>
      </p:sp>
      <p:sp>
        <p:nvSpPr>
          <p:cNvPr id="31" name="矩形 30">
            <a:extLst>
              <a:ext uri="{FF2B5EF4-FFF2-40B4-BE49-F238E27FC236}">
                <a16:creationId xmlns:a16="http://schemas.microsoft.com/office/drawing/2014/main" id="{D2E075B1-1CBB-6012-DED7-CBC40B655D3F}"/>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2D26EE02-D9A6-B712-0622-C65E9350F5C4}"/>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0D1D4E92-1834-3807-5E3F-F1DC48A8F918}"/>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88F045E5-C983-8B7D-9A64-CEE0F8DD7992}"/>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1500820A-58E7-158B-8246-DD4F380842A0}"/>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223FCFCF-8C99-F549-4E2A-EC3AA29C5ED6}"/>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A016B633-BB54-9AEF-A083-2D2EB74D135B}"/>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EFEAA471-45ED-98F6-2542-E79FE57D9D36}"/>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主成分分析应用方式</a:t>
            </a:r>
          </a:p>
        </p:txBody>
      </p:sp>
      <p:sp>
        <p:nvSpPr>
          <p:cNvPr id="39" name="矩形 38">
            <a:extLst>
              <a:ext uri="{FF2B5EF4-FFF2-40B4-BE49-F238E27FC236}">
                <a16:creationId xmlns:a16="http://schemas.microsoft.com/office/drawing/2014/main" id="{04224235-9A4E-E0E3-0339-FEF3FE0704ED}"/>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C9583AAC-FB21-23B5-D2DB-B84A845806C3}"/>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BDFF25D6-FBCD-B4DF-9F8E-BD7A4815C791}"/>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2" name="矩形 1">
            <a:extLst>
              <a:ext uri="{FF2B5EF4-FFF2-40B4-BE49-F238E27FC236}">
                <a16:creationId xmlns:a16="http://schemas.microsoft.com/office/drawing/2014/main" id="{278C4BDF-0F1A-2A9F-193F-7D7EECB899F8}"/>
              </a:ext>
            </a:extLst>
          </p:cNvPr>
          <p:cNvSpPr/>
          <p:nvPr/>
        </p:nvSpPr>
        <p:spPr>
          <a:xfrm>
            <a:off x="3277918" y="173620"/>
            <a:ext cx="8274761" cy="46904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540131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a:extLst>
              <a:ext uri="{FF2B5EF4-FFF2-40B4-BE49-F238E27FC236}">
                <a16:creationId xmlns:a16="http://schemas.microsoft.com/office/drawing/2014/main" id="{AE226C4A-3B36-49C1-9A59-043E7FEEC9CC}"/>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14" name="文本框 13">
            <a:extLst>
              <a:ext uri="{FF2B5EF4-FFF2-40B4-BE49-F238E27FC236}">
                <a16:creationId xmlns:a16="http://schemas.microsoft.com/office/drawing/2014/main" id="{B9FDCAD2-A15E-4E60-94C9-9D825CB1BD0B}"/>
              </a:ext>
            </a:extLst>
          </p:cNvPr>
          <p:cNvSpPr txBox="1"/>
          <p:nvPr/>
        </p:nvSpPr>
        <p:spPr>
          <a:xfrm>
            <a:off x="1061390" y="-67577"/>
            <a:ext cx="387637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结果与结论</a:t>
            </a:r>
          </a:p>
        </p:txBody>
      </p:sp>
      <p:sp>
        <p:nvSpPr>
          <p:cNvPr id="15" name="平行四边形 14">
            <a:extLst>
              <a:ext uri="{FF2B5EF4-FFF2-40B4-BE49-F238E27FC236}">
                <a16:creationId xmlns:a16="http://schemas.microsoft.com/office/drawing/2014/main" id="{4C27E3FA-6A34-482E-ACC0-D2BFAC544568}"/>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6" name="组合 15">
            <a:extLst>
              <a:ext uri="{FF2B5EF4-FFF2-40B4-BE49-F238E27FC236}">
                <a16:creationId xmlns:a16="http://schemas.microsoft.com/office/drawing/2014/main" id="{B2188A37-4147-4222-931E-6555C261ABD0}"/>
              </a:ext>
            </a:extLst>
          </p:cNvPr>
          <p:cNvGrpSpPr/>
          <p:nvPr/>
        </p:nvGrpSpPr>
        <p:grpSpPr>
          <a:xfrm>
            <a:off x="-53106" y="0"/>
            <a:ext cx="963271" cy="1033814"/>
            <a:chOff x="-51603" y="0"/>
            <a:chExt cx="1084083" cy="1219009"/>
          </a:xfrm>
        </p:grpSpPr>
        <p:sp>
          <p:nvSpPr>
            <p:cNvPr id="17" name="Freeform 7">
              <a:extLst>
                <a:ext uri="{FF2B5EF4-FFF2-40B4-BE49-F238E27FC236}">
                  <a16:creationId xmlns:a16="http://schemas.microsoft.com/office/drawing/2014/main" id="{608D9838-51BF-437B-A542-8522F63380C3}"/>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Freeform 8">
              <a:extLst>
                <a:ext uri="{FF2B5EF4-FFF2-40B4-BE49-F238E27FC236}">
                  <a16:creationId xmlns:a16="http://schemas.microsoft.com/office/drawing/2014/main" id="{6E617269-FE50-4F71-B460-88EAEC3283B9}"/>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文本框 18">
              <a:extLst>
                <a:ext uri="{FF2B5EF4-FFF2-40B4-BE49-F238E27FC236}">
                  <a16:creationId xmlns:a16="http://schemas.microsoft.com/office/drawing/2014/main" id="{B8A2D6A4-250D-4F55-8F68-F7E39BB3B50D}"/>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四</a:t>
              </a:r>
            </a:p>
          </p:txBody>
        </p:sp>
      </p:grpSp>
      <p:sp>
        <p:nvSpPr>
          <p:cNvPr id="20" name="平行四边形 19">
            <a:extLst>
              <a:ext uri="{FF2B5EF4-FFF2-40B4-BE49-F238E27FC236}">
                <a16:creationId xmlns:a16="http://schemas.microsoft.com/office/drawing/2014/main" id="{CE1F63A2-9D43-4682-83BF-174D48E5BFD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5" name="组合 24">
            <a:extLst>
              <a:ext uri="{FF2B5EF4-FFF2-40B4-BE49-F238E27FC236}">
                <a16:creationId xmlns:a16="http://schemas.microsoft.com/office/drawing/2014/main" id="{B271FB56-EFCB-4884-9E46-C3E85FECFF1E}"/>
              </a:ext>
            </a:extLst>
          </p:cNvPr>
          <p:cNvGrpSpPr/>
          <p:nvPr/>
        </p:nvGrpSpPr>
        <p:grpSpPr>
          <a:xfrm>
            <a:off x="182477" y="1247348"/>
            <a:ext cx="6637423" cy="5409779"/>
            <a:chOff x="499566" y="4880249"/>
            <a:chExt cx="9442782" cy="5297795"/>
          </a:xfrm>
        </p:grpSpPr>
        <p:sp>
          <p:nvSpPr>
            <p:cNvPr id="26" name="矩形: 圆角 25">
              <a:extLst>
                <a:ext uri="{FF2B5EF4-FFF2-40B4-BE49-F238E27FC236}">
                  <a16:creationId xmlns:a16="http://schemas.microsoft.com/office/drawing/2014/main" id="{4A2599BE-8AA9-48B2-8B92-07C6A2318249}"/>
                </a:ext>
              </a:extLst>
            </p:cNvPr>
            <p:cNvSpPr/>
            <p:nvPr/>
          </p:nvSpPr>
          <p:spPr>
            <a:xfrm>
              <a:off x="755777" y="4882919"/>
              <a:ext cx="9186571" cy="5282717"/>
            </a:xfrm>
            <a:prstGeom prst="roundRect">
              <a:avLst>
                <a:gd name="adj" fmla="val 0"/>
              </a:avLst>
            </a:prstGeom>
            <a:gradFill>
              <a:gsLst>
                <a:gs pos="4000">
                  <a:sysClr val="window" lastClr="FFFFFF"/>
                </a:gs>
                <a:gs pos="70000">
                  <a:sysClr val="window" lastClr="FFFFFF"/>
                </a:gs>
                <a:gs pos="100000">
                  <a:srgbClr val="4472C4">
                    <a:lumMod val="20000"/>
                    <a:lumOff val="80000"/>
                  </a:srgbClr>
                </a:gs>
              </a:gsLst>
              <a:lin ang="2700000" scaled="0"/>
            </a:gradFill>
            <a:ln w="12700" cap="flat" cmpd="sng" algn="ctr">
              <a:gradFill>
                <a:gsLst>
                  <a:gs pos="0">
                    <a:srgbClr val="4472C4">
                      <a:lumMod val="50000"/>
                      <a:alpha val="0"/>
                    </a:srgbClr>
                  </a:gs>
                  <a:gs pos="50000">
                    <a:srgbClr val="4472C4">
                      <a:lumMod val="50000"/>
                      <a:alpha val="91000"/>
                    </a:srgbClr>
                  </a:gs>
                  <a:gs pos="100000">
                    <a:srgbClr val="4472C4">
                      <a:lumMod val="50000"/>
                      <a:alpha val="0"/>
                    </a:srgbClr>
                  </a:gs>
                </a:gsLst>
                <a:lin ang="3000000" scaled="0"/>
              </a:gradFill>
              <a:prstDash val="solid"/>
              <a:miter lim="800000"/>
            </a:ln>
            <a:effectLst>
              <a:outerShdw blurRad="63500" dist="38100" dir="5400000" sx="102000" sy="102000" algn="t" rotWithShape="0">
                <a:srgbClr val="4472C4">
                  <a:lumMod val="40000"/>
                  <a:lumOff val="60000"/>
                  <a:alpha val="20000"/>
                </a:srgbClr>
              </a:outerShdw>
            </a:effectLst>
          </p:spPr>
          <p:txBody>
            <a:bodyPr rtlCol="0" anchor="ctr"/>
            <a:lstStyle/>
            <a:p>
              <a:pPr marL="0" marR="0" lvl="0" indent="0" algn="ctr" defTabSz="457200" eaLnBrk="1" fontAlgn="auto" latinLnBrk="0" hangingPunct="1">
                <a:lnSpc>
                  <a:spcPct val="13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mn-cs"/>
                <a:sym typeface="Times New Roman" panose="02020603050405020304" pitchFamily="18" charset="0"/>
              </a:endParaRPr>
            </a:p>
          </p:txBody>
        </p:sp>
        <p:sp>
          <p:nvSpPr>
            <p:cNvPr id="27" name="矩形 26">
              <a:extLst>
                <a:ext uri="{FF2B5EF4-FFF2-40B4-BE49-F238E27FC236}">
                  <a16:creationId xmlns:a16="http://schemas.microsoft.com/office/drawing/2014/main" id="{3B1D404F-A3BF-47C0-9031-3F702CB6039D}"/>
                </a:ext>
              </a:extLst>
            </p:cNvPr>
            <p:cNvSpPr/>
            <p:nvPr/>
          </p:nvSpPr>
          <p:spPr>
            <a:xfrm>
              <a:off x="1177363" y="4919484"/>
              <a:ext cx="8640491" cy="2524397"/>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📊从</a:t>
              </a:r>
              <a:r>
                <a:rPr kumimoji="0" lang="zh-CN" altLang="en-US" b="1" i="0" u="none" strike="noStrike" kern="0" cap="none" spc="0" normalizeH="0" baseline="0" noProof="0" dirty="0">
                  <a:ln>
                    <a:noFill/>
                  </a:ln>
                  <a:solidFill>
                    <a:srgbClr val="C00000"/>
                  </a:solidFill>
                  <a:effectLst/>
                  <a:uLnTx/>
                  <a:uFillTx/>
                  <a:latin typeface="Times New Roman" panose="02020603050405020304" pitchFamily="18" charset="0"/>
                  <a:sym typeface="Times New Roman" panose="02020603050405020304" pitchFamily="18" charset="0"/>
                </a:rPr>
                <a:t>空间分组</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的主成分分析结果来看，渭河干流上游断面及北岸其他支流和南岸支流断面的第一主成分贡献率较高，均在 </a:t>
              </a: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50%</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左右，且 </a:t>
              </a: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PC1 </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主要影响因子均为反映水体富营养化的 </a:t>
              </a: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NH</a:t>
              </a:r>
              <a:r>
                <a:rPr kumimoji="0" lang="en-US" altLang="zh-CN" b="1" i="0" u="none" strike="noStrike" kern="0" cap="none" spc="0" normalizeH="0" baseline="-25000" noProof="0" dirty="0">
                  <a:ln>
                    <a:noFill/>
                  </a:ln>
                  <a:solidFill>
                    <a:prstClr val="black"/>
                  </a:solidFill>
                  <a:effectLst/>
                  <a:uLnTx/>
                  <a:uFillTx/>
                  <a:latin typeface="Times New Roman" panose="02020603050405020304" pitchFamily="18" charset="0"/>
                  <a:sym typeface="Times New Roman" panose="02020603050405020304" pitchFamily="18" charset="0"/>
                </a:rPr>
                <a:t>3</a:t>
              </a: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-N</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a:t>
              </a: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TP </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和 </a:t>
              </a: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TN </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以及反映有机污染的高锰酸盐指数、</a:t>
              </a: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COD </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和 </a:t>
              </a: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BOD5 </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sym typeface="Times New Roman" panose="02020603050405020304" pitchFamily="18" charset="0"/>
                </a:rPr>
                <a:t>等指标。这表明这些区域的水质主要受农业生产和生活废水等影响，以有机污染和富营养化营养盐污染为主。</a:t>
              </a:r>
              <a:endParaRPr kumimoji="0" lang="zh-CN" altLang="en-US" sz="2000" b="1" i="0" u="none" strike="noStrike" kern="0" cap="none" spc="0" normalizeH="0" baseline="0" noProof="0" dirty="0">
                <a:ln>
                  <a:noFill/>
                </a:ln>
                <a:solidFill>
                  <a:srgbClr val="0070C0"/>
                </a:solidFill>
                <a:effectLst/>
                <a:uLnTx/>
                <a:uFillTx/>
                <a:latin typeface="Times New Roman" panose="02020603050405020304" pitchFamily="18" charset="0"/>
                <a:sym typeface="Times New Roman" panose="02020603050405020304" pitchFamily="18" charset="0"/>
              </a:endParaRPr>
            </a:p>
          </p:txBody>
        </p:sp>
        <p:sp>
          <p:nvSpPr>
            <p:cNvPr id="28" name="文本框 27">
              <a:extLst>
                <a:ext uri="{FF2B5EF4-FFF2-40B4-BE49-F238E27FC236}">
                  <a16:creationId xmlns:a16="http://schemas.microsoft.com/office/drawing/2014/main" id="{911D9B64-DD54-402C-ACE9-6490A3E93C60}"/>
                </a:ext>
              </a:extLst>
            </p:cNvPr>
            <p:cNvSpPr txBox="1"/>
            <p:nvPr/>
          </p:nvSpPr>
          <p:spPr>
            <a:xfrm>
              <a:off x="499566" y="4880249"/>
              <a:ext cx="546568" cy="5297795"/>
            </a:xfrm>
            <a:prstGeom prst="roundRect">
              <a:avLst/>
            </a:prstGeom>
            <a:solidFill>
              <a:srgbClr val="005BAC"/>
            </a:solidFill>
            <a:ln w="15875" cap="flat" cmpd="sng" algn="ctr">
              <a:solidFill>
                <a:sysClr val="window" lastClr="FFFFFF"/>
              </a:solidFill>
              <a:prstDash val="solid"/>
              <a:miter lim="800000"/>
            </a:ln>
            <a:effectLst>
              <a:outerShdw blurRad="127000" dir="5400000" algn="ctr" rotWithShape="0">
                <a:srgbClr val="0575E6">
                  <a:alpha val="30000"/>
                </a:srgbClr>
              </a:outerShdw>
            </a:effectLst>
          </p:spPr>
          <p:txBody>
            <a:bodyPr lIns="0" tIns="45720" rIns="0" bIns="45720" rtlCol="0" anchor="ctr"/>
            <a:lstStyle>
              <a:defPPr>
                <a:defRPr lang="zh-CN"/>
              </a:defPPr>
              <a:lvl1pPr marR="0" lvl="0" indent="0" algn="ctr" fontAlgn="auto">
                <a:lnSpc>
                  <a:spcPct val="100000"/>
                </a:lnSpc>
                <a:spcBef>
                  <a:spcPts val="0"/>
                </a:spcBef>
                <a:spcAft>
                  <a:spcPts val="0"/>
                </a:spcAft>
                <a:buClrTx/>
                <a:buSzTx/>
                <a:buFontTx/>
                <a:buNone/>
                <a:tabLst/>
                <a:defRPr kumimoji="0" sz="2000" b="1" i="0" u="none" strike="noStrike" kern="0"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空间分组与时间分组</a:t>
              </a:r>
            </a:p>
          </p:txBody>
        </p:sp>
      </p:grpSp>
      <p:sp>
        <p:nvSpPr>
          <p:cNvPr id="5" name="文本框 4">
            <a:extLst>
              <a:ext uri="{FF2B5EF4-FFF2-40B4-BE49-F238E27FC236}">
                <a16:creationId xmlns:a16="http://schemas.microsoft.com/office/drawing/2014/main" id="{FBA8E8E2-7AE4-4D9C-9E5F-18B58DD87BD7}"/>
              </a:ext>
            </a:extLst>
          </p:cNvPr>
          <p:cNvSpPr txBox="1"/>
          <p:nvPr/>
        </p:nvSpPr>
        <p:spPr>
          <a:xfrm>
            <a:off x="636392" y="4016522"/>
            <a:ext cx="6096000" cy="2453813"/>
          </a:xfrm>
          <a:prstGeom prst="rect">
            <a:avLst/>
          </a:prstGeom>
          <a:gradFill flip="none" rotWithShape="1">
            <a:gsLst>
              <a:gs pos="0">
                <a:srgbClr val="5B9BD5">
                  <a:lumMod val="5000"/>
                  <a:lumOff val="95000"/>
                </a:srgbClr>
              </a:gs>
              <a:gs pos="74000">
                <a:srgbClr val="5B9BD5">
                  <a:lumMod val="45000"/>
                  <a:lumOff val="55000"/>
                </a:srgbClr>
              </a:gs>
              <a:gs pos="83000">
                <a:srgbClr val="5B9BD5">
                  <a:lumMod val="45000"/>
                  <a:lumOff val="55000"/>
                </a:srgbClr>
              </a:gs>
              <a:gs pos="100000">
                <a:srgbClr val="5B9BD5">
                  <a:lumMod val="30000"/>
                  <a:lumOff val="70000"/>
                </a:srgbClr>
              </a:gs>
            </a:gsLst>
            <a:lin ang="5400000" scaled="1"/>
            <a:tileRect/>
          </a:gradFill>
        </p:spPr>
        <p:txBody>
          <a:bodyPr wrap="square">
            <a:spAutoFit/>
          </a:bodyPr>
          <a:lstStyle>
            <a:defPPr>
              <a:defRPr lang="zh-CN"/>
            </a:defPPr>
            <a:lvl1pPr marR="0" lvl="0" indent="0" fontAlgn="auto">
              <a:lnSpc>
                <a:spcPct val="130000"/>
              </a:lnSpc>
              <a:spcBef>
                <a:spcPts val="0"/>
              </a:spcBef>
              <a:spcAft>
                <a:spcPts val="0"/>
              </a:spcAft>
              <a:buClrTx/>
              <a:buSzTx/>
              <a:buFontTx/>
              <a:buNone/>
              <a:tabLst/>
              <a:defRPr kumimoji="0" b="1" i="0" u="none" strike="noStrike" kern="0" cap="none" spc="0" normalizeH="0" baseline="0">
                <a:ln>
                  <a:noFill/>
                </a:ln>
                <a:solidFill>
                  <a:prstClr val="black"/>
                </a:solidFill>
                <a:effectLst/>
                <a:uLnTx/>
                <a:uFillTx/>
                <a:latin typeface="Times New Roman" panose="02020603050405020304" pitchFamily="18" charset="0"/>
              </a:defRPr>
            </a:lvl1pPr>
          </a:lstStyle>
          <a:p>
            <a:r>
              <a:rPr lang="zh-CN" altLang="en-US" sz="2000" dirty="0">
                <a:sym typeface="Times New Roman" panose="02020603050405020304" pitchFamily="18" charset="0"/>
              </a:rPr>
              <a:t>🔬 </a:t>
            </a:r>
            <a:r>
              <a:rPr lang="zh-CN" altLang="en-US" sz="2000" dirty="0"/>
              <a:t>从</a:t>
            </a:r>
            <a:r>
              <a:rPr lang="zh-CN" altLang="en-US" sz="2000" dirty="0">
                <a:solidFill>
                  <a:srgbClr val="C00000"/>
                </a:solidFill>
              </a:rPr>
              <a:t>时间分组</a:t>
            </a:r>
            <a:r>
              <a:rPr lang="zh-CN" altLang="en-US" sz="2000" dirty="0"/>
              <a:t>的主成分分析结果来看，全流域夏秋冬三个季节 </a:t>
            </a:r>
            <a:r>
              <a:rPr lang="en-US" altLang="zh-CN" sz="2000" dirty="0"/>
              <a:t>PC1 </a:t>
            </a:r>
            <a:r>
              <a:rPr lang="zh-CN" altLang="en-US" sz="2000" dirty="0"/>
              <a:t>主要影响因子主要是有机污染高锰酸盐指数、</a:t>
            </a:r>
            <a:r>
              <a:rPr lang="en-US" altLang="zh-CN" sz="2000" dirty="0"/>
              <a:t>COD </a:t>
            </a:r>
            <a:r>
              <a:rPr lang="zh-CN" altLang="en-US" sz="2000" dirty="0"/>
              <a:t>和 </a:t>
            </a:r>
            <a:r>
              <a:rPr lang="en-US" altLang="zh-CN" sz="2000" dirty="0"/>
              <a:t>BOD5</a:t>
            </a:r>
            <a:r>
              <a:rPr lang="zh-CN" altLang="en-US" sz="2000" dirty="0"/>
              <a:t>，并存在不同程度的营养盐污染。这表明不同季节流域水质的主要污染物存在差异，有机污染和富营养化污染在多数季节占据主导地位，但在春季相对有所变化。</a:t>
            </a:r>
          </a:p>
        </p:txBody>
      </p:sp>
      <p:sp>
        <p:nvSpPr>
          <p:cNvPr id="3" name="文本框 2">
            <a:extLst>
              <a:ext uri="{FF2B5EF4-FFF2-40B4-BE49-F238E27FC236}">
                <a16:creationId xmlns:a16="http://schemas.microsoft.com/office/drawing/2014/main" id="{2B76AB16-E84A-FB5F-CD58-D13E8475BEBF}"/>
              </a:ext>
            </a:extLst>
          </p:cNvPr>
          <p:cNvSpPr txBox="1"/>
          <p:nvPr/>
        </p:nvSpPr>
        <p:spPr>
          <a:xfrm>
            <a:off x="7599317" y="6247889"/>
            <a:ext cx="3366460" cy="338554"/>
          </a:xfrm>
          <a:prstGeom prst="rect">
            <a:avLst/>
          </a:prstGeom>
          <a:solidFill>
            <a:sysClr val="window" lastClr="FFFFFF">
              <a:alpha val="70000"/>
            </a:sys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black"/>
                </a:solidFill>
                <a:effectLst/>
                <a:uLnTx/>
                <a:uFillTx/>
                <a:latin typeface="Times New Roman"/>
                <a:ea typeface="微软雅黑"/>
              </a:rPr>
              <a:t> 不同时空分组的</a:t>
            </a:r>
            <a:r>
              <a:rPr kumimoji="0" lang="en-US" altLang="zh-CN" sz="1600" b="1" i="0" u="none" strike="noStrike" kern="0" cap="none" spc="0" normalizeH="0" baseline="0" noProof="0" dirty="0">
                <a:ln>
                  <a:noFill/>
                </a:ln>
                <a:solidFill>
                  <a:prstClr val="black"/>
                </a:solidFill>
                <a:effectLst/>
                <a:uLnTx/>
                <a:uFillTx/>
                <a:latin typeface="Times New Roman"/>
                <a:ea typeface="微软雅黑"/>
              </a:rPr>
              <a:t>PCA</a:t>
            </a:r>
            <a:r>
              <a:rPr kumimoji="0" lang="zh-CN" altLang="en-US" sz="1600" b="1" i="0" u="none" strike="noStrike" kern="0" cap="none" spc="0" normalizeH="0" baseline="0" noProof="0" dirty="0">
                <a:ln>
                  <a:noFill/>
                </a:ln>
                <a:solidFill>
                  <a:prstClr val="black"/>
                </a:solidFill>
                <a:effectLst/>
                <a:uLnTx/>
                <a:uFillTx/>
                <a:latin typeface="Times New Roman"/>
                <a:ea typeface="微软雅黑"/>
              </a:rPr>
              <a:t>载荷 </a:t>
            </a:r>
          </a:p>
        </p:txBody>
      </p:sp>
      <p:pic>
        <p:nvPicPr>
          <p:cNvPr id="4" name="图片 3">
            <a:extLst>
              <a:ext uri="{FF2B5EF4-FFF2-40B4-BE49-F238E27FC236}">
                <a16:creationId xmlns:a16="http://schemas.microsoft.com/office/drawing/2014/main" id="{C95C930F-E2C4-4744-DD18-C1642926E341}"/>
              </a:ext>
            </a:extLst>
          </p:cNvPr>
          <p:cNvPicPr>
            <a:picLocks noChangeAspect="1"/>
          </p:cNvPicPr>
          <p:nvPr/>
        </p:nvPicPr>
        <p:blipFill>
          <a:blip r:embed="rId2"/>
          <a:srcRect l="3948" t="5209" r="3044" b="469"/>
          <a:stretch>
            <a:fillRect/>
          </a:stretch>
        </p:blipFill>
        <p:spPr>
          <a:xfrm>
            <a:off x="7599316" y="1262103"/>
            <a:ext cx="3366460" cy="2642919"/>
          </a:xfrm>
          <a:prstGeom prst="rect">
            <a:avLst/>
          </a:prstGeom>
        </p:spPr>
      </p:pic>
      <p:pic>
        <p:nvPicPr>
          <p:cNvPr id="6" name="图片 5">
            <a:extLst>
              <a:ext uri="{FF2B5EF4-FFF2-40B4-BE49-F238E27FC236}">
                <a16:creationId xmlns:a16="http://schemas.microsoft.com/office/drawing/2014/main" id="{A77A6077-2890-FE02-42F8-6ABAE22EE950}"/>
              </a:ext>
            </a:extLst>
          </p:cNvPr>
          <p:cNvPicPr>
            <a:picLocks noChangeAspect="1"/>
          </p:cNvPicPr>
          <p:nvPr/>
        </p:nvPicPr>
        <p:blipFill>
          <a:blip r:embed="rId3"/>
          <a:srcRect t="4856" r="3168"/>
          <a:stretch>
            <a:fillRect/>
          </a:stretch>
        </p:blipFill>
        <p:spPr>
          <a:xfrm>
            <a:off x="7599316" y="3905022"/>
            <a:ext cx="3366460" cy="2342867"/>
          </a:xfrm>
          <a:prstGeom prst="rect">
            <a:avLst/>
          </a:prstGeom>
        </p:spPr>
      </p:pic>
      <p:sp>
        <p:nvSpPr>
          <p:cNvPr id="7" name="矩形 6">
            <a:extLst>
              <a:ext uri="{FF2B5EF4-FFF2-40B4-BE49-F238E27FC236}">
                <a16:creationId xmlns:a16="http://schemas.microsoft.com/office/drawing/2014/main" id="{6B2405CC-DE88-E42B-B0C9-0800FF86717B}"/>
              </a:ext>
            </a:extLst>
          </p:cNvPr>
          <p:cNvSpPr/>
          <p:nvPr/>
        </p:nvSpPr>
        <p:spPr>
          <a:xfrm>
            <a:off x="7599315" y="1247348"/>
            <a:ext cx="3366462" cy="533909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279275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87968"/>
            <a:ext cx="7784892" cy="7784892"/>
          </a:xfrm>
          <a:prstGeom prst="rect">
            <a:avLst/>
          </a:prstGeom>
        </p:spPr>
      </p:pic>
      <p:sp>
        <p:nvSpPr>
          <p:cNvPr id="99" name="流程图: 手动输入 3"/>
          <p:cNvSpPr/>
          <p:nvPr/>
        </p:nvSpPr>
        <p:spPr>
          <a:xfrm rot="5400000">
            <a:off x="-772141" y="765575"/>
            <a:ext cx="6865184" cy="531649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13"/>
              <a:gd name="connsiteY0-2" fmla="*/ 3619 h 10000"/>
              <a:gd name="connsiteX1-3" fmla="*/ 10013 w 10013"/>
              <a:gd name="connsiteY1-4" fmla="*/ 0 h 10000"/>
              <a:gd name="connsiteX2-5" fmla="*/ 10013 w 10013"/>
              <a:gd name="connsiteY2-6" fmla="*/ 10000 h 10000"/>
              <a:gd name="connsiteX3-7" fmla="*/ 13 w 10013"/>
              <a:gd name="connsiteY3-8" fmla="*/ 10000 h 10000"/>
              <a:gd name="connsiteX4-9" fmla="*/ 0 w 10013"/>
              <a:gd name="connsiteY4-10" fmla="*/ 3619 h 10000"/>
              <a:gd name="connsiteX0-11" fmla="*/ 0 w 10013"/>
              <a:gd name="connsiteY0-12" fmla="*/ 3970 h 10000"/>
              <a:gd name="connsiteX1-13" fmla="*/ 10013 w 10013"/>
              <a:gd name="connsiteY1-14" fmla="*/ 0 h 10000"/>
              <a:gd name="connsiteX2-15" fmla="*/ 10013 w 10013"/>
              <a:gd name="connsiteY2-16" fmla="*/ 10000 h 10000"/>
              <a:gd name="connsiteX3-17" fmla="*/ 13 w 10013"/>
              <a:gd name="connsiteY3-18" fmla="*/ 10000 h 10000"/>
              <a:gd name="connsiteX4-19" fmla="*/ 0 w 10013"/>
              <a:gd name="connsiteY4-20" fmla="*/ 397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13" h="10000">
                <a:moveTo>
                  <a:pt x="0" y="3970"/>
                </a:moveTo>
                <a:lnTo>
                  <a:pt x="10013" y="0"/>
                </a:lnTo>
                <a:lnTo>
                  <a:pt x="10013" y="10000"/>
                </a:lnTo>
                <a:lnTo>
                  <a:pt x="13" y="10000"/>
                </a:lnTo>
                <a:cubicBezTo>
                  <a:pt x="9" y="7873"/>
                  <a:pt x="4" y="6097"/>
                  <a:pt x="0" y="3970"/>
                </a:cubicBezTo>
                <a:close/>
              </a:path>
            </a:pathLst>
          </a:cu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dirty="0">
              <a:solidFill>
                <a:schemeClr val="lt1"/>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00" name="图片 99"/>
          <p:cNvPicPr>
            <a:picLocks noChangeAspect="1"/>
          </p:cNvPicPr>
          <p:nvPr/>
        </p:nvPicPr>
        <p:blipFill>
          <a:blip r:embed="rId4">
            <a:extLst>
              <a:ext uri="{28A0092B-C50C-407E-A947-70E740481C1C}">
                <a14:useLocalDpi xmlns:a14="http://schemas.microsoft.com/office/drawing/2010/main" val="0"/>
              </a:ext>
            </a:extLst>
          </a:blip>
          <a:srcRect t="32" b="32"/>
          <a:stretch>
            <a:fillRect/>
          </a:stretch>
        </p:blipFill>
        <p:spPr>
          <a:xfrm>
            <a:off x="819657" y="1074336"/>
            <a:ext cx="4892808" cy="4939693"/>
          </a:xfrm>
          <a:prstGeom prst="ellipse">
            <a:avLst/>
          </a:prstGeom>
          <a:effectLst>
            <a:outerShdw blurRad="63500" sx="102000" sy="102000" algn="ctr" rotWithShape="0">
              <a:prstClr val="black">
                <a:alpha val="40000"/>
              </a:prstClr>
            </a:outerShdw>
          </a:effectLst>
        </p:spPr>
      </p:pic>
      <p:sp>
        <p:nvSpPr>
          <p:cNvPr id="104" name="空心弧 103"/>
          <p:cNvSpPr/>
          <p:nvPr/>
        </p:nvSpPr>
        <p:spPr>
          <a:xfrm rot="14414393">
            <a:off x="895496" y="1098487"/>
            <a:ext cx="4801452" cy="4801452"/>
          </a:xfrm>
          <a:prstGeom prst="blockArc">
            <a:avLst>
              <a:gd name="adj1" fmla="val 10800000"/>
              <a:gd name="adj2" fmla="val 467453"/>
              <a:gd name="adj3" fmla="val 2676"/>
            </a:avLst>
          </a:prstGeom>
          <a:solidFill>
            <a:srgbClr val="FBF9F7"/>
          </a:solidFill>
          <a:ln w="12700" cap="flat" cmpd="sng" algn="ctr">
            <a:noFill/>
            <a:prstDash val="solid"/>
            <a:miter lim="800000"/>
          </a:ln>
          <a:effectLst/>
        </p:spPr>
        <p:txBody>
          <a:bodyPr rtlCol="0" anchor="ctr"/>
          <a:lstStyle/>
          <a:p>
            <a:pPr algn="ctr" defTabSz="914400">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Freeform 236"/>
          <p:cNvSpPr/>
          <p:nvPr/>
        </p:nvSpPr>
        <p:spPr bwMode="auto">
          <a:xfrm rot="10800000" flipH="1" flipV="1">
            <a:off x="6784728" y="4032933"/>
            <a:ext cx="4242848" cy="58622"/>
          </a:xfrm>
          <a:custGeom>
            <a:avLst/>
            <a:gdLst>
              <a:gd name="T0" fmla="*/ 508 w 508"/>
              <a:gd name="T1" fmla="*/ 28 h 66"/>
              <a:gd name="T2" fmla="*/ 433 w 508"/>
              <a:gd name="T3" fmla="*/ 21 h 66"/>
              <a:gd name="T4" fmla="*/ 445 w 508"/>
              <a:gd name="T5" fmla="*/ 20 h 66"/>
              <a:gd name="T6" fmla="*/ 209 w 508"/>
              <a:gd name="T7" fmla="*/ 5 h 66"/>
              <a:gd name="T8" fmla="*/ 94 w 508"/>
              <a:gd name="T9" fmla="*/ 4 h 66"/>
              <a:gd name="T10" fmla="*/ 62 w 508"/>
              <a:gd name="T11" fmla="*/ 10 h 66"/>
              <a:gd name="T12" fmla="*/ 26 w 508"/>
              <a:gd name="T13" fmla="*/ 14 h 66"/>
              <a:gd name="T14" fmla="*/ 2 w 508"/>
              <a:gd name="T15" fmla="*/ 24 h 66"/>
              <a:gd name="T16" fmla="*/ 12 w 508"/>
              <a:gd name="T17" fmla="*/ 53 h 66"/>
              <a:gd name="T18" fmla="*/ 10 w 508"/>
              <a:gd name="T19" fmla="*/ 56 h 66"/>
              <a:gd name="T20" fmla="*/ 11 w 508"/>
              <a:gd name="T21" fmla="*/ 65 h 66"/>
              <a:gd name="T22" fmla="*/ 23 w 508"/>
              <a:gd name="T23" fmla="*/ 60 h 66"/>
              <a:gd name="T24" fmla="*/ 34 w 508"/>
              <a:gd name="T25" fmla="*/ 62 h 66"/>
              <a:gd name="T26" fmla="*/ 61 w 508"/>
              <a:gd name="T27" fmla="*/ 52 h 66"/>
              <a:gd name="T28" fmla="*/ 108 w 508"/>
              <a:gd name="T29" fmla="*/ 54 h 66"/>
              <a:gd name="T30" fmla="*/ 279 w 508"/>
              <a:gd name="T31" fmla="*/ 48 h 66"/>
              <a:gd name="T32" fmla="*/ 366 w 508"/>
              <a:gd name="T33" fmla="*/ 43 h 66"/>
              <a:gd name="T34" fmla="*/ 362 w 508"/>
              <a:gd name="T35" fmla="*/ 42 h 66"/>
              <a:gd name="T36" fmla="*/ 477 w 508"/>
              <a:gd name="T37" fmla="*/ 36 h 66"/>
              <a:gd name="T38" fmla="*/ 491 w 508"/>
              <a:gd name="T39" fmla="*/ 33 h 66"/>
              <a:gd name="T40" fmla="*/ 474 w 508"/>
              <a:gd name="T41" fmla="*/ 31 h 66"/>
              <a:gd name="T42" fmla="*/ 508 w 508"/>
              <a:gd name="T43"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8" h="66">
                <a:moveTo>
                  <a:pt x="508" y="28"/>
                </a:moveTo>
                <a:cubicBezTo>
                  <a:pt x="433" y="21"/>
                  <a:pt x="433" y="21"/>
                  <a:pt x="433" y="21"/>
                </a:cubicBezTo>
                <a:cubicBezTo>
                  <a:pt x="437" y="20"/>
                  <a:pt x="441" y="22"/>
                  <a:pt x="445" y="20"/>
                </a:cubicBezTo>
                <a:cubicBezTo>
                  <a:pt x="360" y="13"/>
                  <a:pt x="292" y="6"/>
                  <a:pt x="209" y="5"/>
                </a:cubicBezTo>
                <a:cubicBezTo>
                  <a:pt x="172" y="6"/>
                  <a:pt x="130" y="1"/>
                  <a:pt x="94" y="4"/>
                </a:cubicBezTo>
                <a:cubicBezTo>
                  <a:pt x="85" y="11"/>
                  <a:pt x="70" y="0"/>
                  <a:pt x="62" y="10"/>
                </a:cubicBezTo>
                <a:cubicBezTo>
                  <a:pt x="50" y="10"/>
                  <a:pt x="37" y="10"/>
                  <a:pt x="26" y="14"/>
                </a:cubicBezTo>
                <a:cubicBezTo>
                  <a:pt x="16" y="10"/>
                  <a:pt x="10" y="20"/>
                  <a:pt x="2" y="24"/>
                </a:cubicBezTo>
                <a:cubicBezTo>
                  <a:pt x="0" y="34"/>
                  <a:pt x="4" y="44"/>
                  <a:pt x="12" y="53"/>
                </a:cubicBezTo>
                <a:cubicBezTo>
                  <a:pt x="12" y="54"/>
                  <a:pt x="11" y="55"/>
                  <a:pt x="10" y="56"/>
                </a:cubicBezTo>
                <a:cubicBezTo>
                  <a:pt x="8" y="59"/>
                  <a:pt x="8" y="63"/>
                  <a:pt x="11" y="65"/>
                </a:cubicBezTo>
                <a:cubicBezTo>
                  <a:pt x="15" y="64"/>
                  <a:pt x="19" y="63"/>
                  <a:pt x="23" y="60"/>
                </a:cubicBezTo>
                <a:cubicBezTo>
                  <a:pt x="27" y="60"/>
                  <a:pt x="30" y="66"/>
                  <a:pt x="34" y="62"/>
                </a:cubicBezTo>
                <a:cubicBezTo>
                  <a:pt x="42" y="54"/>
                  <a:pt x="52" y="55"/>
                  <a:pt x="61" y="52"/>
                </a:cubicBezTo>
                <a:cubicBezTo>
                  <a:pt x="76" y="54"/>
                  <a:pt x="93" y="53"/>
                  <a:pt x="108" y="54"/>
                </a:cubicBezTo>
                <a:cubicBezTo>
                  <a:pt x="161" y="52"/>
                  <a:pt x="222" y="49"/>
                  <a:pt x="279" y="48"/>
                </a:cubicBezTo>
                <a:cubicBezTo>
                  <a:pt x="308" y="49"/>
                  <a:pt x="338" y="46"/>
                  <a:pt x="366" y="43"/>
                </a:cubicBezTo>
                <a:cubicBezTo>
                  <a:pt x="365" y="43"/>
                  <a:pt x="363" y="43"/>
                  <a:pt x="362" y="42"/>
                </a:cubicBezTo>
                <a:cubicBezTo>
                  <a:pt x="401" y="41"/>
                  <a:pt x="439" y="38"/>
                  <a:pt x="477" y="36"/>
                </a:cubicBezTo>
                <a:cubicBezTo>
                  <a:pt x="481" y="34"/>
                  <a:pt x="487" y="37"/>
                  <a:pt x="491" y="33"/>
                </a:cubicBezTo>
                <a:cubicBezTo>
                  <a:pt x="486" y="31"/>
                  <a:pt x="479" y="33"/>
                  <a:pt x="474" y="31"/>
                </a:cubicBezTo>
                <a:cubicBezTo>
                  <a:pt x="485" y="29"/>
                  <a:pt x="498" y="31"/>
                  <a:pt x="508" y="28"/>
                </a:cubicBezTo>
                <a:close/>
              </a:path>
            </a:pathLst>
          </a:custGeom>
          <a:solidFill>
            <a:srgbClr val="0070C0"/>
          </a:solidFill>
          <a:ln>
            <a:noFill/>
          </a:ln>
        </p:spPr>
        <p:txBody>
          <a:bodyPr vert="horz" wrap="square" lIns="91440" tIns="45720" rIns="91440" bIns="45720" numCol="1" anchor="t" anchorCtr="0" compatLnSpc="1"/>
          <a:lstStyle/>
          <a:p>
            <a:pPr defTabSz="457200">
              <a:lnSpc>
                <a:spcPct val="130000"/>
              </a:lnSpc>
            </a:pPr>
            <a:endParaRPr lang="zh-CN" altLang="en-US" dirty="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1" name="组合 10"/>
          <p:cNvGrpSpPr/>
          <p:nvPr/>
        </p:nvGrpSpPr>
        <p:grpSpPr>
          <a:xfrm>
            <a:off x="6526635" y="4735646"/>
            <a:ext cx="2227055" cy="370546"/>
            <a:chOff x="4654427" y="4718860"/>
            <a:chExt cx="1663809" cy="276971"/>
          </a:xfrm>
        </p:grpSpPr>
        <p:grpSp>
          <p:nvGrpSpPr>
            <p:cNvPr id="12" name="组合 11"/>
            <p:cNvGrpSpPr/>
            <p:nvPr/>
          </p:nvGrpSpPr>
          <p:grpSpPr>
            <a:xfrm>
              <a:off x="4654427" y="4718860"/>
              <a:ext cx="276971" cy="276971"/>
              <a:chOff x="3725237" y="4930504"/>
              <a:chExt cx="531780" cy="531780"/>
            </a:xfrm>
          </p:grpSpPr>
          <p:sp>
            <p:nvSpPr>
              <p:cNvPr id="14" name="圆角矩形 2"/>
              <p:cNvSpPr/>
              <p:nvPr/>
            </p:nvSpPr>
            <p:spPr>
              <a:xfrm>
                <a:off x="3725237"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student-graduation-cap-shape_52041"/>
              <p:cNvSpPr>
                <a:spLocks noChangeAspect="1"/>
              </p:cNvSpPr>
              <p:nvPr/>
            </p:nvSpPr>
            <p:spPr bwMode="auto">
              <a:xfrm>
                <a:off x="3875605" y="5054575"/>
                <a:ext cx="219840" cy="264806"/>
              </a:xfrm>
              <a:custGeom>
                <a:avLst/>
                <a:gdLst>
                  <a:gd name="connsiteX0" fmla="*/ 56671 w 279400"/>
                  <a:gd name="connsiteY0" fmla="*/ 192087 h 336550"/>
                  <a:gd name="connsiteX1" fmla="*/ 224047 w 279400"/>
                  <a:gd name="connsiteY1" fmla="*/ 192087 h 336550"/>
                  <a:gd name="connsiteX2" fmla="*/ 279400 w 279400"/>
                  <a:gd name="connsiteY2" fmla="*/ 247752 h 336550"/>
                  <a:gd name="connsiteX3" fmla="*/ 279400 w 279400"/>
                  <a:gd name="connsiteY3" fmla="*/ 336550 h 336550"/>
                  <a:gd name="connsiteX4" fmla="*/ 176602 w 279400"/>
                  <a:gd name="connsiteY4" fmla="*/ 336550 h 336550"/>
                  <a:gd name="connsiteX5" fmla="*/ 158151 w 279400"/>
                  <a:gd name="connsiteY5" fmla="*/ 245101 h 336550"/>
                  <a:gd name="connsiteX6" fmla="*/ 151562 w 279400"/>
                  <a:gd name="connsiteY6" fmla="*/ 239800 h 336550"/>
                  <a:gd name="connsiteX7" fmla="*/ 167377 w 279400"/>
                  <a:gd name="connsiteY7" fmla="*/ 213293 h 336550"/>
                  <a:gd name="connsiteX8" fmla="*/ 167377 w 279400"/>
                  <a:gd name="connsiteY8" fmla="*/ 209317 h 336550"/>
                  <a:gd name="connsiteX9" fmla="*/ 163423 w 279400"/>
                  <a:gd name="connsiteY9" fmla="*/ 207991 h 336550"/>
                  <a:gd name="connsiteX10" fmla="*/ 121249 w 279400"/>
                  <a:gd name="connsiteY10" fmla="*/ 207991 h 336550"/>
                  <a:gd name="connsiteX11" fmla="*/ 118613 w 279400"/>
                  <a:gd name="connsiteY11" fmla="*/ 209317 h 336550"/>
                  <a:gd name="connsiteX12" fmla="*/ 118613 w 279400"/>
                  <a:gd name="connsiteY12" fmla="*/ 213293 h 336550"/>
                  <a:gd name="connsiteX13" fmla="*/ 134429 w 279400"/>
                  <a:gd name="connsiteY13" fmla="*/ 239800 h 336550"/>
                  <a:gd name="connsiteX14" fmla="*/ 126521 w 279400"/>
                  <a:gd name="connsiteY14" fmla="*/ 245101 h 336550"/>
                  <a:gd name="connsiteX15" fmla="*/ 110706 w 279400"/>
                  <a:gd name="connsiteY15" fmla="*/ 336550 h 336550"/>
                  <a:gd name="connsiteX16" fmla="*/ 0 w 279400"/>
                  <a:gd name="connsiteY16" fmla="*/ 336550 h 336550"/>
                  <a:gd name="connsiteX17" fmla="*/ 0 w 279400"/>
                  <a:gd name="connsiteY17" fmla="*/ 247752 h 336550"/>
                  <a:gd name="connsiteX18" fmla="*/ 56671 w 279400"/>
                  <a:gd name="connsiteY18" fmla="*/ 192087 h 336550"/>
                  <a:gd name="connsiteX19" fmla="*/ 138907 w 279400"/>
                  <a:gd name="connsiteY19" fmla="*/ 0 h 336550"/>
                  <a:gd name="connsiteX20" fmla="*/ 219076 w 279400"/>
                  <a:gd name="connsiteY20" fmla="*/ 80169 h 336550"/>
                  <a:gd name="connsiteX21" fmla="*/ 138907 w 279400"/>
                  <a:gd name="connsiteY21" fmla="*/ 160338 h 336550"/>
                  <a:gd name="connsiteX22" fmla="*/ 58738 w 279400"/>
                  <a:gd name="connsiteY22" fmla="*/ 80169 h 336550"/>
                  <a:gd name="connsiteX23" fmla="*/ 138907 w 279400"/>
                  <a:gd name="connsiteY2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9400" h="336550">
                    <a:moveTo>
                      <a:pt x="56671" y="192087"/>
                    </a:moveTo>
                    <a:cubicBezTo>
                      <a:pt x="56671" y="192087"/>
                      <a:pt x="56671" y="192087"/>
                      <a:pt x="224047" y="192087"/>
                    </a:cubicBezTo>
                    <a:cubicBezTo>
                      <a:pt x="254360" y="192087"/>
                      <a:pt x="279400" y="217269"/>
                      <a:pt x="279400" y="247752"/>
                    </a:cubicBezTo>
                    <a:cubicBezTo>
                      <a:pt x="279400" y="247752"/>
                      <a:pt x="279400" y="247752"/>
                      <a:pt x="279400" y="336550"/>
                    </a:cubicBezTo>
                    <a:cubicBezTo>
                      <a:pt x="279400" y="336550"/>
                      <a:pt x="279400" y="336550"/>
                      <a:pt x="176602" y="336550"/>
                    </a:cubicBezTo>
                    <a:cubicBezTo>
                      <a:pt x="176602" y="336550"/>
                      <a:pt x="176602" y="336550"/>
                      <a:pt x="158151" y="245101"/>
                    </a:cubicBezTo>
                    <a:cubicBezTo>
                      <a:pt x="158151" y="242450"/>
                      <a:pt x="154197" y="239800"/>
                      <a:pt x="151562" y="239800"/>
                    </a:cubicBezTo>
                    <a:cubicBezTo>
                      <a:pt x="151562" y="239800"/>
                      <a:pt x="151562" y="239800"/>
                      <a:pt x="167377" y="213293"/>
                    </a:cubicBezTo>
                    <a:cubicBezTo>
                      <a:pt x="167377" y="211967"/>
                      <a:pt x="167377" y="210642"/>
                      <a:pt x="167377" y="209317"/>
                    </a:cubicBezTo>
                    <a:cubicBezTo>
                      <a:pt x="166059" y="207991"/>
                      <a:pt x="164741" y="207991"/>
                      <a:pt x="163423" y="207991"/>
                    </a:cubicBezTo>
                    <a:cubicBezTo>
                      <a:pt x="163423" y="207991"/>
                      <a:pt x="163423" y="207991"/>
                      <a:pt x="121249" y="207991"/>
                    </a:cubicBezTo>
                    <a:cubicBezTo>
                      <a:pt x="119931" y="207991"/>
                      <a:pt x="118613" y="207991"/>
                      <a:pt x="118613" y="209317"/>
                    </a:cubicBezTo>
                    <a:cubicBezTo>
                      <a:pt x="117296" y="210642"/>
                      <a:pt x="117296" y="211967"/>
                      <a:pt x="118613" y="213293"/>
                    </a:cubicBezTo>
                    <a:cubicBezTo>
                      <a:pt x="118613" y="213293"/>
                      <a:pt x="118613" y="213293"/>
                      <a:pt x="134429" y="239800"/>
                    </a:cubicBezTo>
                    <a:cubicBezTo>
                      <a:pt x="130475" y="239800"/>
                      <a:pt x="127839" y="242450"/>
                      <a:pt x="126521" y="245101"/>
                    </a:cubicBezTo>
                    <a:cubicBezTo>
                      <a:pt x="126521" y="245101"/>
                      <a:pt x="126521" y="245101"/>
                      <a:pt x="110706" y="336550"/>
                    </a:cubicBezTo>
                    <a:cubicBezTo>
                      <a:pt x="110706" y="336550"/>
                      <a:pt x="110706" y="336550"/>
                      <a:pt x="0" y="336550"/>
                    </a:cubicBezTo>
                    <a:cubicBezTo>
                      <a:pt x="0" y="336550"/>
                      <a:pt x="0" y="336550"/>
                      <a:pt x="0" y="247752"/>
                    </a:cubicBezTo>
                    <a:cubicBezTo>
                      <a:pt x="0" y="217269"/>
                      <a:pt x="25040" y="192087"/>
                      <a:pt x="56671" y="192087"/>
                    </a:cubicBezTo>
                    <a:close/>
                    <a:moveTo>
                      <a:pt x="138907" y="0"/>
                    </a:moveTo>
                    <a:cubicBezTo>
                      <a:pt x="183183" y="0"/>
                      <a:pt x="219076" y="35893"/>
                      <a:pt x="219076" y="80169"/>
                    </a:cubicBezTo>
                    <a:cubicBezTo>
                      <a:pt x="219076" y="124445"/>
                      <a:pt x="183183" y="160338"/>
                      <a:pt x="138907" y="160338"/>
                    </a:cubicBezTo>
                    <a:cubicBezTo>
                      <a:pt x="94631" y="160338"/>
                      <a:pt x="58738" y="124445"/>
                      <a:pt x="58738" y="80169"/>
                    </a:cubicBezTo>
                    <a:cubicBezTo>
                      <a:pt x="58738" y="35893"/>
                      <a:pt x="94631" y="0"/>
                      <a:pt x="138907"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3" name="文本框 22"/>
            <p:cNvSpPr txBox="1"/>
            <p:nvPr/>
          </p:nvSpPr>
          <p:spPr>
            <a:xfrm>
              <a:off x="4925563" y="4732803"/>
              <a:ext cx="1392673" cy="253058"/>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汇报人：周嘉伟</a:t>
              </a:r>
            </a:p>
          </p:txBody>
        </p:sp>
      </p:grpSp>
      <p:grpSp>
        <p:nvGrpSpPr>
          <p:cNvPr id="16" name="组合 15"/>
          <p:cNvGrpSpPr/>
          <p:nvPr/>
        </p:nvGrpSpPr>
        <p:grpSpPr>
          <a:xfrm>
            <a:off x="9022660" y="4735646"/>
            <a:ext cx="2698615" cy="370765"/>
            <a:chOff x="6395842" y="4718860"/>
            <a:chExt cx="2016134" cy="276971"/>
          </a:xfrm>
        </p:grpSpPr>
        <p:grpSp>
          <p:nvGrpSpPr>
            <p:cNvPr id="17" name="组合 16"/>
            <p:cNvGrpSpPr/>
            <p:nvPr/>
          </p:nvGrpSpPr>
          <p:grpSpPr>
            <a:xfrm>
              <a:off x="6395842" y="4718860"/>
              <a:ext cx="276971" cy="276971"/>
              <a:chOff x="6392770" y="4930504"/>
              <a:chExt cx="531780" cy="531780"/>
            </a:xfrm>
          </p:grpSpPr>
          <p:sp>
            <p:nvSpPr>
              <p:cNvPr id="19" name="圆角矩形 2"/>
              <p:cNvSpPr/>
              <p:nvPr/>
            </p:nvSpPr>
            <p:spPr>
              <a:xfrm>
                <a:off x="6392770"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student-graduation-cap-shape_52041"/>
              <p:cNvSpPr>
                <a:spLocks noChangeAspect="1"/>
              </p:cNvSpPr>
              <p:nvPr/>
            </p:nvSpPr>
            <p:spPr bwMode="auto">
              <a:xfrm>
                <a:off x="6527005" y="5064598"/>
                <a:ext cx="256066" cy="264808"/>
              </a:xfrm>
              <a:custGeom>
                <a:avLst/>
                <a:gdLst>
                  <a:gd name="connsiteX0" fmla="*/ 233363 w 325438"/>
                  <a:gd name="connsiteY0" fmla="*/ 249238 h 336550"/>
                  <a:gd name="connsiteX1" fmla="*/ 279401 w 325438"/>
                  <a:gd name="connsiteY1" fmla="*/ 249238 h 336550"/>
                  <a:gd name="connsiteX2" fmla="*/ 279401 w 325438"/>
                  <a:gd name="connsiteY2" fmla="*/ 290513 h 336550"/>
                  <a:gd name="connsiteX3" fmla="*/ 233363 w 325438"/>
                  <a:gd name="connsiteY3" fmla="*/ 290513 h 336550"/>
                  <a:gd name="connsiteX4" fmla="*/ 171450 w 325438"/>
                  <a:gd name="connsiteY4" fmla="*/ 249238 h 336550"/>
                  <a:gd name="connsiteX5" fmla="*/ 217488 w 325438"/>
                  <a:gd name="connsiteY5" fmla="*/ 249238 h 336550"/>
                  <a:gd name="connsiteX6" fmla="*/ 217488 w 325438"/>
                  <a:gd name="connsiteY6" fmla="*/ 290513 h 336550"/>
                  <a:gd name="connsiteX7" fmla="*/ 171450 w 325438"/>
                  <a:gd name="connsiteY7" fmla="*/ 290513 h 336550"/>
                  <a:gd name="connsiteX8" fmla="*/ 107950 w 325438"/>
                  <a:gd name="connsiteY8" fmla="*/ 249238 h 336550"/>
                  <a:gd name="connsiteX9" fmla="*/ 155575 w 325438"/>
                  <a:gd name="connsiteY9" fmla="*/ 249238 h 336550"/>
                  <a:gd name="connsiteX10" fmla="*/ 155575 w 325438"/>
                  <a:gd name="connsiteY10" fmla="*/ 290513 h 336550"/>
                  <a:gd name="connsiteX11" fmla="*/ 107950 w 325438"/>
                  <a:gd name="connsiteY11" fmla="*/ 290513 h 336550"/>
                  <a:gd name="connsiteX12" fmla="*/ 46038 w 325438"/>
                  <a:gd name="connsiteY12" fmla="*/ 249238 h 336550"/>
                  <a:gd name="connsiteX13" fmla="*/ 93663 w 325438"/>
                  <a:gd name="connsiteY13" fmla="*/ 249238 h 336550"/>
                  <a:gd name="connsiteX14" fmla="*/ 93663 w 325438"/>
                  <a:gd name="connsiteY14" fmla="*/ 290513 h 336550"/>
                  <a:gd name="connsiteX15" fmla="*/ 46038 w 325438"/>
                  <a:gd name="connsiteY15" fmla="*/ 290513 h 336550"/>
                  <a:gd name="connsiteX16" fmla="*/ 233363 w 325438"/>
                  <a:gd name="connsiteY16" fmla="*/ 195263 h 336550"/>
                  <a:gd name="connsiteX17" fmla="*/ 279401 w 325438"/>
                  <a:gd name="connsiteY17" fmla="*/ 195263 h 336550"/>
                  <a:gd name="connsiteX18" fmla="*/ 279401 w 325438"/>
                  <a:gd name="connsiteY18" fmla="*/ 234951 h 336550"/>
                  <a:gd name="connsiteX19" fmla="*/ 233363 w 325438"/>
                  <a:gd name="connsiteY19" fmla="*/ 234951 h 336550"/>
                  <a:gd name="connsiteX20" fmla="*/ 171450 w 325438"/>
                  <a:gd name="connsiteY20" fmla="*/ 195263 h 336550"/>
                  <a:gd name="connsiteX21" fmla="*/ 217488 w 325438"/>
                  <a:gd name="connsiteY21" fmla="*/ 195263 h 336550"/>
                  <a:gd name="connsiteX22" fmla="*/ 217488 w 325438"/>
                  <a:gd name="connsiteY22" fmla="*/ 234951 h 336550"/>
                  <a:gd name="connsiteX23" fmla="*/ 171450 w 325438"/>
                  <a:gd name="connsiteY23" fmla="*/ 234951 h 336550"/>
                  <a:gd name="connsiteX24" fmla="*/ 107950 w 325438"/>
                  <a:gd name="connsiteY24" fmla="*/ 195263 h 336550"/>
                  <a:gd name="connsiteX25" fmla="*/ 155575 w 325438"/>
                  <a:gd name="connsiteY25" fmla="*/ 195263 h 336550"/>
                  <a:gd name="connsiteX26" fmla="*/ 155575 w 325438"/>
                  <a:gd name="connsiteY26" fmla="*/ 234951 h 336550"/>
                  <a:gd name="connsiteX27" fmla="*/ 107950 w 325438"/>
                  <a:gd name="connsiteY27" fmla="*/ 234951 h 336550"/>
                  <a:gd name="connsiteX28" fmla="*/ 46038 w 325438"/>
                  <a:gd name="connsiteY28" fmla="*/ 195263 h 336550"/>
                  <a:gd name="connsiteX29" fmla="*/ 93663 w 325438"/>
                  <a:gd name="connsiteY29" fmla="*/ 195263 h 336550"/>
                  <a:gd name="connsiteX30" fmla="*/ 93663 w 325438"/>
                  <a:gd name="connsiteY30" fmla="*/ 234951 h 336550"/>
                  <a:gd name="connsiteX31" fmla="*/ 46038 w 325438"/>
                  <a:gd name="connsiteY31" fmla="*/ 234951 h 336550"/>
                  <a:gd name="connsiteX32" fmla="*/ 233363 w 325438"/>
                  <a:gd name="connsiteY32" fmla="*/ 139700 h 336550"/>
                  <a:gd name="connsiteX33" fmla="*/ 279401 w 325438"/>
                  <a:gd name="connsiteY33" fmla="*/ 139700 h 336550"/>
                  <a:gd name="connsiteX34" fmla="*/ 279401 w 325438"/>
                  <a:gd name="connsiteY34" fmla="*/ 180975 h 336550"/>
                  <a:gd name="connsiteX35" fmla="*/ 233363 w 325438"/>
                  <a:gd name="connsiteY35" fmla="*/ 180975 h 336550"/>
                  <a:gd name="connsiteX36" fmla="*/ 171450 w 325438"/>
                  <a:gd name="connsiteY36" fmla="*/ 139700 h 336550"/>
                  <a:gd name="connsiteX37" fmla="*/ 217488 w 325438"/>
                  <a:gd name="connsiteY37" fmla="*/ 139700 h 336550"/>
                  <a:gd name="connsiteX38" fmla="*/ 217488 w 325438"/>
                  <a:gd name="connsiteY38" fmla="*/ 180975 h 336550"/>
                  <a:gd name="connsiteX39" fmla="*/ 171450 w 325438"/>
                  <a:gd name="connsiteY39" fmla="*/ 180975 h 336550"/>
                  <a:gd name="connsiteX40" fmla="*/ 107950 w 325438"/>
                  <a:gd name="connsiteY40" fmla="*/ 139700 h 336550"/>
                  <a:gd name="connsiteX41" fmla="*/ 155575 w 325438"/>
                  <a:gd name="connsiteY41" fmla="*/ 139700 h 336550"/>
                  <a:gd name="connsiteX42" fmla="*/ 155575 w 325438"/>
                  <a:gd name="connsiteY42" fmla="*/ 180975 h 336550"/>
                  <a:gd name="connsiteX43" fmla="*/ 107950 w 325438"/>
                  <a:gd name="connsiteY43" fmla="*/ 180975 h 336550"/>
                  <a:gd name="connsiteX44" fmla="*/ 49167 w 325438"/>
                  <a:gd name="connsiteY44" fmla="*/ 38100 h 336550"/>
                  <a:gd name="connsiteX45" fmla="*/ 25400 w 325438"/>
                  <a:gd name="connsiteY45" fmla="*/ 61753 h 336550"/>
                  <a:gd name="connsiteX46" fmla="*/ 25400 w 325438"/>
                  <a:gd name="connsiteY46" fmla="*/ 289085 h 336550"/>
                  <a:gd name="connsiteX47" fmla="*/ 49167 w 325438"/>
                  <a:gd name="connsiteY47" fmla="*/ 312738 h 336550"/>
                  <a:gd name="connsiteX48" fmla="*/ 276271 w 325438"/>
                  <a:gd name="connsiteY48" fmla="*/ 312738 h 336550"/>
                  <a:gd name="connsiteX49" fmla="*/ 300038 w 325438"/>
                  <a:gd name="connsiteY49" fmla="*/ 289085 h 336550"/>
                  <a:gd name="connsiteX50" fmla="*/ 300038 w 325438"/>
                  <a:gd name="connsiteY50" fmla="*/ 61753 h 336550"/>
                  <a:gd name="connsiteX51" fmla="*/ 276271 w 325438"/>
                  <a:gd name="connsiteY51" fmla="*/ 38100 h 336550"/>
                  <a:gd name="connsiteX52" fmla="*/ 269669 w 325438"/>
                  <a:gd name="connsiteY52" fmla="*/ 38100 h 336550"/>
                  <a:gd name="connsiteX53" fmla="*/ 269669 w 325438"/>
                  <a:gd name="connsiteY53" fmla="*/ 63067 h 336550"/>
                  <a:gd name="connsiteX54" fmla="*/ 276271 w 325438"/>
                  <a:gd name="connsiteY54" fmla="*/ 74894 h 336550"/>
                  <a:gd name="connsiteX55" fmla="*/ 260427 w 325438"/>
                  <a:gd name="connsiteY55" fmla="*/ 90662 h 336550"/>
                  <a:gd name="connsiteX56" fmla="*/ 244582 w 325438"/>
                  <a:gd name="connsiteY56" fmla="*/ 74894 h 336550"/>
                  <a:gd name="connsiteX57" fmla="*/ 249864 w 325438"/>
                  <a:gd name="connsiteY57" fmla="*/ 63067 h 336550"/>
                  <a:gd name="connsiteX58" fmla="*/ 249864 w 325438"/>
                  <a:gd name="connsiteY58" fmla="*/ 38100 h 336550"/>
                  <a:gd name="connsiteX59" fmla="*/ 231379 w 325438"/>
                  <a:gd name="connsiteY59" fmla="*/ 38100 h 336550"/>
                  <a:gd name="connsiteX60" fmla="*/ 231379 w 325438"/>
                  <a:gd name="connsiteY60" fmla="*/ 63067 h 336550"/>
                  <a:gd name="connsiteX61" fmla="*/ 236660 w 325438"/>
                  <a:gd name="connsiteY61" fmla="*/ 74894 h 336550"/>
                  <a:gd name="connsiteX62" fmla="*/ 220816 w 325438"/>
                  <a:gd name="connsiteY62" fmla="*/ 90662 h 336550"/>
                  <a:gd name="connsiteX63" fmla="*/ 204971 w 325438"/>
                  <a:gd name="connsiteY63" fmla="*/ 74894 h 336550"/>
                  <a:gd name="connsiteX64" fmla="*/ 210253 w 325438"/>
                  <a:gd name="connsiteY64" fmla="*/ 63067 h 336550"/>
                  <a:gd name="connsiteX65" fmla="*/ 210253 w 325438"/>
                  <a:gd name="connsiteY65" fmla="*/ 38100 h 336550"/>
                  <a:gd name="connsiteX66" fmla="*/ 191767 w 325438"/>
                  <a:gd name="connsiteY66" fmla="*/ 38100 h 336550"/>
                  <a:gd name="connsiteX67" fmla="*/ 191767 w 325438"/>
                  <a:gd name="connsiteY67" fmla="*/ 63067 h 336550"/>
                  <a:gd name="connsiteX68" fmla="*/ 198369 w 325438"/>
                  <a:gd name="connsiteY68" fmla="*/ 74894 h 336550"/>
                  <a:gd name="connsiteX69" fmla="*/ 182525 w 325438"/>
                  <a:gd name="connsiteY69" fmla="*/ 90662 h 336550"/>
                  <a:gd name="connsiteX70" fmla="*/ 166680 w 325438"/>
                  <a:gd name="connsiteY70" fmla="*/ 74894 h 336550"/>
                  <a:gd name="connsiteX71" fmla="*/ 171962 w 325438"/>
                  <a:gd name="connsiteY71" fmla="*/ 63067 h 336550"/>
                  <a:gd name="connsiteX72" fmla="*/ 171962 w 325438"/>
                  <a:gd name="connsiteY72" fmla="*/ 38100 h 336550"/>
                  <a:gd name="connsiteX73" fmla="*/ 153476 w 325438"/>
                  <a:gd name="connsiteY73" fmla="*/ 38100 h 336550"/>
                  <a:gd name="connsiteX74" fmla="*/ 153476 w 325438"/>
                  <a:gd name="connsiteY74" fmla="*/ 63067 h 336550"/>
                  <a:gd name="connsiteX75" fmla="*/ 158758 w 325438"/>
                  <a:gd name="connsiteY75" fmla="*/ 74894 h 336550"/>
                  <a:gd name="connsiteX76" fmla="*/ 142913 w 325438"/>
                  <a:gd name="connsiteY76" fmla="*/ 90662 h 336550"/>
                  <a:gd name="connsiteX77" fmla="*/ 127069 w 325438"/>
                  <a:gd name="connsiteY77" fmla="*/ 74894 h 336550"/>
                  <a:gd name="connsiteX78" fmla="*/ 133671 w 325438"/>
                  <a:gd name="connsiteY78" fmla="*/ 63067 h 336550"/>
                  <a:gd name="connsiteX79" fmla="*/ 133671 w 325438"/>
                  <a:gd name="connsiteY79" fmla="*/ 38100 h 336550"/>
                  <a:gd name="connsiteX80" fmla="*/ 115186 w 325438"/>
                  <a:gd name="connsiteY80" fmla="*/ 38100 h 336550"/>
                  <a:gd name="connsiteX81" fmla="*/ 115186 w 325438"/>
                  <a:gd name="connsiteY81" fmla="*/ 63067 h 336550"/>
                  <a:gd name="connsiteX82" fmla="*/ 120467 w 325438"/>
                  <a:gd name="connsiteY82" fmla="*/ 74894 h 336550"/>
                  <a:gd name="connsiteX83" fmla="*/ 104623 w 325438"/>
                  <a:gd name="connsiteY83" fmla="*/ 90662 h 336550"/>
                  <a:gd name="connsiteX84" fmla="*/ 88778 w 325438"/>
                  <a:gd name="connsiteY84" fmla="*/ 74894 h 336550"/>
                  <a:gd name="connsiteX85" fmla="*/ 94060 w 325438"/>
                  <a:gd name="connsiteY85" fmla="*/ 63067 h 336550"/>
                  <a:gd name="connsiteX86" fmla="*/ 94060 w 325438"/>
                  <a:gd name="connsiteY86" fmla="*/ 38100 h 336550"/>
                  <a:gd name="connsiteX87" fmla="*/ 75574 w 325438"/>
                  <a:gd name="connsiteY87" fmla="*/ 38100 h 336550"/>
                  <a:gd name="connsiteX88" fmla="*/ 75574 w 325438"/>
                  <a:gd name="connsiteY88" fmla="*/ 63067 h 336550"/>
                  <a:gd name="connsiteX89" fmla="*/ 80856 w 325438"/>
                  <a:gd name="connsiteY89" fmla="*/ 74894 h 336550"/>
                  <a:gd name="connsiteX90" fmla="*/ 65011 w 325438"/>
                  <a:gd name="connsiteY90" fmla="*/ 90662 h 336550"/>
                  <a:gd name="connsiteX91" fmla="*/ 49167 w 325438"/>
                  <a:gd name="connsiteY91" fmla="*/ 74894 h 336550"/>
                  <a:gd name="connsiteX92" fmla="*/ 55769 w 325438"/>
                  <a:gd name="connsiteY92" fmla="*/ 63067 h 336550"/>
                  <a:gd name="connsiteX93" fmla="*/ 55769 w 325438"/>
                  <a:gd name="connsiteY93" fmla="*/ 38100 h 336550"/>
                  <a:gd name="connsiteX94" fmla="*/ 49167 w 325438"/>
                  <a:gd name="connsiteY94" fmla="*/ 38100 h 336550"/>
                  <a:gd name="connsiteX95" fmla="*/ 65315 w 325438"/>
                  <a:gd name="connsiteY95" fmla="*/ 4763 h 336550"/>
                  <a:gd name="connsiteX96" fmla="*/ 61913 w 325438"/>
                  <a:gd name="connsiteY96" fmla="*/ 10110 h 336550"/>
                  <a:gd name="connsiteX97" fmla="*/ 61913 w 325438"/>
                  <a:gd name="connsiteY97" fmla="*/ 75616 h 336550"/>
                  <a:gd name="connsiteX98" fmla="*/ 65315 w 325438"/>
                  <a:gd name="connsiteY98" fmla="*/ 80963 h 336550"/>
                  <a:gd name="connsiteX99" fmla="*/ 69851 w 325438"/>
                  <a:gd name="connsiteY99" fmla="*/ 75616 h 336550"/>
                  <a:gd name="connsiteX100" fmla="*/ 69851 w 325438"/>
                  <a:gd name="connsiteY100" fmla="*/ 10110 h 336550"/>
                  <a:gd name="connsiteX101" fmla="*/ 65315 w 325438"/>
                  <a:gd name="connsiteY101" fmla="*/ 4763 h 336550"/>
                  <a:gd name="connsiteX102" fmla="*/ 104776 w 325438"/>
                  <a:gd name="connsiteY102" fmla="*/ 4763 h 336550"/>
                  <a:gd name="connsiteX103" fmla="*/ 100013 w 325438"/>
                  <a:gd name="connsiteY103" fmla="*/ 10110 h 336550"/>
                  <a:gd name="connsiteX104" fmla="*/ 100013 w 325438"/>
                  <a:gd name="connsiteY104" fmla="*/ 75616 h 336550"/>
                  <a:gd name="connsiteX105" fmla="*/ 104776 w 325438"/>
                  <a:gd name="connsiteY105" fmla="*/ 80963 h 336550"/>
                  <a:gd name="connsiteX106" fmla="*/ 109538 w 325438"/>
                  <a:gd name="connsiteY106" fmla="*/ 75616 h 336550"/>
                  <a:gd name="connsiteX107" fmla="*/ 109538 w 325438"/>
                  <a:gd name="connsiteY107" fmla="*/ 10110 h 336550"/>
                  <a:gd name="connsiteX108" fmla="*/ 104776 w 325438"/>
                  <a:gd name="connsiteY108" fmla="*/ 4763 h 336550"/>
                  <a:gd name="connsiteX109" fmla="*/ 142876 w 325438"/>
                  <a:gd name="connsiteY109" fmla="*/ 4763 h 336550"/>
                  <a:gd name="connsiteX110" fmla="*/ 138113 w 325438"/>
                  <a:gd name="connsiteY110" fmla="*/ 10110 h 336550"/>
                  <a:gd name="connsiteX111" fmla="*/ 138113 w 325438"/>
                  <a:gd name="connsiteY111" fmla="*/ 75616 h 336550"/>
                  <a:gd name="connsiteX112" fmla="*/ 142876 w 325438"/>
                  <a:gd name="connsiteY112" fmla="*/ 80963 h 336550"/>
                  <a:gd name="connsiteX113" fmla="*/ 147638 w 325438"/>
                  <a:gd name="connsiteY113" fmla="*/ 75616 h 336550"/>
                  <a:gd name="connsiteX114" fmla="*/ 147638 w 325438"/>
                  <a:gd name="connsiteY114" fmla="*/ 10110 h 336550"/>
                  <a:gd name="connsiteX115" fmla="*/ 142876 w 325438"/>
                  <a:gd name="connsiteY115" fmla="*/ 4763 h 336550"/>
                  <a:gd name="connsiteX116" fmla="*/ 182563 w 325438"/>
                  <a:gd name="connsiteY116" fmla="*/ 4763 h 336550"/>
                  <a:gd name="connsiteX117" fmla="*/ 177800 w 325438"/>
                  <a:gd name="connsiteY117" fmla="*/ 10110 h 336550"/>
                  <a:gd name="connsiteX118" fmla="*/ 177800 w 325438"/>
                  <a:gd name="connsiteY118" fmla="*/ 75616 h 336550"/>
                  <a:gd name="connsiteX119" fmla="*/ 182563 w 325438"/>
                  <a:gd name="connsiteY119" fmla="*/ 80963 h 336550"/>
                  <a:gd name="connsiteX120" fmla="*/ 187325 w 325438"/>
                  <a:gd name="connsiteY120" fmla="*/ 75616 h 336550"/>
                  <a:gd name="connsiteX121" fmla="*/ 187325 w 325438"/>
                  <a:gd name="connsiteY121" fmla="*/ 10110 h 336550"/>
                  <a:gd name="connsiteX122" fmla="*/ 182563 w 325438"/>
                  <a:gd name="connsiteY122" fmla="*/ 4763 h 336550"/>
                  <a:gd name="connsiteX123" fmla="*/ 220663 w 325438"/>
                  <a:gd name="connsiteY123" fmla="*/ 4763 h 336550"/>
                  <a:gd name="connsiteX124" fmla="*/ 215900 w 325438"/>
                  <a:gd name="connsiteY124" fmla="*/ 10110 h 336550"/>
                  <a:gd name="connsiteX125" fmla="*/ 215900 w 325438"/>
                  <a:gd name="connsiteY125" fmla="*/ 75616 h 336550"/>
                  <a:gd name="connsiteX126" fmla="*/ 220663 w 325438"/>
                  <a:gd name="connsiteY126" fmla="*/ 80963 h 336550"/>
                  <a:gd name="connsiteX127" fmla="*/ 225425 w 325438"/>
                  <a:gd name="connsiteY127" fmla="*/ 75616 h 336550"/>
                  <a:gd name="connsiteX128" fmla="*/ 225425 w 325438"/>
                  <a:gd name="connsiteY128" fmla="*/ 10110 h 336550"/>
                  <a:gd name="connsiteX129" fmla="*/ 220663 w 325438"/>
                  <a:gd name="connsiteY129" fmla="*/ 4763 h 336550"/>
                  <a:gd name="connsiteX130" fmla="*/ 260124 w 325438"/>
                  <a:gd name="connsiteY130" fmla="*/ 4763 h 336550"/>
                  <a:gd name="connsiteX131" fmla="*/ 255588 w 325438"/>
                  <a:gd name="connsiteY131" fmla="*/ 10110 h 336550"/>
                  <a:gd name="connsiteX132" fmla="*/ 255588 w 325438"/>
                  <a:gd name="connsiteY132" fmla="*/ 75616 h 336550"/>
                  <a:gd name="connsiteX133" fmla="*/ 260124 w 325438"/>
                  <a:gd name="connsiteY133" fmla="*/ 80963 h 336550"/>
                  <a:gd name="connsiteX134" fmla="*/ 263526 w 325438"/>
                  <a:gd name="connsiteY134" fmla="*/ 75616 h 336550"/>
                  <a:gd name="connsiteX135" fmla="*/ 263526 w 325438"/>
                  <a:gd name="connsiteY135" fmla="*/ 10110 h 336550"/>
                  <a:gd name="connsiteX136" fmla="*/ 260124 w 325438"/>
                  <a:gd name="connsiteY136" fmla="*/ 4763 h 336550"/>
                  <a:gd name="connsiteX137" fmla="*/ 64823 w 325438"/>
                  <a:gd name="connsiteY137" fmla="*/ 0 h 336550"/>
                  <a:gd name="connsiteX138" fmla="*/ 75406 w 325438"/>
                  <a:gd name="connsiteY138" fmla="*/ 10517 h 336550"/>
                  <a:gd name="connsiteX139" fmla="*/ 75406 w 325438"/>
                  <a:gd name="connsiteY139" fmla="*/ 14461 h 336550"/>
                  <a:gd name="connsiteX140" fmla="*/ 93927 w 325438"/>
                  <a:gd name="connsiteY140" fmla="*/ 14461 h 336550"/>
                  <a:gd name="connsiteX141" fmla="*/ 93927 w 325438"/>
                  <a:gd name="connsiteY141" fmla="*/ 10517 h 336550"/>
                  <a:gd name="connsiteX142" fmla="*/ 104511 w 325438"/>
                  <a:gd name="connsiteY142" fmla="*/ 0 h 336550"/>
                  <a:gd name="connsiteX143" fmla="*/ 115094 w 325438"/>
                  <a:gd name="connsiteY143" fmla="*/ 10517 h 336550"/>
                  <a:gd name="connsiteX144" fmla="*/ 115094 w 325438"/>
                  <a:gd name="connsiteY144" fmla="*/ 14461 h 336550"/>
                  <a:gd name="connsiteX145" fmla="*/ 133615 w 325438"/>
                  <a:gd name="connsiteY145" fmla="*/ 14461 h 336550"/>
                  <a:gd name="connsiteX146" fmla="*/ 133615 w 325438"/>
                  <a:gd name="connsiteY146" fmla="*/ 10517 h 336550"/>
                  <a:gd name="connsiteX147" fmla="*/ 142875 w 325438"/>
                  <a:gd name="connsiteY147" fmla="*/ 0 h 336550"/>
                  <a:gd name="connsiteX148" fmla="*/ 153459 w 325438"/>
                  <a:gd name="connsiteY148" fmla="*/ 10517 h 336550"/>
                  <a:gd name="connsiteX149" fmla="*/ 153459 w 325438"/>
                  <a:gd name="connsiteY149" fmla="*/ 14461 h 336550"/>
                  <a:gd name="connsiteX150" fmla="*/ 171980 w 325438"/>
                  <a:gd name="connsiteY150" fmla="*/ 14461 h 336550"/>
                  <a:gd name="connsiteX151" fmla="*/ 171980 w 325438"/>
                  <a:gd name="connsiteY151" fmla="*/ 10517 h 336550"/>
                  <a:gd name="connsiteX152" fmla="*/ 182563 w 325438"/>
                  <a:gd name="connsiteY152" fmla="*/ 0 h 336550"/>
                  <a:gd name="connsiteX153" fmla="*/ 191823 w 325438"/>
                  <a:gd name="connsiteY153" fmla="*/ 10517 h 336550"/>
                  <a:gd name="connsiteX154" fmla="*/ 191823 w 325438"/>
                  <a:gd name="connsiteY154" fmla="*/ 14461 h 336550"/>
                  <a:gd name="connsiteX155" fmla="*/ 210344 w 325438"/>
                  <a:gd name="connsiteY155" fmla="*/ 14461 h 336550"/>
                  <a:gd name="connsiteX156" fmla="*/ 210344 w 325438"/>
                  <a:gd name="connsiteY156" fmla="*/ 10517 h 336550"/>
                  <a:gd name="connsiteX157" fmla="*/ 220927 w 325438"/>
                  <a:gd name="connsiteY157" fmla="*/ 0 h 336550"/>
                  <a:gd name="connsiteX158" fmla="*/ 231511 w 325438"/>
                  <a:gd name="connsiteY158" fmla="*/ 10517 h 336550"/>
                  <a:gd name="connsiteX159" fmla="*/ 231511 w 325438"/>
                  <a:gd name="connsiteY159" fmla="*/ 14461 h 336550"/>
                  <a:gd name="connsiteX160" fmla="*/ 250032 w 325438"/>
                  <a:gd name="connsiteY160" fmla="*/ 14461 h 336550"/>
                  <a:gd name="connsiteX161" fmla="*/ 250032 w 325438"/>
                  <a:gd name="connsiteY161" fmla="*/ 10517 h 336550"/>
                  <a:gd name="connsiteX162" fmla="*/ 260615 w 325438"/>
                  <a:gd name="connsiteY162" fmla="*/ 0 h 336550"/>
                  <a:gd name="connsiteX163" fmla="*/ 269875 w 325438"/>
                  <a:gd name="connsiteY163" fmla="*/ 10517 h 336550"/>
                  <a:gd name="connsiteX164" fmla="*/ 269875 w 325438"/>
                  <a:gd name="connsiteY164" fmla="*/ 14461 h 336550"/>
                  <a:gd name="connsiteX165" fmla="*/ 276490 w 325438"/>
                  <a:gd name="connsiteY165" fmla="*/ 14461 h 336550"/>
                  <a:gd name="connsiteX166" fmla="*/ 325438 w 325438"/>
                  <a:gd name="connsiteY166" fmla="*/ 61789 h 336550"/>
                  <a:gd name="connsiteX167" fmla="*/ 325438 w 325438"/>
                  <a:gd name="connsiteY167" fmla="*/ 289223 h 336550"/>
                  <a:gd name="connsiteX168" fmla="*/ 276490 w 325438"/>
                  <a:gd name="connsiteY168" fmla="*/ 336550 h 336550"/>
                  <a:gd name="connsiteX169" fmla="*/ 48948 w 325438"/>
                  <a:gd name="connsiteY169" fmla="*/ 336550 h 336550"/>
                  <a:gd name="connsiteX170" fmla="*/ 0 w 325438"/>
                  <a:gd name="connsiteY170" fmla="*/ 289223 h 336550"/>
                  <a:gd name="connsiteX171" fmla="*/ 0 w 325438"/>
                  <a:gd name="connsiteY171" fmla="*/ 61789 h 336550"/>
                  <a:gd name="connsiteX172" fmla="*/ 48948 w 325438"/>
                  <a:gd name="connsiteY172" fmla="*/ 14461 h 336550"/>
                  <a:gd name="connsiteX173" fmla="*/ 55563 w 325438"/>
                  <a:gd name="connsiteY173" fmla="*/ 14461 h 336550"/>
                  <a:gd name="connsiteX174" fmla="*/ 55563 w 325438"/>
                  <a:gd name="connsiteY174" fmla="*/ 10517 h 336550"/>
                  <a:gd name="connsiteX175" fmla="*/ 64823 w 325438"/>
                  <a:gd name="connsiteY17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25438" h="336550">
                    <a:moveTo>
                      <a:pt x="233363" y="249238"/>
                    </a:moveTo>
                    <a:lnTo>
                      <a:pt x="279401" y="249238"/>
                    </a:lnTo>
                    <a:lnTo>
                      <a:pt x="279401" y="290513"/>
                    </a:lnTo>
                    <a:lnTo>
                      <a:pt x="233363" y="290513"/>
                    </a:lnTo>
                    <a:close/>
                    <a:moveTo>
                      <a:pt x="171450" y="249238"/>
                    </a:moveTo>
                    <a:lnTo>
                      <a:pt x="217488" y="249238"/>
                    </a:lnTo>
                    <a:lnTo>
                      <a:pt x="217488" y="290513"/>
                    </a:lnTo>
                    <a:lnTo>
                      <a:pt x="171450" y="290513"/>
                    </a:lnTo>
                    <a:close/>
                    <a:moveTo>
                      <a:pt x="107950" y="249238"/>
                    </a:moveTo>
                    <a:lnTo>
                      <a:pt x="155575" y="249238"/>
                    </a:lnTo>
                    <a:lnTo>
                      <a:pt x="155575" y="290513"/>
                    </a:lnTo>
                    <a:lnTo>
                      <a:pt x="107950" y="290513"/>
                    </a:lnTo>
                    <a:close/>
                    <a:moveTo>
                      <a:pt x="46038" y="249238"/>
                    </a:moveTo>
                    <a:lnTo>
                      <a:pt x="93663" y="249238"/>
                    </a:lnTo>
                    <a:lnTo>
                      <a:pt x="93663" y="290513"/>
                    </a:lnTo>
                    <a:lnTo>
                      <a:pt x="46038" y="290513"/>
                    </a:lnTo>
                    <a:close/>
                    <a:moveTo>
                      <a:pt x="233363" y="195263"/>
                    </a:moveTo>
                    <a:lnTo>
                      <a:pt x="279401" y="195263"/>
                    </a:lnTo>
                    <a:lnTo>
                      <a:pt x="279401" y="234951"/>
                    </a:lnTo>
                    <a:lnTo>
                      <a:pt x="233363" y="234951"/>
                    </a:lnTo>
                    <a:close/>
                    <a:moveTo>
                      <a:pt x="171450" y="195263"/>
                    </a:moveTo>
                    <a:lnTo>
                      <a:pt x="217488" y="195263"/>
                    </a:lnTo>
                    <a:lnTo>
                      <a:pt x="217488" y="234951"/>
                    </a:lnTo>
                    <a:lnTo>
                      <a:pt x="171450" y="234951"/>
                    </a:lnTo>
                    <a:close/>
                    <a:moveTo>
                      <a:pt x="107950" y="195263"/>
                    </a:moveTo>
                    <a:lnTo>
                      <a:pt x="155575" y="195263"/>
                    </a:lnTo>
                    <a:lnTo>
                      <a:pt x="155575" y="234951"/>
                    </a:lnTo>
                    <a:lnTo>
                      <a:pt x="107950" y="234951"/>
                    </a:lnTo>
                    <a:close/>
                    <a:moveTo>
                      <a:pt x="46038" y="195263"/>
                    </a:moveTo>
                    <a:lnTo>
                      <a:pt x="93663" y="195263"/>
                    </a:lnTo>
                    <a:lnTo>
                      <a:pt x="93663" y="234951"/>
                    </a:lnTo>
                    <a:lnTo>
                      <a:pt x="46038" y="234951"/>
                    </a:lnTo>
                    <a:close/>
                    <a:moveTo>
                      <a:pt x="233363" y="139700"/>
                    </a:moveTo>
                    <a:lnTo>
                      <a:pt x="279401" y="139700"/>
                    </a:lnTo>
                    <a:lnTo>
                      <a:pt x="279401" y="180975"/>
                    </a:lnTo>
                    <a:lnTo>
                      <a:pt x="233363" y="180975"/>
                    </a:lnTo>
                    <a:close/>
                    <a:moveTo>
                      <a:pt x="171450" y="139700"/>
                    </a:moveTo>
                    <a:lnTo>
                      <a:pt x="217488" y="139700"/>
                    </a:lnTo>
                    <a:lnTo>
                      <a:pt x="217488" y="180975"/>
                    </a:lnTo>
                    <a:lnTo>
                      <a:pt x="171450" y="180975"/>
                    </a:lnTo>
                    <a:close/>
                    <a:moveTo>
                      <a:pt x="107950" y="139700"/>
                    </a:moveTo>
                    <a:lnTo>
                      <a:pt x="155575" y="139700"/>
                    </a:lnTo>
                    <a:lnTo>
                      <a:pt x="155575" y="180975"/>
                    </a:lnTo>
                    <a:lnTo>
                      <a:pt x="107950" y="180975"/>
                    </a:lnTo>
                    <a:close/>
                    <a:moveTo>
                      <a:pt x="49167" y="38100"/>
                    </a:moveTo>
                    <a:cubicBezTo>
                      <a:pt x="35963" y="38100"/>
                      <a:pt x="25400" y="48613"/>
                      <a:pt x="25400" y="61753"/>
                    </a:cubicBezTo>
                    <a:cubicBezTo>
                      <a:pt x="25400" y="61753"/>
                      <a:pt x="25400" y="61753"/>
                      <a:pt x="25400" y="289085"/>
                    </a:cubicBezTo>
                    <a:cubicBezTo>
                      <a:pt x="25400" y="302226"/>
                      <a:pt x="35963" y="312738"/>
                      <a:pt x="49167" y="312738"/>
                    </a:cubicBezTo>
                    <a:cubicBezTo>
                      <a:pt x="49167" y="312738"/>
                      <a:pt x="49167" y="312738"/>
                      <a:pt x="276271" y="312738"/>
                    </a:cubicBezTo>
                    <a:cubicBezTo>
                      <a:pt x="289475" y="312738"/>
                      <a:pt x="300038" y="302226"/>
                      <a:pt x="300038" y="289085"/>
                    </a:cubicBezTo>
                    <a:cubicBezTo>
                      <a:pt x="300038" y="289085"/>
                      <a:pt x="300038" y="289085"/>
                      <a:pt x="300038" y="61753"/>
                    </a:cubicBezTo>
                    <a:cubicBezTo>
                      <a:pt x="300038" y="48613"/>
                      <a:pt x="289475" y="38100"/>
                      <a:pt x="276271" y="38100"/>
                    </a:cubicBezTo>
                    <a:cubicBezTo>
                      <a:pt x="276271" y="38100"/>
                      <a:pt x="276271" y="38100"/>
                      <a:pt x="269669" y="38100"/>
                    </a:cubicBezTo>
                    <a:cubicBezTo>
                      <a:pt x="269669" y="38100"/>
                      <a:pt x="269669" y="38100"/>
                      <a:pt x="269669" y="63067"/>
                    </a:cubicBezTo>
                    <a:cubicBezTo>
                      <a:pt x="273631" y="65695"/>
                      <a:pt x="276271" y="70951"/>
                      <a:pt x="276271" y="74894"/>
                    </a:cubicBezTo>
                    <a:cubicBezTo>
                      <a:pt x="276271" y="84092"/>
                      <a:pt x="268349" y="90662"/>
                      <a:pt x="260427" y="90662"/>
                    </a:cubicBezTo>
                    <a:cubicBezTo>
                      <a:pt x="251184" y="90662"/>
                      <a:pt x="244582" y="84092"/>
                      <a:pt x="244582" y="74894"/>
                    </a:cubicBezTo>
                    <a:cubicBezTo>
                      <a:pt x="244582" y="70951"/>
                      <a:pt x="245903" y="65695"/>
                      <a:pt x="249864" y="63067"/>
                    </a:cubicBezTo>
                    <a:cubicBezTo>
                      <a:pt x="249864" y="63067"/>
                      <a:pt x="249864" y="63067"/>
                      <a:pt x="249864" y="38100"/>
                    </a:cubicBezTo>
                    <a:cubicBezTo>
                      <a:pt x="249864" y="38100"/>
                      <a:pt x="249864" y="38100"/>
                      <a:pt x="231379" y="38100"/>
                    </a:cubicBezTo>
                    <a:cubicBezTo>
                      <a:pt x="231379" y="38100"/>
                      <a:pt x="231379" y="38100"/>
                      <a:pt x="231379" y="63067"/>
                    </a:cubicBezTo>
                    <a:cubicBezTo>
                      <a:pt x="234019" y="65695"/>
                      <a:pt x="236660" y="70951"/>
                      <a:pt x="236660" y="74894"/>
                    </a:cubicBezTo>
                    <a:cubicBezTo>
                      <a:pt x="236660" y="84092"/>
                      <a:pt x="230058" y="90662"/>
                      <a:pt x="220816" y="90662"/>
                    </a:cubicBezTo>
                    <a:cubicBezTo>
                      <a:pt x="212893" y="90662"/>
                      <a:pt x="204971" y="84092"/>
                      <a:pt x="204971" y="74894"/>
                    </a:cubicBezTo>
                    <a:cubicBezTo>
                      <a:pt x="204971" y="70951"/>
                      <a:pt x="207612" y="65695"/>
                      <a:pt x="210253" y="63067"/>
                    </a:cubicBezTo>
                    <a:cubicBezTo>
                      <a:pt x="210253" y="63067"/>
                      <a:pt x="210253" y="63067"/>
                      <a:pt x="210253" y="38100"/>
                    </a:cubicBezTo>
                    <a:cubicBezTo>
                      <a:pt x="210253" y="38100"/>
                      <a:pt x="210253" y="38100"/>
                      <a:pt x="191767" y="38100"/>
                    </a:cubicBezTo>
                    <a:cubicBezTo>
                      <a:pt x="191767" y="38100"/>
                      <a:pt x="191767" y="38100"/>
                      <a:pt x="191767" y="63067"/>
                    </a:cubicBezTo>
                    <a:cubicBezTo>
                      <a:pt x="195728" y="65695"/>
                      <a:pt x="198369" y="70951"/>
                      <a:pt x="198369" y="74894"/>
                    </a:cubicBezTo>
                    <a:cubicBezTo>
                      <a:pt x="198369" y="84092"/>
                      <a:pt x="190447" y="90662"/>
                      <a:pt x="182525" y="90662"/>
                    </a:cubicBezTo>
                    <a:cubicBezTo>
                      <a:pt x="173282" y="90662"/>
                      <a:pt x="166680" y="84092"/>
                      <a:pt x="166680" y="74894"/>
                    </a:cubicBezTo>
                    <a:cubicBezTo>
                      <a:pt x="166680" y="70951"/>
                      <a:pt x="168001" y="65695"/>
                      <a:pt x="171962" y="63067"/>
                    </a:cubicBezTo>
                    <a:cubicBezTo>
                      <a:pt x="171962" y="63067"/>
                      <a:pt x="171962" y="63067"/>
                      <a:pt x="171962" y="38100"/>
                    </a:cubicBezTo>
                    <a:cubicBezTo>
                      <a:pt x="171962" y="38100"/>
                      <a:pt x="171962" y="38100"/>
                      <a:pt x="153476" y="38100"/>
                    </a:cubicBezTo>
                    <a:cubicBezTo>
                      <a:pt x="153476" y="38100"/>
                      <a:pt x="153476" y="38100"/>
                      <a:pt x="153476" y="63067"/>
                    </a:cubicBezTo>
                    <a:cubicBezTo>
                      <a:pt x="157438" y="65695"/>
                      <a:pt x="158758" y="70951"/>
                      <a:pt x="158758" y="74894"/>
                    </a:cubicBezTo>
                    <a:cubicBezTo>
                      <a:pt x="158758" y="84092"/>
                      <a:pt x="152156" y="90662"/>
                      <a:pt x="142913" y="90662"/>
                    </a:cubicBezTo>
                    <a:cubicBezTo>
                      <a:pt x="134991" y="90662"/>
                      <a:pt x="127069" y="84092"/>
                      <a:pt x="127069" y="74894"/>
                    </a:cubicBezTo>
                    <a:cubicBezTo>
                      <a:pt x="127069" y="70951"/>
                      <a:pt x="129710" y="65695"/>
                      <a:pt x="133671" y="63067"/>
                    </a:cubicBezTo>
                    <a:cubicBezTo>
                      <a:pt x="133671" y="63067"/>
                      <a:pt x="133671" y="63067"/>
                      <a:pt x="133671" y="38100"/>
                    </a:cubicBezTo>
                    <a:cubicBezTo>
                      <a:pt x="133671" y="38100"/>
                      <a:pt x="133671" y="38100"/>
                      <a:pt x="115186" y="38100"/>
                    </a:cubicBezTo>
                    <a:cubicBezTo>
                      <a:pt x="115186" y="38100"/>
                      <a:pt x="115186" y="38100"/>
                      <a:pt x="115186" y="63067"/>
                    </a:cubicBezTo>
                    <a:cubicBezTo>
                      <a:pt x="117826" y="65695"/>
                      <a:pt x="120467" y="70951"/>
                      <a:pt x="120467" y="74894"/>
                    </a:cubicBezTo>
                    <a:cubicBezTo>
                      <a:pt x="120467" y="84092"/>
                      <a:pt x="112545" y="90662"/>
                      <a:pt x="104623" y="90662"/>
                    </a:cubicBezTo>
                    <a:cubicBezTo>
                      <a:pt x="95380" y="90662"/>
                      <a:pt x="88778" y="84092"/>
                      <a:pt x="88778" y="74894"/>
                    </a:cubicBezTo>
                    <a:cubicBezTo>
                      <a:pt x="88778" y="70951"/>
                      <a:pt x="91419" y="65695"/>
                      <a:pt x="94060" y="63067"/>
                    </a:cubicBezTo>
                    <a:cubicBezTo>
                      <a:pt x="94060" y="63067"/>
                      <a:pt x="94060" y="63067"/>
                      <a:pt x="94060" y="38100"/>
                    </a:cubicBezTo>
                    <a:cubicBezTo>
                      <a:pt x="94060" y="38100"/>
                      <a:pt x="94060" y="38100"/>
                      <a:pt x="75574" y="38100"/>
                    </a:cubicBezTo>
                    <a:cubicBezTo>
                      <a:pt x="75574" y="38100"/>
                      <a:pt x="75574" y="38100"/>
                      <a:pt x="75574" y="63067"/>
                    </a:cubicBezTo>
                    <a:cubicBezTo>
                      <a:pt x="79535" y="65695"/>
                      <a:pt x="80856" y="70951"/>
                      <a:pt x="80856" y="74894"/>
                    </a:cubicBezTo>
                    <a:cubicBezTo>
                      <a:pt x="80856" y="84092"/>
                      <a:pt x="74254" y="90662"/>
                      <a:pt x="65011" y="90662"/>
                    </a:cubicBezTo>
                    <a:cubicBezTo>
                      <a:pt x="57089" y="90662"/>
                      <a:pt x="49167" y="84092"/>
                      <a:pt x="49167" y="74894"/>
                    </a:cubicBezTo>
                    <a:cubicBezTo>
                      <a:pt x="49167" y="70951"/>
                      <a:pt x="51808" y="65695"/>
                      <a:pt x="55769" y="63067"/>
                    </a:cubicBezTo>
                    <a:cubicBezTo>
                      <a:pt x="55769" y="63067"/>
                      <a:pt x="55769" y="63067"/>
                      <a:pt x="55769" y="38100"/>
                    </a:cubicBezTo>
                    <a:cubicBezTo>
                      <a:pt x="55769" y="38100"/>
                      <a:pt x="55769" y="38100"/>
                      <a:pt x="49167" y="38100"/>
                    </a:cubicBezTo>
                    <a:close/>
                    <a:moveTo>
                      <a:pt x="65315" y="4763"/>
                    </a:moveTo>
                    <a:cubicBezTo>
                      <a:pt x="63047" y="4763"/>
                      <a:pt x="61913" y="7437"/>
                      <a:pt x="61913" y="10110"/>
                    </a:cubicBezTo>
                    <a:lnTo>
                      <a:pt x="61913" y="75616"/>
                    </a:lnTo>
                    <a:cubicBezTo>
                      <a:pt x="61913" y="79626"/>
                      <a:pt x="63047" y="80963"/>
                      <a:pt x="65315" y="80963"/>
                    </a:cubicBezTo>
                    <a:cubicBezTo>
                      <a:pt x="68717" y="80963"/>
                      <a:pt x="69851" y="79626"/>
                      <a:pt x="69851" y="75616"/>
                    </a:cubicBezTo>
                    <a:cubicBezTo>
                      <a:pt x="69851" y="75616"/>
                      <a:pt x="69851" y="75616"/>
                      <a:pt x="69851" y="10110"/>
                    </a:cubicBezTo>
                    <a:cubicBezTo>
                      <a:pt x="69851" y="7437"/>
                      <a:pt x="68717" y="4763"/>
                      <a:pt x="65315" y="4763"/>
                    </a:cubicBezTo>
                    <a:close/>
                    <a:moveTo>
                      <a:pt x="104776" y="4763"/>
                    </a:moveTo>
                    <a:cubicBezTo>
                      <a:pt x="102394" y="4763"/>
                      <a:pt x="100013" y="7437"/>
                      <a:pt x="100013" y="10110"/>
                    </a:cubicBezTo>
                    <a:lnTo>
                      <a:pt x="100013" y="75616"/>
                    </a:lnTo>
                    <a:cubicBezTo>
                      <a:pt x="100013" y="79626"/>
                      <a:pt x="102394" y="80963"/>
                      <a:pt x="104776" y="80963"/>
                    </a:cubicBezTo>
                    <a:cubicBezTo>
                      <a:pt x="107157" y="80963"/>
                      <a:pt x="109538" y="79626"/>
                      <a:pt x="109538" y="75616"/>
                    </a:cubicBezTo>
                    <a:cubicBezTo>
                      <a:pt x="109538" y="75616"/>
                      <a:pt x="109538" y="75616"/>
                      <a:pt x="109538" y="10110"/>
                    </a:cubicBezTo>
                    <a:cubicBezTo>
                      <a:pt x="109538" y="7437"/>
                      <a:pt x="107157" y="4763"/>
                      <a:pt x="104776" y="4763"/>
                    </a:cubicBezTo>
                    <a:close/>
                    <a:moveTo>
                      <a:pt x="142876" y="4763"/>
                    </a:moveTo>
                    <a:cubicBezTo>
                      <a:pt x="140494" y="4763"/>
                      <a:pt x="138113" y="7437"/>
                      <a:pt x="138113" y="10110"/>
                    </a:cubicBezTo>
                    <a:lnTo>
                      <a:pt x="138113" y="75616"/>
                    </a:lnTo>
                    <a:cubicBezTo>
                      <a:pt x="138113" y="79626"/>
                      <a:pt x="140494" y="80963"/>
                      <a:pt x="142876" y="80963"/>
                    </a:cubicBezTo>
                    <a:cubicBezTo>
                      <a:pt x="145257" y="80963"/>
                      <a:pt x="147638" y="79626"/>
                      <a:pt x="147638" y="75616"/>
                    </a:cubicBezTo>
                    <a:cubicBezTo>
                      <a:pt x="147638" y="75616"/>
                      <a:pt x="147638" y="75616"/>
                      <a:pt x="147638" y="10110"/>
                    </a:cubicBezTo>
                    <a:cubicBezTo>
                      <a:pt x="147638" y="7437"/>
                      <a:pt x="145257" y="4763"/>
                      <a:pt x="142876" y="4763"/>
                    </a:cubicBezTo>
                    <a:close/>
                    <a:moveTo>
                      <a:pt x="182563" y="4763"/>
                    </a:moveTo>
                    <a:cubicBezTo>
                      <a:pt x="180181" y="4763"/>
                      <a:pt x="177800" y="7437"/>
                      <a:pt x="177800" y="10110"/>
                    </a:cubicBezTo>
                    <a:lnTo>
                      <a:pt x="177800" y="75616"/>
                    </a:lnTo>
                    <a:cubicBezTo>
                      <a:pt x="177800" y="79626"/>
                      <a:pt x="180181" y="80963"/>
                      <a:pt x="182563" y="80963"/>
                    </a:cubicBezTo>
                    <a:cubicBezTo>
                      <a:pt x="184944" y="80963"/>
                      <a:pt x="187325" y="79626"/>
                      <a:pt x="187325" y="75616"/>
                    </a:cubicBezTo>
                    <a:cubicBezTo>
                      <a:pt x="187325" y="75616"/>
                      <a:pt x="187325" y="75616"/>
                      <a:pt x="187325" y="10110"/>
                    </a:cubicBezTo>
                    <a:cubicBezTo>
                      <a:pt x="187325" y="7437"/>
                      <a:pt x="184944" y="4763"/>
                      <a:pt x="182563" y="4763"/>
                    </a:cubicBezTo>
                    <a:close/>
                    <a:moveTo>
                      <a:pt x="220663" y="4763"/>
                    </a:moveTo>
                    <a:cubicBezTo>
                      <a:pt x="218281" y="4763"/>
                      <a:pt x="215900" y="7437"/>
                      <a:pt x="215900" y="10110"/>
                    </a:cubicBezTo>
                    <a:lnTo>
                      <a:pt x="215900" y="75616"/>
                    </a:lnTo>
                    <a:cubicBezTo>
                      <a:pt x="215900" y="79626"/>
                      <a:pt x="218281" y="80963"/>
                      <a:pt x="220663" y="80963"/>
                    </a:cubicBezTo>
                    <a:cubicBezTo>
                      <a:pt x="223044" y="80963"/>
                      <a:pt x="225425" y="79626"/>
                      <a:pt x="225425" y="75616"/>
                    </a:cubicBezTo>
                    <a:cubicBezTo>
                      <a:pt x="225425" y="75616"/>
                      <a:pt x="225425" y="75616"/>
                      <a:pt x="225425" y="10110"/>
                    </a:cubicBezTo>
                    <a:cubicBezTo>
                      <a:pt x="225425" y="7437"/>
                      <a:pt x="223044" y="4763"/>
                      <a:pt x="220663" y="4763"/>
                    </a:cubicBezTo>
                    <a:close/>
                    <a:moveTo>
                      <a:pt x="260124" y="4763"/>
                    </a:moveTo>
                    <a:cubicBezTo>
                      <a:pt x="256722" y="4763"/>
                      <a:pt x="255588" y="7437"/>
                      <a:pt x="255588" y="10110"/>
                    </a:cubicBezTo>
                    <a:lnTo>
                      <a:pt x="255588" y="75616"/>
                    </a:lnTo>
                    <a:cubicBezTo>
                      <a:pt x="255588" y="79626"/>
                      <a:pt x="256722" y="80963"/>
                      <a:pt x="260124" y="80963"/>
                    </a:cubicBezTo>
                    <a:cubicBezTo>
                      <a:pt x="262392" y="80963"/>
                      <a:pt x="263526" y="79626"/>
                      <a:pt x="263526" y="75616"/>
                    </a:cubicBezTo>
                    <a:cubicBezTo>
                      <a:pt x="263526" y="75616"/>
                      <a:pt x="263526" y="75616"/>
                      <a:pt x="263526" y="10110"/>
                    </a:cubicBezTo>
                    <a:cubicBezTo>
                      <a:pt x="263526" y="7437"/>
                      <a:pt x="262392" y="4763"/>
                      <a:pt x="260124" y="4763"/>
                    </a:cubicBezTo>
                    <a:close/>
                    <a:moveTo>
                      <a:pt x="64823" y="0"/>
                    </a:moveTo>
                    <a:cubicBezTo>
                      <a:pt x="71438" y="0"/>
                      <a:pt x="75406" y="3944"/>
                      <a:pt x="75406" y="10517"/>
                    </a:cubicBezTo>
                    <a:cubicBezTo>
                      <a:pt x="75406" y="10517"/>
                      <a:pt x="75406" y="10517"/>
                      <a:pt x="75406" y="14461"/>
                    </a:cubicBezTo>
                    <a:cubicBezTo>
                      <a:pt x="75406" y="14461"/>
                      <a:pt x="75406" y="14461"/>
                      <a:pt x="93927" y="14461"/>
                    </a:cubicBezTo>
                    <a:cubicBezTo>
                      <a:pt x="93927" y="14461"/>
                      <a:pt x="93927" y="14461"/>
                      <a:pt x="93927" y="10517"/>
                    </a:cubicBezTo>
                    <a:cubicBezTo>
                      <a:pt x="93927" y="3944"/>
                      <a:pt x="99219" y="0"/>
                      <a:pt x="104511" y="0"/>
                    </a:cubicBezTo>
                    <a:cubicBezTo>
                      <a:pt x="109802" y="0"/>
                      <a:pt x="115094" y="3944"/>
                      <a:pt x="115094" y="10517"/>
                    </a:cubicBezTo>
                    <a:cubicBezTo>
                      <a:pt x="115094" y="10517"/>
                      <a:pt x="115094" y="10517"/>
                      <a:pt x="115094" y="14461"/>
                    </a:cubicBezTo>
                    <a:cubicBezTo>
                      <a:pt x="115094" y="14461"/>
                      <a:pt x="115094" y="14461"/>
                      <a:pt x="133615" y="14461"/>
                    </a:cubicBezTo>
                    <a:cubicBezTo>
                      <a:pt x="133615" y="14461"/>
                      <a:pt x="133615" y="14461"/>
                      <a:pt x="133615" y="10517"/>
                    </a:cubicBezTo>
                    <a:cubicBezTo>
                      <a:pt x="133615" y="3944"/>
                      <a:pt x="137584" y="0"/>
                      <a:pt x="142875" y="0"/>
                    </a:cubicBezTo>
                    <a:cubicBezTo>
                      <a:pt x="149490" y="0"/>
                      <a:pt x="153459" y="3944"/>
                      <a:pt x="153459" y="10517"/>
                    </a:cubicBezTo>
                    <a:cubicBezTo>
                      <a:pt x="153459" y="10517"/>
                      <a:pt x="153459" y="10517"/>
                      <a:pt x="153459" y="14461"/>
                    </a:cubicBezTo>
                    <a:cubicBezTo>
                      <a:pt x="153459" y="14461"/>
                      <a:pt x="153459" y="14461"/>
                      <a:pt x="171980" y="14461"/>
                    </a:cubicBezTo>
                    <a:cubicBezTo>
                      <a:pt x="171980" y="14461"/>
                      <a:pt x="171980" y="14461"/>
                      <a:pt x="171980" y="10517"/>
                    </a:cubicBezTo>
                    <a:cubicBezTo>
                      <a:pt x="171980" y="3944"/>
                      <a:pt x="175948" y="0"/>
                      <a:pt x="182563" y="0"/>
                    </a:cubicBezTo>
                    <a:cubicBezTo>
                      <a:pt x="187855" y="0"/>
                      <a:pt x="191823" y="3944"/>
                      <a:pt x="191823" y="10517"/>
                    </a:cubicBezTo>
                    <a:cubicBezTo>
                      <a:pt x="191823" y="10517"/>
                      <a:pt x="191823" y="10517"/>
                      <a:pt x="191823" y="14461"/>
                    </a:cubicBezTo>
                    <a:cubicBezTo>
                      <a:pt x="191823" y="14461"/>
                      <a:pt x="191823" y="14461"/>
                      <a:pt x="210344" y="14461"/>
                    </a:cubicBezTo>
                    <a:cubicBezTo>
                      <a:pt x="210344" y="14461"/>
                      <a:pt x="210344" y="14461"/>
                      <a:pt x="210344" y="10517"/>
                    </a:cubicBezTo>
                    <a:cubicBezTo>
                      <a:pt x="210344" y="3944"/>
                      <a:pt x="215636" y="0"/>
                      <a:pt x="220927" y="0"/>
                    </a:cubicBezTo>
                    <a:cubicBezTo>
                      <a:pt x="226219" y="0"/>
                      <a:pt x="231511" y="3944"/>
                      <a:pt x="231511" y="10517"/>
                    </a:cubicBezTo>
                    <a:cubicBezTo>
                      <a:pt x="231511" y="10517"/>
                      <a:pt x="231511" y="10517"/>
                      <a:pt x="231511" y="14461"/>
                    </a:cubicBezTo>
                    <a:cubicBezTo>
                      <a:pt x="231511" y="14461"/>
                      <a:pt x="231511" y="14461"/>
                      <a:pt x="250032" y="14461"/>
                    </a:cubicBezTo>
                    <a:cubicBezTo>
                      <a:pt x="250032" y="14461"/>
                      <a:pt x="250032" y="14461"/>
                      <a:pt x="250032" y="10517"/>
                    </a:cubicBezTo>
                    <a:cubicBezTo>
                      <a:pt x="250032" y="3944"/>
                      <a:pt x="254000" y="0"/>
                      <a:pt x="260615" y="0"/>
                    </a:cubicBezTo>
                    <a:cubicBezTo>
                      <a:pt x="265907" y="0"/>
                      <a:pt x="269875" y="3944"/>
                      <a:pt x="269875" y="10517"/>
                    </a:cubicBezTo>
                    <a:cubicBezTo>
                      <a:pt x="269875" y="10517"/>
                      <a:pt x="269875" y="10517"/>
                      <a:pt x="269875" y="14461"/>
                    </a:cubicBezTo>
                    <a:cubicBezTo>
                      <a:pt x="269875" y="14461"/>
                      <a:pt x="269875" y="14461"/>
                      <a:pt x="276490" y="14461"/>
                    </a:cubicBezTo>
                    <a:cubicBezTo>
                      <a:pt x="302948" y="14461"/>
                      <a:pt x="325438" y="35496"/>
                      <a:pt x="325438" y="61789"/>
                    </a:cubicBezTo>
                    <a:cubicBezTo>
                      <a:pt x="325438" y="61789"/>
                      <a:pt x="325438" y="61789"/>
                      <a:pt x="325438" y="289223"/>
                    </a:cubicBezTo>
                    <a:cubicBezTo>
                      <a:pt x="325438" y="315516"/>
                      <a:pt x="302948" y="336550"/>
                      <a:pt x="276490" y="336550"/>
                    </a:cubicBezTo>
                    <a:cubicBezTo>
                      <a:pt x="276490" y="336550"/>
                      <a:pt x="276490" y="336550"/>
                      <a:pt x="48948" y="336550"/>
                    </a:cubicBezTo>
                    <a:cubicBezTo>
                      <a:pt x="22490" y="336550"/>
                      <a:pt x="0" y="315516"/>
                      <a:pt x="0" y="289223"/>
                    </a:cubicBezTo>
                    <a:cubicBezTo>
                      <a:pt x="0" y="289223"/>
                      <a:pt x="0" y="289223"/>
                      <a:pt x="0" y="61789"/>
                    </a:cubicBezTo>
                    <a:cubicBezTo>
                      <a:pt x="0" y="35496"/>
                      <a:pt x="22490" y="14461"/>
                      <a:pt x="48948" y="14461"/>
                    </a:cubicBezTo>
                    <a:cubicBezTo>
                      <a:pt x="48948" y="14461"/>
                      <a:pt x="48948" y="14461"/>
                      <a:pt x="55563" y="14461"/>
                    </a:cubicBezTo>
                    <a:cubicBezTo>
                      <a:pt x="55563" y="14461"/>
                      <a:pt x="55563" y="14461"/>
                      <a:pt x="55563" y="10517"/>
                    </a:cubicBezTo>
                    <a:cubicBezTo>
                      <a:pt x="55563" y="3944"/>
                      <a:pt x="59531" y="0"/>
                      <a:pt x="64823"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文本框 27"/>
            <p:cNvSpPr txBox="1"/>
            <p:nvPr/>
          </p:nvSpPr>
          <p:spPr>
            <a:xfrm>
              <a:off x="6669040" y="4733309"/>
              <a:ext cx="1742936" cy="252909"/>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时间：</a:t>
              </a:r>
              <a:r>
                <a:rPr lang="en-US" altLang="zh-CN"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2025-04-19</a:t>
              </a:r>
              <a:endPar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01251" y="6249432"/>
            <a:ext cx="2757212" cy="385951"/>
          </a:xfrm>
          <a:prstGeom prst="rect">
            <a:avLst/>
          </a:prstGeom>
        </p:spPr>
      </p:pic>
      <p:sp>
        <p:nvSpPr>
          <p:cNvPr id="21" name="文本占位符 1">
            <a:extLst>
              <a:ext uri="{FF2B5EF4-FFF2-40B4-BE49-F238E27FC236}">
                <a16:creationId xmlns:a16="http://schemas.microsoft.com/office/drawing/2014/main" id="{45E3CF39-A26E-422F-9A35-4160A6319B45}"/>
              </a:ext>
            </a:extLst>
          </p:cNvPr>
          <p:cNvSpPr txBox="1"/>
          <p:nvPr/>
        </p:nvSpPr>
        <p:spPr>
          <a:xfrm>
            <a:off x="5267597" y="1331398"/>
            <a:ext cx="7155284" cy="1971217"/>
          </a:xfrm>
          <a:prstGeom prst="rect">
            <a:avLst/>
          </a:prstGeom>
        </p:spPr>
        <p:txBody>
          <a:bodyPr vert="horz" wrap="none" lIns="91440" tIns="45720" rIns="91440" bIns="45720" rtlCol="0" anchor="ctr">
            <a:noAutofit/>
          </a:bodyPr>
          <a:lstStyle>
            <a:lvl1pPr marL="0" indent="0" algn="ctr" defTabSz="914400" rtl="0" eaLnBrk="1" latinLnBrk="0" hangingPunct="1">
              <a:lnSpc>
                <a:spcPct val="90000"/>
              </a:lnSpc>
              <a:spcBef>
                <a:spcPts val="1000"/>
              </a:spcBef>
              <a:buFontTx/>
              <a:buNone/>
              <a:defRPr sz="4000" b="1" kern="1200" spc="0" baseline="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25000"/>
              </a:lnSpc>
              <a:spcBef>
                <a:spcPts val="1000"/>
              </a:spcBef>
              <a:spcAft>
                <a:spcPts val="0"/>
              </a:spcAft>
              <a:buClrTx/>
              <a:buSzTx/>
              <a:buFontTx/>
              <a:buNone/>
              <a:defRPr/>
            </a:pPr>
            <a:r>
              <a:rPr kumimoji="0" lang="zh-CN" altLang="en-US" sz="8000" b="1" i="0"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汇报结束 </a:t>
            </a:r>
            <a:endParaRPr kumimoji="0" lang="en-US" altLang="zh-CN" sz="8000" b="1" i="0"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a:p>
            <a:pPr marL="0" marR="0" lvl="0" indent="0" defTabSz="914400" rtl="0" eaLnBrk="1" fontAlgn="auto" latinLnBrk="0" hangingPunct="1">
              <a:lnSpc>
                <a:spcPct val="125000"/>
              </a:lnSpc>
              <a:spcBef>
                <a:spcPts val="1000"/>
              </a:spcBef>
              <a:spcAft>
                <a:spcPts val="0"/>
              </a:spcAft>
              <a:buClrTx/>
              <a:buSzTx/>
              <a:buFontTx/>
              <a:buNone/>
              <a:defRPr/>
            </a:pPr>
            <a:r>
              <a:rPr lang="zh-CN" altLang="en-US" sz="8000" spc="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谢谢大家</a:t>
            </a:r>
            <a:r>
              <a:rPr kumimoji="0" lang="zh-CN" altLang="en-US" sz="8000" b="1" i="1"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t>
            </a:r>
          </a:p>
        </p:txBody>
      </p:sp>
    </p:spTree>
    <p:extLst>
      <p:ext uri="{BB962C8B-B14F-4D97-AF65-F5344CB8AC3E}">
        <p14:creationId xmlns:p14="http://schemas.microsoft.com/office/powerpoint/2010/main" val="16680418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FmNzNhNTgzZmRjOTk0NjdlYmI0YmE1ZTNlZDNhNjMifQ=="/>
</p:tagLst>
</file>

<file path=ppt/theme/theme1.xml><?xml version="1.0" encoding="utf-8"?>
<a:theme xmlns:a="http://schemas.openxmlformats.org/drawingml/2006/main" name="第一PPT，www.1ppt.com">
  <a:themeElements>
    <a:clrScheme name="自定义 40">
      <a:dk1>
        <a:sysClr val="windowText" lastClr="000000"/>
      </a:dk1>
      <a:lt1>
        <a:sysClr val="window" lastClr="FFFFFF"/>
      </a:lt1>
      <a:dk2>
        <a:srgbClr val="C00000"/>
      </a:dk2>
      <a:lt2>
        <a:srgbClr val="FF0000"/>
      </a:lt2>
      <a:accent1>
        <a:srgbClr val="FF6600"/>
      </a:accent1>
      <a:accent2>
        <a:srgbClr val="FFC000"/>
      </a:accent2>
      <a:accent3>
        <a:srgbClr val="92D050"/>
      </a:accent3>
      <a:accent4>
        <a:srgbClr val="00B0F0"/>
      </a:accent4>
      <a:accent5>
        <a:srgbClr val="7F7F7F"/>
      </a:accent5>
      <a:accent6>
        <a:srgbClr val="262626"/>
      </a:accent6>
      <a:hlink>
        <a:srgbClr val="262626"/>
      </a:hlink>
      <a:folHlink>
        <a:srgbClr val="7F7F7F"/>
      </a:folHlink>
    </a:clrScheme>
    <a:fontScheme name="2rrodchb">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1128</TotalTime>
  <Words>789</Words>
  <Application>Microsoft Office PowerPoint</Application>
  <PresentationFormat>宽屏</PresentationFormat>
  <Paragraphs>100</Paragraphs>
  <Slides>11</Slides>
  <Notes>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等线</vt:lpstr>
      <vt:lpstr>黑体</vt:lpstr>
      <vt:lpstr>微软雅黑</vt:lpstr>
      <vt:lpstr>Arial</vt:lpstr>
      <vt:lpstr>Calibri</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嘉伟 周</cp:lastModifiedBy>
  <cp:revision>133</cp:revision>
  <dcterms:created xsi:type="dcterms:W3CDTF">2021-04-15T12:03:00Z</dcterms:created>
  <dcterms:modified xsi:type="dcterms:W3CDTF">2025-06-16T02:14:29Z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CC7496E30844449AB513B6CA296F35C7_12</vt:lpwstr>
  </property>
  <property fmtid="{D5CDD505-2E9C-101B-9397-08002B2CF9AE}" pid="3" name="KSOProductBuildVer">
    <vt:lpwstr>2052-12.1.0.15712</vt:lpwstr>
  </property>
</Properties>
</file>