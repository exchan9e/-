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483" r:id="rId2"/>
    <p:sldId id="510" r:id="rId3"/>
    <p:sldId id="530" r:id="rId4"/>
    <p:sldId id="536" r:id="rId5"/>
    <p:sldId id="522" r:id="rId6"/>
    <p:sldId id="539" r:id="rId7"/>
    <p:sldId id="537" r:id="rId8"/>
    <p:sldId id="525" r:id="rId9"/>
    <p:sldId id="524" r:id="rId10"/>
    <p:sldId id="538" r:id="rId11"/>
    <p:sldId id="519" r:id="rId12"/>
    <p:sldId id="514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4995"/>
    <a:srgbClr val="FF33CC"/>
    <a:srgbClr val="D7E1EE"/>
    <a:srgbClr val="4245BE"/>
    <a:srgbClr val="0070C0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56" autoAdjust="0"/>
    <p:restoredTop sz="94660"/>
  </p:normalViewPr>
  <p:slideViewPr>
    <p:cSldViewPr snapToGrid="0">
      <p:cViewPr varScale="1">
        <p:scale>
          <a:sx n="76" d="100"/>
          <a:sy n="76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D5AAD-12B1-4117-8A4B-C4109D64BF51}" type="datetimeFigureOut">
              <a:rPr lang="zh-CN" altLang="en-US" smtClean="0"/>
              <a:t>2025/6/16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8F440-86C7-4ABB-A7C0-3F9FD6847D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EFC850-7D77-4205-9604-040A94831E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BE174-D638-475B-A0A6-2E5C6AD14B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351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54B0-585A-BFA4-DB85-9C5DC2FF9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0AB7B92-5C57-D81F-CFBA-077AA4501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EC1197-99E2-5BE7-4119-CF0AD2DD5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AC55DE-6757-2DD1-2031-DCD060587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BE174-D638-475B-A0A6-2E5C6AD14B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0443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80FE9-D31A-D9E2-95A3-02BABD1D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8D7D72-0E0F-BDA3-9089-22569B1DD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E1523B-A45E-FA77-6C4F-919A645C91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70ACEE-08BD-176D-7E1C-E3583E11D3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BE174-D638-475B-A0A6-2E5C6AD14B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3124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1FB97-ED7F-F397-535B-04BB3ADB6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171A4C-C621-053A-8600-40657B808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34978C-3151-65F3-DA45-E1C7CD9A7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E5FFED-9465-36E3-F688-336ECB663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1BBE174-D638-475B-A0A6-2E5C6AD14BB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341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5EFC850-7D77-4205-9604-040A94831E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859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9072331" y="6021289"/>
            <a:ext cx="1033515" cy="276931"/>
          </a:xfrm>
          <a:prstGeom prst="rect">
            <a:avLst/>
          </a:prstGeom>
        </p:spPr>
        <p:txBody>
          <a:bodyPr wrap="square" lIns="121889" tIns="60944" rIns="121889" bIns="60944">
            <a:spAutoFit/>
          </a:bodyPr>
          <a:lstStyle/>
          <a:p>
            <a:pPr defTabSz="12192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defTabSz="12192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defTabSz="12192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defTabSz="12192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defTabSz="12192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defTabSz="12192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defTabSz="12192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defTabSz="12192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defTabSz="12192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defTabSz="12192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026" name="Picture 2" descr="C:\Users\Administrator\Desktop\灰色01副本.jpg"/>
          <p:cNvPicPr>
            <a:picLocks noChangeAspect="1"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30291" y="-826"/>
            <a:ext cx="12161709" cy="685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65" y="-3659"/>
            <a:ext cx="12178317" cy="6861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121856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89965" indent="-3810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3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296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193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153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04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095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7906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5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13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673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56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52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4895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-687968"/>
            <a:ext cx="7784892" cy="7784892"/>
          </a:xfrm>
          <a:prstGeom prst="rect">
            <a:avLst/>
          </a:prstGeom>
        </p:spPr>
      </p:pic>
      <p:sp>
        <p:nvSpPr>
          <p:cNvPr id="99" name="流程图: 手动输入 3"/>
          <p:cNvSpPr/>
          <p:nvPr/>
        </p:nvSpPr>
        <p:spPr>
          <a:xfrm rot="5400000">
            <a:off x="-772141" y="765575"/>
            <a:ext cx="6865184" cy="5316494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0 w 10013"/>
              <a:gd name="connsiteY0-2" fmla="*/ 3619 h 10000"/>
              <a:gd name="connsiteX1-3" fmla="*/ 10013 w 10013"/>
              <a:gd name="connsiteY1-4" fmla="*/ 0 h 10000"/>
              <a:gd name="connsiteX2-5" fmla="*/ 10013 w 10013"/>
              <a:gd name="connsiteY2-6" fmla="*/ 10000 h 10000"/>
              <a:gd name="connsiteX3-7" fmla="*/ 13 w 10013"/>
              <a:gd name="connsiteY3-8" fmla="*/ 10000 h 10000"/>
              <a:gd name="connsiteX4-9" fmla="*/ 0 w 10013"/>
              <a:gd name="connsiteY4-10" fmla="*/ 3619 h 10000"/>
              <a:gd name="connsiteX0-11" fmla="*/ 0 w 10013"/>
              <a:gd name="connsiteY0-12" fmla="*/ 3970 h 10000"/>
              <a:gd name="connsiteX1-13" fmla="*/ 10013 w 10013"/>
              <a:gd name="connsiteY1-14" fmla="*/ 0 h 10000"/>
              <a:gd name="connsiteX2-15" fmla="*/ 10013 w 10013"/>
              <a:gd name="connsiteY2-16" fmla="*/ 10000 h 10000"/>
              <a:gd name="connsiteX3-17" fmla="*/ 13 w 10013"/>
              <a:gd name="connsiteY3-18" fmla="*/ 10000 h 10000"/>
              <a:gd name="connsiteX4-19" fmla="*/ 0 w 10013"/>
              <a:gd name="connsiteY4-20" fmla="*/ 397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13" h="10000">
                <a:moveTo>
                  <a:pt x="0" y="3970"/>
                </a:moveTo>
                <a:lnTo>
                  <a:pt x="10013" y="0"/>
                </a:lnTo>
                <a:lnTo>
                  <a:pt x="10013" y="10000"/>
                </a:lnTo>
                <a:lnTo>
                  <a:pt x="13" y="10000"/>
                </a:lnTo>
                <a:cubicBezTo>
                  <a:pt x="9" y="7873"/>
                  <a:pt x="4" y="6097"/>
                  <a:pt x="0" y="3970"/>
                </a:cubicBezTo>
                <a:close/>
              </a:path>
            </a:pathLst>
          </a:custGeom>
          <a:gradFill>
            <a:gsLst>
              <a:gs pos="0">
                <a:srgbClr val="142756"/>
              </a:gs>
              <a:gs pos="100000">
                <a:srgbClr val="2E5DA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dirty="0">
              <a:solidFill>
                <a:schemeClr val="lt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>
            <a:fillRect/>
          </a:stretch>
        </p:blipFill>
        <p:spPr>
          <a:xfrm>
            <a:off x="819657" y="1074336"/>
            <a:ext cx="4892808" cy="4939693"/>
          </a:xfrm>
          <a:prstGeom prst="ellips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4" name="空心弧 103"/>
          <p:cNvSpPr/>
          <p:nvPr/>
        </p:nvSpPr>
        <p:spPr>
          <a:xfrm rot="14414393">
            <a:off x="895496" y="1098487"/>
            <a:ext cx="4801452" cy="4801452"/>
          </a:xfrm>
          <a:prstGeom prst="blockArc">
            <a:avLst>
              <a:gd name="adj1" fmla="val 10800000"/>
              <a:gd name="adj2" fmla="val 467453"/>
              <a:gd name="adj3" fmla="val 2676"/>
            </a:avLst>
          </a:prstGeom>
          <a:solidFill>
            <a:srgbClr val="FBF9F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9" name="文本占位符 1"/>
          <p:cNvSpPr txBox="1"/>
          <p:nvPr/>
        </p:nvSpPr>
        <p:spPr>
          <a:xfrm>
            <a:off x="5150499" y="713903"/>
            <a:ext cx="6867329" cy="378623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4000" b="1" kern="1200" spc="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endParaRPr lang="en-US" altLang="zh-CN" sz="360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00000"/>
              </a:lnSpc>
              <a:defRPr/>
            </a:pPr>
            <a:r>
              <a:rPr lang="zh-CN" altLang="en-US" sz="36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九洲江下游（广西段）</a:t>
            </a:r>
            <a:endParaRPr lang="en-US" altLang="zh-CN" sz="360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00000"/>
              </a:lnSpc>
              <a:defRPr/>
            </a:pPr>
            <a:r>
              <a:rPr lang="zh-CN" altLang="en-US" sz="36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水华暴发影响因子分析</a:t>
            </a:r>
            <a:endParaRPr lang="en-US" altLang="zh-CN" sz="360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00000"/>
              </a:lnSpc>
              <a:defRPr/>
            </a:pPr>
            <a:r>
              <a:rPr lang="en-US" altLang="zh-CN" sz="28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</a:t>
            </a:r>
            <a:r>
              <a:rPr lang="zh-CN" alt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模型案例</a:t>
            </a:r>
            <a:endParaRPr lang="en-US" altLang="zh-CN" sz="2800" dirty="0">
              <a:solidFill>
                <a:srgbClr val="0070C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0" name="Freeform 236"/>
          <p:cNvSpPr/>
          <p:nvPr/>
        </p:nvSpPr>
        <p:spPr bwMode="auto">
          <a:xfrm rot="10800000" flipH="1" flipV="1">
            <a:off x="6784728" y="4032933"/>
            <a:ext cx="4242848" cy="58622"/>
          </a:xfrm>
          <a:custGeom>
            <a:avLst/>
            <a:gdLst>
              <a:gd name="T0" fmla="*/ 508 w 508"/>
              <a:gd name="T1" fmla="*/ 28 h 66"/>
              <a:gd name="T2" fmla="*/ 433 w 508"/>
              <a:gd name="T3" fmla="*/ 21 h 66"/>
              <a:gd name="T4" fmla="*/ 445 w 508"/>
              <a:gd name="T5" fmla="*/ 20 h 66"/>
              <a:gd name="T6" fmla="*/ 209 w 508"/>
              <a:gd name="T7" fmla="*/ 5 h 66"/>
              <a:gd name="T8" fmla="*/ 94 w 508"/>
              <a:gd name="T9" fmla="*/ 4 h 66"/>
              <a:gd name="T10" fmla="*/ 62 w 508"/>
              <a:gd name="T11" fmla="*/ 10 h 66"/>
              <a:gd name="T12" fmla="*/ 26 w 508"/>
              <a:gd name="T13" fmla="*/ 14 h 66"/>
              <a:gd name="T14" fmla="*/ 2 w 508"/>
              <a:gd name="T15" fmla="*/ 24 h 66"/>
              <a:gd name="T16" fmla="*/ 12 w 508"/>
              <a:gd name="T17" fmla="*/ 53 h 66"/>
              <a:gd name="T18" fmla="*/ 10 w 508"/>
              <a:gd name="T19" fmla="*/ 56 h 66"/>
              <a:gd name="T20" fmla="*/ 11 w 508"/>
              <a:gd name="T21" fmla="*/ 65 h 66"/>
              <a:gd name="T22" fmla="*/ 23 w 508"/>
              <a:gd name="T23" fmla="*/ 60 h 66"/>
              <a:gd name="T24" fmla="*/ 34 w 508"/>
              <a:gd name="T25" fmla="*/ 62 h 66"/>
              <a:gd name="T26" fmla="*/ 61 w 508"/>
              <a:gd name="T27" fmla="*/ 52 h 66"/>
              <a:gd name="T28" fmla="*/ 108 w 508"/>
              <a:gd name="T29" fmla="*/ 54 h 66"/>
              <a:gd name="T30" fmla="*/ 279 w 508"/>
              <a:gd name="T31" fmla="*/ 48 h 66"/>
              <a:gd name="T32" fmla="*/ 366 w 508"/>
              <a:gd name="T33" fmla="*/ 43 h 66"/>
              <a:gd name="T34" fmla="*/ 362 w 508"/>
              <a:gd name="T35" fmla="*/ 42 h 66"/>
              <a:gd name="T36" fmla="*/ 477 w 508"/>
              <a:gd name="T37" fmla="*/ 36 h 66"/>
              <a:gd name="T38" fmla="*/ 491 w 508"/>
              <a:gd name="T39" fmla="*/ 33 h 66"/>
              <a:gd name="T40" fmla="*/ 474 w 508"/>
              <a:gd name="T41" fmla="*/ 31 h 66"/>
              <a:gd name="T42" fmla="*/ 508 w 508"/>
              <a:gd name="T43" fmla="*/ 28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508" h="66">
                <a:moveTo>
                  <a:pt x="508" y="28"/>
                </a:moveTo>
                <a:cubicBezTo>
                  <a:pt x="433" y="21"/>
                  <a:pt x="433" y="21"/>
                  <a:pt x="433" y="21"/>
                </a:cubicBezTo>
                <a:cubicBezTo>
                  <a:pt x="437" y="20"/>
                  <a:pt x="441" y="22"/>
                  <a:pt x="445" y="20"/>
                </a:cubicBezTo>
                <a:cubicBezTo>
                  <a:pt x="360" y="13"/>
                  <a:pt x="292" y="6"/>
                  <a:pt x="209" y="5"/>
                </a:cubicBezTo>
                <a:cubicBezTo>
                  <a:pt x="172" y="6"/>
                  <a:pt x="130" y="1"/>
                  <a:pt x="94" y="4"/>
                </a:cubicBezTo>
                <a:cubicBezTo>
                  <a:pt x="85" y="11"/>
                  <a:pt x="70" y="0"/>
                  <a:pt x="62" y="10"/>
                </a:cubicBezTo>
                <a:cubicBezTo>
                  <a:pt x="50" y="10"/>
                  <a:pt x="37" y="10"/>
                  <a:pt x="26" y="14"/>
                </a:cubicBezTo>
                <a:cubicBezTo>
                  <a:pt x="16" y="10"/>
                  <a:pt x="10" y="20"/>
                  <a:pt x="2" y="24"/>
                </a:cubicBezTo>
                <a:cubicBezTo>
                  <a:pt x="0" y="34"/>
                  <a:pt x="4" y="44"/>
                  <a:pt x="12" y="53"/>
                </a:cubicBezTo>
                <a:cubicBezTo>
                  <a:pt x="12" y="54"/>
                  <a:pt x="11" y="55"/>
                  <a:pt x="10" y="56"/>
                </a:cubicBezTo>
                <a:cubicBezTo>
                  <a:pt x="8" y="59"/>
                  <a:pt x="8" y="63"/>
                  <a:pt x="11" y="65"/>
                </a:cubicBezTo>
                <a:cubicBezTo>
                  <a:pt x="15" y="64"/>
                  <a:pt x="19" y="63"/>
                  <a:pt x="23" y="60"/>
                </a:cubicBezTo>
                <a:cubicBezTo>
                  <a:pt x="27" y="60"/>
                  <a:pt x="30" y="66"/>
                  <a:pt x="34" y="62"/>
                </a:cubicBezTo>
                <a:cubicBezTo>
                  <a:pt x="42" y="54"/>
                  <a:pt x="52" y="55"/>
                  <a:pt x="61" y="52"/>
                </a:cubicBezTo>
                <a:cubicBezTo>
                  <a:pt x="76" y="54"/>
                  <a:pt x="93" y="53"/>
                  <a:pt x="108" y="54"/>
                </a:cubicBezTo>
                <a:cubicBezTo>
                  <a:pt x="161" y="52"/>
                  <a:pt x="222" y="49"/>
                  <a:pt x="279" y="48"/>
                </a:cubicBezTo>
                <a:cubicBezTo>
                  <a:pt x="308" y="49"/>
                  <a:pt x="338" y="46"/>
                  <a:pt x="366" y="43"/>
                </a:cubicBezTo>
                <a:cubicBezTo>
                  <a:pt x="365" y="43"/>
                  <a:pt x="363" y="43"/>
                  <a:pt x="362" y="42"/>
                </a:cubicBezTo>
                <a:cubicBezTo>
                  <a:pt x="401" y="41"/>
                  <a:pt x="439" y="38"/>
                  <a:pt x="477" y="36"/>
                </a:cubicBezTo>
                <a:cubicBezTo>
                  <a:pt x="481" y="34"/>
                  <a:pt x="487" y="37"/>
                  <a:pt x="491" y="33"/>
                </a:cubicBezTo>
                <a:cubicBezTo>
                  <a:pt x="486" y="31"/>
                  <a:pt x="479" y="33"/>
                  <a:pt x="474" y="31"/>
                </a:cubicBezTo>
                <a:cubicBezTo>
                  <a:pt x="485" y="29"/>
                  <a:pt x="498" y="31"/>
                  <a:pt x="508" y="28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457200">
              <a:lnSpc>
                <a:spcPct val="130000"/>
              </a:lnSpc>
            </a:pPr>
            <a:endParaRPr lang="zh-CN" altLang="en-US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526635" y="4735646"/>
            <a:ext cx="2227055" cy="370546"/>
            <a:chOff x="4654427" y="4718860"/>
            <a:chExt cx="1663809" cy="276971"/>
          </a:xfrm>
        </p:grpSpPr>
        <p:grpSp>
          <p:nvGrpSpPr>
            <p:cNvPr id="12" name="组合 11"/>
            <p:cNvGrpSpPr/>
            <p:nvPr/>
          </p:nvGrpSpPr>
          <p:grpSpPr>
            <a:xfrm>
              <a:off x="4654427" y="4718860"/>
              <a:ext cx="276971" cy="276971"/>
              <a:chOff x="3725237" y="4930504"/>
              <a:chExt cx="531780" cy="531780"/>
            </a:xfrm>
          </p:grpSpPr>
          <p:sp>
            <p:nvSpPr>
              <p:cNvPr id="14" name="圆角矩形 2"/>
              <p:cNvSpPr/>
              <p:nvPr/>
            </p:nvSpPr>
            <p:spPr>
              <a:xfrm>
                <a:off x="3725237" y="4930504"/>
                <a:ext cx="531780" cy="531780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algn="ctr" defTabSz="913765">
                  <a:defRPr/>
                </a:pPr>
                <a:endParaRPr lang="zh-CN" alt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5" name="student-graduation-cap-shape_52041"/>
              <p:cNvSpPr>
                <a:spLocks noChangeAspect="1"/>
              </p:cNvSpPr>
              <p:nvPr/>
            </p:nvSpPr>
            <p:spPr bwMode="auto">
              <a:xfrm>
                <a:off x="3875605" y="5054575"/>
                <a:ext cx="219840" cy="264806"/>
              </a:xfrm>
              <a:custGeom>
                <a:avLst/>
                <a:gdLst>
                  <a:gd name="connsiteX0" fmla="*/ 56671 w 279400"/>
                  <a:gd name="connsiteY0" fmla="*/ 192087 h 336550"/>
                  <a:gd name="connsiteX1" fmla="*/ 224047 w 279400"/>
                  <a:gd name="connsiteY1" fmla="*/ 192087 h 336550"/>
                  <a:gd name="connsiteX2" fmla="*/ 279400 w 279400"/>
                  <a:gd name="connsiteY2" fmla="*/ 247752 h 336550"/>
                  <a:gd name="connsiteX3" fmla="*/ 279400 w 279400"/>
                  <a:gd name="connsiteY3" fmla="*/ 336550 h 336550"/>
                  <a:gd name="connsiteX4" fmla="*/ 176602 w 279400"/>
                  <a:gd name="connsiteY4" fmla="*/ 336550 h 336550"/>
                  <a:gd name="connsiteX5" fmla="*/ 158151 w 279400"/>
                  <a:gd name="connsiteY5" fmla="*/ 245101 h 336550"/>
                  <a:gd name="connsiteX6" fmla="*/ 151562 w 279400"/>
                  <a:gd name="connsiteY6" fmla="*/ 239800 h 336550"/>
                  <a:gd name="connsiteX7" fmla="*/ 167377 w 279400"/>
                  <a:gd name="connsiteY7" fmla="*/ 213293 h 336550"/>
                  <a:gd name="connsiteX8" fmla="*/ 167377 w 279400"/>
                  <a:gd name="connsiteY8" fmla="*/ 209317 h 336550"/>
                  <a:gd name="connsiteX9" fmla="*/ 163423 w 279400"/>
                  <a:gd name="connsiteY9" fmla="*/ 207991 h 336550"/>
                  <a:gd name="connsiteX10" fmla="*/ 121249 w 279400"/>
                  <a:gd name="connsiteY10" fmla="*/ 207991 h 336550"/>
                  <a:gd name="connsiteX11" fmla="*/ 118613 w 279400"/>
                  <a:gd name="connsiteY11" fmla="*/ 209317 h 336550"/>
                  <a:gd name="connsiteX12" fmla="*/ 118613 w 279400"/>
                  <a:gd name="connsiteY12" fmla="*/ 213293 h 336550"/>
                  <a:gd name="connsiteX13" fmla="*/ 134429 w 279400"/>
                  <a:gd name="connsiteY13" fmla="*/ 239800 h 336550"/>
                  <a:gd name="connsiteX14" fmla="*/ 126521 w 279400"/>
                  <a:gd name="connsiteY14" fmla="*/ 245101 h 336550"/>
                  <a:gd name="connsiteX15" fmla="*/ 110706 w 279400"/>
                  <a:gd name="connsiteY15" fmla="*/ 336550 h 336550"/>
                  <a:gd name="connsiteX16" fmla="*/ 0 w 279400"/>
                  <a:gd name="connsiteY16" fmla="*/ 336550 h 336550"/>
                  <a:gd name="connsiteX17" fmla="*/ 0 w 279400"/>
                  <a:gd name="connsiteY17" fmla="*/ 247752 h 336550"/>
                  <a:gd name="connsiteX18" fmla="*/ 56671 w 279400"/>
                  <a:gd name="connsiteY18" fmla="*/ 192087 h 336550"/>
                  <a:gd name="connsiteX19" fmla="*/ 138907 w 279400"/>
                  <a:gd name="connsiteY19" fmla="*/ 0 h 336550"/>
                  <a:gd name="connsiteX20" fmla="*/ 219076 w 279400"/>
                  <a:gd name="connsiteY20" fmla="*/ 80169 h 336550"/>
                  <a:gd name="connsiteX21" fmla="*/ 138907 w 279400"/>
                  <a:gd name="connsiteY21" fmla="*/ 160338 h 336550"/>
                  <a:gd name="connsiteX22" fmla="*/ 58738 w 279400"/>
                  <a:gd name="connsiteY22" fmla="*/ 80169 h 336550"/>
                  <a:gd name="connsiteX23" fmla="*/ 138907 w 279400"/>
                  <a:gd name="connsiteY23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79400" h="336550">
                    <a:moveTo>
                      <a:pt x="56671" y="192087"/>
                    </a:moveTo>
                    <a:cubicBezTo>
                      <a:pt x="56671" y="192087"/>
                      <a:pt x="56671" y="192087"/>
                      <a:pt x="224047" y="192087"/>
                    </a:cubicBezTo>
                    <a:cubicBezTo>
                      <a:pt x="254360" y="192087"/>
                      <a:pt x="279400" y="217269"/>
                      <a:pt x="279400" y="247752"/>
                    </a:cubicBezTo>
                    <a:cubicBezTo>
                      <a:pt x="279400" y="247752"/>
                      <a:pt x="279400" y="247752"/>
                      <a:pt x="279400" y="336550"/>
                    </a:cubicBezTo>
                    <a:cubicBezTo>
                      <a:pt x="279400" y="336550"/>
                      <a:pt x="279400" y="336550"/>
                      <a:pt x="176602" y="336550"/>
                    </a:cubicBezTo>
                    <a:cubicBezTo>
                      <a:pt x="176602" y="336550"/>
                      <a:pt x="176602" y="336550"/>
                      <a:pt x="158151" y="245101"/>
                    </a:cubicBezTo>
                    <a:cubicBezTo>
                      <a:pt x="158151" y="242450"/>
                      <a:pt x="154197" y="239800"/>
                      <a:pt x="151562" y="239800"/>
                    </a:cubicBezTo>
                    <a:cubicBezTo>
                      <a:pt x="151562" y="239800"/>
                      <a:pt x="151562" y="239800"/>
                      <a:pt x="167377" y="213293"/>
                    </a:cubicBezTo>
                    <a:cubicBezTo>
                      <a:pt x="167377" y="211967"/>
                      <a:pt x="167377" y="210642"/>
                      <a:pt x="167377" y="209317"/>
                    </a:cubicBezTo>
                    <a:cubicBezTo>
                      <a:pt x="166059" y="207991"/>
                      <a:pt x="164741" y="207991"/>
                      <a:pt x="163423" y="207991"/>
                    </a:cubicBezTo>
                    <a:cubicBezTo>
                      <a:pt x="163423" y="207991"/>
                      <a:pt x="163423" y="207991"/>
                      <a:pt x="121249" y="207991"/>
                    </a:cubicBezTo>
                    <a:cubicBezTo>
                      <a:pt x="119931" y="207991"/>
                      <a:pt x="118613" y="207991"/>
                      <a:pt x="118613" y="209317"/>
                    </a:cubicBezTo>
                    <a:cubicBezTo>
                      <a:pt x="117296" y="210642"/>
                      <a:pt x="117296" y="211967"/>
                      <a:pt x="118613" y="213293"/>
                    </a:cubicBezTo>
                    <a:cubicBezTo>
                      <a:pt x="118613" y="213293"/>
                      <a:pt x="118613" y="213293"/>
                      <a:pt x="134429" y="239800"/>
                    </a:cubicBezTo>
                    <a:cubicBezTo>
                      <a:pt x="130475" y="239800"/>
                      <a:pt x="127839" y="242450"/>
                      <a:pt x="126521" y="245101"/>
                    </a:cubicBezTo>
                    <a:cubicBezTo>
                      <a:pt x="126521" y="245101"/>
                      <a:pt x="126521" y="245101"/>
                      <a:pt x="110706" y="336550"/>
                    </a:cubicBezTo>
                    <a:cubicBezTo>
                      <a:pt x="110706" y="336550"/>
                      <a:pt x="110706" y="336550"/>
                      <a:pt x="0" y="336550"/>
                    </a:cubicBezTo>
                    <a:cubicBezTo>
                      <a:pt x="0" y="336550"/>
                      <a:pt x="0" y="336550"/>
                      <a:pt x="0" y="247752"/>
                    </a:cubicBezTo>
                    <a:cubicBezTo>
                      <a:pt x="0" y="217269"/>
                      <a:pt x="25040" y="192087"/>
                      <a:pt x="56671" y="192087"/>
                    </a:cubicBezTo>
                    <a:close/>
                    <a:moveTo>
                      <a:pt x="138907" y="0"/>
                    </a:moveTo>
                    <a:cubicBezTo>
                      <a:pt x="183183" y="0"/>
                      <a:pt x="219076" y="35893"/>
                      <a:pt x="219076" y="80169"/>
                    </a:cubicBezTo>
                    <a:cubicBezTo>
                      <a:pt x="219076" y="124445"/>
                      <a:pt x="183183" y="160338"/>
                      <a:pt x="138907" y="160338"/>
                    </a:cubicBezTo>
                    <a:cubicBezTo>
                      <a:pt x="94631" y="160338"/>
                      <a:pt x="58738" y="124445"/>
                      <a:pt x="58738" y="80169"/>
                    </a:cubicBezTo>
                    <a:cubicBezTo>
                      <a:pt x="58738" y="35893"/>
                      <a:pt x="94631" y="0"/>
                      <a:pt x="13890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defTabSz="913765">
                  <a:defRPr/>
                </a:pPr>
                <a:endPara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13" name="文本框 22"/>
            <p:cNvSpPr txBox="1"/>
            <p:nvPr/>
          </p:nvSpPr>
          <p:spPr>
            <a:xfrm>
              <a:off x="4925563" y="4732803"/>
              <a:ext cx="1392673" cy="253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defTabSz="913765">
                <a:defRPr/>
              </a:pPr>
              <a:r>
                <a:rPr lang="zh-CN" altLang="en-US" sz="16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汇报人：周嘉伟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9022660" y="4735646"/>
            <a:ext cx="2698615" cy="370765"/>
            <a:chOff x="6395842" y="4718860"/>
            <a:chExt cx="2016134" cy="276971"/>
          </a:xfrm>
        </p:grpSpPr>
        <p:grpSp>
          <p:nvGrpSpPr>
            <p:cNvPr id="17" name="组合 16"/>
            <p:cNvGrpSpPr/>
            <p:nvPr/>
          </p:nvGrpSpPr>
          <p:grpSpPr>
            <a:xfrm>
              <a:off x="6395842" y="4718860"/>
              <a:ext cx="276971" cy="276971"/>
              <a:chOff x="6392770" y="4930504"/>
              <a:chExt cx="531780" cy="531780"/>
            </a:xfrm>
          </p:grpSpPr>
          <p:sp>
            <p:nvSpPr>
              <p:cNvPr id="19" name="圆角矩形 2"/>
              <p:cNvSpPr/>
              <p:nvPr/>
            </p:nvSpPr>
            <p:spPr>
              <a:xfrm>
                <a:off x="6392770" y="4930504"/>
                <a:ext cx="531780" cy="531780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algn="ctr" defTabSz="913765">
                  <a:defRPr/>
                </a:pPr>
                <a:endParaRPr lang="zh-CN" alt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0" name="student-graduation-cap-shape_52041"/>
              <p:cNvSpPr>
                <a:spLocks noChangeAspect="1"/>
              </p:cNvSpPr>
              <p:nvPr/>
            </p:nvSpPr>
            <p:spPr bwMode="auto">
              <a:xfrm>
                <a:off x="6527005" y="5064598"/>
                <a:ext cx="256066" cy="264808"/>
              </a:xfrm>
              <a:custGeom>
                <a:avLst/>
                <a:gdLst>
                  <a:gd name="connsiteX0" fmla="*/ 233363 w 325438"/>
                  <a:gd name="connsiteY0" fmla="*/ 249238 h 336550"/>
                  <a:gd name="connsiteX1" fmla="*/ 279401 w 325438"/>
                  <a:gd name="connsiteY1" fmla="*/ 249238 h 336550"/>
                  <a:gd name="connsiteX2" fmla="*/ 279401 w 325438"/>
                  <a:gd name="connsiteY2" fmla="*/ 290513 h 336550"/>
                  <a:gd name="connsiteX3" fmla="*/ 233363 w 325438"/>
                  <a:gd name="connsiteY3" fmla="*/ 290513 h 336550"/>
                  <a:gd name="connsiteX4" fmla="*/ 171450 w 325438"/>
                  <a:gd name="connsiteY4" fmla="*/ 249238 h 336550"/>
                  <a:gd name="connsiteX5" fmla="*/ 217488 w 325438"/>
                  <a:gd name="connsiteY5" fmla="*/ 249238 h 336550"/>
                  <a:gd name="connsiteX6" fmla="*/ 217488 w 325438"/>
                  <a:gd name="connsiteY6" fmla="*/ 290513 h 336550"/>
                  <a:gd name="connsiteX7" fmla="*/ 171450 w 325438"/>
                  <a:gd name="connsiteY7" fmla="*/ 290513 h 336550"/>
                  <a:gd name="connsiteX8" fmla="*/ 107950 w 325438"/>
                  <a:gd name="connsiteY8" fmla="*/ 249238 h 336550"/>
                  <a:gd name="connsiteX9" fmla="*/ 155575 w 325438"/>
                  <a:gd name="connsiteY9" fmla="*/ 249238 h 336550"/>
                  <a:gd name="connsiteX10" fmla="*/ 155575 w 325438"/>
                  <a:gd name="connsiteY10" fmla="*/ 290513 h 336550"/>
                  <a:gd name="connsiteX11" fmla="*/ 107950 w 325438"/>
                  <a:gd name="connsiteY11" fmla="*/ 290513 h 336550"/>
                  <a:gd name="connsiteX12" fmla="*/ 46038 w 325438"/>
                  <a:gd name="connsiteY12" fmla="*/ 249238 h 336550"/>
                  <a:gd name="connsiteX13" fmla="*/ 93663 w 325438"/>
                  <a:gd name="connsiteY13" fmla="*/ 249238 h 336550"/>
                  <a:gd name="connsiteX14" fmla="*/ 93663 w 325438"/>
                  <a:gd name="connsiteY14" fmla="*/ 290513 h 336550"/>
                  <a:gd name="connsiteX15" fmla="*/ 46038 w 325438"/>
                  <a:gd name="connsiteY15" fmla="*/ 290513 h 336550"/>
                  <a:gd name="connsiteX16" fmla="*/ 233363 w 325438"/>
                  <a:gd name="connsiteY16" fmla="*/ 195263 h 336550"/>
                  <a:gd name="connsiteX17" fmla="*/ 279401 w 325438"/>
                  <a:gd name="connsiteY17" fmla="*/ 195263 h 336550"/>
                  <a:gd name="connsiteX18" fmla="*/ 279401 w 325438"/>
                  <a:gd name="connsiteY18" fmla="*/ 234951 h 336550"/>
                  <a:gd name="connsiteX19" fmla="*/ 233363 w 325438"/>
                  <a:gd name="connsiteY19" fmla="*/ 234951 h 336550"/>
                  <a:gd name="connsiteX20" fmla="*/ 171450 w 325438"/>
                  <a:gd name="connsiteY20" fmla="*/ 195263 h 336550"/>
                  <a:gd name="connsiteX21" fmla="*/ 217488 w 325438"/>
                  <a:gd name="connsiteY21" fmla="*/ 195263 h 336550"/>
                  <a:gd name="connsiteX22" fmla="*/ 217488 w 325438"/>
                  <a:gd name="connsiteY22" fmla="*/ 234951 h 336550"/>
                  <a:gd name="connsiteX23" fmla="*/ 171450 w 325438"/>
                  <a:gd name="connsiteY23" fmla="*/ 234951 h 336550"/>
                  <a:gd name="connsiteX24" fmla="*/ 107950 w 325438"/>
                  <a:gd name="connsiteY24" fmla="*/ 195263 h 336550"/>
                  <a:gd name="connsiteX25" fmla="*/ 155575 w 325438"/>
                  <a:gd name="connsiteY25" fmla="*/ 195263 h 336550"/>
                  <a:gd name="connsiteX26" fmla="*/ 155575 w 325438"/>
                  <a:gd name="connsiteY26" fmla="*/ 234951 h 336550"/>
                  <a:gd name="connsiteX27" fmla="*/ 107950 w 325438"/>
                  <a:gd name="connsiteY27" fmla="*/ 234951 h 336550"/>
                  <a:gd name="connsiteX28" fmla="*/ 46038 w 325438"/>
                  <a:gd name="connsiteY28" fmla="*/ 195263 h 336550"/>
                  <a:gd name="connsiteX29" fmla="*/ 93663 w 325438"/>
                  <a:gd name="connsiteY29" fmla="*/ 195263 h 336550"/>
                  <a:gd name="connsiteX30" fmla="*/ 93663 w 325438"/>
                  <a:gd name="connsiteY30" fmla="*/ 234951 h 336550"/>
                  <a:gd name="connsiteX31" fmla="*/ 46038 w 325438"/>
                  <a:gd name="connsiteY31" fmla="*/ 234951 h 336550"/>
                  <a:gd name="connsiteX32" fmla="*/ 233363 w 325438"/>
                  <a:gd name="connsiteY32" fmla="*/ 139700 h 336550"/>
                  <a:gd name="connsiteX33" fmla="*/ 279401 w 325438"/>
                  <a:gd name="connsiteY33" fmla="*/ 139700 h 336550"/>
                  <a:gd name="connsiteX34" fmla="*/ 279401 w 325438"/>
                  <a:gd name="connsiteY34" fmla="*/ 180975 h 336550"/>
                  <a:gd name="connsiteX35" fmla="*/ 233363 w 325438"/>
                  <a:gd name="connsiteY35" fmla="*/ 180975 h 336550"/>
                  <a:gd name="connsiteX36" fmla="*/ 171450 w 325438"/>
                  <a:gd name="connsiteY36" fmla="*/ 139700 h 336550"/>
                  <a:gd name="connsiteX37" fmla="*/ 217488 w 325438"/>
                  <a:gd name="connsiteY37" fmla="*/ 139700 h 336550"/>
                  <a:gd name="connsiteX38" fmla="*/ 217488 w 325438"/>
                  <a:gd name="connsiteY38" fmla="*/ 180975 h 336550"/>
                  <a:gd name="connsiteX39" fmla="*/ 171450 w 325438"/>
                  <a:gd name="connsiteY39" fmla="*/ 180975 h 336550"/>
                  <a:gd name="connsiteX40" fmla="*/ 107950 w 325438"/>
                  <a:gd name="connsiteY40" fmla="*/ 139700 h 336550"/>
                  <a:gd name="connsiteX41" fmla="*/ 155575 w 325438"/>
                  <a:gd name="connsiteY41" fmla="*/ 139700 h 336550"/>
                  <a:gd name="connsiteX42" fmla="*/ 155575 w 325438"/>
                  <a:gd name="connsiteY42" fmla="*/ 180975 h 336550"/>
                  <a:gd name="connsiteX43" fmla="*/ 107950 w 325438"/>
                  <a:gd name="connsiteY43" fmla="*/ 180975 h 336550"/>
                  <a:gd name="connsiteX44" fmla="*/ 49167 w 325438"/>
                  <a:gd name="connsiteY44" fmla="*/ 38100 h 336550"/>
                  <a:gd name="connsiteX45" fmla="*/ 25400 w 325438"/>
                  <a:gd name="connsiteY45" fmla="*/ 61753 h 336550"/>
                  <a:gd name="connsiteX46" fmla="*/ 25400 w 325438"/>
                  <a:gd name="connsiteY46" fmla="*/ 289085 h 336550"/>
                  <a:gd name="connsiteX47" fmla="*/ 49167 w 325438"/>
                  <a:gd name="connsiteY47" fmla="*/ 312738 h 336550"/>
                  <a:gd name="connsiteX48" fmla="*/ 276271 w 325438"/>
                  <a:gd name="connsiteY48" fmla="*/ 312738 h 336550"/>
                  <a:gd name="connsiteX49" fmla="*/ 300038 w 325438"/>
                  <a:gd name="connsiteY49" fmla="*/ 289085 h 336550"/>
                  <a:gd name="connsiteX50" fmla="*/ 300038 w 325438"/>
                  <a:gd name="connsiteY50" fmla="*/ 61753 h 336550"/>
                  <a:gd name="connsiteX51" fmla="*/ 276271 w 325438"/>
                  <a:gd name="connsiteY51" fmla="*/ 38100 h 336550"/>
                  <a:gd name="connsiteX52" fmla="*/ 269669 w 325438"/>
                  <a:gd name="connsiteY52" fmla="*/ 38100 h 336550"/>
                  <a:gd name="connsiteX53" fmla="*/ 269669 w 325438"/>
                  <a:gd name="connsiteY53" fmla="*/ 63067 h 336550"/>
                  <a:gd name="connsiteX54" fmla="*/ 276271 w 325438"/>
                  <a:gd name="connsiteY54" fmla="*/ 74894 h 336550"/>
                  <a:gd name="connsiteX55" fmla="*/ 260427 w 325438"/>
                  <a:gd name="connsiteY55" fmla="*/ 90662 h 336550"/>
                  <a:gd name="connsiteX56" fmla="*/ 244582 w 325438"/>
                  <a:gd name="connsiteY56" fmla="*/ 74894 h 336550"/>
                  <a:gd name="connsiteX57" fmla="*/ 249864 w 325438"/>
                  <a:gd name="connsiteY57" fmla="*/ 63067 h 336550"/>
                  <a:gd name="connsiteX58" fmla="*/ 249864 w 325438"/>
                  <a:gd name="connsiteY58" fmla="*/ 38100 h 336550"/>
                  <a:gd name="connsiteX59" fmla="*/ 231379 w 325438"/>
                  <a:gd name="connsiteY59" fmla="*/ 38100 h 336550"/>
                  <a:gd name="connsiteX60" fmla="*/ 231379 w 325438"/>
                  <a:gd name="connsiteY60" fmla="*/ 63067 h 336550"/>
                  <a:gd name="connsiteX61" fmla="*/ 236660 w 325438"/>
                  <a:gd name="connsiteY61" fmla="*/ 74894 h 336550"/>
                  <a:gd name="connsiteX62" fmla="*/ 220816 w 325438"/>
                  <a:gd name="connsiteY62" fmla="*/ 90662 h 336550"/>
                  <a:gd name="connsiteX63" fmla="*/ 204971 w 325438"/>
                  <a:gd name="connsiteY63" fmla="*/ 74894 h 336550"/>
                  <a:gd name="connsiteX64" fmla="*/ 210253 w 325438"/>
                  <a:gd name="connsiteY64" fmla="*/ 63067 h 336550"/>
                  <a:gd name="connsiteX65" fmla="*/ 210253 w 325438"/>
                  <a:gd name="connsiteY65" fmla="*/ 38100 h 336550"/>
                  <a:gd name="connsiteX66" fmla="*/ 191767 w 325438"/>
                  <a:gd name="connsiteY66" fmla="*/ 38100 h 336550"/>
                  <a:gd name="connsiteX67" fmla="*/ 191767 w 325438"/>
                  <a:gd name="connsiteY67" fmla="*/ 63067 h 336550"/>
                  <a:gd name="connsiteX68" fmla="*/ 198369 w 325438"/>
                  <a:gd name="connsiteY68" fmla="*/ 74894 h 336550"/>
                  <a:gd name="connsiteX69" fmla="*/ 182525 w 325438"/>
                  <a:gd name="connsiteY69" fmla="*/ 90662 h 336550"/>
                  <a:gd name="connsiteX70" fmla="*/ 166680 w 325438"/>
                  <a:gd name="connsiteY70" fmla="*/ 74894 h 336550"/>
                  <a:gd name="connsiteX71" fmla="*/ 171962 w 325438"/>
                  <a:gd name="connsiteY71" fmla="*/ 63067 h 336550"/>
                  <a:gd name="connsiteX72" fmla="*/ 171962 w 325438"/>
                  <a:gd name="connsiteY72" fmla="*/ 38100 h 336550"/>
                  <a:gd name="connsiteX73" fmla="*/ 153476 w 325438"/>
                  <a:gd name="connsiteY73" fmla="*/ 38100 h 336550"/>
                  <a:gd name="connsiteX74" fmla="*/ 153476 w 325438"/>
                  <a:gd name="connsiteY74" fmla="*/ 63067 h 336550"/>
                  <a:gd name="connsiteX75" fmla="*/ 158758 w 325438"/>
                  <a:gd name="connsiteY75" fmla="*/ 74894 h 336550"/>
                  <a:gd name="connsiteX76" fmla="*/ 142913 w 325438"/>
                  <a:gd name="connsiteY76" fmla="*/ 90662 h 336550"/>
                  <a:gd name="connsiteX77" fmla="*/ 127069 w 325438"/>
                  <a:gd name="connsiteY77" fmla="*/ 74894 h 336550"/>
                  <a:gd name="connsiteX78" fmla="*/ 133671 w 325438"/>
                  <a:gd name="connsiteY78" fmla="*/ 63067 h 336550"/>
                  <a:gd name="connsiteX79" fmla="*/ 133671 w 325438"/>
                  <a:gd name="connsiteY79" fmla="*/ 38100 h 336550"/>
                  <a:gd name="connsiteX80" fmla="*/ 115186 w 325438"/>
                  <a:gd name="connsiteY80" fmla="*/ 38100 h 336550"/>
                  <a:gd name="connsiteX81" fmla="*/ 115186 w 325438"/>
                  <a:gd name="connsiteY81" fmla="*/ 63067 h 336550"/>
                  <a:gd name="connsiteX82" fmla="*/ 120467 w 325438"/>
                  <a:gd name="connsiteY82" fmla="*/ 74894 h 336550"/>
                  <a:gd name="connsiteX83" fmla="*/ 104623 w 325438"/>
                  <a:gd name="connsiteY83" fmla="*/ 90662 h 336550"/>
                  <a:gd name="connsiteX84" fmla="*/ 88778 w 325438"/>
                  <a:gd name="connsiteY84" fmla="*/ 74894 h 336550"/>
                  <a:gd name="connsiteX85" fmla="*/ 94060 w 325438"/>
                  <a:gd name="connsiteY85" fmla="*/ 63067 h 336550"/>
                  <a:gd name="connsiteX86" fmla="*/ 94060 w 325438"/>
                  <a:gd name="connsiteY86" fmla="*/ 38100 h 336550"/>
                  <a:gd name="connsiteX87" fmla="*/ 75574 w 325438"/>
                  <a:gd name="connsiteY87" fmla="*/ 38100 h 336550"/>
                  <a:gd name="connsiteX88" fmla="*/ 75574 w 325438"/>
                  <a:gd name="connsiteY88" fmla="*/ 63067 h 336550"/>
                  <a:gd name="connsiteX89" fmla="*/ 80856 w 325438"/>
                  <a:gd name="connsiteY89" fmla="*/ 74894 h 336550"/>
                  <a:gd name="connsiteX90" fmla="*/ 65011 w 325438"/>
                  <a:gd name="connsiteY90" fmla="*/ 90662 h 336550"/>
                  <a:gd name="connsiteX91" fmla="*/ 49167 w 325438"/>
                  <a:gd name="connsiteY91" fmla="*/ 74894 h 336550"/>
                  <a:gd name="connsiteX92" fmla="*/ 55769 w 325438"/>
                  <a:gd name="connsiteY92" fmla="*/ 63067 h 336550"/>
                  <a:gd name="connsiteX93" fmla="*/ 55769 w 325438"/>
                  <a:gd name="connsiteY93" fmla="*/ 38100 h 336550"/>
                  <a:gd name="connsiteX94" fmla="*/ 49167 w 325438"/>
                  <a:gd name="connsiteY94" fmla="*/ 38100 h 336550"/>
                  <a:gd name="connsiteX95" fmla="*/ 65315 w 325438"/>
                  <a:gd name="connsiteY95" fmla="*/ 4763 h 336550"/>
                  <a:gd name="connsiteX96" fmla="*/ 61913 w 325438"/>
                  <a:gd name="connsiteY96" fmla="*/ 10110 h 336550"/>
                  <a:gd name="connsiteX97" fmla="*/ 61913 w 325438"/>
                  <a:gd name="connsiteY97" fmla="*/ 75616 h 336550"/>
                  <a:gd name="connsiteX98" fmla="*/ 65315 w 325438"/>
                  <a:gd name="connsiteY98" fmla="*/ 80963 h 336550"/>
                  <a:gd name="connsiteX99" fmla="*/ 69851 w 325438"/>
                  <a:gd name="connsiteY99" fmla="*/ 75616 h 336550"/>
                  <a:gd name="connsiteX100" fmla="*/ 69851 w 325438"/>
                  <a:gd name="connsiteY100" fmla="*/ 10110 h 336550"/>
                  <a:gd name="connsiteX101" fmla="*/ 65315 w 325438"/>
                  <a:gd name="connsiteY101" fmla="*/ 4763 h 336550"/>
                  <a:gd name="connsiteX102" fmla="*/ 104776 w 325438"/>
                  <a:gd name="connsiteY102" fmla="*/ 4763 h 336550"/>
                  <a:gd name="connsiteX103" fmla="*/ 100013 w 325438"/>
                  <a:gd name="connsiteY103" fmla="*/ 10110 h 336550"/>
                  <a:gd name="connsiteX104" fmla="*/ 100013 w 325438"/>
                  <a:gd name="connsiteY104" fmla="*/ 75616 h 336550"/>
                  <a:gd name="connsiteX105" fmla="*/ 104776 w 325438"/>
                  <a:gd name="connsiteY105" fmla="*/ 80963 h 336550"/>
                  <a:gd name="connsiteX106" fmla="*/ 109538 w 325438"/>
                  <a:gd name="connsiteY106" fmla="*/ 75616 h 336550"/>
                  <a:gd name="connsiteX107" fmla="*/ 109538 w 325438"/>
                  <a:gd name="connsiteY107" fmla="*/ 10110 h 336550"/>
                  <a:gd name="connsiteX108" fmla="*/ 104776 w 325438"/>
                  <a:gd name="connsiteY108" fmla="*/ 4763 h 336550"/>
                  <a:gd name="connsiteX109" fmla="*/ 142876 w 325438"/>
                  <a:gd name="connsiteY109" fmla="*/ 4763 h 336550"/>
                  <a:gd name="connsiteX110" fmla="*/ 138113 w 325438"/>
                  <a:gd name="connsiteY110" fmla="*/ 10110 h 336550"/>
                  <a:gd name="connsiteX111" fmla="*/ 138113 w 325438"/>
                  <a:gd name="connsiteY111" fmla="*/ 75616 h 336550"/>
                  <a:gd name="connsiteX112" fmla="*/ 142876 w 325438"/>
                  <a:gd name="connsiteY112" fmla="*/ 80963 h 336550"/>
                  <a:gd name="connsiteX113" fmla="*/ 147638 w 325438"/>
                  <a:gd name="connsiteY113" fmla="*/ 75616 h 336550"/>
                  <a:gd name="connsiteX114" fmla="*/ 147638 w 325438"/>
                  <a:gd name="connsiteY114" fmla="*/ 10110 h 336550"/>
                  <a:gd name="connsiteX115" fmla="*/ 142876 w 325438"/>
                  <a:gd name="connsiteY115" fmla="*/ 4763 h 336550"/>
                  <a:gd name="connsiteX116" fmla="*/ 182563 w 325438"/>
                  <a:gd name="connsiteY116" fmla="*/ 4763 h 336550"/>
                  <a:gd name="connsiteX117" fmla="*/ 177800 w 325438"/>
                  <a:gd name="connsiteY117" fmla="*/ 10110 h 336550"/>
                  <a:gd name="connsiteX118" fmla="*/ 177800 w 325438"/>
                  <a:gd name="connsiteY118" fmla="*/ 75616 h 336550"/>
                  <a:gd name="connsiteX119" fmla="*/ 182563 w 325438"/>
                  <a:gd name="connsiteY119" fmla="*/ 80963 h 336550"/>
                  <a:gd name="connsiteX120" fmla="*/ 187325 w 325438"/>
                  <a:gd name="connsiteY120" fmla="*/ 75616 h 336550"/>
                  <a:gd name="connsiteX121" fmla="*/ 187325 w 325438"/>
                  <a:gd name="connsiteY121" fmla="*/ 10110 h 336550"/>
                  <a:gd name="connsiteX122" fmla="*/ 182563 w 325438"/>
                  <a:gd name="connsiteY122" fmla="*/ 4763 h 336550"/>
                  <a:gd name="connsiteX123" fmla="*/ 220663 w 325438"/>
                  <a:gd name="connsiteY123" fmla="*/ 4763 h 336550"/>
                  <a:gd name="connsiteX124" fmla="*/ 215900 w 325438"/>
                  <a:gd name="connsiteY124" fmla="*/ 10110 h 336550"/>
                  <a:gd name="connsiteX125" fmla="*/ 215900 w 325438"/>
                  <a:gd name="connsiteY125" fmla="*/ 75616 h 336550"/>
                  <a:gd name="connsiteX126" fmla="*/ 220663 w 325438"/>
                  <a:gd name="connsiteY126" fmla="*/ 80963 h 336550"/>
                  <a:gd name="connsiteX127" fmla="*/ 225425 w 325438"/>
                  <a:gd name="connsiteY127" fmla="*/ 75616 h 336550"/>
                  <a:gd name="connsiteX128" fmla="*/ 225425 w 325438"/>
                  <a:gd name="connsiteY128" fmla="*/ 10110 h 336550"/>
                  <a:gd name="connsiteX129" fmla="*/ 220663 w 325438"/>
                  <a:gd name="connsiteY129" fmla="*/ 4763 h 336550"/>
                  <a:gd name="connsiteX130" fmla="*/ 260124 w 325438"/>
                  <a:gd name="connsiteY130" fmla="*/ 4763 h 336550"/>
                  <a:gd name="connsiteX131" fmla="*/ 255588 w 325438"/>
                  <a:gd name="connsiteY131" fmla="*/ 10110 h 336550"/>
                  <a:gd name="connsiteX132" fmla="*/ 255588 w 325438"/>
                  <a:gd name="connsiteY132" fmla="*/ 75616 h 336550"/>
                  <a:gd name="connsiteX133" fmla="*/ 260124 w 325438"/>
                  <a:gd name="connsiteY133" fmla="*/ 80963 h 336550"/>
                  <a:gd name="connsiteX134" fmla="*/ 263526 w 325438"/>
                  <a:gd name="connsiteY134" fmla="*/ 75616 h 336550"/>
                  <a:gd name="connsiteX135" fmla="*/ 263526 w 325438"/>
                  <a:gd name="connsiteY135" fmla="*/ 10110 h 336550"/>
                  <a:gd name="connsiteX136" fmla="*/ 260124 w 325438"/>
                  <a:gd name="connsiteY136" fmla="*/ 4763 h 336550"/>
                  <a:gd name="connsiteX137" fmla="*/ 64823 w 325438"/>
                  <a:gd name="connsiteY137" fmla="*/ 0 h 336550"/>
                  <a:gd name="connsiteX138" fmla="*/ 75406 w 325438"/>
                  <a:gd name="connsiteY138" fmla="*/ 10517 h 336550"/>
                  <a:gd name="connsiteX139" fmla="*/ 75406 w 325438"/>
                  <a:gd name="connsiteY139" fmla="*/ 14461 h 336550"/>
                  <a:gd name="connsiteX140" fmla="*/ 93927 w 325438"/>
                  <a:gd name="connsiteY140" fmla="*/ 14461 h 336550"/>
                  <a:gd name="connsiteX141" fmla="*/ 93927 w 325438"/>
                  <a:gd name="connsiteY141" fmla="*/ 10517 h 336550"/>
                  <a:gd name="connsiteX142" fmla="*/ 104511 w 325438"/>
                  <a:gd name="connsiteY142" fmla="*/ 0 h 336550"/>
                  <a:gd name="connsiteX143" fmla="*/ 115094 w 325438"/>
                  <a:gd name="connsiteY143" fmla="*/ 10517 h 336550"/>
                  <a:gd name="connsiteX144" fmla="*/ 115094 w 325438"/>
                  <a:gd name="connsiteY144" fmla="*/ 14461 h 336550"/>
                  <a:gd name="connsiteX145" fmla="*/ 133615 w 325438"/>
                  <a:gd name="connsiteY145" fmla="*/ 14461 h 336550"/>
                  <a:gd name="connsiteX146" fmla="*/ 133615 w 325438"/>
                  <a:gd name="connsiteY146" fmla="*/ 10517 h 336550"/>
                  <a:gd name="connsiteX147" fmla="*/ 142875 w 325438"/>
                  <a:gd name="connsiteY147" fmla="*/ 0 h 336550"/>
                  <a:gd name="connsiteX148" fmla="*/ 153459 w 325438"/>
                  <a:gd name="connsiteY148" fmla="*/ 10517 h 336550"/>
                  <a:gd name="connsiteX149" fmla="*/ 153459 w 325438"/>
                  <a:gd name="connsiteY149" fmla="*/ 14461 h 336550"/>
                  <a:gd name="connsiteX150" fmla="*/ 171980 w 325438"/>
                  <a:gd name="connsiteY150" fmla="*/ 14461 h 336550"/>
                  <a:gd name="connsiteX151" fmla="*/ 171980 w 325438"/>
                  <a:gd name="connsiteY151" fmla="*/ 10517 h 336550"/>
                  <a:gd name="connsiteX152" fmla="*/ 182563 w 325438"/>
                  <a:gd name="connsiteY152" fmla="*/ 0 h 336550"/>
                  <a:gd name="connsiteX153" fmla="*/ 191823 w 325438"/>
                  <a:gd name="connsiteY153" fmla="*/ 10517 h 336550"/>
                  <a:gd name="connsiteX154" fmla="*/ 191823 w 325438"/>
                  <a:gd name="connsiteY154" fmla="*/ 14461 h 336550"/>
                  <a:gd name="connsiteX155" fmla="*/ 210344 w 325438"/>
                  <a:gd name="connsiteY155" fmla="*/ 14461 h 336550"/>
                  <a:gd name="connsiteX156" fmla="*/ 210344 w 325438"/>
                  <a:gd name="connsiteY156" fmla="*/ 10517 h 336550"/>
                  <a:gd name="connsiteX157" fmla="*/ 220927 w 325438"/>
                  <a:gd name="connsiteY157" fmla="*/ 0 h 336550"/>
                  <a:gd name="connsiteX158" fmla="*/ 231511 w 325438"/>
                  <a:gd name="connsiteY158" fmla="*/ 10517 h 336550"/>
                  <a:gd name="connsiteX159" fmla="*/ 231511 w 325438"/>
                  <a:gd name="connsiteY159" fmla="*/ 14461 h 336550"/>
                  <a:gd name="connsiteX160" fmla="*/ 250032 w 325438"/>
                  <a:gd name="connsiteY160" fmla="*/ 14461 h 336550"/>
                  <a:gd name="connsiteX161" fmla="*/ 250032 w 325438"/>
                  <a:gd name="connsiteY161" fmla="*/ 10517 h 336550"/>
                  <a:gd name="connsiteX162" fmla="*/ 260615 w 325438"/>
                  <a:gd name="connsiteY162" fmla="*/ 0 h 336550"/>
                  <a:gd name="connsiteX163" fmla="*/ 269875 w 325438"/>
                  <a:gd name="connsiteY163" fmla="*/ 10517 h 336550"/>
                  <a:gd name="connsiteX164" fmla="*/ 269875 w 325438"/>
                  <a:gd name="connsiteY164" fmla="*/ 14461 h 336550"/>
                  <a:gd name="connsiteX165" fmla="*/ 276490 w 325438"/>
                  <a:gd name="connsiteY165" fmla="*/ 14461 h 336550"/>
                  <a:gd name="connsiteX166" fmla="*/ 325438 w 325438"/>
                  <a:gd name="connsiteY166" fmla="*/ 61789 h 336550"/>
                  <a:gd name="connsiteX167" fmla="*/ 325438 w 325438"/>
                  <a:gd name="connsiteY167" fmla="*/ 289223 h 336550"/>
                  <a:gd name="connsiteX168" fmla="*/ 276490 w 325438"/>
                  <a:gd name="connsiteY168" fmla="*/ 336550 h 336550"/>
                  <a:gd name="connsiteX169" fmla="*/ 48948 w 325438"/>
                  <a:gd name="connsiteY169" fmla="*/ 336550 h 336550"/>
                  <a:gd name="connsiteX170" fmla="*/ 0 w 325438"/>
                  <a:gd name="connsiteY170" fmla="*/ 289223 h 336550"/>
                  <a:gd name="connsiteX171" fmla="*/ 0 w 325438"/>
                  <a:gd name="connsiteY171" fmla="*/ 61789 h 336550"/>
                  <a:gd name="connsiteX172" fmla="*/ 48948 w 325438"/>
                  <a:gd name="connsiteY172" fmla="*/ 14461 h 336550"/>
                  <a:gd name="connsiteX173" fmla="*/ 55563 w 325438"/>
                  <a:gd name="connsiteY173" fmla="*/ 14461 h 336550"/>
                  <a:gd name="connsiteX174" fmla="*/ 55563 w 325438"/>
                  <a:gd name="connsiteY174" fmla="*/ 10517 h 336550"/>
                  <a:gd name="connsiteX175" fmla="*/ 64823 w 325438"/>
                  <a:gd name="connsiteY175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</a:cxnLst>
                <a:rect l="l" t="t" r="r" b="b"/>
                <a:pathLst>
                  <a:path w="325438" h="336550">
                    <a:moveTo>
                      <a:pt x="233363" y="249238"/>
                    </a:moveTo>
                    <a:lnTo>
                      <a:pt x="279401" y="249238"/>
                    </a:lnTo>
                    <a:lnTo>
                      <a:pt x="279401" y="290513"/>
                    </a:lnTo>
                    <a:lnTo>
                      <a:pt x="233363" y="290513"/>
                    </a:lnTo>
                    <a:close/>
                    <a:moveTo>
                      <a:pt x="171450" y="249238"/>
                    </a:moveTo>
                    <a:lnTo>
                      <a:pt x="217488" y="249238"/>
                    </a:lnTo>
                    <a:lnTo>
                      <a:pt x="217488" y="290513"/>
                    </a:lnTo>
                    <a:lnTo>
                      <a:pt x="171450" y="290513"/>
                    </a:lnTo>
                    <a:close/>
                    <a:moveTo>
                      <a:pt x="107950" y="249238"/>
                    </a:moveTo>
                    <a:lnTo>
                      <a:pt x="155575" y="249238"/>
                    </a:lnTo>
                    <a:lnTo>
                      <a:pt x="155575" y="290513"/>
                    </a:lnTo>
                    <a:lnTo>
                      <a:pt x="107950" y="290513"/>
                    </a:lnTo>
                    <a:close/>
                    <a:moveTo>
                      <a:pt x="46038" y="249238"/>
                    </a:moveTo>
                    <a:lnTo>
                      <a:pt x="93663" y="249238"/>
                    </a:lnTo>
                    <a:lnTo>
                      <a:pt x="93663" y="290513"/>
                    </a:lnTo>
                    <a:lnTo>
                      <a:pt x="46038" y="290513"/>
                    </a:lnTo>
                    <a:close/>
                    <a:moveTo>
                      <a:pt x="233363" y="195263"/>
                    </a:moveTo>
                    <a:lnTo>
                      <a:pt x="279401" y="195263"/>
                    </a:lnTo>
                    <a:lnTo>
                      <a:pt x="279401" y="234951"/>
                    </a:lnTo>
                    <a:lnTo>
                      <a:pt x="233363" y="234951"/>
                    </a:lnTo>
                    <a:close/>
                    <a:moveTo>
                      <a:pt x="171450" y="195263"/>
                    </a:moveTo>
                    <a:lnTo>
                      <a:pt x="217488" y="195263"/>
                    </a:lnTo>
                    <a:lnTo>
                      <a:pt x="217488" y="234951"/>
                    </a:lnTo>
                    <a:lnTo>
                      <a:pt x="171450" y="234951"/>
                    </a:lnTo>
                    <a:close/>
                    <a:moveTo>
                      <a:pt x="107950" y="195263"/>
                    </a:moveTo>
                    <a:lnTo>
                      <a:pt x="155575" y="195263"/>
                    </a:lnTo>
                    <a:lnTo>
                      <a:pt x="155575" y="234951"/>
                    </a:lnTo>
                    <a:lnTo>
                      <a:pt x="107950" y="234951"/>
                    </a:lnTo>
                    <a:close/>
                    <a:moveTo>
                      <a:pt x="46038" y="195263"/>
                    </a:moveTo>
                    <a:lnTo>
                      <a:pt x="93663" y="195263"/>
                    </a:lnTo>
                    <a:lnTo>
                      <a:pt x="93663" y="234951"/>
                    </a:lnTo>
                    <a:lnTo>
                      <a:pt x="46038" y="234951"/>
                    </a:lnTo>
                    <a:close/>
                    <a:moveTo>
                      <a:pt x="233363" y="139700"/>
                    </a:moveTo>
                    <a:lnTo>
                      <a:pt x="279401" y="139700"/>
                    </a:lnTo>
                    <a:lnTo>
                      <a:pt x="279401" y="180975"/>
                    </a:lnTo>
                    <a:lnTo>
                      <a:pt x="233363" y="180975"/>
                    </a:lnTo>
                    <a:close/>
                    <a:moveTo>
                      <a:pt x="171450" y="139700"/>
                    </a:moveTo>
                    <a:lnTo>
                      <a:pt x="217488" y="139700"/>
                    </a:lnTo>
                    <a:lnTo>
                      <a:pt x="217488" y="180975"/>
                    </a:lnTo>
                    <a:lnTo>
                      <a:pt x="171450" y="180975"/>
                    </a:lnTo>
                    <a:close/>
                    <a:moveTo>
                      <a:pt x="107950" y="139700"/>
                    </a:moveTo>
                    <a:lnTo>
                      <a:pt x="155575" y="139700"/>
                    </a:lnTo>
                    <a:lnTo>
                      <a:pt x="155575" y="180975"/>
                    </a:lnTo>
                    <a:lnTo>
                      <a:pt x="107950" y="180975"/>
                    </a:lnTo>
                    <a:close/>
                    <a:moveTo>
                      <a:pt x="49167" y="38100"/>
                    </a:moveTo>
                    <a:cubicBezTo>
                      <a:pt x="35963" y="38100"/>
                      <a:pt x="25400" y="48613"/>
                      <a:pt x="25400" y="61753"/>
                    </a:cubicBezTo>
                    <a:cubicBezTo>
                      <a:pt x="25400" y="61753"/>
                      <a:pt x="25400" y="61753"/>
                      <a:pt x="25400" y="289085"/>
                    </a:cubicBezTo>
                    <a:cubicBezTo>
                      <a:pt x="25400" y="302226"/>
                      <a:pt x="35963" y="312738"/>
                      <a:pt x="49167" y="312738"/>
                    </a:cubicBezTo>
                    <a:cubicBezTo>
                      <a:pt x="49167" y="312738"/>
                      <a:pt x="49167" y="312738"/>
                      <a:pt x="276271" y="312738"/>
                    </a:cubicBezTo>
                    <a:cubicBezTo>
                      <a:pt x="289475" y="312738"/>
                      <a:pt x="300038" y="302226"/>
                      <a:pt x="300038" y="289085"/>
                    </a:cubicBezTo>
                    <a:cubicBezTo>
                      <a:pt x="300038" y="289085"/>
                      <a:pt x="300038" y="289085"/>
                      <a:pt x="300038" y="61753"/>
                    </a:cubicBezTo>
                    <a:cubicBezTo>
                      <a:pt x="300038" y="48613"/>
                      <a:pt x="289475" y="38100"/>
                      <a:pt x="276271" y="38100"/>
                    </a:cubicBezTo>
                    <a:cubicBezTo>
                      <a:pt x="276271" y="38100"/>
                      <a:pt x="276271" y="38100"/>
                      <a:pt x="269669" y="38100"/>
                    </a:cubicBezTo>
                    <a:cubicBezTo>
                      <a:pt x="269669" y="38100"/>
                      <a:pt x="269669" y="38100"/>
                      <a:pt x="269669" y="63067"/>
                    </a:cubicBezTo>
                    <a:cubicBezTo>
                      <a:pt x="273631" y="65695"/>
                      <a:pt x="276271" y="70951"/>
                      <a:pt x="276271" y="74894"/>
                    </a:cubicBezTo>
                    <a:cubicBezTo>
                      <a:pt x="276271" y="84092"/>
                      <a:pt x="268349" y="90662"/>
                      <a:pt x="260427" y="90662"/>
                    </a:cubicBezTo>
                    <a:cubicBezTo>
                      <a:pt x="251184" y="90662"/>
                      <a:pt x="244582" y="84092"/>
                      <a:pt x="244582" y="74894"/>
                    </a:cubicBezTo>
                    <a:cubicBezTo>
                      <a:pt x="244582" y="70951"/>
                      <a:pt x="245903" y="65695"/>
                      <a:pt x="249864" y="63067"/>
                    </a:cubicBezTo>
                    <a:cubicBezTo>
                      <a:pt x="249864" y="63067"/>
                      <a:pt x="249864" y="63067"/>
                      <a:pt x="249864" y="38100"/>
                    </a:cubicBezTo>
                    <a:cubicBezTo>
                      <a:pt x="249864" y="38100"/>
                      <a:pt x="249864" y="38100"/>
                      <a:pt x="231379" y="38100"/>
                    </a:cubicBezTo>
                    <a:cubicBezTo>
                      <a:pt x="231379" y="38100"/>
                      <a:pt x="231379" y="38100"/>
                      <a:pt x="231379" y="63067"/>
                    </a:cubicBezTo>
                    <a:cubicBezTo>
                      <a:pt x="234019" y="65695"/>
                      <a:pt x="236660" y="70951"/>
                      <a:pt x="236660" y="74894"/>
                    </a:cubicBezTo>
                    <a:cubicBezTo>
                      <a:pt x="236660" y="84092"/>
                      <a:pt x="230058" y="90662"/>
                      <a:pt x="220816" y="90662"/>
                    </a:cubicBezTo>
                    <a:cubicBezTo>
                      <a:pt x="212893" y="90662"/>
                      <a:pt x="204971" y="84092"/>
                      <a:pt x="204971" y="74894"/>
                    </a:cubicBezTo>
                    <a:cubicBezTo>
                      <a:pt x="204971" y="70951"/>
                      <a:pt x="207612" y="65695"/>
                      <a:pt x="210253" y="63067"/>
                    </a:cubicBezTo>
                    <a:cubicBezTo>
                      <a:pt x="210253" y="63067"/>
                      <a:pt x="210253" y="63067"/>
                      <a:pt x="210253" y="38100"/>
                    </a:cubicBezTo>
                    <a:cubicBezTo>
                      <a:pt x="210253" y="38100"/>
                      <a:pt x="210253" y="38100"/>
                      <a:pt x="191767" y="38100"/>
                    </a:cubicBezTo>
                    <a:cubicBezTo>
                      <a:pt x="191767" y="38100"/>
                      <a:pt x="191767" y="38100"/>
                      <a:pt x="191767" y="63067"/>
                    </a:cubicBezTo>
                    <a:cubicBezTo>
                      <a:pt x="195728" y="65695"/>
                      <a:pt x="198369" y="70951"/>
                      <a:pt x="198369" y="74894"/>
                    </a:cubicBezTo>
                    <a:cubicBezTo>
                      <a:pt x="198369" y="84092"/>
                      <a:pt x="190447" y="90662"/>
                      <a:pt x="182525" y="90662"/>
                    </a:cubicBezTo>
                    <a:cubicBezTo>
                      <a:pt x="173282" y="90662"/>
                      <a:pt x="166680" y="84092"/>
                      <a:pt x="166680" y="74894"/>
                    </a:cubicBezTo>
                    <a:cubicBezTo>
                      <a:pt x="166680" y="70951"/>
                      <a:pt x="168001" y="65695"/>
                      <a:pt x="171962" y="63067"/>
                    </a:cubicBezTo>
                    <a:cubicBezTo>
                      <a:pt x="171962" y="63067"/>
                      <a:pt x="171962" y="63067"/>
                      <a:pt x="171962" y="38100"/>
                    </a:cubicBezTo>
                    <a:cubicBezTo>
                      <a:pt x="171962" y="38100"/>
                      <a:pt x="171962" y="38100"/>
                      <a:pt x="153476" y="38100"/>
                    </a:cubicBezTo>
                    <a:cubicBezTo>
                      <a:pt x="153476" y="38100"/>
                      <a:pt x="153476" y="38100"/>
                      <a:pt x="153476" y="63067"/>
                    </a:cubicBezTo>
                    <a:cubicBezTo>
                      <a:pt x="157438" y="65695"/>
                      <a:pt x="158758" y="70951"/>
                      <a:pt x="158758" y="74894"/>
                    </a:cubicBezTo>
                    <a:cubicBezTo>
                      <a:pt x="158758" y="84092"/>
                      <a:pt x="152156" y="90662"/>
                      <a:pt x="142913" y="90662"/>
                    </a:cubicBezTo>
                    <a:cubicBezTo>
                      <a:pt x="134991" y="90662"/>
                      <a:pt x="127069" y="84092"/>
                      <a:pt x="127069" y="74894"/>
                    </a:cubicBezTo>
                    <a:cubicBezTo>
                      <a:pt x="127069" y="70951"/>
                      <a:pt x="129710" y="65695"/>
                      <a:pt x="133671" y="63067"/>
                    </a:cubicBezTo>
                    <a:cubicBezTo>
                      <a:pt x="133671" y="63067"/>
                      <a:pt x="133671" y="63067"/>
                      <a:pt x="133671" y="38100"/>
                    </a:cubicBezTo>
                    <a:cubicBezTo>
                      <a:pt x="133671" y="38100"/>
                      <a:pt x="133671" y="38100"/>
                      <a:pt x="115186" y="38100"/>
                    </a:cubicBezTo>
                    <a:cubicBezTo>
                      <a:pt x="115186" y="38100"/>
                      <a:pt x="115186" y="38100"/>
                      <a:pt x="115186" y="63067"/>
                    </a:cubicBezTo>
                    <a:cubicBezTo>
                      <a:pt x="117826" y="65695"/>
                      <a:pt x="120467" y="70951"/>
                      <a:pt x="120467" y="74894"/>
                    </a:cubicBezTo>
                    <a:cubicBezTo>
                      <a:pt x="120467" y="84092"/>
                      <a:pt x="112545" y="90662"/>
                      <a:pt x="104623" y="90662"/>
                    </a:cubicBezTo>
                    <a:cubicBezTo>
                      <a:pt x="95380" y="90662"/>
                      <a:pt x="88778" y="84092"/>
                      <a:pt x="88778" y="74894"/>
                    </a:cubicBezTo>
                    <a:cubicBezTo>
                      <a:pt x="88778" y="70951"/>
                      <a:pt x="91419" y="65695"/>
                      <a:pt x="94060" y="63067"/>
                    </a:cubicBezTo>
                    <a:cubicBezTo>
                      <a:pt x="94060" y="63067"/>
                      <a:pt x="94060" y="63067"/>
                      <a:pt x="94060" y="38100"/>
                    </a:cubicBezTo>
                    <a:cubicBezTo>
                      <a:pt x="94060" y="38100"/>
                      <a:pt x="94060" y="38100"/>
                      <a:pt x="75574" y="38100"/>
                    </a:cubicBezTo>
                    <a:cubicBezTo>
                      <a:pt x="75574" y="38100"/>
                      <a:pt x="75574" y="38100"/>
                      <a:pt x="75574" y="63067"/>
                    </a:cubicBezTo>
                    <a:cubicBezTo>
                      <a:pt x="79535" y="65695"/>
                      <a:pt x="80856" y="70951"/>
                      <a:pt x="80856" y="74894"/>
                    </a:cubicBezTo>
                    <a:cubicBezTo>
                      <a:pt x="80856" y="84092"/>
                      <a:pt x="74254" y="90662"/>
                      <a:pt x="65011" y="90662"/>
                    </a:cubicBezTo>
                    <a:cubicBezTo>
                      <a:pt x="57089" y="90662"/>
                      <a:pt x="49167" y="84092"/>
                      <a:pt x="49167" y="74894"/>
                    </a:cubicBezTo>
                    <a:cubicBezTo>
                      <a:pt x="49167" y="70951"/>
                      <a:pt x="51808" y="65695"/>
                      <a:pt x="55769" y="63067"/>
                    </a:cubicBezTo>
                    <a:cubicBezTo>
                      <a:pt x="55769" y="63067"/>
                      <a:pt x="55769" y="63067"/>
                      <a:pt x="55769" y="38100"/>
                    </a:cubicBezTo>
                    <a:cubicBezTo>
                      <a:pt x="55769" y="38100"/>
                      <a:pt x="55769" y="38100"/>
                      <a:pt x="49167" y="38100"/>
                    </a:cubicBezTo>
                    <a:close/>
                    <a:moveTo>
                      <a:pt x="65315" y="4763"/>
                    </a:moveTo>
                    <a:cubicBezTo>
                      <a:pt x="63047" y="4763"/>
                      <a:pt x="61913" y="7437"/>
                      <a:pt x="61913" y="10110"/>
                    </a:cubicBezTo>
                    <a:lnTo>
                      <a:pt x="61913" y="75616"/>
                    </a:lnTo>
                    <a:cubicBezTo>
                      <a:pt x="61913" y="79626"/>
                      <a:pt x="63047" y="80963"/>
                      <a:pt x="65315" y="80963"/>
                    </a:cubicBezTo>
                    <a:cubicBezTo>
                      <a:pt x="68717" y="80963"/>
                      <a:pt x="69851" y="79626"/>
                      <a:pt x="69851" y="75616"/>
                    </a:cubicBezTo>
                    <a:cubicBezTo>
                      <a:pt x="69851" y="75616"/>
                      <a:pt x="69851" y="75616"/>
                      <a:pt x="69851" y="10110"/>
                    </a:cubicBezTo>
                    <a:cubicBezTo>
                      <a:pt x="69851" y="7437"/>
                      <a:pt x="68717" y="4763"/>
                      <a:pt x="65315" y="4763"/>
                    </a:cubicBezTo>
                    <a:close/>
                    <a:moveTo>
                      <a:pt x="104776" y="4763"/>
                    </a:moveTo>
                    <a:cubicBezTo>
                      <a:pt x="102394" y="4763"/>
                      <a:pt x="100013" y="7437"/>
                      <a:pt x="100013" y="10110"/>
                    </a:cubicBezTo>
                    <a:lnTo>
                      <a:pt x="100013" y="75616"/>
                    </a:lnTo>
                    <a:cubicBezTo>
                      <a:pt x="100013" y="79626"/>
                      <a:pt x="102394" y="80963"/>
                      <a:pt x="104776" y="80963"/>
                    </a:cubicBezTo>
                    <a:cubicBezTo>
                      <a:pt x="107157" y="80963"/>
                      <a:pt x="109538" y="79626"/>
                      <a:pt x="109538" y="75616"/>
                    </a:cubicBezTo>
                    <a:cubicBezTo>
                      <a:pt x="109538" y="75616"/>
                      <a:pt x="109538" y="75616"/>
                      <a:pt x="109538" y="10110"/>
                    </a:cubicBezTo>
                    <a:cubicBezTo>
                      <a:pt x="109538" y="7437"/>
                      <a:pt x="107157" y="4763"/>
                      <a:pt x="104776" y="4763"/>
                    </a:cubicBezTo>
                    <a:close/>
                    <a:moveTo>
                      <a:pt x="142876" y="4763"/>
                    </a:moveTo>
                    <a:cubicBezTo>
                      <a:pt x="140494" y="4763"/>
                      <a:pt x="138113" y="7437"/>
                      <a:pt x="138113" y="10110"/>
                    </a:cubicBezTo>
                    <a:lnTo>
                      <a:pt x="138113" y="75616"/>
                    </a:lnTo>
                    <a:cubicBezTo>
                      <a:pt x="138113" y="79626"/>
                      <a:pt x="140494" y="80963"/>
                      <a:pt x="142876" y="80963"/>
                    </a:cubicBezTo>
                    <a:cubicBezTo>
                      <a:pt x="145257" y="80963"/>
                      <a:pt x="147638" y="79626"/>
                      <a:pt x="147638" y="75616"/>
                    </a:cubicBezTo>
                    <a:cubicBezTo>
                      <a:pt x="147638" y="75616"/>
                      <a:pt x="147638" y="75616"/>
                      <a:pt x="147638" y="10110"/>
                    </a:cubicBezTo>
                    <a:cubicBezTo>
                      <a:pt x="147638" y="7437"/>
                      <a:pt x="145257" y="4763"/>
                      <a:pt x="142876" y="4763"/>
                    </a:cubicBezTo>
                    <a:close/>
                    <a:moveTo>
                      <a:pt x="182563" y="4763"/>
                    </a:moveTo>
                    <a:cubicBezTo>
                      <a:pt x="180181" y="4763"/>
                      <a:pt x="177800" y="7437"/>
                      <a:pt x="177800" y="10110"/>
                    </a:cubicBezTo>
                    <a:lnTo>
                      <a:pt x="177800" y="75616"/>
                    </a:lnTo>
                    <a:cubicBezTo>
                      <a:pt x="177800" y="79626"/>
                      <a:pt x="180181" y="80963"/>
                      <a:pt x="182563" y="80963"/>
                    </a:cubicBezTo>
                    <a:cubicBezTo>
                      <a:pt x="184944" y="80963"/>
                      <a:pt x="187325" y="79626"/>
                      <a:pt x="187325" y="75616"/>
                    </a:cubicBezTo>
                    <a:cubicBezTo>
                      <a:pt x="187325" y="75616"/>
                      <a:pt x="187325" y="75616"/>
                      <a:pt x="187325" y="10110"/>
                    </a:cubicBezTo>
                    <a:cubicBezTo>
                      <a:pt x="187325" y="7437"/>
                      <a:pt x="184944" y="4763"/>
                      <a:pt x="182563" y="4763"/>
                    </a:cubicBezTo>
                    <a:close/>
                    <a:moveTo>
                      <a:pt x="220663" y="4763"/>
                    </a:moveTo>
                    <a:cubicBezTo>
                      <a:pt x="218281" y="4763"/>
                      <a:pt x="215900" y="7437"/>
                      <a:pt x="215900" y="10110"/>
                    </a:cubicBezTo>
                    <a:lnTo>
                      <a:pt x="215900" y="75616"/>
                    </a:lnTo>
                    <a:cubicBezTo>
                      <a:pt x="215900" y="79626"/>
                      <a:pt x="218281" y="80963"/>
                      <a:pt x="220663" y="80963"/>
                    </a:cubicBezTo>
                    <a:cubicBezTo>
                      <a:pt x="223044" y="80963"/>
                      <a:pt x="225425" y="79626"/>
                      <a:pt x="225425" y="75616"/>
                    </a:cubicBezTo>
                    <a:cubicBezTo>
                      <a:pt x="225425" y="75616"/>
                      <a:pt x="225425" y="75616"/>
                      <a:pt x="225425" y="10110"/>
                    </a:cubicBezTo>
                    <a:cubicBezTo>
                      <a:pt x="225425" y="7437"/>
                      <a:pt x="223044" y="4763"/>
                      <a:pt x="220663" y="4763"/>
                    </a:cubicBezTo>
                    <a:close/>
                    <a:moveTo>
                      <a:pt x="260124" y="4763"/>
                    </a:moveTo>
                    <a:cubicBezTo>
                      <a:pt x="256722" y="4763"/>
                      <a:pt x="255588" y="7437"/>
                      <a:pt x="255588" y="10110"/>
                    </a:cubicBezTo>
                    <a:lnTo>
                      <a:pt x="255588" y="75616"/>
                    </a:lnTo>
                    <a:cubicBezTo>
                      <a:pt x="255588" y="79626"/>
                      <a:pt x="256722" y="80963"/>
                      <a:pt x="260124" y="80963"/>
                    </a:cubicBezTo>
                    <a:cubicBezTo>
                      <a:pt x="262392" y="80963"/>
                      <a:pt x="263526" y="79626"/>
                      <a:pt x="263526" y="75616"/>
                    </a:cubicBezTo>
                    <a:cubicBezTo>
                      <a:pt x="263526" y="75616"/>
                      <a:pt x="263526" y="75616"/>
                      <a:pt x="263526" y="10110"/>
                    </a:cubicBezTo>
                    <a:cubicBezTo>
                      <a:pt x="263526" y="7437"/>
                      <a:pt x="262392" y="4763"/>
                      <a:pt x="260124" y="4763"/>
                    </a:cubicBezTo>
                    <a:close/>
                    <a:moveTo>
                      <a:pt x="64823" y="0"/>
                    </a:moveTo>
                    <a:cubicBezTo>
                      <a:pt x="71438" y="0"/>
                      <a:pt x="75406" y="3944"/>
                      <a:pt x="75406" y="10517"/>
                    </a:cubicBezTo>
                    <a:cubicBezTo>
                      <a:pt x="75406" y="10517"/>
                      <a:pt x="75406" y="10517"/>
                      <a:pt x="75406" y="14461"/>
                    </a:cubicBezTo>
                    <a:cubicBezTo>
                      <a:pt x="75406" y="14461"/>
                      <a:pt x="75406" y="14461"/>
                      <a:pt x="93927" y="14461"/>
                    </a:cubicBezTo>
                    <a:cubicBezTo>
                      <a:pt x="93927" y="14461"/>
                      <a:pt x="93927" y="14461"/>
                      <a:pt x="93927" y="10517"/>
                    </a:cubicBezTo>
                    <a:cubicBezTo>
                      <a:pt x="93927" y="3944"/>
                      <a:pt x="99219" y="0"/>
                      <a:pt x="104511" y="0"/>
                    </a:cubicBezTo>
                    <a:cubicBezTo>
                      <a:pt x="109802" y="0"/>
                      <a:pt x="115094" y="3944"/>
                      <a:pt x="115094" y="10517"/>
                    </a:cubicBezTo>
                    <a:cubicBezTo>
                      <a:pt x="115094" y="10517"/>
                      <a:pt x="115094" y="10517"/>
                      <a:pt x="115094" y="14461"/>
                    </a:cubicBezTo>
                    <a:cubicBezTo>
                      <a:pt x="115094" y="14461"/>
                      <a:pt x="115094" y="14461"/>
                      <a:pt x="133615" y="14461"/>
                    </a:cubicBezTo>
                    <a:cubicBezTo>
                      <a:pt x="133615" y="14461"/>
                      <a:pt x="133615" y="14461"/>
                      <a:pt x="133615" y="10517"/>
                    </a:cubicBezTo>
                    <a:cubicBezTo>
                      <a:pt x="133615" y="3944"/>
                      <a:pt x="137584" y="0"/>
                      <a:pt x="142875" y="0"/>
                    </a:cubicBezTo>
                    <a:cubicBezTo>
                      <a:pt x="149490" y="0"/>
                      <a:pt x="153459" y="3944"/>
                      <a:pt x="153459" y="10517"/>
                    </a:cubicBezTo>
                    <a:cubicBezTo>
                      <a:pt x="153459" y="10517"/>
                      <a:pt x="153459" y="10517"/>
                      <a:pt x="153459" y="14461"/>
                    </a:cubicBezTo>
                    <a:cubicBezTo>
                      <a:pt x="153459" y="14461"/>
                      <a:pt x="153459" y="14461"/>
                      <a:pt x="171980" y="14461"/>
                    </a:cubicBezTo>
                    <a:cubicBezTo>
                      <a:pt x="171980" y="14461"/>
                      <a:pt x="171980" y="14461"/>
                      <a:pt x="171980" y="10517"/>
                    </a:cubicBezTo>
                    <a:cubicBezTo>
                      <a:pt x="171980" y="3944"/>
                      <a:pt x="175948" y="0"/>
                      <a:pt x="182563" y="0"/>
                    </a:cubicBezTo>
                    <a:cubicBezTo>
                      <a:pt x="187855" y="0"/>
                      <a:pt x="191823" y="3944"/>
                      <a:pt x="191823" y="10517"/>
                    </a:cubicBezTo>
                    <a:cubicBezTo>
                      <a:pt x="191823" y="10517"/>
                      <a:pt x="191823" y="10517"/>
                      <a:pt x="191823" y="14461"/>
                    </a:cubicBezTo>
                    <a:cubicBezTo>
                      <a:pt x="191823" y="14461"/>
                      <a:pt x="191823" y="14461"/>
                      <a:pt x="210344" y="14461"/>
                    </a:cubicBezTo>
                    <a:cubicBezTo>
                      <a:pt x="210344" y="14461"/>
                      <a:pt x="210344" y="14461"/>
                      <a:pt x="210344" y="10517"/>
                    </a:cubicBezTo>
                    <a:cubicBezTo>
                      <a:pt x="210344" y="3944"/>
                      <a:pt x="215636" y="0"/>
                      <a:pt x="220927" y="0"/>
                    </a:cubicBezTo>
                    <a:cubicBezTo>
                      <a:pt x="226219" y="0"/>
                      <a:pt x="231511" y="3944"/>
                      <a:pt x="231511" y="10517"/>
                    </a:cubicBezTo>
                    <a:cubicBezTo>
                      <a:pt x="231511" y="10517"/>
                      <a:pt x="231511" y="10517"/>
                      <a:pt x="231511" y="14461"/>
                    </a:cubicBezTo>
                    <a:cubicBezTo>
                      <a:pt x="231511" y="14461"/>
                      <a:pt x="231511" y="14461"/>
                      <a:pt x="250032" y="14461"/>
                    </a:cubicBezTo>
                    <a:cubicBezTo>
                      <a:pt x="250032" y="14461"/>
                      <a:pt x="250032" y="14461"/>
                      <a:pt x="250032" y="10517"/>
                    </a:cubicBezTo>
                    <a:cubicBezTo>
                      <a:pt x="250032" y="3944"/>
                      <a:pt x="254000" y="0"/>
                      <a:pt x="260615" y="0"/>
                    </a:cubicBezTo>
                    <a:cubicBezTo>
                      <a:pt x="265907" y="0"/>
                      <a:pt x="269875" y="3944"/>
                      <a:pt x="269875" y="10517"/>
                    </a:cubicBezTo>
                    <a:cubicBezTo>
                      <a:pt x="269875" y="10517"/>
                      <a:pt x="269875" y="10517"/>
                      <a:pt x="269875" y="14461"/>
                    </a:cubicBezTo>
                    <a:cubicBezTo>
                      <a:pt x="269875" y="14461"/>
                      <a:pt x="269875" y="14461"/>
                      <a:pt x="276490" y="14461"/>
                    </a:cubicBezTo>
                    <a:cubicBezTo>
                      <a:pt x="302948" y="14461"/>
                      <a:pt x="325438" y="35496"/>
                      <a:pt x="325438" y="61789"/>
                    </a:cubicBezTo>
                    <a:cubicBezTo>
                      <a:pt x="325438" y="61789"/>
                      <a:pt x="325438" y="61789"/>
                      <a:pt x="325438" y="289223"/>
                    </a:cubicBezTo>
                    <a:cubicBezTo>
                      <a:pt x="325438" y="315516"/>
                      <a:pt x="302948" y="336550"/>
                      <a:pt x="276490" y="336550"/>
                    </a:cubicBezTo>
                    <a:cubicBezTo>
                      <a:pt x="276490" y="336550"/>
                      <a:pt x="276490" y="336550"/>
                      <a:pt x="48948" y="336550"/>
                    </a:cubicBezTo>
                    <a:cubicBezTo>
                      <a:pt x="22490" y="336550"/>
                      <a:pt x="0" y="315516"/>
                      <a:pt x="0" y="289223"/>
                    </a:cubicBezTo>
                    <a:cubicBezTo>
                      <a:pt x="0" y="289223"/>
                      <a:pt x="0" y="289223"/>
                      <a:pt x="0" y="61789"/>
                    </a:cubicBezTo>
                    <a:cubicBezTo>
                      <a:pt x="0" y="35496"/>
                      <a:pt x="22490" y="14461"/>
                      <a:pt x="48948" y="14461"/>
                    </a:cubicBezTo>
                    <a:cubicBezTo>
                      <a:pt x="48948" y="14461"/>
                      <a:pt x="48948" y="14461"/>
                      <a:pt x="55563" y="14461"/>
                    </a:cubicBezTo>
                    <a:cubicBezTo>
                      <a:pt x="55563" y="14461"/>
                      <a:pt x="55563" y="14461"/>
                      <a:pt x="55563" y="10517"/>
                    </a:cubicBezTo>
                    <a:cubicBezTo>
                      <a:pt x="55563" y="3944"/>
                      <a:pt x="59531" y="0"/>
                      <a:pt x="64823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defTabSz="913765">
                  <a:defRPr/>
                </a:pPr>
                <a:endPara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18" name="文本框 27"/>
            <p:cNvSpPr txBox="1"/>
            <p:nvPr/>
          </p:nvSpPr>
          <p:spPr>
            <a:xfrm>
              <a:off x="6669040" y="4733309"/>
              <a:ext cx="1742936" cy="2529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defTabSz="913765">
                <a:defRPr/>
              </a:pPr>
              <a:r>
                <a:rPr lang="zh-CN" altLang="en-US" sz="16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时间：</a:t>
              </a:r>
              <a:r>
                <a:rPr lang="en-US" altLang="zh-CN" sz="16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2025-04-22</a:t>
              </a:r>
              <a:endParaRPr lang="zh-CN" altLang="en-US" sz="16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251" y="6249432"/>
            <a:ext cx="2757212" cy="3859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6F7C394-972D-4308-98A0-EEB5E394CD1D}"/>
              </a:ext>
            </a:extLst>
          </p:cNvPr>
          <p:cNvSpPr/>
          <p:nvPr/>
        </p:nvSpPr>
        <p:spPr>
          <a:xfrm>
            <a:off x="-2226" y="-1"/>
            <a:ext cx="2521894" cy="6857329"/>
          </a:xfrm>
          <a:prstGeom prst="rect">
            <a:avLst/>
          </a:prstGeom>
          <a:gradFill>
            <a:gsLst>
              <a:gs pos="0">
                <a:srgbClr val="142756"/>
              </a:gs>
              <a:gs pos="100000">
                <a:srgbClr val="2E5DA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4" name="圆角矩形 33">
            <a:extLst>
              <a:ext uri="{FF2B5EF4-FFF2-40B4-BE49-F238E27FC236}">
                <a16:creationId xmlns:a16="http://schemas.microsoft.com/office/drawing/2014/main" id="{6E861A0F-B75E-409A-949E-EF0231F37CCA}"/>
              </a:ext>
            </a:extLst>
          </p:cNvPr>
          <p:cNvSpPr/>
          <p:nvPr/>
        </p:nvSpPr>
        <p:spPr>
          <a:xfrm>
            <a:off x="756025" y="1993900"/>
            <a:ext cx="1156306" cy="2870200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A4A94CD-51AE-4B4B-9073-96EB778AB4C2}"/>
              </a:ext>
            </a:extLst>
          </p:cNvPr>
          <p:cNvSpPr txBox="1"/>
          <p:nvPr/>
        </p:nvSpPr>
        <p:spPr>
          <a:xfrm>
            <a:off x="964846" y="2286380"/>
            <a:ext cx="738664" cy="228524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汇 报 内 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D2FA53E-3943-4277-9678-07CA48EF055C}"/>
              </a:ext>
            </a:extLst>
          </p:cNvPr>
          <p:cNvSpPr>
            <a:spLocks/>
          </p:cNvSpPr>
          <p:nvPr/>
        </p:nvSpPr>
        <p:spPr>
          <a:xfrm>
            <a:off x="4398346" y="835941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57175">
              <a:defRPr/>
            </a:pPr>
            <a:r>
              <a:rPr kumimoji="1" lang="en-US" altLang="zh-CN" sz="36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EFDC</a:t>
            </a:r>
            <a:r>
              <a:rPr kumimoji="1" lang="zh-CN" altLang="en-US" sz="36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模型基本概念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D727800-F181-47A9-B5A2-9BE234D07C6F}"/>
              </a:ext>
            </a:extLst>
          </p:cNvPr>
          <p:cNvSpPr/>
          <p:nvPr/>
        </p:nvSpPr>
        <p:spPr>
          <a:xfrm>
            <a:off x="4340479" y="714989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7C2DEF3-85C6-41EB-BEA1-26D309BA763D}"/>
              </a:ext>
            </a:extLst>
          </p:cNvPr>
          <p:cNvSpPr/>
          <p:nvPr/>
        </p:nvSpPr>
        <p:spPr>
          <a:xfrm>
            <a:off x="3491889" y="716881"/>
            <a:ext cx="906457" cy="871365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B404D87-5BC9-40D2-B86C-57BADE0EB884}"/>
              </a:ext>
            </a:extLst>
          </p:cNvPr>
          <p:cNvSpPr/>
          <p:nvPr/>
        </p:nvSpPr>
        <p:spPr>
          <a:xfrm>
            <a:off x="3606962" y="816941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97AE74C-BCFB-4EB2-8990-771F14CB4CC6}"/>
              </a:ext>
            </a:extLst>
          </p:cNvPr>
          <p:cNvSpPr>
            <a:spLocks/>
          </p:cNvSpPr>
          <p:nvPr/>
        </p:nvSpPr>
        <p:spPr>
          <a:xfrm>
            <a:off x="4417997" y="2380268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</a:t>
            </a:r>
            <a:r>
              <a:rPr lang="zh-CN" altLang="en-US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模型应用背景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5276682-91C6-494A-8BD8-79A54AAEF61D}"/>
              </a:ext>
            </a:extLst>
          </p:cNvPr>
          <p:cNvSpPr/>
          <p:nvPr/>
        </p:nvSpPr>
        <p:spPr>
          <a:xfrm>
            <a:off x="4340479" y="2249440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3B1753A-5B90-46AD-84AB-A97505A14A1E}"/>
              </a:ext>
            </a:extLst>
          </p:cNvPr>
          <p:cNvSpPr/>
          <p:nvPr/>
        </p:nvSpPr>
        <p:spPr>
          <a:xfrm>
            <a:off x="3491889" y="2249440"/>
            <a:ext cx="906457" cy="873258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762DDDD-7200-4BEC-9DFC-E5B95FA5DE84}"/>
              </a:ext>
            </a:extLst>
          </p:cNvPr>
          <p:cNvSpPr/>
          <p:nvPr/>
        </p:nvSpPr>
        <p:spPr>
          <a:xfrm>
            <a:off x="3606962" y="2351392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59D90B5-9E70-48C0-BFE9-6A0BBBCCC6E9}"/>
              </a:ext>
            </a:extLst>
          </p:cNvPr>
          <p:cNvSpPr>
            <a:spLocks/>
          </p:cNvSpPr>
          <p:nvPr/>
        </p:nvSpPr>
        <p:spPr>
          <a:xfrm>
            <a:off x="4418353" y="5390281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结果与结论</a:t>
            </a:r>
            <a:endParaRPr lang="zh-CN" altLang="en-US" sz="2800" b="1" dirty="0">
              <a:solidFill>
                <a:srgbClr val="0F4995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7CBF392-C907-4D29-BE6C-7C7B99F43455}"/>
              </a:ext>
            </a:extLst>
          </p:cNvPr>
          <p:cNvSpPr/>
          <p:nvPr/>
        </p:nvSpPr>
        <p:spPr>
          <a:xfrm>
            <a:off x="4340479" y="5269078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17C9E68-6BA3-4702-8099-B23D38F9BB6E}"/>
              </a:ext>
            </a:extLst>
          </p:cNvPr>
          <p:cNvSpPr/>
          <p:nvPr/>
        </p:nvSpPr>
        <p:spPr>
          <a:xfrm>
            <a:off x="3491889" y="5270970"/>
            <a:ext cx="906457" cy="871365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97959D4-98E0-4591-9170-BF6758D3EC2C}"/>
              </a:ext>
            </a:extLst>
          </p:cNvPr>
          <p:cNvSpPr/>
          <p:nvPr/>
        </p:nvSpPr>
        <p:spPr>
          <a:xfrm>
            <a:off x="3606962" y="5371030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四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147B276-6AB7-460B-90E6-ADEAC5A17164}"/>
              </a:ext>
            </a:extLst>
          </p:cNvPr>
          <p:cNvSpPr>
            <a:spLocks/>
          </p:cNvSpPr>
          <p:nvPr/>
        </p:nvSpPr>
        <p:spPr>
          <a:xfrm>
            <a:off x="4415507" y="3879517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</a:t>
            </a:r>
            <a:r>
              <a:rPr lang="zh-CN" altLang="en-US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模型应用方式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E736492-4D64-42E6-9678-F4869AF879F3}"/>
              </a:ext>
            </a:extLst>
          </p:cNvPr>
          <p:cNvSpPr/>
          <p:nvPr/>
        </p:nvSpPr>
        <p:spPr>
          <a:xfrm>
            <a:off x="4340479" y="3758314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12EA1B3-FB3D-4AF2-B2B7-C84D036D2BBD}"/>
              </a:ext>
            </a:extLst>
          </p:cNvPr>
          <p:cNvSpPr/>
          <p:nvPr/>
        </p:nvSpPr>
        <p:spPr>
          <a:xfrm>
            <a:off x="3491889" y="3758314"/>
            <a:ext cx="906457" cy="873258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7E547B0-5CC0-40EE-A904-E304FCE58231}"/>
              </a:ext>
            </a:extLst>
          </p:cNvPr>
          <p:cNvSpPr/>
          <p:nvPr/>
        </p:nvSpPr>
        <p:spPr>
          <a:xfrm>
            <a:off x="3606962" y="3860266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三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1B31F91-01CC-46D5-986E-F9061072BFD3}"/>
              </a:ext>
            </a:extLst>
          </p:cNvPr>
          <p:cNvSpPr/>
          <p:nvPr/>
        </p:nvSpPr>
        <p:spPr>
          <a:xfrm>
            <a:off x="3161214" y="1707306"/>
            <a:ext cx="8274761" cy="458977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000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>
            <a:extLst>
              <a:ext uri="{FF2B5EF4-FFF2-40B4-BE49-F238E27FC236}">
                <a16:creationId xmlns:a16="http://schemas.microsoft.com/office/drawing/2014/main" id="{EAC27C75-9878-4AF1-BD21-EDA5BAEF50FF}"/>
              </a:ext>
            </a:extLst>
          </p:cNvPr>
          <p:cNvSpPr txBox="1"/>
          <p:nvPr/>
        </p:nvSpPr>
        <p:spPr>
          <a:xfrm>
            <a:off x="298115" y="944284"/>
            <a:ext cx="11595769" cy="108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57200" marR="0" lvl="0" indent="-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"/>
              <a:tabLst/>
              <a:defRPr kumimoji="0" sz="2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dirty="0"/>
              <a:t>EFDC</a:t>
            </a:r>
            <a:r>
              <a:rPr lang="zh-CN" altLang="en-US" dirty="0"/>
              <a:t>模型是一个通用的用来模拟地表水系统中的</a:t>
            </a:r>
            <a:r>
              <a:rPr lang="zh-CN" altLang="en-US" dirty="0">
                <a:solidFill>
                  <a:schemeClr val="tx2"/>
                </a:solidFill>
              </a:rPr>
              <a:t>三维流场，物质传输和生物化学过程的模型</a:t>
            </a:r>
            <a:r>
              <a:rPr lang="zh-CN" altLang="en-US" dirty="0"/>
              <a:t>，包括河流、湖泊、河口、水库、湿地、近岸海域。</a:t>
            </a:r>
          </a:p>
        </p:txBody>
      </p:sp>
      <p:sp>
        <p:nvSpPr>
          <p:cNvPr id="35" name="灯片编号占位符 3">
            <a:extLst>
              <a:ext uri="{FF2B5EF4-FFF2-40B4-BE49-F238E27FC236}">
                <a16:creationId xmlns:a16="http://schemas.microsoft.com/office/drawing/2014/main" id="{4E13C9AD-C81E-4EE3-B9EC-34FF68A841E2}"/>
              </a:ext>
            </a:extLst>
          </p:cNvPr>
          <p:cNvSpPr txBox="1">
            <a:spLocks/>
          </p:cNvSpPr>
          <p:nvPr/>
        </p:nvSpPr>
        <p:spPr>
          <a:xfrm>
            <a:off x="9282546" y="10806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24612B-083E-42A1-A722-547198ACFF6B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118B07D-E2F7-41D4-BCBE-7D670F4A3580}"/>
              </a:ext>
            </a:extLst>
          </p:cNvPr>
          <p:cNvSpPr txBox="1"/>
          <p:nvPr/>
        </p:nvSpPr>
        <p:spPr>
          <a:xfrm>
            <a:off x="1061390" y="-67577"/>
            <a:ext cx="5731296" cy="7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4800" b="1">
                <a:gradFill>
                  <a:gsLst>
                    <a:gs pos="100000">
                      <a:srgbClr val="026EBB"/>
                    </a:gs>
                    <a:gs pos="0">
                      <a:srgbClr val="038EDB"/>
                    </a:gs>
                  </a:gsLst>
                  <a:lin ang="0" scaled="1"/>
                </a:gradFill>
                <a:latin typeface="Eras Bold ITC" panose="020B0907030504020204" pitchFamily="34" charset="0"/>
                <a:ea typeface="思源黑体 CN Medium" panose="020B0600000000000000" pitchFamily="34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571500" marR="0" lvl="0" indent="-571500" algn="l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3800" b="1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</a:t>
            </a: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模型基本概念</a:t>
            </a:r>
          </a:p>
        </p:txBody>
      </p:sp>
      <p:sp>
        <p:nvSpPr>
          <p:cNvPr id="38" name="平行四边形 37">
            <a:extLst>
              <a:ext uri="{FF2B5EF4-FFF2-40B4-BE49-F238E27FC236}">
                <a16:creationId xmlns:a16="http://schemas.microsoft.com/office/drawing/2014/main" id="{9237FECA-4EA3-4697-B699-84730BAE8B10}"/>
              </a:ext>
            </a:extLst>
          </p:cNvPr>
          <p:cNvSpPr/>
          <p:nvPr/>
        </p:nvSpPr>
        <p:spPr>
          <a:xfrm rot="10800000">
            <a:off x="566665" y="775626"/>
            <a:ext cx="2787949" cy="95817"/>
          </a:xfrm>
          <a:prstGeom prst="parallelogram">
            <a:avLst>
              <a:gd name="adj" fmla="val 196700"/>
            </a:avLst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845614F-7241-4DB3-9BE0-9960246D59D7}"/>
              </a:ext>
            </a:extLst>
          </p:cNvPr>
          <p:cNvGrpSpPr/>
          <p:nvPr/>
        </p:nvGrpSpPr>
        <p:grpSpPr>
          <a:xfrm>
            <a:off x="-53106" y="0"/>
            <a:ext cx="963271" cy="1033814"/>
            <a:chOff x="-51603" y="0"/>
            <a:chExt cx="1084083" cy="1219009"/>
          </a:xfrm>
        </p:grpSpPr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A1BDF8D0-A1CC-4209-B8DF-D36E34D6C3AC}"/>
                </a:ext>
              </a:extLst>
            </p:cNvPr>
            <p:cNvSpPr/>
            <p:nvPr/>
          </p:nvSpPr>
          <p:spPr bwMode="auto">
            <a:xfrm>
              <a:off x="3290" y="132030"/>
              <a:ext cx="974299" cy="1086979"/>
            </a:xfrm>
            <a:custGeom>
              <a:avLst/>
              <a:gdLst>
                <a:gd name="T0" fmla="*/ 0 w 529"/>
                <a:gd name="T1" fmla="*/ 0 h 915"/>
                <a:gd name="T2" fmla="*/ 490 w 529"/>
                <a:gd name="T3" fmla="*/ 399 h 915"/>
                <a:gd name="T4" fmla="*/ 490 w 529"/>
                <a:gd name="T5" fmla="*/ 516 h 915"/>
                <a:gd name="T6" fmla="*/ 0 w 529"/>
                <a:gd name="T7" fmla="*/ 915 h 915"/>
                <a:gd name="T8" fmla="*/ 0 w 529"/>
                <a:gd name="T9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915">
                  <a:moveTo>
                    <a:pt x="0" y="0"/>
                  </a:moveTo>
                  <a:lnTo>
                    <a:pt x="490" y="399"/>
                  </a:lnTo>
                  <a:cubicBezTo>
                    <a:pt x="529" y="431"/>
                    <a:pt x="529" y="484"/>
                    <a:pt x="490" y="516"/>
                  </a:cubicBezTo>
                  <a:lnTo>
                    <a:pt x="0" y="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B8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DE0E586D-84DD-4F85-8A67-93CFE0890111}"/>
                </a:ext>
              </a:extLst>
            </p:cNvPr>
            <p:cNvSpPr/>
            <p:nvPr/>
          </p:nvSpPr>
          <p:spPr bwMode="auto">
            <a:xfrm>
              <a:off x="3290" y="0"/>
              <a:ext cx="974299" cy="1086979"/>
            </a:xfrm>
            <a:custGeom>
              <a:avLst/>
              <a:gdLst>
                <a:gd name="T0" fmla="*/ 0 w 560"/>
                <a:gd name="T1" fmla="*/ 0 h 973"/>
                <a:gd name="T2" fmla="*/ 516 w 560"/>
                <a:gd name="T3" fmla="*/ 420 h 973"/>
                <a:gd name="T4" fmla="*/ 516 w 560"/>
                <a:gd name="T5" fmla="*/ 552 h 973"/>
                <a:gd name="T6" fmla="*/ 0 w 560"/>
                <a:gd name="T7" fmla="*/ 973 h 973"/>
                <a:gd name="T8" fmla="*/ 0 w 560"/>
                <a:gd name="T9" fmla="*/ 0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0" h="973">
                  <a:moveTo>
                    <a:pt x="0" y="0"/>
                  </a:moveTo>
                  <a:lnTo>
                    <a:pt x="516" y="420"/>
                  </a:lnTo>
                  <a:cubicBezTo>
                    <a:pt x="560" y="457"/>
                    <a:pt x="560" y="516"/>
                    <a:pt x="516" y="552"/>
                  </a:cubicBezTo>
                  <a:lnTo>
                    <a:pt x="0" y="9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B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D277C01-E6B7-43ED-A530-CA7B9A8586F1}"/>
                </a:ext>
              </a:extLst>
            </p:cNvPr>
            <p:cNvSpPr txBox="1"/>
            <p:nvPr/>
          </p:nvSpPr>
          <p:spPr>
            <a:xfrm>
              <a:off x="-51603" y="146972"/>
              <a:ext cx="1084083" cy="689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200" b="1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一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43" name="平行四边形 42">
            <a:extLst>
              <a:ext uri="{FF2B5EF4-FFF2-40B4-BE49-F238E27FC236}">
                <a16:creationId xmlns:a16="http://schemas.microsoft.com/office/drawing/2014/main" id="{EE906314-E1D9-4315-8673-A4C33AFAC90F}"/>
              </a:ext>
            </a:extLst>
          </p:cNvPr>
          <p:cNvSpPr/>
          <p:nvPr/>
        </p:nvSpPr>
        <p:spPr>
          <a:xfrm rot="10800000">
            <a:off x="3320143" y="775627"/>
            <a:ext cx="8868566" cy="90674"/>
          </a:xfrm>
          <a:prstGeom prst="parallelogram">
            <a:avLst>
              <a:gd name="adj" fmla="val 196700"/>
            </a:avLst>
          </a:prstGeom>
          <a:solidFill>
            <a:srgbClr val="69B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783AC54-5C0A-4B43-ACAB-BFD96CE5CE03}"/>
              </a:ext>
            </a:extLst>
          </p:cNvPr>
          <p:cNvSpPr/>
          <p:nvPr/>
        </p:nvSpPr>
        <p:spPr>
          <a:xfrm>
            <a:off x="0" y="5755781"/>
            <a:ext cx="12192000" cy="1081899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ts val="37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步骤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：①工程问题提出②收集、分析数据③创建概念模型④模型选取⑤模型建立⑥模型率定验证和不确定性分析⑦模型情景分析、预测和建议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矩形: 圆角 23">
            <a:extLst>
              <a:ext uri="{FF2B5EF4-FFF2-40B4-BE49-F238E27FC236}">
                <a16:creationId xmlns:a16="http://schemas.microsoft.com/office/drawing/2014/main" id="{75CFD021-3BC2-483D-8C6E-44E1D00D29F0}"/>
              </a:ext>
            </a:extLst>
          </p:cNvPr>
          <p:cNvSpPr/>
          <p:nvPr/>
        </p:nvSpPr>
        <p:spPr>
          <a:xfrm>
            <a:off x="4172099" y="2077826"/>
            <a:ext cx="3841265" cy="3586801"/>
          </a:xfrm>
          <a:prstGeom prst="roundRect">
            <a:avLst>
              <a:gd name="adj" fmla="val 0"/>
            </a:avLst>
          </a:prstGeom>
          <a:solidFill>
            <a:srgbClr val="D7E1EE"/>
          </a:solidFill>
          <a:ln>
            <a:solidFill>
              <a:schemeClr val="tx1"/>
            </a:solidFill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: 圆角 23">
            <a:extLst>
              <a:ext uri="{FF2B5EF4-FFF2-40B4-BE49-F238E27FC236}">
                <a16:creationId xmlns:a16="http://schemas.microsoft.com/office/drawing/2014/main" id="{B1A65BB7-75CC-4570-81B6-1939BD952F31}"/>
              </a:ext>
            </a:extLst>
          </p:cNvPr>
          <p:cNvSpPr/>
          <p:nvPr/>
        </p:nvSpPr>
        <p:spPr>
          <a:xfrm>
            <a:off x="148741" y="2077826"/>
            <a:ext cx="3841265" cy="3586801"/>
          </a:xfrm>
          <a:prstGeom prst="roundRect">
            <a:avLst>
              <a:gd name="adj" fmla="val 0"/>
            </a:avLst>
          </a:prstGeom>
          <a:solidFill>
            <a:srgbClr val="D7E1EE"/>
          </a:solidFill>
          <a:ln>
            <a:solidFill>
              <a:schemeClr val="tx1"/>
            </a:solidFill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矩形: 圆角 23">
            <a:extLst>
              <a:ext uri="{FF2B5EF4-FFF2-40B4-BE49-F238E27FC236}">
                <a16:creationId xmlns:a16="http://schemas.microsoft.com/office/drawing/2014/main" id="{FEA0FC18-6639-477B-9D57-81E26525FFAA}"/>
              </a:ext>
            </a:extLst>
          </p:cNvPr>
          <p:cNvSpPr/>
          <p:nvPr/>
        </p:nvSpPr>
        <p:spPr>
          <a:xfrm>
            <a:off x="8186479" y="2077826"/>
            <a:ext cx="3841265" cy="3586801"/>
          </a:xfrm>
          <a:prstGeom prst="roundRect">
            <a:avLst>
              <a:gd name="adj" fmla="val 0"/>
            </a:avLst>
          </a:prstGeom>
          <a:solidFill>
            <a:srgbClr val="D7E1EE"/>
          </a:solidFill>
          <a:ln>
            <a:solidFill>
              <a:schemeClr val="tx1"/>
            </a:solidFill>
          </a:ln>
          <a:effectLst>
            <a:outerShdw blurRad="254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DAE52A17-836C-40EB-8F04-3CFECF225377}"/>
              </a:ext>
            </a:extLst>
          </p:cNvPr>
          <p:cNvSpPr/>
          <p:nvPr/>
        </p:nvSpPr>
        <p:spPr>
          <a:xfrm>
            <a:off x="288634" y="2363261"/>
            <a:ext cx="3561477" cy="2959367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98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215900" dist="38100" dir="2700000" algn="tl" rotWithShape="0">
              <a:prstClr val="black">
                <a:alpha val="18000"/>
              </a:prstClr>
            </a:outerShdw>
          </a:effectLst>
        </p:spPr>
        <p:txBody>
          <a:bodyPr anchor="ctr"/>
          <a:lstStyle/>
          <a:p>
            <a:pPr algn="just" defTabSz="387350">
              <a:lnSpc>
                <a:spcPct val="150000"/>
              </a:lnSpc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EFDC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包括水动力、水质和泥沙模块，用于模拟流体系统一维、二维和三维流场，物质输运：包括温度、盐度、示踪剂、粘性和非粘性泥沙的传输、拉格朗日颗粒物追踪、多源近场和远场的排放以及有毒污染物在水体和沉积物中的传输。</a:t>
            </a:r>
            <a:endParaRPr lang="zh-CN" altLang="en-US" sz="1600" b="1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F7043763-A719-4960-939B-5C81AC62E3D7}"/>
              </a:ext>
            </a:extLst>
          </p:cNvPr>
          <p:cNvSpPr/>
          <p:nvPr/>
        </p:nvSpPr>
        <p:spPr>
          <a:xfrm>
            <a:off x="4315261" y="2363261"/>
            <a:ext cx="3561477" cy="2959367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98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215900" dist="38100" dir="2700000" algn="tl" rotWithShape="0">
              <a:prstClr val="black">
                <a:alpha val="18000"/>
              </a:prstClr>
            </a:outerShdw>
          </a:effectLst>
        </p:spPr>
        <p:txBody>
          <a:bodyPr anchor="ctr"/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EFDC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模型也包含了溶解氧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/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营养物转化（即水体富营养化）模块（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HEM-3D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），模拟生态过程及淡水入流。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747456DA-940E-481B-8E47-92E135C1B7C2}"/>
              </a:ext>
            </a:extLst>
          </p:cNvPr>
          <p:cNvSpPr/>
          <p:nvPr/>
        </p:nvSpPr>
        <p:spPr>
          <a:xfrm>
            <a:off x="8341888" y="2363261"/>
            <a:ext cx="3561477" cy="2959367"/>
          </a:xfrm>
          <a:prstGeom prst="roundRect">
            <a:avLst>
              <a:gd name="adj" fmla="val 7436"/>
            </a:avLst>
          </a:prstGeom>
          <a:solidFill>
            <a:schemeClr val="accent2">
              <a:lumMod val="20000"/>
              <a:lumOff val="80000"/>
              <a:alpha val="98000"/>
            </a:schemeClr>
          </a:solidFill>
          <a:ln w="28575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215900" dist="38100" dir="2700000" algn="tl" rotWithShape="0">
              <a:prstClr val="black">
                <a:alpha val="18000"/>
              </a:prstClr>
            </a:outerShdw>
          </a:effectLst>
        </p:spPr>
        <p:txBody>
          <a:bodyPr anchor="ctr"/>
          <a:lstStyle/>
          <a:p>
            <a:pPr marL="0" marR="0" lv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EFDC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水动力模块还增加了一些特别功能，包括植被阻力，干湿边界，水工构筑物，波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-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流边界层相互作用和波生流、风生浪过程等。</a:t>
            </a:r>
          </a:p>
        </p:txBody>
      </p:sp>
    </p:spTree>
    <p:extLst>
      <p:ext uri="{BB962C8B-B14F-4D97-AF65-F5344CB8AC3E}">
        <p14:creationId xmlns:p14="http://schemas.microsoft.com/office/powerpoint/2010/main" val="203032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E1571-F4D2-D5FC-B375-0EA87CCA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14A41B9-7A23-F924-7CA4-760F83062AFD}"/>
              </a:ext>
            </a:extLst>
          </p:cNvPr>
          <p:cNvSpPr/>
          <p:nvPr/>
        </p:nvSpPr>
        <p:spPr>
          <a:xfrm>
            <a:off x="-2226" y="-1"/>
            <a:ext cx="2521894" cy="6857329"/>
          </a:xfrm>
          <a:prstGeom prst="rect">
            <a:avLst/>
          </a:prstGeom>
          <a:gradFill>
            <a:gsLst>
              <a:gs pos="0">
                <a:srgbClr val="142756"/>
              </a:gs>
              <a:gs pos="100000">
                <a:srgbClr val="2E5DA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4" name="圆角矩形 33">
            <a:extLst>
              <a:ext uri="{FF2B5EF4-FFF2-40B4-BE49-F238E27FC236}">
                <a16:creationId xmlns:a16="http://schemas.microsoft.com/office/drawing/2014/main" id="{8FB380E3-AE44-FC93-4560-52EB8BF623FA}"/>
              </a:ext>
            </a:extLst>
          </p:cNvPr>
          <p:cNvSpPr/>
          <p:nvPr/>
        </p:nvSpPr>
        <p:spPr>
          <a:xfrm>
            <a:off x="756025" y="1993900"/>
            <a:ext cx="1156306" cy="2870200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6F15C8E-A8D1-62FF-B119-3F1480FDE37D}"/>
              </a:ext>
            </a:extLst>
          </p:cNvPr>
          <p:cNvSpPr txBox="1"/>
          <p:nvPr/>
        </p:nvSpPr>
        <p:spPr>
          <a:xfrm>
            <a:off x="964846" y="2286380"/>
            <a:ext cx="738664" cy="228524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汇 报 内 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580D8BB-E327-CBEF-B9FD-2A76FA57CACC}"/>
              </a:ext>
            </a:extLst>
          </p:cNvPr>
          <p:cNvSpPr>
            <a:spLocks/>
          </p:cNvSpPr>
          <p:nvPr/>
        </p:nvSpPr>
        <p:spPr>
          <a:xfrm>
            <a:off x="4398346" y="835941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57175">
              <a:defRPr/>
            </a:pPr>
            <a:r>
              <a:rPr kumimoji="1" lang="en-US" altLang="zh-CN" sz="3600" b="1" kern="0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EFDC</a:t>
            </a:r>
            <a:r>
              <a:rPr kumimoji="1" lang="zh-CN" altLang="en-US" sz="3600" b="1" kern="0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模型基本概念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3ED0AA-B41F-2975-63C2-9E10B150CAD1}"/>
              </a:ext>
            </a:extLst>
          </p:cNvPr>
          <p:cNvSpPr/>
          <p:nvPr/>
        </p:nvSpPr>
        <p:spPr>
          <a:xfrm>
            <a:off x="4340479" y="714989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81B76AB-8D9C-EE4C-DD34-DC399C145A8B}"/>
              </a:ext>
            </a:extLst>
          </p:cNvPr>
          <p:cNvSpPr/>
          <p:nvPr/>
        </p:nvSpPr>
        <p:spPr>
          <a:xfrm>
            <a:off x="3491889" y="716881"/>
            <a:ext cx="906457" cy="871365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598E2C5-AD72-02DD-96C3-70945194BF1A}"/>
              </a:ext>
            </a:extLst>
          </p:cNvPr>
          <p:cNvSpPr/>
          <p:nvPr/>
        </p:nvSpPr>
        <p:spPr>
          <a:xfrm>
            <a:off x="3606962" y="816941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07B83A6-B51C-0207-7CA7-3F4A2258CBA0}"/>
              </a:ext>
            </a:extLst>
          </p:cNvPr>
          <p:cNvSpPr>
            <a:spLocks/>
          </p:cNvSpPr>
          <p:nvPr/>
        </p:nvSpPr>
        <p:spPr>
          <a:xfrm>
            <a:off x="4417997" y="2380268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</a:t>
            </a: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模型应用背景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D05B2FA-A4AD-6279-30CA-CB9D1E9C4016}"/>
              </a:ext>
            </a:extLst>
          </p:cNvPr>
          <p:cNvSpPr/>
          <p:nvPr/>
        </p:nvSpPr>
        <p:spPr>
          <a:xfrm>
            <a:off x="4340479" y="2249440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2F3F0C-09AC-37CB-87DC-7CA46AA52A68}"/>
              </a:ext>
            </a:extLst>
          </p:cNvPr>
          <p:cNvSpPr/>
          <p:nvPr/>
        </p:nvSpPr>
        <p:spPr>
          <a:xfrm>
            <a:off x="3491889" y="2249440"/>
            <a:ext cx="906457" cy="873258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F9B1023-067B-7406-1B9C-DB44B4434A7A}"/>
              </a:ext>
            </a:extLst>
          </p:cNvPr>
          <p:cNvSpPr/>
          <p:nvPr/>
        </p:nvSpPr>
        <p:spPr>
          <a:xfrm>
            <a:off x="3606962" y="2351392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F034EF1-A471-CC43-521E-8FE6908AFCAE}"/>
              </a:ext>
            </a:extLst>
          </p:cNvPr>
          <p:cNvSpPr>
            <a:spLocks/>
          </p:cNvSpPr>
          <p:nvPr/>
        </p:nvSpPr>
        <p:spPr>
          <a:xfrm>
            <a:off x="4418353" y="5390281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结果与结论</a:t>
            </a:r>
            <a:endParaRPr lang="zh-CN" altLang="en-US" sz="2800" b="1" dirty="0">
              <a:solidFill>
                <a:srgbClr val="0F4995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CC75A92-D208-B221-B5B7-8FBC5A3F445E}"/>
              </a:ext>
            </a:extLst>
          </p:cNvPr>
          <p:cNvSpPr/>
          <p:nvPr/>
        </p:nvSpPr>
        <p:spPr>
          <a:xfrm>
            <a:off x="4340479" y="5269078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B2407C5-D6C5-0819-4993-F69322377617}"/>
              </a:ext>
            </a:extLst>
          </p:cNvPr>
          <p:cNvSpPr/>
          <p:nvPr/>
        </p:nvSpPr>
        <p:spPr>
          <a:xfrm>
            <a:off x="3491889" y="5270970"/>
            <a:ext cx="906457" cy="871365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019140C-4B7C-C6F8-89FF-8885904B2D5A}"/>
              </a:ext>
            </a:extLst>
          </p:cNvPr>
          <p:cNvSpPr/>
          <p:nvPr/>
        </p:nvSpPr>
        <p:spPr>
          <a:xfrm>
            <a:off x="3606962" y="5371030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四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C07CC70-4430-0176-D9D8-B90B31DC45A3}"/>
              </a:ext>
            </a:extLst>
          </p:cNvPr>
          <p:cNvSpPr>
            <a:spLocks/>
          </p:cNvSpPr>
          <p:nvPr/>
        </p:nvSpPr>
        <p:spPr>
          <a:xfrm>
            <a:off x="4415507" y="3879517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</a:t>
            </a:r>
            <a:r>
              <a:rPr lang="zh-CN" altLang="en-US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模型应用方式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F3BAD49-CA39-6772-7258-0346624FC002}"/>
              </a:ext>
            </a:extLst>
          </p:cNvPr>
          <p:cNvSpPr/>
          <p:nvPr/>
        </p:nvSpPr>
        <p:spPr>
          <a:xfrm>
            <a:off x="4340479" y="3758314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D39A622-7DA9-9DFE-5405-4E949A5BBB57}"/>
              </a:ext>
            </a:extLst>
          </p:cNvPr>
          <p:cNvSpPr/>
          <p:nvPr/>
        </p:nvSpPr>
        <p:spPr>
          <a:xfrm>
            <a:off x="3491889" y="3758314"/>
            <a:ext cx="906457" cy="873258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37C1184-29DB-A95D-2584-54CC549253DC}"/>
              </a:ext>
            </a:extLst>
          </p:cNvPr>
          <p:cNvSpPr/>
          <p:nvPr/>
        </p:nvSpPr>
        <p:spPr>
          <a:xfrm>
            <a:off x="3606962" y="3860266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三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123BF1C-E523-495B-7990-73915A255EE3}"/>
              </a:ext>
            </a:extLst>
          </p:cNvPr>
          <p:cNvSpPr/>
          <p:nvPr/>
        </p:nvSpPr>
        <p:spPr>
          <a:xfrm>
            <a:off x="3161214" y="3532816"/>
            <a:ext cx="8274761" cy="294025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995DAD-FAE8-F4FA-5172-C416DAE3219E}"/>
              </a:ext>
            </a:extLst>
          </p:cNvPr>
          <p:cNvSpPr/>
          <p:nvPr/>
        </p:nvSpPr>
        <p:spPr>
          <a:xfrm>
            <a:off x="3000769" y="191354"/>
            <a:ext cx="8274761" cy="167873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51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>
            <a:extLst>
              <a:ext uri="{FF2B5EF4-FFF2-40B4-BE49-F238E27FC236}">
                <a16:creationId xmlns:a16="http://schemas.microsoft.com/office/drawing/2014/main" id="{A59C5361-20E4-4F44-91DF-37C8D14A2841}"/>
              </a:ext>
            </a:extLst>
          </p:cNvPr>
          <p:cNvSpPr txBox="1"/>
          <p:nvPr/>
        </p:nvSpPr>
        <p:spPr>
          <a:xfrm>
            <a:off x="253273" y="4708527"/>
            <a:ext cx="3743373" cy="1945532"/>
          </a:xfrm>
          <a:prstGeom prst="rect">
            <a:avLst/>
          </a:prstGeom>
          <a:solidFill>
            <a:srgbClr val="FF33CC">
              <a:alpha val="8000"/>
            </a:srgbClr>
          </a:solidFill>
          <a:ln w="25400">
            <a:solidFill>
              <a:srgbClr val="086BCE"/>
            </a:solidFill>
            <a:prstDash val="dash"/>
          </a:ln>
        </p:spPr>
        <p:txBody>
          <a:bodyPr wrap="square" lIns="91440" tIns="0" rIns="91440" bIns="0" anchor="ctr">
            <a:noAutofit/>
          </a:bodyPr>
          <a:lstStyle>
            <a:defPPr>
              <a:defRPr lang="zh-CN"/>
            </a:defPPr>
            <a:lvl1pPr marL="285750" indent="-285750">
              <a:lnSpc>
                <a:spcPct val="150000"/>
              </a:lnSpc>
              <a:buClr>
                <a:srgbClr val="0B4B8A"/>
              </a:buClr>
              <a:buFont typeface="Wingdings" panose="05000000000000000000" pitchFamily="2" charset="2"/>
              <a:buChar char="ü"/>
              <a:defRPr sz="2400" b="1">
                <a:solidFill>
                  <a:srgbClr val="0B4B8A"/>
                </a:solidFill>
                <a:latin typeface="Arial" panose="020B0604020202020204"/>
                <a:ea typeface="微软雅黑" panose="020B0503020204020204" pitchFamily="34" charset="-122"/>
              </a:defRPr>
            </a:lvl1pPr>
          </a:lstStyle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4B8A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AC27C75-9878-4AF1-BD21-EDA5BAEF50FF}"/>
              </a:ext>
            </a:extLst>
          </p:cNvPr>
          <p:cNvSpPr txBox="1"/>
          <p:nvPr/>
        </p:nvSpPr>
        <p:spPr>
          <a:xfrm>
            <a:off x="298115" y="944284"/>
            <a:ext cx="11595769" cy="108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57200" marR="0" lvl="0" indent="-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"/>
              <a:tabLst/>
              <a:defRPr kumimoji="0" sz="2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defRPr/>
            </a:pPr>
            <a:r>
              <a:rPr lang="zh-CN" altLang="en-US" dirty="0">
                <a:solidFill>
                  <a:schemeClr val="tx1"/>
                </a:solidFill>
              </a:rPr>
              <a:t>九洲江下游（广西段）是我国重要的入海河流之一，其水质状况直接关系到下游生态环境和居民</a:t>
            </a:r>
            <a:r>
              <a:rPr lang="zh-CN" altLang="en-US" dirty="0">
                <a:solidFill>
                  <a:schemeClr val="tx2"/>
                </a:solidFill>
              </a:rPr>
              <a:t>用水安全</a:t>
            </a:r>
          </a:p>
        </p:txBody>
      </p:sp>
      <p:sp>
        <p:nvSpPr>
          <p:cNvPr id="35" name="灯片编号占位符 3">
            <a:extLst>
              <a:ext uri="{FF2B5EF4-FFF2-40B4-BE49-F238E27FC236}">
                <a16:creationId xmlns:a16="http://schemas.microsoft.com/office/drawing/2014/main" id="{4E13C9AD-C81E-4EE3-B9EC-34FF68A841E2}"/>
              </a:ext>
            </a:extLst>
          </p:cNvPr>
          <p:cNvSpPr txBox="1">
            <a:spLocks/>
          </p:cNvSpPr>
          <p:nvPr/>
        </p:nvSpPr>
        <p:spPr>
          <a:xfrm>
            <a:off x="9282546" y="10806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24612B-083E-42A1-A722-547198ACFF6B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118B07D-E2F7-41D4-BCBE-7D670F4A3580}"/>
              </a:ext>
            </a:extLst>
          </p:cNvPr>
          <p:cNvSpPr txBox="1"/>
          <p:nvPr/>
        </p:nvSpPr>
        <p:spPr>
          <a:xfrm>
            <a:off x="1061390" y="-67577"/>
            <a:ext cx="5034610" cy="7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4800" b="1">
                <a:gradFill>
                  <a:gsLst>
                    <a:gs pos="100000">
                      <a:srgbClr val="026EBB"/>
                    </a:gs>
                    <a:gs pos="0">
                      <a:srgbClr val="038EDB"/>
                    </a:gs>
                  </a:gsLst>
                  <a:lin ang="0" scaled="1"/>
                </a:gradFill>
                <a:latin typeface="Eras Bold ITC" panose="020B0907030504020204" pitchFamily="34" charset="0"/>
                <a:ea typeface="思源黑体 CN Medium" panose="020B0600000000000000" pitchFamily="34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571500" marR="0" lvl="0" indent="-571500" algn="l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研究背景</a:t>
            </a:r>
          </a:p>
        </p:txBody>
      </p:sp>
      <p:sp>
        <p:nvSpPr>
          <p:cNvPr id="38" name="平行四边形 37">
            <a:extLst>
              <a:ext uri="{FF2B5EF4-FFF2-40B4-BE49-F238E27FC236}">
                <a16:creationId xmlns:a16="http://schemas.microsoft.com/office/drawing/2014/main" id="{9237FECA-4EA3-4697-B699-84730BAE8B10}"/>
              </a:ext>
            </a:extLst>
          </p:cNvPr>
          <p:cNvSpPr/>
          <p:nvPr/>
        </p:nvSpPr>
        <p:spPr>
          <a:xfrm rot="10800000">
            <a:off x="566665" y="775626"/>
            <a:ext cx="2787949" cy="95817"/>
          </a:xfrm>
          <a:prstGeom prst="parallelogram">
            <a:avLst>
              <a:gd name="adj" fmla="val 196700"/>
            </a:avLst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845614F-7241-4DB3-9BE0-9960246D59D7}"/>
              </a:ext>
            </a:extLst>
          </p:cNvPr>
          <p:cNvGrpSpPr/>
          <p:nvPr/>
        </p:nvGrpSpPr>
        <p:grpSpPr>
          <a:xfrm>
            <a:off x="-53106" y="0"/>
            <a:ext cx="963271" cy="1033814"/>
            <a:chOff x="-51603" y="0"/>
            <a:chExt cx="1084083" cy="1219009"/>
          </a:xfrm>
        </p:grpSpPr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A1BDF8D0-A1CC-4209-B8DF-D36E34D6C3AC}"/>
                </a:ext>
              </a:extLst>
            </p:cNvPr>
            <p:cNvSpPr/>
            <p:nvPr/>
          </p:nvSpPr>
          <p:spPr bwMode="auto">
            <a:xfrm>
              <a:off x="3290" y="132030"/>
              <a:ext cx="974299" cy="1086979"/>
            </a:xfrm>
            <a:custGeom>
              <a:avLst/>
              <a:gdLst>
                <a:gd name="T0" fmla="*/ 0 w 529"/>
                <a:gd name="T1" fmla="*/ 0 h 915"/>
                <a:gd name="T2" fmla="*/ 490 w 529"/>
                <a:gd name="T3" fmla="*/ 399 h 915"/>
                <a:gd name="T4" fmla="*/ 490 w 529"/>
                <a:gd name="T5" fmla="*/ 516 h 915"/>
                <a:gd name="T6" fmla="*/ 0 w 529"/>
                <a:gd name="T7" fmla="*/ 915 h 915"/>
                <a:gd name="T8" fmla="*/ 0 w 529"/>
                <a:gd name="T9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915">
                  <a:moveTo>
                    <a:pt x="0" y="0"/>
                  </a:moveTo>
                  <a:lnTo>
                    <a:pt x="490" y="399"/>
                  </a:lnTo>
                  <a:cubicBezTo>
                    <a:pt x="529" y="431"/>
                    <a:pt x="529" y="484"/>
                    <a:pt x="490" y="516"/>
                  </a:cubicBezTo>
                  <a:lnTo>
                    <a:pt x="0" y="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B8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DE0E586D-84DD-4F85-8A67-93CFE0890111}"/>
                </a:ext>
              </a:extLst>
            </p:cNvPr>
            <p:cNvSpPr/>
            <p:nvPr/>
          </p:nvSpPr>
          <p:spPr bwMode="auto">
            <a:xfrm>
              <a:off x="3290" y="0"/>
              <a:ext cx="974299" cy="1086979"/>
            </a:xfrm>
            <a:custGeom>
              <a:avLst/>
              <a:gdLst>
                <a:gd name="T0" fmla="*/ 0 w 560"/>
                <a:gd name="T1" fmla="*/ 0 h 973"/>
                <a:gd name="T2" fmla="*/ 516 w 560"/>
                <a:gd name="T3" fmla="*/ 420 h 973"/>
                <a:gd name="T4" fmla="*/ 516 w 560"/>
                <a:gd name="T5" fmla="*/ 552 h 973"/>
                <a:gd name="T6" fmla="*/ 0 w 560"/>
                <a:gd name="T7" fmla="*/ 973 h 973"/>
                <a:gd name="T8" fmla="*/ 0 w 560"/>
                <a:gd name="T9" fmla="*/ 0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0" h="973">
                  <a:moveTo>
                    <a:pt x="0" y="0"/>
                  </a:moveTo>
                  <a:lnTo>
                    <a:pt x="516" y="420"/>
                  </a:lnTo>
                  <a:cubicBezTo>
                    <a:pt x="560" y="457"/>
                    <a:pt x="560" y="516"/>
                    <a:pt x="516" y="552"/>
                  </a:cubicBezTo>
                  <a:lnTo>
                    <a:pt x="0" y="9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B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D277C01-E6B7-43ED-A530-CA7B9A8586F1}"/>
                </a:ext>
              </a:extLst>
            </p:cNvPr>
            <p:cNvSpPr txBox="1"/>
            <p:nvPr/>
          </p:nvSpPr>
          <p:spPr>
            <a:xfrm>
              <a:off x="-51603" y="146972"/>
              <a:ext cx="1084083" cy="689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二</a:t>
              </a:r>
            </a:p>
          </p:txBody>
        </p:sp>
      </p:grpSp>
      <p:sp>
        <p:nvSpPr>
          <p:cNvPr id="43" name="平行四边形 42">
            <a:extLst>
              <a:ext uri="{FF2B5EF4-FFF2-40B4-BE49-F238E27FC236}">
                <a16:creationId xmlns:a16="http://schemas.microsoft.com/office/drawing/2014/main" id="{EE906314-E1D9-4315-8673-A4C33AFAC90F}"/>
              </a:ext>
            </a:extLst>
          </p:cNvPr>
          <p:cNvSpPr/>
          <p:nvPr/>
        </p:nvSpPr>
        <p:spPr>
          <a:xfrm rot="10800000">
            <a:off x="3320143" y="775627"/>
            <a:ext cx="8868566" cy="90674"/>
          </a:xfrm>
          <a:prstGeom prst="parallelogram">
            <a:avLst>
              <a:gd name="adj" fmla="val 196700"/>
            </a:avLst>
          </a:prstGeom>
          <a:solidFill>
            <a:srgbClr val="69B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82CE6EC-4AE2-45C0-9C9C-08B0B6ADB17B}"/>
              </a:ext>
            </a:extLst>
          </p:cNvPr>
          <p:cNvSpPr txBox="1"/>
          <p:nvPr/>
        </p:nvSpPr>
        <p:spPr>
          <a:xfrm>
            <a:off x="253273" y="2391811"/>
            <a:ext cx="3743373" cy="1857753"/>
          </a:xfrm>
          <a:prstGeom prst="rect">
            <a:avLst/>
          </a:prstGeom>
          <a:solidFill>
            <a:schemeClr val="accent2">
              <a:lumMod val="20000"/>
              <a:lumOff val="80000"/>
              <a:alpha val="58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prstClr val="black"/>
                </a:solidFill>
                <a:latin typeface="微软雅黑"/>
                <a:ea typeface="微软雅黑"/>
              </a:rPr>
              <a:t>随着流域内人类活动的增加和工农业的快速发展，水体富营养化问题日益突出，</a:t>
            </a:r>
            <a:r>
              <a:rPr lang="zh-CN" altLang="en-US" b="1" dirty="0">
                <a:solidFill>
                  <a:schemeClr val="tx2"/>
                </a:solidFill>
                <a:latin typeface="微软雅黑"/>
                <a:ea typeface="微软雅黑"/>
              </a:rPr>
              <a:t>水华暴发</a:t>
            </a:r>
            <a:r>
              <a:rPr lang="zh-CN" altLang="en-US" b="1" dirty="0">
                <a:solidFill>
                  <a:prstClr val="black"/>
                </a:solidFill>
                <a:latin typeface="微软雅黑"/>
                <a:ea typeface="微软雅黑"/>
              </a:rPr>
              <a:t>现象频繁发生，对当地生态系统和居民生活造成了严重影响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316652A-0218-4754-8677-8219B2FD32D1}"/>
              </a:ext>
            </a:extLst>
          </p:cNvPr>
          <p:cNvSpPr txBox="1"/>
          <p:nvPr/>
        </p:nvSpPr>
        <p:spPr>
          <a:xfrm>
            <a:off x="4238260" y="2498150"/>
            <a:ext cx="7660931" cy="416524"/>
          </a:xfrm>
          <a:prstGeom prst="rect">
            <a:avLst/>
          </a:prstGeom>
          <a:solidFill>
            <a:srgbClr val="70AD47">
              <a:lumMod val="40000"/>
              <a:lumOff val="60000"/>
              <a:alpha val="41000"/>
            </a:srgbClr>
          </a:solidFill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square" rtlCol="0">
            <a:spAutoFit/>
          </a:bodyPr>
          <a:lstStyle>
            <a:defPPr>
              <a:defRPr lang="zh-CN"/>
            </a:defPPr>
            <a:lvl1pPr marL="457200" marR="0" lvl="0" indent="-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"/>
              <a:tabLst/>
              <a:defRPr kumimoji="0" sz="2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4572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九州江下游（广西段）研究区域图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9B40504-6A9C-4B82-A989-A93BD684A587}"/>
              </a:ext>
            </a:extLst>
          </p:cNvPr>
          <p:cNvSpPr txBox="1"/>
          <p:nvPr/>
        </p:nvSpPr>
        <p:spPr>
          <a:xfrm>
            <a:off x="253338" y="4796306"/>
            <a:ext cx="3743308" cy="1857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dirty="0"/>
              <a:t>深入研究九洲江下游（广西段）水华暴发的</a:t>
            </a:r>
            <a:r>
              <a:rPr lang="zh-CN" altLang="en-US" b="1" dirty="0">
                <a:solidFill>
                  <a:srgbClr val="C00000"/>
                </a:solidFill>
              </a:rPr>
              <a:t>时空变化特征</a:t>
            </a:r>
            <a:r>
              <a:rPr lang="zh-CN" altLang="en-US" b="1" dirty="0"/>
              <a:t>及其主要</a:t>
            </a:r>
            <a:r>
              <a:rPr lang="zh-CN" altLang="en-US" b="1" dirty="0">
                <a:solidFill>
                  <a:srgbClr val="C00000"/>
                </a:solidFill>
              </a:rPr>
              <a:t>影响因子</a:t>
            </a:r>
            <a:r>
              <a:rPr lang="zh-CN" altLang="en-US" b="1" dirty="0"/>
              <a:t>，对于制定有效的水华防控措施、保护流域生态环境具有重要意义。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3014AE0-CB31-44DD-AE2C-57C67CB3F60D}"/>
              </a:ext>
            </a:extLst>
          </p:cNvPr>
          <p:cNvSpPr txBox="1">
            <a:spLocks/>
          </p:cNvSpPr>
          <p:nvPr/>
        </p:nvSpPr>
        <p:spPr>
          <a:xfrm>
            <a:off x="1233419" y="4516522"/>
            <a:ext cx="1783080" cy="368300"/>
          </a:xfrm>
          <a:prstGeom prst="rect">
            <a:avLst/>
          </a:prstGeom>
          <a:gradFill flip="none" rotWithShape="1">
            <a:gsLst>
              <a:gs pos="0">
                <a:srgbClr val="FFC000">
                  <a:lumMod val="10000"/>
                  <a:lumOff val="90000"/>
                </a:srgbClr>
              </a:gs>
              <a:gs pos="100000">
                <a:srgbClr val="FFC000">
                  <a:lumMod val="50000"/>
                  <a:lumOff val="50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>
            <a:defPPr>
              <a:defRPr lang="zh-CN"/>
            </a:defPPr>
            <a:lvl1pPr algn="ctr" defTabSz="685800">
              <a:defRPr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研究意义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E3CD9A-2890-29E0-B4A1-694F6DC81F5B}"/>
              </a:ext>
            </a:extLst>
          </p:cNvPr>
          <p:cNvSpPr txBox="1">
            <a:spLocks/>
          </p:cNvSpPr>
          <p:nvPr/>
        </p:nvSpPr>
        <p:spPr>
          <a:xfrm>
            <a:off x="1233419" y="2116886"/>
            <a:ext cx="1783080" cy="368300"/>
          </a:xfrm>
          <a:prstGeom prst="rect">
            <a:avLst/>
          </a:prstGeom>
          <a:gradFill flip="none" rotWithShape="1">
            <a:gsLst>
              <a:gs pos="0">
                <a:srgbClr val="FFC000">
                  <a:lumMod val="10000"/>
                  <a:lumOff val="90000"/>
                </a:srgbClr>
              </a:gs>
              <a:gs pos="100000">
                <a:srgbClr val="FFC000">
                  <a:lumMod val="50000"/>
                  <a:lumOff val="50000"/>
                </a:srgbClr>
              </a:gs>
            </a:gsLst>
            <a:lin ang="5400000" scaled="1"/>
            <a:tileRect/>
          </a:gra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>
            <a:noAutofit/>
          </a:bodyPr>
          <a:lstStyle>
            <a:defPPr>
              <a:defRPr lang="zh-CN"/>
            </a:defPPr>
            <a:lvl1pPr algn="ctr" defTabSz="685800">
              <a:defRPr sz="260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存在问题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528DAF-86A0-94B9-D268-A9C8950E8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260" y="2914674"/>
            <a:ext cx="7655624" cy="373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21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>
            <a:extLst>
              <a:ext uri="{FF2B5EF4-FFF2-40B4-BE49-F238E27FC236}">
                <a16:creationId xmlns:a16="http://schemas.microsoft.com/office/drawing/2014/main" id="{EAC27C75-9878-4AF1-BD21-EDA5BAEF50FF}"/>
              </a:ext>
            </a:extLst>
          </p:cNvPr>
          <p:cNvSpPr txBox="1"/>
          <p:nvPr/>
        </p:nvSpPr>
        <p:spPr>
          <a:xfrm>
            <a:off x="298115" y="944284"/>
            <a:ext cx="11595769" cy="108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57200" marR="0" lvl="0" indent="-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"/>
              <a:tabLst/>
              <a:defRPr kumimoji="0" sz="2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</a:rPr>
              <a:t>EFDC</a:t>
            </a:r>
            <a:r>
              <a:rPr lang="zh-CN" altLang="en-US" dirty="0">
                <a:solidFill>
                  <a:srgbClr val="C00000"/>
                </a:solidFill>
              </a:rPr>
              <a:t>模型</a:t>
            </a:r>
            <a:r>
              <a:rPr lang="zh-CN" altLang="en-US" dirty="0">
                <a:solidFill>
                  <a:schemeClr val="tx1"/>
                </a:solidFill>
              </a:rPr>
              <a:t>作为一种先进的</a:t>
            </a:r>
            <a:r>
              <a:rPr lang="zh-CN" altLang="en-US" dirty="0">
                <a:solidFill>
                  <a:schemeClr val="tx2"/>
                </a:solidFill>
              </a:rPr>
              <a:t>水动力水质模型</a:t>
            </a:r>
            <a:r>
              <a:rPr lang="zh-CN" altLang="en-US" dirty="0">
                <a:solidFill>
                  <a:schemeClr val="tx1"/>
                </a:solidFill>
              </a:rPr>
              <a:t>，可以更全面、深入地了解水华暴发的时空变化特征及其驱动因素。</a:t>
            </a:r>
          </a:p>
        </p:txBody>
      </p:sp>
      <p:sp>
        <p:nvSpPr>
          <p:cNvPr id="35" name="灯片编号占位符 3">
            <a:extLst>
              <a:ext uri="{FF2B5EF4-FFF2-40B4-BE49-F238E27FC236}">
                <a16:creationId xmlns:a16="http://schemas.microsoft.com/office/drawing/2014/main" id="{4E13C9AD-C81E-4EE3-B9EC-34FF68A841E2}"/>
              </a:ext>
            </a:extLst>
          </p:cNvPr>
          <p:cNvSpPr txBox="1">
            <a:spLocks/>
          </p:cNvSpPr>
          <p:nvPr/>
        </p:nvSpPr>
        <p:spPr>
          <a:xfrm>
            <a:off x="9282546" y="10806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24612B-083E-42A1-A722-547198ACFF6B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118B07D-E2F7-41D4-BCBE-7D670F4A3580}"/>
              </a:ext>
            </a:extLst>
          </p:cNvPr>
          <p:cNvSpPr txBox="1"/>
          <p:nvPr/>
        </p:nvSpPr>
        <p:spPr>
          <a:xfrm>
            <a:off x="1061389" y="-67577"/>
            <a:ext cx="5233246" cy="7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4800" b="1">
                <a:gradFill>
                  <a:gsLst>
                    <a:gs pos="100000">
                      <a:srgbClr val="026EBB"/>
                    </a:gs>
                    <a:gs pos="0">
                      <a:srgbClr val="038EDB"/>
                    </a:gs>
                  </a:gsLst>
                  <a:lin ang="0" scaled="1"/>
                </a:gradFill>
                <a:latin typeface="Eras Bold ITC" panose="020B0907030504020204" pitchFamily="34" charset="0"/>
                <a:ea typeface="思源黑体 CN Medium" panose="020B0600000000000000" pitchFamily="34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571500" marR="0" lvl="0" indent="-571500" algn="l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3800" b="1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 </a:t>
            </a: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模型应用背景</a:t>
            </a:r>
          </a:p>
        </p:txBody>
      </p:sp>
      <p:sp>
        <p:nvSpPr>
          <p:cNvPr id="38" name="平行四边形 37">
            <a:extLst>
              <a:ext uri="{FF2B5EF4-FFF2-40B4-BE49-F238E27FC236}">
                <a16:creationId xmlns:a16="http://schemas.microsoft.com/office/drawing/2014/main" id="{9237FECA-4EA3-4697-B699-84730BAE8B10}"/>
              </a:ext>
            </a:extLst>
          </p:cNvPr>
          <p:cNvSpPr/>
          <p:nvPr/>
        </p:nvSpPr>
        <p:spPr>
          <a:xfrm rot="10800000">
            <a:off x="566665" y="775626"/>
            <a:ext cx="2787949" cy="95817"/>
          </a:xfrm>
          <a:prstGeom prst="parallelogram">
            <a:avLst>
              <a:gd name="adj" fmla="val 196700"/>
            </a:avLst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845614F-7241-4DB3-9BE0-9960246D59D7}"/>
              </a:ext>
            </a:extLst>
          </p:cNvPr>
          <p:cNvGrpSpPr/>
          <p:nvPr/>
        </p:nvGrpSpPr>
        <p:grpSpPr>
          <a:xfrm>
            <a:off x="-53106" y="0"/>
            <a:ext cx="963271" cy="1033814"/>
            <a:chOff x="-51603" y="0"/>
            <a:chExt cx="1084083" cy="1219009"/>
          </a:xfrm>
        </p:grpSpPr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A1BDF8D0-A1CC-4209-B8DF-D36E34D6C3AC}"/>
                </a:ext>
              </a:extLst>
            </p:cNvPr>
            <p:cNvSpPr/>
            <p:nvPr/>
          </p:nvSpPr>
          <p:spPr bwMode="auto">
            <a:xfrm>
              <a:off x="3290" y="132030"/>
              <a:ext cx="974299" cy="1086979"/>
            </a:xfrm>
            <a:custGeom>
              <a:avLst/>
              <a:gdLst>
                <a:gd name="T0" fmla="*/ 0 w 529"/>
                <a:gd name="T1" fmla="*/ 0 h 915"/>
                <a:gd name="T2" fmla="*/ 490 w 529"/>
                <a:gd name="T3" fmla="*/ 399 h 915"/>
                <a:gd name="T4" fmla="*/ 490 w 529"/>
                <a:gd name="T5" fmla="*/ 516 h 915"/>
                <a:gd name="T6" fmla="*/ 0 w 529"/>
                <a:gd name="T7" fmla="*/ 915 h 915"/>
                <a:gd name="T8" fmla="*/ 0 w 529"/>
                <a:gd name="T9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915">
                  <a:moveTo>
                    <a:pt x="0" y="0"/>
                  </a:moveTo>
                  <a:lnTo>
                    <a:pt x="490" y="399"/>
                  </a:lnTo>
                  <a:cubicBezTo>
                    <a:pt x="529" y="431"/>
                    <a:pt x="529" y="484"/>
                    <a:pt x="490" y="516"/>
                  </a:cubicBezTo>
                  <a:lnTo>
                    <a:pt x="0" y="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B8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DE0E586D-84DD-4F85-8A67-93CFE0890111}"/>
                </a:ext>
              </a:extLst>
            </p:cNvPr>
            <p:cNvSpPr/>
            <p:nvPr/>
          </p:nvSpPr>
          <p:spPr bwMode="auto">
            <a:xfrm>
              <a:off x="3290" y="0"/>
              <a:ext cx="974299" cy="1086979"/>
            </a:xfrm>
            <a:custGeom>
              <a:avLst/>
              <a:gdLst>
                <a:gd name="T0" fmla="*/ 0 w 560"/>
                <a:gd name="T1" fmla="*/ 0 h 973"/>
                <a:gd name="T2" fmla="*/ 516 w 560"/>
                <a:gd name="T3" fmla="*/ 420 h 973"/>
                <a:gd name="T4" fmla="*/ 516 w 560"/>
                <a:gd name="T5" fmla="*/ 552 h 973"/>
                <a:gd name="T6" fmla="*/ 0 w 560"/>
                <a:gd name="T7" fmla="*/ 973 h 973"/>
                <a:gd name="T8" fmla="*/ 0 w 560"/>
                <a:gd name="T9" fmla="*/ 0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0" h="973">
                  <a:moveTo>
                    <a:pt x="0" y="0"/>
                  </a:moveTo>
                  <a:lnTo>
                    <a:pt x="516" y="420"/>
                  </a:lnTo>
                  <a:cubicBezTo>
                    <a:pt x="560" y="457"/>
                    <a:pt x="560" y="516"/>
                    <a:pt x="516" y="552"/>
                  </a:cubicBezTo>
                  <a:lnTo>
                    <a:pt x="0" y="9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B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D277C01-E6B7-43ED-A530-CA7B9A8586F1}"/>
                </a:ext>
              </a:extLst>
            </p:cNvPr>
            <p:cNvSpPr txBox="1"/>
            <p:nvPr/>
          </p:nvSpPr>
          <p:spPr>
            <a:xfrm>
              <a:off x="-51603" y="146972"/>
              <a:ext cx="1084083" cy="689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3200" b="1" dirty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二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43" name="平行四边形 42">
            <a:extLst>
              <a:ext uri="{FF2B5EF4-FFF2-40B4-BE49-F238E27FC236}">
                <a16:creationId xmlns:a16="http://schemas.microsoft.com/office/drawing/2014/main" id="{EE906314-E1D9-4315-8673-A4C33AFAC90F}"/>
              </a:ext>
            </a:extLst>
          </p:cNvPr>
          <p:cNvSpPr/>
          <p:nvPr/>
        </p:nvSpPr>
        <p:spPr>
          <a:xfrm rot="10800000">
            <a:off x="3320143" y="775627"/>
            <a:ext cx="8868566" cy="90674"/>
          </a:xfrm>
          <a:prstGeom prst="parallelogram">
            <a:avLst>
              <a:gd name="adj" fmla="val 196700"/>
            </a:avLst>
          </a:prstGeom>
          <a:solidFill>
            <a:srgbClr val="69B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98F8817-35EA-6461-8FD6-D5DC887A29E0}"/>
              </a:ext>
            </a:extLst>
          </p:cNvPr>
          <p:cNvGrpSpPr/>
          <p:nvPr/>
        </p:nvGrpSpPr>
        <p:grpSpPr>
          <a:xfrm>
            <a:off x="825395" y="4259541"/>
            <a:ext cx="10799940" cy="2075368"/>
            <a:chOff x="825395" y="4912685"/>
            <a:chExt cx="10799940" cy="2075368"/>
          </a:xfrm>
        </p:grpSpPr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8E54701-BCB8-4FFD-8CFD-BDFD31AC4A34}"/>
                </a:ext>
              </a:extLst>
            </p:cNvPr>
            <p:cNvSpPr txBox="1">
              <a:spLocks/>
            </p:cNvSpPr>
            <p:nvPr/>
          </p:nvSpPr>
          <p:spPr>
            <a:xfrm>
              <a:off x="825395" y="4912685"/>
              <a:ext cx="10799940" cy="2075367"/>
            </a:xfrm>
            <a:prstGeom prst="rect">
              <a:avLst/>
            </a:prstGeom>
            <a:solidFill>
              <a:srgbClr val="C1A4CD">
                <a:alpha val="44000"/>
              </a:srgbClr>
            </a:solidFill>
            <a:ln w="3175">
              <a:solidFill>
                <a:schemeClr val="bg1"/>
              </a:solidFill>
            </a:ln>
          </p:spPr>
          <p:txBody>
            <a:bodyPr wrap="square" rtlCol="0" anchor="ctr" anchorCtr="1">
              <a:noAutofit/>
            </a:bodyPr>
            <a:lstStyle>
              <a:defPPr>
                <a:defRPr lang="zh-CN"/>
              </a:defPPr>
              <a:lvl1pPr algn="ctr">
                <a:defRPr b="1" kern="0">
                  <a:solidFill>
                    <a:srgbClr val="003F88"/>
                  </a:solidFill>
                  <a:latin typeface="微软雅黑" pitchFamily="34" charset="-122"/>
                  <a:ea typeface="微软雅黑" pitchFamily="34" charset="-122"/>
                </a:defRPr>
              </a:lvl1pPr>
            </a:lstStyle>
            <a:p>
              <a:endPara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790A6C9-94EC-4DDF-B62E-FA60743AFC66}"/>
                </a:ext>
              </a:extLst>
            </p:cNvPr>
            <p:cNvSpPr txBox="1"/>
            <p:nvPr/>
          </p:nvSpPr>
          <p:spPr>
            <a:xfrm>
              <a:off x="861391" y="5022002"/>
              <a:ext cx="10763944" cy="19660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en-US" altLang="zh-CN" sz="2400" b="1" dirty="0">
                  <a:solidFill>
                    <a:prstClr val="black"/>
                  </a:solidFill>
                  <a:latin typeface="微软雅黑"/>
                  <a:ea typeface="微软雅黑"/>
                </a:rPr>
                <a:t>EFDC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/>
                  <a:ea typeface="微软雅黑"/>
                </a:rPr>
                <a:t>模型的优势 ：</a:t>
              </a:r>
              <a:r>
                <a:rPr lang="en-US" altLang="zh-CN" sz="2400" b="1" dirty="0">
                  <a:solidFill>
                    <a:prstClr val="black"/>
                  </a:solidFill>
                  <a:latin typeface="微软雅黑"/>
                  <a:ea typeface="微软雅黑"/>
                </a:rPr>
                <a:t>EFDC 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/>
                  <a:ea typeface="微软雅黑"/>
                </a:rPr>
                <a:t>模型是一个开源、适用性强的水环境模型，包括水动力、水质、泥沙运输等模块，被广泛应用于河流、湖泊、海湾、水库等地表水模拟分析，可以模拟</a:t>
              </a:r>
              <a:r>
                <a:rPr lang="zh-CN" altLang="en-US" sz="2400" b="1" dirty="0">
                  <a:solidFill>
                    <a:schemeClr val="tx2"/>
                  </a:solidFill>
                  <a:latin typeface="微软雅黑"/>
                  <a:ea typeface="微软雅黑"/>
                </a:rPr>
                <a:t>污染负荷与水质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/>
                  <a:ea typeface="微软雅黑"/>
                </a:rPr>
                <a:t>之间的响应关系，为水华暴发的</a:t>
              </a:r>
              <a:r>
                <a:rPr lang="zh-CN" altLang="en-US" sz="2400" b="1" dirty="0">
                  <a:solidFill>
                    <a:schemeClr val="tx2"/>
                  </a:solidFill>
                  <a:latin typeface="微软雅黑"/>
                  <a:ea typeface="微软雅黑"/>
                </a:rPr>
                <a:t>影响因子</a:t>
              </a:r>
              <a:r>
                <a:rPr lang="zh-CN" altLang="en-US" sz="2400" b="1" dirty="0">
                  <a:solidFill>
                    <a:prstClr val="black"/>
                  </a:solidFill>
                  <a:latin typeface="微软雅黑"/>
                  <a:ea typeface="微软雅黑"/>
                </a:rPr>
                <a:t>分析提供了全面而详细的数据支持。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96DC672-F6D5-40D5-BB5D-F7337FEA40FE}"/>
              </a:ext>
            </a:extLst>
          </p:cNvPr>
          <p:cNvSpPr txBox="1"/>
          <p:nvPr/>
        </p:nvSpPr>
        <p:spPr>
          <a:xfrm>
            <a:off x="825394" y="2454117"/>
            <a:ext cx="10799941" cy="1688860"/>
          </a:xfrm>
          <a:prstGeom prst="rect">
            <a:avLst/>
          </a:prstGeom>
          <a:gradFill>
            <a:gsLst>
              <a:gs pos="0">
                <a:srgbClr val="1A76DC">
                  <a:lumMod val="15000"/>
                  <a:lumOff val="85000"/>
                </a:srgbClr>
              </a:gs>
              <a:gs pos="100000">
                <a:sysClr val="window" lastClr="FFFFFF"/>
              </a:gs>
            </a:gsLst>
            <a:lin ang="5400000" scaled="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spAutoFit/>
          </a:bodyPr>
          <a:lstStyle/>
          <a:p>
            <a:pPr algn="just" defTabSz="387350">
              <a:lnSpc>
                <a:spcPct val="150000"/>
              </a:lnSpc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水环境模拟需求 ：在研究水华暴发的影响因素时，需要对水体的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富营养化过程、水动力条件以及水质变化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进行综合模拟，以便深入了解水华发生的机制和关键驱动因素</a:t>
            </a:r>
            <a:endParaRPr lang="zh-CN" altLang="en-US" sz="2400" b="1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39C5CA2-FA87-4A27-A1CD-3A57929A30F1}"/>
              </a:ext>
            </a:extLst>
          </p:cNvPr>
          <p:cNvSpPr/>
          <p:nvPr/>
        </p:nvSpPr>
        <p:spPr>
          <a:xfrm>
            <a:off x="566664" y="2325051"/>
            <a:ext cx="11327220" cy="4178487"/>
          </a:xfrm>
          <a:prstGeom prst="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1487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9F0F0-0964-F721-2318-F6907A00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707D71F-79E9-A6AC-EFAF-4EC9247A613E}"/>
              </a:ext>
            </a:extLst>
          </p:cNvPr>
          <p:cNvSpPr/>
          <p:nvPr/>
        </p:nvSpPr>
        <p:spPr>
          <a:xfrm>
            <a:off x="-2226" y="-1"/>
            <a:ext cx="2521894" cy="6857329"/>
          </a:xfrm>
          <a:prstGeom prst="rect">
            <a:avLst/>
          </a:prstGeom>
          <a:gradFill>
            <a:gsLst>
              <a:gs pos="0">
                <a:srgbClr val="142756"/>
              </a:gs>
              <a:gs pos="100000">
                <a:srgbClr val="2E5DA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4" name="圆角矩形 33">
            <a:extLst>
              <a:ext uri="{FF2B5EF4-FFF2-40B4-BE49-F238E27FC236}">
                <a16:creationId xmlns:a16="http://schemas.microsoft.com/office/drawing/2014/main" id="{2E3F86B5-4FFA-DEF4-465F-127E7FD54517}"/>
              </a:ext>
            </a:extLst>
          </p:cNvPr>
          <p:cNvSpPr/>
          <p:nvPr/>
        </p:nvSpPr>
        <p:spPr>
          <a:xfrm>
            <a:off x="756025" y="1993900"/>
            <a:ext cx="1156306" cy="2870200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CDFD7A7-DC0F-A698-3C68-AADF7730D982}"/>
              </a:ext>
            </a:extLst>
          </p:cNvPr>
          <p:cNvSpPr txBox="1"/>
          <p:nvPr/>
        </p:nvSpPr>
        <p:spPr>
          <a:xfrm>
            <a:off x="964846" y="2286380"/>
            <a:ext cx="738664" cy="228524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汇 报 内 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3ECFDD-49D1-5C72-B24E-A122E060C3C1}"/>
              </a:ext>
            </a:extLst>
          </p:cNvPr>
          <p:cNvSpPr>
            <a:spLocks/>
          </p:cNvSpPr>
          <p:nvPr/>
        </p:nvSpPr>
        <p:spPr>
          <a:xfrm>
            <a:off x="4398346" y="835941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57175">
              <a:defRPr/>
            </a:pPr>
            <a:r>
              <a:rPr kumimoji="1" lang="en-US" altLang="zh-CN" sz="3600" b="1" kern="0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EFDC</a:t>
            </a:r>
            <a:r>
              <a:rPr kumimoji="1" lang="zh-CN" altLang="en-US" sz="3600" b="1" kern="0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模型基本概念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BED7CB-B3A0-E2A2-75EC-4BBD611927FA}"/>
              </a:ext>
            </a:extLst>
          </p:cNvPr>
          <p:cNvSpPr/>
          <p:nvPr/>
        </p:nvSpPr>
        <p:spPr>
          <a:xfrm>
            <a:off x="4340479" y="714989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6D22011-C654-1794-A71B-2E8F65498647}"/>
              </a:ext>
            </a:extLst>
          </p:cNvPr>
          <p:cNvSpPr/>
          <p:nvPr/>
        </p:nvSpPr>
        <p:spPr>
          <a:xfrm>
            <a:off x="3491889" y="716881"/>
            <a:ext cx="906457" cy="871365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E1EE66-5924-CD39-A0DA-DD1C7B78FF34}"/>
              </a:ext>
            </a:extLst>
          </p:cNvPr>
          <p:cNvSpPr/>
          <p:nvPr/>
        </p:nvSpPr>
        <p:spPr>
          <a:xfrm>
            <a:off x="3606962" y="816941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1BA5F0-6A6D-A015-A2E9-E3F5C9A0C331}"/>
              </a:ext>
            </a:extLst>
          </p:cNvPr>
          <p:cNvSpPr>
            <a:spLocks/>
          </p:cNvSpPr>
          <p:nvPr/>
        </p:nvSpPr>
        <p:spPr>
          <a:xfrm>
            <a:off x="4417997" y="2380268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</a:t>
            </a:r>
            <a:r>
              <a:rPr lang="zh-CN" altLang="en-US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模型应用背景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37A854-1477-563D-8AA5-BEA88B1D6117}"/>
              </a:ext>
            </a:extLst>
          </p:cNvPr>
          <p:cNvSpPr/>
          <p:nvPr/>
        </p:nvSpPr>
        <p:spPr>
          <a:xfrm>
            <a:off x="4340479" y="2249440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7AC65E3-751D-9ADE-1471-558E36D4A22E}"/>
              </a:ext>
            </a:extLst>
          </p:cNvPr>
          <p:cNvSpPr/>
          <p:nvPr/>
        </p:nvSpPr>
        <p:spPr>
          <a:xfrm>
            <a:off x="3491889" y="2249440"/>
            <a:ext cx="906457" cy="873258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7D35D64-1295-B7E8-FC6F-5969112CA5F6}"/>
              </a:ext>
            </a:extLst>
          </p:cNvPr>
          <p:cNvSpPr/>
          <p:nvPr/>
        </p:nvSpPr>
        <p:spPr>
          <a:xfrm>
            <a:off x="3606962" y="2351392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9D12A0A-0888-D996-11CB-4801308B3AE6}"/>
              </a:ext>
            </a:extLst>
          </p:cNvPr>
          <p:cNvSpPr>
            <a:spLocks/>
          </p:cNvSpPr>
          <p:nvPr/>
        </p:nvSpPr>
        <p:spPr>
          <a:xfrm>
            <a:off x="4418353" y="5390281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结果与结论</a:t>
            </a:r>
            <a:endParaRPr lang="zh-CN" altLang="en-US" sz="2800" b="1" dirty="0">
              <a:solidFill>
                <a:srgbClr val="0F4995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6D9F5CB-489B-C974-C3CA-7B1D9D7378AD}"/>
              </a:ext>
            </a:extLst>
          </p:cNvPr>
          <p:cNvSpPr/>
          <p:nvPr/>
        </p:nvSpPr>
        <p:spPr>
          <a:xfrm>
            <a:off x="4340479" y="5269078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C0F25D3-5843-79BE-F702-6D201B52C467}"/>
              </a:ext>
            </a:extLst>
          </p:cNvPr>
          <p:cNvSpPr/>
          <p:nvPr/>
        </p:nvSpPr>
        <p:spPr>
          <a:xfrm>
            <a:off x="3491889" y="5270970"/>
            <a:ext cx="906457" cy="871365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EF28AD2-D3DB-FA34-B9E0-E33D4A7D7A25}"/>
              </a:ext>
            </a:extLst>
          </p:cNvPr>
          <p:cNvSpPr/>
          <p:nvPr/>
        </p:nvSpPr>
        <p:spPr>
          <a:xfrm>
            <a:off x="3606962" y="5371030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四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F8FF951-7CEA-A646-4D18-8175238FC991}"/>
              </a:ext>
            </a:extLst>
          </p:cNvPr>
          <p:cNvSpPr>
            <a:spLocks/>
          </p:cNvSpPr>
          <p:nvPr/>
        </p:nvSpPr>
        <p:spPr>
          <a:xfrm>
            <a:off x="4415507" y="3879517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</a:t>
            </a:r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模型应用方式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AB14E6F-B3A9-F67C-72E7-24A6E1575A03}"/>
              </a:ext>
            </a:extLst>
          </p:cNvPr>
          <p:cNvSpPr/>
          <p:nvPr/>
        </p:nvSpPr>
        <p:spPr>
          <a:xfrm>
            <a:off x="4340479" y="3758314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1D79DA4-80BA-DED9-FDAA-E5622F60308F}"/>
              </a:ext>
            </a:extLst>
          </p:cNvPr>
          <p:cNvSpPr/>
          <p:nvPr/>
        </p:nvSpPr>
        <p:spPr>
          <a:xfrm>
            <a:off x="3491889" y="3758314"/>
            <a:ext cx="906457" cy="873258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89E26B1-1A70-63A4-F162-3A6AB71F6CC5}"/>
              </a:ext>
            </a:extLst>
          </p:cNvPr>
          <p:cNvSpPr/>
          <p:nvPr/>
        </p:nvSpPr>
        <p:spPr>
          <a:xfrm>
            <a:off x="3606962" y="3860266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三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21C2962-71CD-E23B-D2FF-0EB98AAD7AC8}"/>
              </a:ext>
            </a:extLst>
          </p:cNvPr>
          <p:cNvSpPr/>
          <p:nvPr/>
        </p:nvSpPr>
        <p:spPr>
          <a:xfrm>
            <a:off x="3161214" y="5021066"/>
            <a:ext cx="8274761" cy="134818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B04630-5A65-97C6-34F3-CC7CB2AB6D6F}"/>
              </a:ext>
            </a:extLst>
          </p:cNvPr>
          <p:cNvSpPr/>
          <p:nvPr/>
        </p:nvSpPr>
        <p:spPr>
          <a:xfrm>
            <a:off x="3161214" y="324382"/>
            <a:ext cx="8274761" cy="2947099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32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46">
            <a:extLst>
              <a:ext uri="{FF2B5EF4-FFF2-40B4-BE49-F238E27FC236}">
                <a16:creationId xmlns:a16="http://schemas.microsoft.com/office/drawing/2014/main" id="{B5D69125-52DD-4C66-9819-4BFF5EC7AC17}"/>
              </a:ext>
            </a:extLst>
          </p:cNvPr>
          <p:cNvSpPr txBox="1"/>
          <p:nvPr/>
        </p:nvSpPr>
        <p:spPr>
          <a:xfrm>
            <a:off x="566665" y="5562115"/>
            <a:ext cx="10882862" cy="731625"/>
          </a:xfrm>
          <a:prstGeom prst="rect">
            <a:avLst/>
          </a:prstGeom>
          <a:gradFill flip="none" rotWithShape="1">
            <a:gsLst>
              <a:gs pos="100000">
                <a:srgbClr val="FFC000">
                  <a:lumMod val="40000"/>
                  <a:lumOff val="60000"/>
                </a:srgbClr>
              </a:gs>
              <a:gs pos="0">
                <a:srgbClr val="FFC000">
                  <a:lumMod val="20000"/>
                  <a:lumOff val="80000"/>
                </a:srgbClr>
              </a:gs>
            </a:gsLst>
            <a:lin ang="5400000" scaled="1"/>
            <a:tileRect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36000" tIns="45720" rIns="36000" bIns="45720" rtlCol="0" anchor="t">
            <a:noAutofit/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b="1" i="0" u="none" strike="noStrike" kern="0" cap="none" spc="0" normalizeH="0" baseline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800" dirty="0">
              <a:solidFill>
                <a:schemeClr val="tx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512EC4F-1DB1-4976-A62F-4C689314A58E}"/>
              </a:ext>
            </a:extLst>
          </p:cNvPr>
          <p:cNvSpPr txBox="1"/>
          <p:nvPr/>
        </p:nvSpPr>
        <p:spPr>
          <a:xfrm>
            <a:off x="497451" y="5727198"/>
            <a:ext cx="10952076" cy="407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利用构建好的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EFDC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模型，模拟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2020 - 2022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年九洲江下游（广西段）水华的形成和变化过程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AC27C75-9878-4AF1-BD21-EDA5BAEF50FF}"/>
              </a:ext>
            </a:extLst>
          </p:cNvPr>
          <p:cNvSpPr txBox="1"/>
          <p:nvPr/>
        </p:nvSpPr>
        <p:spPr>
          <a:xfrm>
            <a:off x="298115" y="944284"/>
            <a:ext cx="11595769" cy="56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57200" marR="0" lvl="0" indent="-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"/>
              <a:tabLst/>
              <a:defRPr kumimoji="0" sz="2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defRPr/>
            </a:pPr>
            <a:r>
              <a:rPr lang="zh-CN" altLang="en-US" dirty="0"/>
              <a:t>构建</a:t>
            </a:r>
            <a:r>
              <a:rPr lang="zh-CN" altLang="en-US" dirty="0">
                <a:solidFill>
                  <a:schemeClr val="tx2"/>
                </a:solidFill>
              </a:rPr>
              <a:t>九洲江下游（广西段）模型</a:t>
            </a:r>
          </a:p>
        </p:txBody>
      </p:sp>
      <p:sp>
        <p:nvSpPr>
          <p:cNvPr id="35" name="灯片编号占位符 3">
            <a:extLst>
              <a:ext uri="{FF2B5EF4-FFF2-40B4-BE49-F238E27FC236}">
                <a16:creationId xmlns:a16="http://schemas.microsoft.com/office/drawing/2014/main" id="{4E13C9AD-C81E-4EE3-B9EC-34FF68A841E2}"/>
              </a:ext>
            </a:extLst>
          </p:cNvPr>
          <p:cNvSpPr txBox="1">
            <a:spLocks/>
          </p:cNvSpPr>
          <p:nvPr/>
        </p:nvSpPr>
        <p:spPr>
          <a:xfrm>
            <a:off x="9282546" y="10806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24612B-083E-42A1-A722-547198ACFF6B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118B07D-E2F7-41D4-BCBE-7D670F4A3580}"/>
              </a:ext>
            </a:extLst>
          </p:cNvPr>
          <p:cNvSpPr txBox="1"/>
          <p:nvPr/>
        </p:nvSpPr>
        <p:spPr>
          <a:xfrm>
            <a:off x="1061389" y="-67577"/>
            <a:ext cx="5551681" cy="7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4800" b="1">
                <a:gradFill>
                  <a:gsLst>
                    <a:gs pos="100000">
                      <a:srgbClr val="026EBB"/>
                    </a:gs>
                    <a:gs pos="0">
                      <a:srgbClr val="038EDB"/>
                    </a:gs>
                  </a:gsLst>
                  <a:lin ang="0" scaled="1"/>
                </a:gradFill>
                <a:latin typeface="Eras Bold ITC" panose="020B0907030504020204" pitchFamily="34" charset="0"/>
                <a:ea typeface="思源黑体 CN Medium" panose="020B0600000000000000" pitchFamily="34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571500" marR="0" lvl="0" indent="-571500" algn="l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3800" b="1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</a:t>
            </a: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模型的应用方式</a:t>
            </a:r>
          </a:p>
        </p:txBody>
      </p:sp>
      <p:sp>
        <p:nvSpPr>
          <p:cNvPr id="38" name="平行四边形 37">
            <a:extLst>
              <a:ext uri="{FF2B5EF4-FFF2-40B4-BE49-F238E27FC236}">
                <a16:creationId xmlns:a16="http://schemas.microsoft.com/office/drawing/2014/main" id="{9237FECA-4EA3-4697-B699-84730BAE8B10}"/>
              </a:ext>
            </a:extLst>
          </p:cNvPr>
          <p:cNvSpPr/>
          <p:nvPr/>
        </p:nvSpPr>
        <p:spPr>
          <a:xfrm rot="10800000">
            <a:off x="566665" y="775626"/>
            <a:ext cx="2787949" cy="95817"/>
          </a:xfrm>
          <a:prstGeom prst="parallelogram">
            <a:avLst>
              <a:gd name="adj" fmla="val 196700"/>
            </a:avLst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845614F-7241-4DB3-9BE0-9960246D59D7}"/>
              </a:ext>
            </a:extLst>
          </p:cNvPr>
          <p:cNvGrpSpPr/>
          <p:nvPr/>
        </p:nvGrpSpPr>
        <p:grpSpPr>
          <a:xfrm>
            <a:off x="-53106" y="0"/>
            <a:ext cx="963271" cy="1033814"/>
            <a:chOff x="-51603" y="0"/>
            <a:chExt cx="1084083" cy="1219009"/>
          </a:xfrm>
        </p:grpSpPr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A1BDF8D0-A1CC-4209-B8DF-D36E34D6C3AC}"/>
                </a:ext>
              </a:extLst>
            </p:cNvPr>
            <p:cNvSpPr/>
            <p:nvPr/>
          </p:nvSpPr>
          <p:spPr bwMode="auto">
            <a:xfrm>
              <a:off x="3290" y="132030"/>
              <a:ext cx="974299" cy="1086979"/>
            </a:xfrm>
            <a:custGeom>
              <a:avLst/>
              <a:gdLst>
                <a:gd name="T0" fmla="*/ 0 w 529"/>
                <a:gd name="T1" fmla="*/ 0 h 915"/>
                <a:gd name="T2" fmla="*/ 490 w 529"/>
                <a:gd name="T3" fmla="*/ 399 h 915"/>
                <a:gd name="T4" fmla="*/ 490 w 529"/>
                <a:gd name="T5" fmla="*/ 516 h 915"/>
                <a:gd name="T6" fmla="*/ 0 w 529"/>
                <a:gd name="T7" fmla="*/ 915 h 915"/>
                <a:gd name="T8" fmla="*/ 0 w 529"/>
                <a:gd name="T9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915">
                  <a:moveTo>
                    <a:pt x="0" y="0"/>
                  </a:moveTo>
                  <a:lnTo>
                    <a:pt x="490" y="399"/>
                  </a:lnTo>
                  <a:cubicBezTo>
                    <a:pt x="529" y="431"/>
                    <a:pt x="529" y="484"/>
                    <a:pt x="490" y="516"/>
                  </a:cubicBezTo>
                  <a:lnTo>
                    <a:pt x="0" y="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B8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DE0E586D-84DD-4F85-8A67-93CFE0890111}"/>
                </a:ext>
              </a:extLst>
            </p:cNvPr>
            <p:cNvSpPr/>
            <p:nvPr/>
          </p:nvSpPr>
          <p:spPr bwMode="auto">
            <a:xfrm>
              <a:off x="3290" y="0"/>
              <a:ext cx="974299" cy="1086979"/>
            </a:xfrm>
            <a:custGeom>
              <a:avLst/>
              <a:gdLst>
                <a:gd name="T0" fmla="*/ 0 w 560"/>
                <a:gd name="T1" fmla="*/ 0 h 973"/>
                <a:gd name="T2" fmla="*/ 516 w 560"/>
                <a:gd name="T3" fmla="*/ 420 h 973"/>
                <a:gd name="T4" fmla="*/ 516 w 560"/>
                <a:gd name="T5" fmla="*/ 552 h 973"/>
                <a:gd name="T6" fmla="*/ 0 w 560"/>
                <a:gd name="T7" fmla="*/ 973 h 973"/>
                <a:gd name="T8" fmla="*/ 0 w 560"/>
                <a:gd name="T9" fmla="*/ 0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0" h="973">
                  <a:moveTo>
                    <a:pt x="0" y="0"/>
                  </a:moveTo>
                  <a:lnTo>
                    <a:pt x="516" y="420"/>
                  </a:lnTo>
                  <a:cubicBezTo>
                    <a:pt x="560" y="457"/>
                    <a:pt x="560" y="516"/>
                    <a:pt x="516" y="552"/>
                  </a:cubicBezTo>
                  <a:lnTo>
                    <a:pt x="0" y="9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B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D277C01-E6B7-43ED-A530-CA7B9A8586F1}"/>
                </a:ext>
              </a:extLst>
            </p:cNvPr>
            <p:cNvSpPr txBox="1"/>
            <p:nvPr/>
          </p:nvSpPr>
          <p:spPr>
            <a:xfrm>
              <a:off x="-51603" y="146972"/>
              <a:ext cx="1084083" cy="689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三</a:t>
              </a:r>
            </a:p>
          </p:txBody>
        </p:sp>
      </p:grpSp>
      <p:sp>
        <p:nvSpPr>
          <p:cNvPr id="43" name="平行四边形 42">
            <a:extLst>
              <a:ext uri="{FF2B5EF4-FFF2-40B4-BE49-F238E27FC236}">
                <a16:creationId xmlns:a16="http://schemas.microsoft.com/office/drawing/2014/main" id="{EE906314-E1D9-4315-8673-A4C33AFAC90F}"/>
              </a:ext>
            </a:extLst>
          </p:cNvPr>
          <p:cNvSpPr/>
          <p:nvPr/>
        </p:nvSpPr>
        <p:spPr>
          <a:xfrm rot="10800000">
            <a:off x="3320143" y="775627"/>
            <a:ext cx="8868566" cy="90674"/>
          </a:xfrm>
          <a:prstGeom prst="parallelogram">
            <a:avLst>
              <a:gd name="adj" fmla="val 196700"/>
            </a:avLst>
          </a:prstGeom>
          <a:solidFill>
            <a:srgbClr val="69B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8" name="箭头: 下 4">
            <a:extLst>
              <a:ext uri="{FF2B5EF4-FFF2-40B4-BE49-F238E27FC236}">
                <a16:creationId xmlns:a16="http://schemas.microsoft.com/office/drawing/2014/main" id="{530F889D-5F2E-444D-B27C-99E8E144F8B9}"/>
              </a:ext>
            </a:extLst>
          </p:cNvPr>
          <p:cNvSpPr/>
          <p:nvPr/>
        </p:nvSpPr>
        <p:spPr>
          <a:xfrm rot="21266343">
            <a:off x="1704739" y="2063118"/>
            <a:ext cx="465602" cy="1157224"/>
          </a:xfrm>
          <a:custGeom>
            <a:avLst/>
            <a:gdLst>
              <a:gd name="connsiteX0" fmla="*/ 0 w 740547"/>
              <a:gd name="connsiteY0" fmla="*/ 807425 h 1177698"/>
              <a:gd name="connsiteX1" fmla="*/ 185137 w 740547"/>
              <a:gd name="connsiteY1" fmla="*/ 807425 h 1177698"/>
              <a:gd name="connsiteX2" fmla="*/ 185137 w 740547"/>
              <a:gd name="connsiteY2" fmla="*/ 0 h 1177698"/>
              <a:gd name="connsiteX3" fmla="*/ 555410 w 740547"/>
              <a:gd name="connsiteY3" fmla="*/ 0 h 1177698"/>
              <a:gd name="connsiteX4" fmla="*/ 555410 w 740547"/>
              <a:gd name="connsiteY4" fmla="*/ 807425 h 1177698"/>
              <a:gd name="connsiteX5" fmla="*/ 740547 w 740547"/>
              <a:gd name="connsiteY5" fmla="*/ 807425 h 1177698"/>
              <a:gd name="connsiteX6" fmla="*/ 370274 w 740547"/>
              <a:gd name="connsiteY6" fmla="*/ 1177698 h 1177698"/>
              <a:gd name="connsiteX7" fmla="*/ 0 w 740547"/>
              <a:gd name="connsiteY7" fmla="*/ 807425 h 1177698"/>
              <a:gd name="connsiteX0-1" fmla="*/ 0 w 740547"/>
              <a:gd name="connsiteY0-2" fmla="*/ 923539 h 1293812"/>
              <a:gd name="connsiteX1-3" fmla="*/ 185137 w 740547"/>
              <a:gd name="connsiteY1-4" fmla="*/ 923539 h 1293812"/>
              <a:gd name="connsiteX2-5" fmla="*/ 185137 w 740547"/>
              <a:gd name="connsiteY2-6" fmla="*/ 116114 h 1293812"/>
              <a:gd name="connsiteX3-7" fmla="*/ 366724 w 740547"/>
              <a:gd name="connsiteY3-8" fmla="*/ 0 h 1293812"/>
              <a:gd name="connsiteX4-9" fmla="*/ 555410 w 740547"/>
              <a:gd name="connsiteY4-10" fmla="*/ 923539 h 1293812"/>
              <a:gd name="connsiteX5-11" fmla="*/ 740547 w 740547"/>
              <a:gd name="connsiteY5-12" fmla="*/ 923539 h 1293812"/>
              <a:gd name="connsiteX6-13" fmla="*/ 370274 w 740547"/>
              <a:gd name="connsiteY6-14" fmla="*/ 1293812 h 1293812"/>
              <a:gd name="connsiteX7-15" fmla="*/ 0 w 740547"/>
              <a:gd name="connsiteY7-16" fmla="*/ 923539 h 1293812"/>
              <a:gd name="connsiteX0-17" fmla="*/ 0 w 740547"/>
              <a:gd name="connsiteY0-18" fmla="*/ 947352 h 1317625"/>
              <a:gd name="connsiteX1-19" fmla="*/ 185137 w 740547"/>
              <a:gd name="connsiteY1-20" fmla="*/ 947352 h 1317625"/>
              <a:gd name="connsiteX2-21" fmla="*/ 185137 w 740547"/>
              <a:gd name="connsiteY2-22" fmla="*/ 139927 h 1317625"/>
              <a:gd name="connsiteX3-23" fmla="*/ 183368 w 740547"/>
              <a:gd name="connsiteY3-24" fmla="*/ 0 h 1317625"/>
              <a:gd name="connsiteX4-25" fmla="*/ 555410 w 740547"/>
              <a:gd name="connsiteY4-26" fmla="*/ 947352 h 1317625"/>
              <a:gd name="connsiteX5-27" fmla="*/ 740547 w 740547"/>
              <a:gd name="connsiteY5-28" fmla="*/ 947352 h 1317625"/>
              <a:gd name="connsiteX6-29" fmla="*/ 370274 w 740547"/>
              <a:gd name="connsiteY6-30" fmla="*/ 1317625 h 1317625"/>
              <a:gd name="connsiteX7-31" fmla="*/ 0 w 740547"/>
              <a:gd name="connsiteY7-32" fmla="*/ 947352 h 1317625"/>
              <a:gd name="connsiteX0-33" fmla="*/ 0 w 740547"/>
              <a:gd name="connsiteY0-34" fmla="*/ 947352 h 1317625"/>
              <a:gd name="connsiteX1-35" fmla="*/ 185137 w 740547"/>
              <a:gd name="connsiteY1-36" fmla="*/ 947352 h 1317625"/>
              <a:gd name="connsiteX2-37" fmla="*/ 185137 w 740547"/>
              <a:gd name="connsiteY2-38" fmla="*/ 139927 h 1317625"/>
              <a:gd name="connsiteX3-39" fmla="*/ 173843 w 740547"/>
              <a:gd name="connsiteY3-40" fmla="*/ 0 h 1317625"/>
              <a:gd name="connsiteX4-41" fmla="*/ 555410 w 740547"/>
              <a:gd name="connsiteY4-42" fmla="*/ 947352 h 1317625"/>
              <a:gd name="connsiteX5-43" fmla="*/ 740547 w 740547"/>
              <a:gd name="connsiteY5-44" fmla="*/ 947352 h 1317625"/>
              <a:gd name="connsiteX6-45" fmla="*/ 370274 w 740547"/>
              <a:gd name="connsiteY6-46" fmla="*/ 1317625 h 1317625"/>
              <a:gd name="connsiteX7-47" fmla="*/ 0 w 740547"/>
              <a:gd name="connsiteY7-48" fmla="*/ 947352 h 1317625"/>
              <a:gd name="connsiteX0-49" fmla="*/ 0 w 740547"/>
              <a:gd name="connsiteY0-50" fmla="*/ 947352 h 1317625"/>
              <a:gd name="connsiteX1-51" fmla="*/ 185137 w 740547"/>
              <a:gd name="connsiteY1-52" fmla="*/ 947352 h 1317625"/>
              <a:gd name="connsiteX2-53" fmla="*/ 185137 w 740547"/>
              <a:gd name="connsiteY2-54" fmla="*/ 139927 h 1317625"/>
              <a:gd name="connsiteX3-55" fmla="*/ 173843 w 740547"/>
              <a:gd name="connsiteY3-56" fmla="*/ 0 h 1317625"/>
              <a:gd name="connsiteX4-57" fmla="*/ 555410 w 740547"/>
              <a:gd name="connsiteY4-58" fmla="*/ 947352 h 1317625"/>
              <a:gd name="connsiteX5-59" fmla="*/ 740547 w 740547"/>
              <a:gd name="connsiteY5-60" fmla="*/ 947352 h 1317625"/>
              <a:gd name="connsiteX6-61" fmla="*/ 370274 w 740547"/>
              <a:gd name="connsiteY6-62" fmla="*/ 1317625 h 1317625"/>
              <a:gd name="connsiteX7-63" fmla="*/ 0 w 740547"/>
              <a:gd name="connsiteY7-64" fmla="*/ 947352 h 1317625"/>
              <a:gd name="connsiteX0-65" fmla="*/ 0 w 740547"/>
              <a:gd name="connsiteY0-66" fmla="*/ 947352 h 1317625"/>
              <a:gd name="connsiteX1-67" fmla="*/ 185137 w 740547"/>
              <a:gd name="connsiteY1-68" fmla="*/ 947352 h 1317625"/>
              <a:gd name="connsiteX2-69" fmla="*/ 185137 w 740547"/>
              <a:gd name="connsiteY2-70" fmla="*/ 139927 h 1317625"/>
              <a:gd name="connsiteX3-71" fmla="*/ 173843 w 740547"/>
              <a:gd name="connsiteY3-72" fmla="*/ 0 h 1317625"/>
              <a:gd name="connsiteX4-73" fmla="*/ 555410 w 740547"/>
              <a:gd name="connsiteY4-74" fmla="*/ 947352 h 1317625"/>
              <a:gd name="connsiteX5-75" fmla="*/ 740547 w 740547"/>
              <a:gd name="connsiteY5-76" fmla="*/ 947352 h 1317625"/>
              <a:gd name="connsiteX6-77" fmla="*/ 370274 w 740547"/>
              <a:gd name="connsiteY6-78" fmla="*/ 1317625 h 1317625"/>
              <a:gd name="connsiteX7-79" fmla="*/ 0 w 740547"/>
              <a:gd name="connsiteY7-80" fmla="*/ 947352 h 1317625"/>
              <a:gd name="connsiteX0-81" fmla="*/ 0 w 740547"/>
              <a:gd name="connsiteY0-82" fmla="*/ 947352 h 1317625"/>
              <a:gd name="connsiteX1-83" fmla="*/ 185137 w 740547"/>
              <a:gd name="connsiteY1-84" fmla="*/ 947352 h 1317625"/>
              <a:gd name="connsiteX2-85" fmla="*/ 185137 w 740547"/>
              <a:gd name="connsiteY2-86" fmla="*/ 139927 h 1317625"/>
              <a:gd name="connsiteX3-87" fmla="*/ 173843 w 740547"/>
              <a:gd name="connsiteY3-88" fmla="*/ 0 h 1317625"/>
              <a:gd name="connsiteX4-89" fmla="*/ 555410 w 740547"/>
              <a:gd name="connsiteY4-90" fmla="*/ 947352 h 1317625"/>
              <a:gd name="connsiteX5-91" fmla="*/ 740547 w 740547"/>
              <a:gd name="connsiteY5-92" fmla="*/ 947352 h 1317625"/>
              <a:gd name="connsiteX6-93" fmla="*/ 370274 w 740547"/>
              <a:gd name="connsiteY6-94" fmla="*/ 1317625 h 1317625"/>
              <a:gd name="connsiteX7-95" fmla="*/ 0 w 740547"/>
              <a:gd name="connsiteY7-96" fmla="*/ 947352 h 1317625"/>
              <a:gd name="connsiteX0-97" fmla="*/ 0 w 740547"/>
              <a:gd name="connsiteY0-98" fmla="*/ 947352 h 1317625"/>
              <a:gd name="connsiteX1-99" fmla="*/ 185137 w 740547"/>
              <a:gd name="connsiteY1-100" fmla="*/ 947352 h 1317625"/>
              <a:gd name="connsiteX2-101" fmla="*/ 185137 w 740547"/>
              <a:gd name="connsiteY2-102" fmla="*/ 139927 h 1317625"/>
              <a:gd name="connsiteX3-103" fmla="*/ 173843 w 740547"/>
              <a:gd name="connsiteY3-104" fmla="*/ 0 h 1317625"/>
              <a:gd name="connsiteX4-105" fmla="*/ 555410 w 740547"/>
              <a:gd name="connsiteY4-106" fmla="*/ 947352 h 1317625"/>
              <a:gd name="connsiteX5-107" fmla="*/ 740547 w 740547"/>
              <a:gd name="connsiteY5-108" fmla="*/ 947352 h 1317625"/>
              <a:gd name="connsiteX6-109" fmla="*/ 370274 w 740547"/>
              <a:gd name="connsiteY6-110" fmla="*/ 1317625 h 1317625"/>
              <a:gd name="connsiteX7-111" fmla="*/ 0 w 740547"/>
              <a:gd name="connsiteY7-112" fmla="*/ 947352 h 1317625"/>
              <a:gd name="connsiteX0-113" fmla="*/ 0 w 740547"/>
              <a:gd name="connsiteY0-114" fmla="*/ 947352 h 1317625"/>
              <a:gd name="connsiteX1-115" fmla="*/ 185137 w 740547"/>
              <a:gd name="connsiteY1-116" fmla="*/ 947352 h 1317625"/>
              <a:gd name="connsiteX2-117" fmla="*/ 185137 w 740547"/>
              <a:gd name="connsiteY2-118" fmla="*/ 139927 h 1317625"/>
              <a:gd name="connsiteX3-119" fmla="*/ 173843 w 740547"/>
              <a:gd name="connsiteY3-120" fmla="*/ 0 h 1317625"/>
              <a:gd name="connsiteX4-121" fmla="*/ 555410 w 740547"/>
              <a:gd name="connsiteY4-122" fmla="*/ 947352 h 1317625"/>
              <a:gd name="connsiteX5-123" fmla="*/ 740547 w 740547"/>
              <a:gd name="connsiteY5-124" fmla="*/ 947352 h 1317625"/>
              <a:gd name="connsiteX6-125" fmla="*/ 370274 w 740547"/>
              <a:gd name="connsiteY6-126" fmla="*/ 1317625 h 1317625"/>
              <a:gd name="connsiteX7-127" fmla="*/ 0 w 740547"/>
              <a:gd name="connsiteY7-128" fmla="*/ 947352 h 1317625"/>
              <a:gd name="connsiteX0-129" fmla="*/ 0 w 740547"/>
              <a:gd name="connsiteY0-130" fmla="*/ 947352 h 1317625"/>
              <a:gd name="connsiteX1-131" fmla="*/ 185137 w 740547"/>
              <a:gd name="connsiteY1-132" fmla="*/ 947352 h 1317625"/>
              <a:gd name="connsiteX2-133" fmla="*/ 185137 w 740547"/>
              <a:gd name="connsiteY2-134" fmla="*/ 139927 h 1317625"/>
              <a:gd name="connsiteX3-135" fmla="*/ 173843 w 740547"/>
              <a:gd name="connsiteY3-136" fmla="*/ 0 h 1317625"/>
              <a:gd name="connsiteX4-137" fmla="*/ 555410 w 740547"/>
              <a:gd name="connsiteY4-138" fmla="*/ 947352 h 1317625"/>
              <a:gd name="connsiteX5-139" fmla="*/ 740547 w 740547"/>
              <a:gd name="connsiteY5-140" fmla="*/ 947352 h 1317625"/>
              <a:gd name="connsiteX6-141" fmla="*/ 370274 w 740547"/>
              <a:gd name="connsiteY6-142" fmla="*/ 1317625 h 1317625"/>
              <a:gd name="connsiteX7-143" fmla="*/ 0 w 740547"/>
              <a:gd name="connsiteY7-144" fmla="*/ 947352 h 1317625"/>
              <a:gd name="connsiteX0-145" fmla="*/ 0 w 740547"/>
              <a:gd name="connsiteY0-146" fmla="*/ 947352 h 1317625"/>
              <a:gd name="connsiteX1-147" fmla="*/ 185137 w 740547"/>
              <a:gd name="connsiteY1-148" fmla="*/ 947352 h 1317625"/>
              <a:gd name="connsiteX2-149" fmla="*/ 185137 w 740547"/>
              <a:gd name="connsiteY2-150" fmla="*/ 139927 h 1317625"/>
              <a:gd name="connsiteX3-151" fmla="*/ 173843 w 740547"/>
              <a:gd name="connsiteY3-152" fmla="*/ 0 h 1317625"/>
              <a:gd name="connsiteX4-153" fmla="*/ 555410 w 740547"/>
              <a:gd name="connsiteY4-154" fmla="*/ 947352 h 1317625"/>
              <a:gd name="connsiteX5-155" fmla="*/ 740547 w 740547"/>
              <a:gd name="connsiteY5-156" fmla="*/ 947352 h 1317625"/>
              <a:gd name="connsiteX6-157" fmla="*/ 370274 w 740547"/>
              <a:gd name="connsiteY6-158" fmla="*/ 1317625 h 1317625"/>
              <a:gd name="connsiteX7-159" fmla="*/ 0 w 740547"/>
              <a:gd name="connsiteY7-160" fmla="*/ 947352 h 1317625"/>
              <a:gd name="connsiteX0-161" fmla="*/ 0 w 740547"/>
              <a:gd name="connsiteY0-162" fmla="*/ 947352 h 1317625"/>
              <a:gd name="connsiteX1-163" fmla="*/ 185137 w 740547"/>
              <a:gd name="connsiteY1-164" fmla="*/ 947352 h 1317625"/>
              <a:gd name="connsiteX2-165" fmla="*/ 199424 w 740547"/>
              <a:gd name="connsiteY2-166" fmla="*/ 139927 h 1317625"/>
              <a:gd name="connsiteX3-167" fmla="*/ 173843 w 740547"/>
              <a:gd name="connsiteY3-168" fmla="*/ 0 h 1317625"/>
              <a:gd name="connsiteX4-169" fmla="*/ 555410 w 740547"/>
              <a:gd name="connsiteY4-170" fmla="*/ 947352 h 1317625"/>
              <a:gd name="connsiteX5-171" fmla="*/ 740547 w 740547"/>
              <a:gd name="connsiteY5-172" fmla="*/ 947352 h 1317625"/>
              <a:gd name="connsiteX6-173" fmla="*/ 370274 w 740547"/>
              <a:gd name="connsiteY6-174" fmla="*/ 1317625 h 1317625"/>
              <a:gd name="connsiteX7-175" fmla="*/ 0 w 740547"/>
              <a:gd name="connsiteY7-176" fmla="*/ 947352 h 1317625"/>
              <a:gd name="connsiteX0-177" fmla="*/ 0 w 740547"/>
              <a:gd name="connsiteY0-178" fmla="*/ 947352 h 1317625"/>
              <a:gd name="connsiteX1-179" fmla="*/ 185137 w 740547"/>
              <a:gd name="connsiteY1-180" fmla="*/ 947352 h 1317625"/>
              <a:gd name="connsiteX2-181" fmla="*/ 192280 w 740547"/>
              <a:gd name="connsiteY2-182" fmla="*/ 137545 h 1317625"/>
              <a:gd name="connsiteX3-183" fmla="*/ 173843 w 740547"/>
              <a:gd name="connsiteY3-184" fmla="*/ 0 h 1317625"/>
              <a:gd name="connsiteX4-185" fmla="*/ 555410 w 740547"/>
              <a:gd name="connsiteY4-186" fmla="*/ 947352 h 1317625"/>
              <a:gd name="connsiteX5-187" fmla="*/ 740547 w 740547"/>
              <a:gd name="connsiteY5-188" fmla="*/ 947352 h 1317625"/>
              <a:gd name="connsiteX6-189" fmla="*/ 370274 w 740547"/>
              <a:gd name="connsiteY6-190" fmla="*/ 1317625 h 1317625"/>
              <a:gd name="connsiteX7-191" fmla="*/ 0 w 740547"/>
              <a:gd name="connsiteY7-192" fmla="*/ 947352 h 13176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740547" h="1317625">
                <a:moveTo>
                  <a:pt x="0" y="947352"/>
                </a:moveTo>
                <a:lnTo>
                  <a:pt x="185137" y="947352"/>
                </a:lnTo>
                <a:cubicBezTo>
                  <a:pt x="282769" y="661541"/>
                  <a:pt x="220855" y="466219"/>
                  <a:pt x="192280" y="137545"/>
                </a:cubicBezTo>
                <a:cubicBezTo>
                  <a:pt x="182166" y="-35303"/>
                  <a:pt x="176814" y="46642"/>
                  <a:pt x="173843" y="0"/>
                </a:cubicBezTo>
                <a:cubicBezTo>
                  <a:pt x="348657" y="303877"/>
                  <a:pt x="423459" y="405349"/>
                  <a:pt x="555410" y="947352"/>
                </a:cubicBezTo>
                <a:lnTo>
                  <a:pt x="740547" y="947352"/>
                </a:lnTo>
                <a:lnTo>
                  <a:pt x="370274" y="1317625"/>
                </a:lnTo>
                <a:lnTo>
                  <a:pt x="0" y="947352"/>
                </a:lnTo>
                <a:close/>
              </a:path>
            </a:pathLst>
          </a:custGeom>
          <a:solidFill>
            <a:srgbClr val="DDE9F5"/>
          </a:solidFill>
          <a:ln w="19050"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105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C76D4F3-46AB-4BD0-824F-059C98BFEF0D}"/>
              </a:ext>
            </a:extLst>
          </p:cNvPr>
          <p:cNvSpPr txBox="1"/>
          <p:nvPr/>
        </p:nvSpPr>
        <p:spPr>
          <a:xfrm>
            <a:off x="1037631" y="4771344"/>
            <a:ext cx="179012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边界条件确定</a:t>
            </a:r>
            <a:endParaRPr lang="zh-CN" altLang="en-US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6C3CD16-2AAF-420C-B28F-D4371B829C70}"/>
              </a:ext>
            </a:extLst>
          </p:cNvPr>
          <p:cNvSpPr/>
          <p:nvPr/>
        </p:nvSpPr>
        <p:spPr>
          <a:xfrm>
            <a:off x="497450" y="1795881"/>
            <a:ext cx="559776" cy="559776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105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4BF838D-D0F0-4D39-BFBF-94CFEE190B0A}"/>
              </a:ext>
            </a:extLst>
          </p:cNvPr>
          <p:cNvSpPr/>
          <p:nvPr/>
        </p:nvSpPr>
        <p:spPr>
          <a:xfrm>
            <a:off x="804252" y="3304329"/>
            <a:ext cx="559776" cy="559776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 w="19050"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105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97406C1-8B80-4B30-82F8-3EC37F1A86FD}"/>
              </a:ext>
            </a:extLst>
          </p:cNvPr>
          <p:cNvSpPr/>
          <p:nvPr/>
        </p:nvSpPr>
        <p:spPr>
          <a:xfrm>
            <a:off x="298115" y="4645272"/>
            <a:ext cx="559776" cy="559776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9050"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105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445C699-5BF3-4AC0-9EC1-1456627B97F2}"/>
              </a:ext>
            </a:extLst>
          </p:cNvPr>
          <p:cNvSpPr txBox="1"/>
          <p:nvPr/>
        </p:nvSpPr>
        <p:spPr>
          <a:xfrm>
            <a:off x="1037631" y="1876764"/>
            <a:ext cx="2709963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区域划分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网格生成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692A18D-5B33-42D6-9709-CB4DCF09042A}"/>
              </a:ext>
            </a:extLst>
          </p:cNvPr>
          <p:cNvSpPr txBox="1">
            <a:spLocks/>
          </p:cNvSpPr>
          <p:nvPr/>
        </p:nvSpPr>
        <p:spPr>
          <a:xfrm>
            <a:off x="4915685" y="1672502"/>
            <a:ext cx="6511767" cy="1174294"/>
          </a:xfrm>
          <a:prstGeom prst="roundRect">
            <a:avLst/>
          </a:prstGeom>
          <a:solidFill>
            <a:schemeClr val="bg1"/>
          </a:solidFill>
          <a:ln w="9525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lnSpc>
                <a:spcPct val="120000"/>
              </a:lnSpc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将研究区域划分为多个</a:t>
            </a:r>
            <a:r>
              <a:rPr lang="zh-CN" altLang="en-US" dirty="0">
                <a:solidFill>
                  <a:schemeClr val="tx2"/>
                </a:solidFill>
                <a:sym typeface="+mn-ea"/>
              </a:rPr>
              <a:t>网格单元</a:t>
            </a:r>
            <a:r>
              <a:rPr lang="zh-CN" altLang="en-US" dirty="0">
                <a:sym typeface="+mn-ea"/>
              </a:rPr>
              <a:t>，采用正交曲线网格划分方式，最终划分为 </a:t>
            </a:r>
            <a:r>
              <a:rPr lang="en-US" altLang="zh-CN" dirty="0">
                <a:sym typeface="+mn-ea"/>
              </a:rPr>
              <a:t>1566 </a:t>
            </a:r>
            <a:r>
              <a:rPr lang="zh-CN" altLang="en-US" dirty="0">
                <a:sym typeface="+mn-ea"/>
              </a:rPr>
              <a:t>个网格，平均</a:t>
            </a:r>
            <a:r>
              <a:rPr lang="zh-CN" altLang="en-US" dirty="0">
                <a:solidFill>
                  <a:schemeClr val="tx2"/>
                </a:solidFill>
                <a:sym typeface="+mn-ea"/>
              </a:rPr>
              <a:t>网格分辨率</a:t>
            </a:r>
            <a:r>
              <a:rPr lang="zh-CN" altLang="en-US" dirty="0">
                <a:sym typeface="+mn-ea"/>
              </a:rPr>
              <a:t>为 </a:t>
            </a:r>
            <a:r>
              <a:rPr lang="en-US" altLang="zh-CN" dirty="0">
                <a:sym typeface="+mn-ea"/>
              </a:rPr>
              <a:t>110m×110m</a:t>
            </a:r>
            <a:r>
              <a:rPr lang="zh-CN" altLang="en-US" dirty="0">
                <a:sym typeface="+mn-ea"/>
              </a:rPr>
              <a:t>，以满足模型对水动力和水质模拟的精度要求。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EA25D25-388C-4C5E-9498-AAE3AB365B13}"/>
              </a:ext>
            </a:extLst>
          </p:cNvPr>
          <p:cNvSpPr txBox="1">
            <a:spLocks/>
          </p:cNvSpPr>
          <p:nvPr/>
        </p:nvSpPr>
        <p:spPr>
          <a:xfrm>
            <a:off x="4915685" y="2996371"/>
            <a:ext cx="6511767" cy="1174294"/>
          </a:xfrm>
          <a:prstGeom prst="roundRect">
            <a:avLst/>
          </a:prstGeom>
          <a:solidFill>
            <a:schemeClr val="bg1"/>
          </a:solidFill>
          <a:ln w="9525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lnSpc>
                <a:spcPct val="120000"/>
              </a:lnSpc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模型采用</a:t>
            </a:r>
            <a:r>
              <a:rPr lang="zh-CN" altLang="en-US" dirty="0">
                <a:solidFill>
                  <a:schemeClr val="tx2"/>
                </a:solidFill>
              </a:rPr>
              <a:t>冷启动</a:t>
            </a:r>
            <a:r>
              <a:rPr lang="zh-CN" altLang="en-US" dirty="0"/>
              <a:t>方式，初始水位设定为 </a:t>
            </a:r>
            <a:r>
              <a:rPr lang="en-US" altLang="zh-CN" dirty="0"/>
              <a:t>33.08m</a:t>
            </a:r>
            <a:r>
              <a:rPr lang="zh-CN" altLang="en-US" dirty="0"/>
              <a:t>，初始流速设定为 </a:t>
            </a:r>
            <a:r>
              <a:rPr lang="en-US" altLang="zh-CN" dirty="0"/>
              <a:t>0m/s</a:t>
            </a:r>
            <a:r>
              <a:rPr lang="zh-CN" altLang="en-US" dirty="0"/>
              <a:t>，并设置动态时间步长，最小步长为 </a:t>
            </a:r>
            <a:r>
              <a:rPr lang="en-US" altLang="zh-CN" dirty="0"/>
              <a:t>0.1s</a:t>
            </a:r>
            <a:r>
              <a:rPr lang="zh-CN" altLang="en-US" dirty="0"/>
              <a:t>，安全系数为 </a:t>
            </a:r>
            <a:r>
              <a:rPr lang="en-US" altLang="zh-CN" dirty="0"/>
              <a:t>0.1</a:t>
            </a:r>
            <a:r>
              <a:rPr lang="zh-CN" altLang="en-US" dirty="0"/>
              <a:t>，以确保模型运行的稳定性和效率。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07CFCD-7E36-47E8-9C4F-CC8A69327A64}"/>
              </a:ext>
            </a:extLst>
          </p:cNvPr>
          <p:cNvSpPr txBox="1">
            <a:spLocks/>
          </p:cNvSpPr>
          <p:nvPr/>
        </p:nvSpPr>
        <p:spPr>
          <a:xfrm>
            <a:off x="4937760" y="4521893"/>
            <a:ext cx="6511767" cy="806533"/>
          </a:xfrm>
          <a:prstGeom prst="roundRect">
            <a:avLst/>
          </a:prstGeom>
          <a:solidFill>
            <a:schemeClr val="bg1"/>
          </a:solidFill>
          <a:ln w="9525"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 indent="0">
              <a:lnSpc>
                <a:spcPct val="120000"/>
              </a:lnSpc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模型主要考虑三类边界条件，包括</a:t>
            </a:r>
            <a:r>
              <a:rPr lang="zh-CN" altLang="en-US" dirty="0">
                <a:solidFill>
                  <a:schemeClr val="tx2"/>
                </a:solidFill>
                <a:sym typeface="+mn-ea"/>
              </a:rPr>
              <a:t>气象条件、流量输入和水位边界。</a:t>
            </a:r>
          </a:p>
        </p:txBody>
      </p:sp>
      <p:sp>
        <p:nvSpPr>
          <p:cNvPr id="28" name="箭头: 下 4">
            <a:extLst>
              <a:ext uri="{FF2B5EF4-FFF2-40B4-BE49-F238E27FC236}">
                <a16:creationId xmlns:a16="http://schemas.microsoft.com/office/drawing/2014/main" id="{600D9D2D-7A34-4D68-9A03-0F628E75EC38}"/>
              </a:ext>
            </a:extLst>
          </p:cNvPr>
          <p:cNvSpPr/>
          <p:nvPr/>
        </p:nvSpPr>
        <p:spPr>
          <a:xfrm rot="1763301">
            <a:off x="1618807" y="3648432"/>
            <a:ext cx="465602" cy="1157224"/>
          </a:xfrm>
          <a:custGeom>
            <a:avLst/>
            <a:gdLst>
              <a:gd name="connsiteX0" fmla="*/ 0 w 740547"/>
              <a:gd name="connsiteY0" fmla="*/ 807425 h 1177698"/>
              <a:gd name="connsiteX1" fmla="*/ 185137 w 740547"/>
              <a:gd name="connsiteY1" fmla="*/ 807425 h 1177698"/>
              <a:gd name="connsiteX2" fmla="*/ 185137 w 740547"/>
              <a:gd name="connsiteY2" fmla="*/ 0 h 1177698"/>
              <a:gd name="connsiteX3" fmla="*/ 555410 w 740547"/>
              <a:gd name="connsiteY3" fmla="*/ 0 h 1177698"/>
              <a:gd name="connsiteX4" fmla="*/ 555410 w 740547"/>
              <a:gd name="connsiteY4" fmla="*/ 807425 h 1177698"/>
              <a:gd name="connsiteX5" fmla="*/ 740547 w 740547"/>
              <a:gd name="connsiteY5" fmla="*/ 807425 h 1177698"/>
              <a:gd name="connsiteX6" fmla="*/ 370274 w 740547"/>
              <a:gd name="connsiteY6" fmla="*/ 1177698 h 1177698"/>
              <a:gd name="connsiteX7" fmla="*/ 0 w 740547"/>
              <a:gd name="connsiteY7" fmla="*/ 807425 h 1177698"/>
              <a:gd name="connsiteX0-1" fmla="*/ 0 w 740547"/>
              <a:gd name="connsiteY0-2" fmla="*/ 923539 h 1293812"/>
              <a:gd name="connsiteX1-3" fmla="*/ 185137 w 740547"/>
              <a:gd name="connsiteY1-4" fmla="*/ 923539 h 1293812"/>
              <a:gd name="connsiteX2-5" fmla="*/ 185137 w 740547"/>
              <a:gd name="connsiteY2-6" fmla="*/ 116114 h 1293812"/>
              <a:gd name="connsiteX3-7" fmla="*/ 366724 w 740547"/>
              <a:gd name="connsiteY3-8" fmla="*/ 0 h 1293812"/>
              <a:gd name="connsiteX4-9" fmla="*/ 555410 w 740547"/>
              <a:gd name="connsiteY4-10" fmla="*/ 923539 h 1293812"/>
              <a:gd name="connsiteX5-11" fmla="*/ 740547 w 740547"/>
              <a:gd name="connsiteY5-12" fmla="*/ 923539 h 1293812"/>
              <a:gd name="connsiteX6-13" fmla="*/ 370274 w 740547"/>
              <a:gd name="connsiteY6-14" fmla="*/ 1293812 h 1293812"/>
              <a:gd name="connsiteX7-15" fmla="*/ 0 w 740547"/>
              <a:gd name="connsiteY7-16" fmla="*/ 923539 h 1293812"/>
              <a:gd name="connsiteX0-17" fmla="*/ 0 w 740547"/>
              <a:gd name="connsiteY0-18" fmla="*/ 947352 h 1317625"/>
              <a:gd name="connsiteX1-19" fmla="*/ 185137 w 740547"/>
              <a:gd name="connsiteY1-20" fmla="*/ 947352 h 1317625"/>
              <a:gd name="connsiteX2-21" fmla="*/ 185137 w 740547"/>
              <a:gd name="connsiteY2-22" fmla="*/ 139927 h 1317625"/>
              <a:gd name="connsiteX3-23" fmla="*/ 183368 w 740547"/>
              <a:gd name="connsiteY3-24" fmla="*/ 0 h 1317625"/>
              <a:gd name="connsiteX4-25" fmla="*/ 555410 w 740547"/>
              <a:gd name="connsiteY4-26" fmla="*/ 947352 h 1317625"/>
              <a:gd name="connsiteX5-27" fmla="*/ 740547 w 740547"/>
              <a:gd name="connsiteY5-28" fmla="*/ 947352 h 1317625"/>
              <a:gd name="connsiteX6-29" fmla="*/ 370274 w 740547"/>
              <a:gd name="connsiteY6-30" fmla="*/ 1317625 h 1317625"/>
              <a:gd name="connsiteX7-31" fmla="*/ 0 w 740547"/>
              <a:gd name="connsiteY7-32" fmla="*/ 947352 h 1317625"/>
              <a:gd name="connsiteX0-33" fmla="*/ 0 w 740547"/>
              <a:gd name="connsiteY0-34" fmla="*/ 947352 h 1317625"/>
              <a:gd name="connsiteX1-35" fmla="*/ 185137 w 740547"/>
              <a:gd name="connsiteY1-36" fmla="*/ 947352 h 1317625"/>
              <a:gd name="connsiteX2-37" fmla="*/ 185137 w 740547"/>
              <a:gd name="connsiteY2-38" fmla="*/ 139927 h 1317625"/>
              <a:gd name="connsiteX3-39" fmla="*/ 173843 w 740547"/>
              <a:gd name="connsiteY3-40" fmla="*/ 0 h 1317625"/>
              <a:gd name="connsiteX4-41" fmla="*/ 555410 w 740547"/>
              <a:gd name="connsiteY4-42" fmla="*/ 947352 h 1317625"/>
              <a:gd name="connsiteX5-43" fmla="*/ 740547 w 740547"/>
              <a:gd name="connsiteY5-44" fmla="*/ 947352 h 1317625"/>
              <a:gd name="connsiteX6-45" fmla="*/ 370274 w 740547"/>
              <a:gd name="connsiteY6-46" fmla="*/ 1317625 h 1317625"/>
              <a:gd name="connsiteX7-47" fmla="*/ 0 w 740547"/>
              <a:gd name="connsiteY7-48" fmla="*/ 947352 h 1317625"/>
              <a:gd name="connsiteX0-49" fmla="*/ 0 w 740547"/>
              <a:gd name="connsiteY0-50" fmla="*/ 947352 h 1317625"/>
              <a:gd name="connsiteX1-51" fmla="*/ 185137 w 740547"/>
              <a:gd name="connsiteY1-52" fmla="*/ 947352 h 1317625"/>
              <a:gd name="connsiteX2-53" fmla="*/ 185137 w 740547"/>
              <a:gd name="connsiteY2-54" fmla="*/ 139927 h 1317625"/>
              <a:gd name="connsiteX3-55" fmla="*/ 173843 w 740547"/>
              <a:gd name="connsiteY3-56" fmla="*/ 0 h 1317625"/>
              <a:gd name="connsiteX4-57" fmla="*/ 555410 w 740547"/>
              <a:gd name="connsiteY4-58" fmla="*/ 947352 h 1317625"/>
              <a:gd name="connsiteX5-59" fmla="*/ 740547 w 740547"/>
              <a:gd name="connsiteY5-60" fmla="*/ 947352 h 1317625"/>
              <a:gd name="connsiteX6-61" fmla="*/ 370274 w 740547"/>
              <a:gd name="connsiteY6-62" fmla="*/ 1317625 h 1317625"/>
              <a:gd name="connsiteX7-63" fmla="*/ 0 w 740547"/>
              <a:gd name="connsiteY7-64" fmla="*/ 947352 h 1317625"/>
              <a:gd name="connsiteX0-65" fmla="*/ 0 w 740547"/>
              <a:gd name="connsiteY0-66" fmla="*/ 947352 h 1317625"/>
              <a:gd name="connsiteX1-67" fmla="*/ 185137 w 740547"/>
              <a:gd name="connsiteY1-68" fmla="*/ 947352 h 1317625"/>
              <a:gd name="connsiteX2-69" fmla="*/ 185137 w 740547"/>
              <a:gd name="connsiteY2-70" fmla="*/ 139927 h 1317625"/>
              <a:gd name="connsiteX3-71" fmla="*/ 173843 w 740547"/>
              <a:gd name="connsiteY3-72" fmla="*/ 0 h 1317625"/>
              <a:gd name="connsiteX4-73" fmla="*/ 555410 w 740547"/>
              <a:gd name="connsiteY4-74" fmla="*/ 947352 h 1317625"/>
              <a:gd name="connsiteX5-75" fmla="*/ 740547 w 740547"/>
              <a:gd name="connsiteY5-76" fmla="*/ 947352 h 1317625"/>
              <a:gd name="connsiteX6-77" fmla="*/ 370274 w 740547"/>
              <a:gd name="connsiteY6-78" fmla="*/ 1317625 h 1317625"/>
              <a:gd name="connsiteX7-79" fmla="*/ 0 w 740547"/>
              <a:gd name="connsiteY7-80" fmla="*/ 947352 h 1317625"/>
              <a:gd name="connsiteX0-81" fmla="*/ 0 w 740547"/>
              <a:gd name="connsiteY0-82" fmla="*/ 947352 h 1317625"/>
              <a:gd name="connsiteX1-83" fmla="*/ 185137 w 740547"/>
              <a:gd name="connsiteY1-84" fmla="*/ 947352 h 1317625"/>
              <a:gd name="connsiteX2-85" fmla="*/ 185137 w 740547"/>
              <a:gd name="connsiteY2-86" fmla="*/ 139927 h 1317625"/>
              <a:gd name="connsiteX3-87" fmla="*/ 173843 w 740547"/>
              <a:gd name="connsiteY3-88" fmla="*/ 0 h 1317625"/>
              <a:gd name="connsiteX4-89" fmla="*/ 555410 w 740547"/>
              <a:gd name="connsiteY4-90" fmla="*/ 947352 h 1317625"/>
              <a:gd name="connsiteX5-91" fmla="*/ 740547 w 740547"/>
              <a:gd name="connsiteY5-92" fmla="*/ 947352 h 1317625"/>
              <a:gd name="connsiteX6-93" fmla="*/ 370274 w 740547"/>
              <a:gd name="connsiteY6-94" fmla="*/ 1317625 h 1317625"/>
              <a:gd name="connsiteX7-95" fmla="*/ 0 w 740547"/>
              <a:gd name="connsiteY7-96" fmla="*/ 947352 h 1317625"/>
              <a:gd name="connsiteX0-97" fmla="*/ 0 w 740547"/>
              <a:gd name="connsiteY0-98" fmla="*/ 947352 h 1317625"/>
              <a:gd name="connsiteX1-99" fmla="*/ 185137 w 740547"/>
              <a:gd name="connsiteY1-100" fmla="*/ 947352 h 1317625"/>
              <a:gd name="connsiteX2-101" fmla="*/ 185137 w 740547"/>
              <a:gd name="connsiteY2-102" fmla="*/ 139927 h 1317625"/>
              <a:gd name="connsiteX3-103" fmla="*/ 173843 w 740547"/>
              <a:gd name="connsiteY3-104" fmla="*/ 0 h 1317625"/>
              <a:gd name="connsiteX4-105" fmla="*/ 555410 w 740547"/>
              <a:gd name="connsiteY4-106" fmla="*/ 947352 h 1317625"/>
              <a:gd name="connsiteX5-107" fmla="*/ 740547 w 740547"/>
              <a:gd name="connsiteY5-108" fmla="*/ 947352 h 1317625"/>
              <a:gd name="connsiteX6-109" fmla="*/ 370274 w 740547"/>
              <a:gd name="connsiteY6-110" fmla="*/ 1317625 h 1317625"/>
              <a:gd name="connsiteX7-111" fmla="*/ 0 w 740547"/>
              <a:gd name="connsiteY7-112" fmla="*/ 947352 h 1317625"/>
              <a:gd name="connsiteX0-113" fmla="*/ 0 w 740547"/>
              <a:gd name="connsiteY0-114" fmla="*/ 947352 h 1317625"/>
              <a:gd name="connsiteX1-115" fmla="*/ 185137 w 740547"/>
              <a:gd name="connsiteY1-116" fmla="*/ 947352 h 1317625"/>
              <a:gd name="connsiteX2-117" fmla="*/ 185137 w 740547"/>
              <a:gd name="connsiteY2-118" fmla="*/ 139927 h 1317625"/>
              <a:gd name="connsiteX3-119" fmla="*/ 173843 w 740547"/>
              <a:gd name="connsiteY3-120" fmla="*/ 0 h 1317625"/>
              <a:gd name="connsiteX4-121" fmla="*/ 555410 w 740547"/>
              <a:gd name="connsiteY4-122" fmla="*/ 947352 h 1317625"/>
              <a:gd name="connsiteX5-123" fmla="*/ 740547 w 740547"/>
              <a:gd name="connsiteY5-124" fmla="*/ 947352 h 1317625"/>
              <a:gd name="connsiteX6-125" fmla="*/ 370274 w 740547"/>
              <a:gd name="connsiteY6-126" fmla="*/ 1317625 h 1317625"/>
              <a:gd name="connsiteX7-127" fmla="*/ 0 w 740547"/>
              <a:gd name="connsiteY7-128" fmla="*/ 947352 h 1317625"/>
              <a:gd name="connsiteX0-129" fmla="*/ 0 w 740547"/>
              <a:gd name="connsiteY0-130" fmla="*/ 947352 h 1317625"/>
              <a:gd name="connsiteX1-131" fmla="*/ 185137 w 740547"/>
              <a:gd name="connsiteY1-132" fmla="*/ 947352 h 1317625"/>
              <a:gd name="connsiteX2-133" fmla="*/ 185137 w 740547"/>
              <a:gd name="connsiteY2-134" fmla="*/ 139927 h 1317625"/>
              <a:gd name="connsiteX3-135" fmla="*/ 173843 w 740547"/>
              <a:gd name="connsiteY3-136" fmla="*/ 0 h 1317625"/>
              <a:gd name="connsiteX4-137" fmla="*/ 555410 w 740547"/>
              <a:gd name="connsiteY4-138" fmla="*/ 947352 h 1317625"/>
              <a:gd name="connsiteX5-139" fmla="*/ 740547 w 740547"/>
              <a:gd name="connsiteY5-140" fmla="*/ 947352 h 1317625"/>
              <a:gd name="connsiteX6-141" fmla="*/ 370274 w 740547"/>
              <a:gd name="connsiteY6-142" fmla="*/ 1317625 h 1317625"/>
              <a:gd name="connsiteX7-143" fmla="*/ 0 w 740547"/>
              <a:gd name="connsiteY7-144" fmla="*/ 947352 h 1317625"/>
              <a:gd name="connsiteX0-145" fmla="*/ 0 w 740547"/>
              <a:gd name="connsiteY0-146" fmla="*/ 947352 h 1317625"/>
              <a:gd name="connsiteX1-147" fmla="*/ 185137 w 740547"/>
              <a:gd name="connsiteY1-148" fmla="*/ 947352 h 1317625"/>
              <a:gd name="connsiteX2-149" fmla="*/ 185137 w 740547"/>
              <a:gd name="connsiteY2-150" fmla="*/ 139927 h 1317625"/>
              <a:gd name="connsiteX3-151" fmla="*/ 173843 w 740547"/>
              <a:gd name="connsiteY3-152" fmla="*/ 0 h 1317625"/>
              <a:gd name="connsiteX4-153" fmla="*/ 555410 w 740547"/>
              <a:gd name="connsiteY4-154" fmla="*/ 947352 h 1317625"/>
              <a:gd name="connsiteX5-155" fmla="*/ 740547 w 740547"/>
              <a:gd name="connsiteY5-156" fmla="*/ 947352 h 1317625"/>
              <a:gd name="connsiteX6-157" fmla="*/ 370274 w 740547"/>
              <a:gd name="connsiteY6-158" fmla="*/ 1317625 h 1317625"/>
              <a:gd name="connsiteX7-159" fmla="*/ 0 w 740547"/>
              <a:gd name="connsiteY7-160" fmla="*/ 947352 h 1317625"/>
              <a:gd name="connsiteX0-161" fmla="*/ 0 w 740547"/>
              <a:gd name="connsiteY0-162" fmla="*/ 947352 h 1317625"/>
              <a:gd name="connsiteX1-163" fmla="*/ 185137 w 740547"/>
              <a:gd name="connsiteY1-164" fmla="*/ 947352 h 1317625"/>
              <a:gd name="connsiteX2-165" fmla="*/ 199424 w 740547"/>
              <a:gd name="connsiteY2-166" fmla="*/ 139927 h 1317625"/>
              <a:gd name="connsiteX3-167" fmla="*/ 173843 w 740547"/>
              <a:gd name="connsiteY3-168" fmla="*/ 0 h 1317625"/>
              <a:gd name="connsiteX4-169" fmla="*/ 555410 w 740547"/>
              <a:gd name="connsiteY4-170" fmla="*/ 947352 h 1317625"/>
              <a:gd name="connsiteX5-171" fmla="*/ 740547 w 740547"/>
              <a:gd name="connsiteY5-172" fmla="*/ 947352 h 1317625"/>
              <a:gd name="connsiteX6-173" fmla="*/ 370274 w 740547"/>
              <a:gd name="connsiteY6-174" fmla="*/ 1317625 h 1317625"/>
              <a:gd name="connsiteX7-175" fmla="*/ 0 w 740547"/>
              <a:gd name="connsiteY7-176" fmla="*/ 947352 h 1317625"/>
              <a:gd name="connsiteX0-177" fmla="*/ 0 w 740547"/>
              <a:gd name="connsiteY0-178" fmla="*/ 947352 h 1317625"/>
              <a:gd name="connsiteX1-179" fmla="*/ 185137 w 740547"/>
              <a:gd name="connsiteY1-180" fmla="*/ 947352 h 1317625"/>
              <a:gd name="connsiteX2-181" fmla="*/ 192280 w 740547"/>
              <a:gd name="connsiteY2-182" fmla="*/ 137545 h 1317625"/>
              <a:gd name="connsiteX3-183" fmla="*/ 173843 w 740547"/>
              <a:gd name="connsiteY3-184" fmla="*/ 0 h 1317625"/>
              <a:gd name="connsiteX4-185" fmla="*/ 555410 w 740547"/>
              <a:gd name="connsiteY4-186" fmla="*/ 947352 h 1317625"/>
              <a:gd name="connsiteX5-187" fmla="*/ 740547 w 740547"/>
              <a:gd name="connsiteY5-188" fmla="*/ 947352 h 1317625"/>
              <a:gd name="connsiteX6-189" fmla="*/ 370274 w 740547"/>
              <a:gd name="connsiteY6-190" fmla="*/ 1317625 h 1317625"/>
              <a:gd name="connsiteX7-191" fmla="*/ 0 w 740547"/>
              <a:gd name="connsiteY7-192" fmla="*/ 947352 h 13176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</a:cxnLst>
            <a:rect l="l" t="t" r="r" b="b"/>
            <a:pathLst>
              <a:path w="740547" h="1317625">
                <a:moveTo>
                  <a:pt x="0" y="947352"/>
                </a:moveTo>
                <a:lnTo>
                  <a:pt x="185137" y="947352"/>
                </a:lnTo>
                <a:cubicBezTo>
                  <a:pt x="282769" y="661541"/>
                  <a:pt x="220855" y="466219"/>
                  <a:pt x="192280" y="137545"/>
                </a:cubicBezTo>
                <a:cubicBezTo>
                  <a:pt x="182166" y="-35303"/>
                  <a:pt x="176814" y="46642"/>
                  <a:pt x="173843" y="0"/>
                </a:cubicBezTo>
                <a:cubicBezTo>
                  <a:pt x="348657" y="303877"/>
                  <a:pt x="423459" y="405349"/>
                  <a:pt x="555410" y="947352"/>
                </a:cubicBezTo>
                <a:lnTo>
                  <a:pt x="740547" y="947352"/>
                </a:lnTo>
                <a:lnTo>
                  <a:pt x="370274" y="1317625"/>
                </a:lnTo>
                <a:lnTo>
                  <a:pt x="0" y="947352"/>
                </a:lnTo>
                <a:close/>
              </a:path>
            </a:pathLst>
          </a:custGeom>
          <a:solidFill>
            <a:srgbClr val="DDE9F5"/>
          </a:solidFill>
          <a:ln w="19050">
            <a:noFill/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105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05A33D7-D05D-4A39-872F-328E0AC9A544}"/>
              </a:ext>
            </a:extLst>
          </p:cNvPr>
          <p:cNvSpPr txBox="1"/>
          <p:nvPr/>
        </p:nvSpPr>
        <p:spPr>
          <a:xfrm>
            <a:off x="1364028" y="3365660"/>
            <a:ext cx="179012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初始条件设定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D93323D-9575-4BDB-996F-922B4E95B928}"/>
              </a:ext>
            </a:extLst>
          </p:cNvPr>
          <p:cNvCxnSpPr>
            <a:cxnSpLocks/>
          </p:cNvCxnSpPr>
          <p:nvPr/>
        </p:nvCxnSpPr>
        <p:spPr>
          <a:xfrm>
            <a:off x="3504739" y="2061430"/>
            <a:ext cx="964106" cy="0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C4E2E15-AC3D-4A55-B43E-886E8F9EB0CB}"/>
              </a:ext>
            </a:extLst>
          </p:cNvPr>
          <p:cNvCxnSpPr>
            <a:cxnSpLocks/>
          </p:cNvCxnSpPr>
          <p:nvPr/>
        </p:nvCxnSpPr>
        <p:spPr>
          <a:xfrm>
            <a:off x="3208018" y="3511242"/>
            <a:ext cx="1557548" cy="8205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F7799318-0B7D-4FAC-ACF8-6B87D4FAAF55}"/>
              </a:ext>
            </a:extLst>
          </p:cNvPr>
          <p:cNvCxnSpPr>
            <a:cxnSpLocks/>
          </p:cNvCxnSpPr>
          <p:nvPr/>
        </p:nvCxnSpPr>
        <p:spPr>
          <a:xfrm>
            <a:off x="3220913" y="4969260"/>
            <a:ext cx="1531758" cy="0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28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>
            <a:extLst>
              <a:ext uri="{FF2B5EF4-FFF2-40B4-BE49-F238E27FC236}">
                <a16:creationId xmlns:a16="http://schemas.microsoft.com/office/drawing/2014/main" id="{EAC27C75-9878-4AF1-BD21-EDA5BAEF50FF}"/>
              </a:ext>
            </a:extLst>
          </p:cNvPr>
          <p:cNvSpPr txBox="1"/>
          <p:nvPr/>
        </p:nvSpPr>
        <p:spPr>
          <a:xfrm>
            <a:off x="298115" y="944284"/>
            <a:ext cx="11595769" cy="108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57200" marR="0" lvl="0" indent="-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"/>
              <a:tabLst/>
              <a:defRPr kumimoji="0" sz="2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defRPr/>
            </a:pPr>
            <a:r>
              <a:rPr lang="zh-CN" altLang="en-US" dirty="0">
                <a:solidFill>
                  <a:schemeClr val="tx1"/>
                </a:solidFill>
              </a:rPr>
              <a:t>对</a:t>
            </a:r>
            <a:r>
              <a:rPr lang="zh-CN" altLang="en-US" dirty="0">
                <a:solidFill>
                  <a:schemeClr val="tx2"/>
                </a:solidFill>
              </a:rPr>
              <a:t>车田断面</a:t>
            </a:r>
            <a:r>
              <a:rPr lang="zh-CN" altLang="en-US" dirty="0">
                <a:solidFill>
                  <a:schemeClr val="tx1"/>
                </a:solidFill>
              </a:rPr>
              <a:t>的流量以及</a:t>
            </a:r>
            <a:r>
              <a:rPr lang="zh-CN" altLang="en-US" dirty="0">
                <a:solidFill>
                  <a:schemeClr val="tx2"/>
                </a:solidFill>
              </a:rPr>
              <a:t>山角断面</a:t>
            </a:r>
            <a:r>
              <a:rPr lang="zh-CN" altLang="en-US" dirty="0">
                <a:solidFill>
                  <a:schemeClr val="tx1"/>
                </a:solidFill>
              </a:rPr>
              <a:t>的 </a:t>
            </a:r>
            <a:r>
              <a:rPr lang="en-US" altLang="zh-CN" dirty="0">
                <a:solidFill>
                  <a:schemeClr val="tx1"/>
                </a:solidFill>
              </a:rPr>
              <a:t>TP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TN </a:t>
            </a:r>
            <a:r>
              <a:rPr lang="zh-CN" altLang="en-US" dirty="0">
                <a:solidFill>
                  <a:schemeClr val="tx1"/>
                </a:solidFill>
              </a:rPr>
              <a:t>等关键水质指标进行</a:t>
            </a:r>
            <a:r>
              <a:rPr lang="zh-CN" altLang="en-US" dirty="0">
                <a:solidFill>
                  <a:schemeClr val="tx2"/>
                </a:solidFill>
              </a:rPr>
              <a:t>率定和验证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</a:p>
        </p:txBody>
      </p:sp>
      <p:sp>
        <p:nvSpPr>
          <p:cNvPr id="35" name="灯片编号占位符 3">
            <a:extLst>
              <a:ext uri="{FF2B5EF4-FFF2-40B4-BE49-F238E27FC236}">
                <a16:creationId xmlns:a16="http://schemas.microsoft.com/office/drawing/2014/main" id="{4E13C9AD-C81E-4EE3-B9EC-34FF68A841E2}"/>
              </a:ext>
            </a:extLst>
          </p:cNvPr>
          <p:cNvSpPr txBox="1">
            <a:spLocks/>
          </p:cNvSpPr>
          <p:nvPr/>
        </p:nvSpPr>
        <p:spPr>
          <a:xfrm>
            <a:off x="9282546" y="10806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24612B-083E-42A1-A722-547198ACFF6B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3" name="平行四边形 42">
            <a:extLst>
              <a:ext uri="{FF2B5EF4-FFF2-40B4-BE49-F238E27FC236}">
                <a16:creationId xmlns:a16="http://schemas.microsoft.com/office/drawing/2014/main" id="{EE906314-E1D9-4315-8673-A4C33AFAC90F}"/>
              </a:ext>
            </a:extLst>
          </p:cNvPr>
          <p:cNvSpPr/>
          <p:nvPr/>
        </p:nvSpPr>
        <p:spPr>
          <a:xfrm rot="10800000">
            <a:off x="3320143" y="775627"/>
            <a:ext cx="8868566" cy="90674"/>
          </a:xfrm>
          <a:prstGeom prst="parallelogram">
            <a:avLst>
              <a:gd name="adj" fmla="val 196700"/>
            </a:avLst>
          </a:prstGeom>
          <a:solidFill>
            <a:srgbClr val="69B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B216CC-D1BF-40BE-8B6C-B6095A4891A6}"/>
              </a:ext>
            </a:extLst>
          </p:cNvPr>
          <p:cNvSpPr txBox="1"/>
          <p:nvPr/>
        </p:nvSpPr>
        <p:spPr>
          <a:xfrm>
            <a:off x="6309476" y="4528793"/>
            <a:ext cx="5584408" cy="1242175"/>
          </a:xfrm>
          <a:prstGeom prst="rect">
            <a:avLst/>
          </a:prstGeom>
          <a:solidFill>
            <a:schemeClr val="accent3">
              <a:lumMod val="60000"/>
              <a:lumOff val="40000"/>
              <a:alpha val="26000"/>
            </a:schemeClr>
          </a:solidFill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R="0" lvl="0" indent="0" algn="just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</a:defRPr>
            </a:lvl1pPr>
          </a:lstStyle>
          <a:p>
            <a:r>
              <a:rPr lang="zh-CN" altLang="en-US" dirty="0"/>
              <a:t>验证结果显示，流量、</a:t>
            </a:r>
            <a:r>
              <a:rPr lang="en-US" altLang="zh-CN" dirty="0"/>
              <a:t>TP </a:t>
            </a:r>
            <a:r>
              <a:rPr lang="zh-CN" altLang="en-US" dirty="0"/>
              <a:t>和 </a:t>
            </a:r>
            <a:r>
              <a:rPr lang="en-US" altLang="zh-CN" dirty="0"/>
              <a:t>TN </a:t>
            </a:r>
            <a:r>
              <a:rPr lang="zh-CN" altLang="en-US" dirty="0"/>
              <a:t>的相对误差均在 </a:t>
            </a:r>
            <a:r>
              <a:rPr lang="en-US" altLang="zh-CN" dirty="0"/>
              <a:t>30% </a:t>
            </a:r>
            <a:r>
              <a:rPr lang="zh-CN" altLang="en-US" dirty="0"/>
              <a:t>以内，</a:t>
            </a:r>
            <a:r>
              <a:rPr lang="en-US" altLang="zh-CN" dirty="0"/>
              <a:t>R² </a:t>
            </a:r>
            <a:r>
              <a:rPr lang="zh-CN" altLang="en-US" dirty="0"/>
              <a:t>分别为 </a:t>
            </a:r>
            <a:r>
              <a:rPr lang="en-US" altLang="zh-CN" dirty="0"/>
              <a:t>0.93</a:t>
            </a:r>
            <a:r>
              <a:rPr lang="zh-CN" altLang="en-US" dirty="0"/>
              <a:t>、</a:t>
            </a:r>
            <a:r>
              <a:rPr lang="en-US" altLang="zh-CN" dirty="0"/>
              <a:t>0.76</a:t>
            </a:r>
            <a:r>
              <a:rPr lang="zh-CN" altLang="en-US" dirty="0"/>
              <a:t>、</a:t>
            </a:r>
            <a:r>
              <a:rPr lang="en-US" altLang="zh-CN" dirty="0"/>
              <a:t>0.73</a:t>
            </a:r>
            <a:r>
              <a:rPr lang="zh-CN" altLang="en-US" dirty="0"/>
              <a:t>，表明模型能够较好地模拟九洲江下游（广西段）的水动力和水质变化过程，具有较高的准确性和可靠性。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B08003-885D-4A98-9706-2D156454B393}"/>
              </a:ext>
            </a:extLst>
          </p:cNvPr>
          <p:cNvSpPr/>
          <p:nvPr/>
        </p:nvSpPr>
        <p:spPr>
          <a:xfrm>
            <a:off x="0" y="5992983"/>
            <a:ext cx="12192000" cy="1081899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ts val="37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得到叶绿素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的时空分布数据，以此作为水华暴发程度的指示指标，对模拟得到的叶绿素 </a:t>
            </a: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数据与各环境因子进行主成分分析，结合贝叶斯公式，进一步量化各影响因子对水华暴发的贡献权重。</a:t>
            </a: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052DFFF-BD5D-416E-AA17-0BC05AB4E210}"/>
              </a:ext>
            </a:extLst>
          </p:cNvPr>
          <p:cNvSpPr/>
          <p:nvPr/>
        </p:nvSpPr>
        <p:spPr>
          <a:xfrm>
            <a:off x="479329" y="4528793"/>
            <a:ext cx="5584408" cy="1242175"/>
          </a:xfrm>
          <a:prstGeom prst="roundRect">
            <a:avLst>
              <a:gd name="adj" fmla="val 2372"/>
            </a:avLst>
          </a:prstGeom>
          <a:solidFill>
            <a:schemeClr val="accent3">
              <a:lumMod val="60000"/>
              <a:lumOff val="40000"/>
              <a:alpha val="26000"/>
            </a:schemeClr>
          </a:solidFill>
          <a:ln w="12700" cap="flat" cmpd="sng" algn="ctr">
            <a:solidFill>
              <a:sysClr val="windowText" lastClr="000000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确定模型中的主要水质参数取值，如河道糙率高度、蓝藻最大生长速率、蓝藻生长最适宜温度范围等参数，以确保模型能够准确反映九洲江下游（广西段）的水动力和水质特征。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E1AC09-11BD-2F75-7B89-B442C7648792}"/>
              </a:ext>
            </a:extLst>
          </p:cNvPr>
          <p:cNvSpPr txBox="1"/>
          <p:nvPr/>
        </p:nvSpPr>
        <p:spPr>
          <a:xfrm>
            <a:off x="1061389" y="-67577"/>
            <a:ext cx="5551681" cy="7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4800" b="1">
                <a:gradFill>
                  <a:gsLst>
                    <a:gs pos="100000">
                      <a:srgbClr val="026EBB"/>
                    </a:gs>
                    <a:gs pos="0">
                      <a:srgbClr val="038EDB"/>
                    </a:gs>
                  </a:gsLst>
                  <a:lin ang="0" scaled="1"/>
                </a:gradFill>
                <a:latin typeface="Eras Bold ITC" panose="020B0907030504020204" pitchFamily="34" charset="0"/>
                <a:ea typeface="思源黑体 CN Medium" panose="020B0600000000000000" pitchFamily="34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571500" marR="0" lvl="0" indent="-571500" algn="l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en-US" altLang="zh-CN" sz="3800" b="1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</a:t>
            </a: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模型的应用方式</a:t>
            </a:r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E76F6959-630F-6AF5-0809-50DA1FD30903}"/>
              </a:ext>
            </a:extLst>
          </p:cNvPr>
          <p:cNvSpPr/>
          <p:nvPr/>
        </p:nvSpPr>
        <p:spPr>
          <a:xfrm rot="10800000">
            <a:off x="566665" y="775626"/>
            <a:ext cx="2787949" cy="95817"/>
          </a:xfrm>
          <a:prstGeom prst="parallelogram">
            <a:avLst>
              <a:gd name="adj" fmla="val 196700"/>
            </a:avLst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FF09B44-5942-5052-AC74-A5BDC957ABB9}"/>
              </a:ext>
            </a:extLst>
          </p:cNvPr>
          <p:cNvGrpSpPr/>
          <p:nvPr/>
        </p:nvGrpSpPr>
        <p:grpSpPr>
          <a:xfrm>
            <a:off x="-53106" y="0"/>
            <a:ext cx="963271" cy="1033814"/>
            <a:chOff x="-51603" y="0"/>
            <a:chExt cx="1084083" cy="1219009"/>
          </a:xfrm>
        </p:grpSpPr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DF389638-7221-9890-8E0F-490D6359B0B5}"/>
                </a:ext>
              </a:extLst>
            </p:cNvPr>
            <p:cNvSpPr/>
            <p:nvPr/>
          </p:nvSpPr>
          <p:spPr bwMode="auto">
            <a:xfrm>
              <a:off x="3290" y="132030"/>
              <a:ext cx="974299" cy="1086979"/>
            </a:xfrm>
            <a:custGeom>
              <a:avLst/>
              <a:gdLst>
                <a:gd name="T0" fmla="*/ 0 w 529"/>
                <a:gd name="T1" fmla="*/ 0 h 915"/>
                <a:gd name="T2" fmla="*/ 490 w 529"/>
                <a:gd name="T3" fmla="*/ 399 h 915"/>
                <a:gd name="T4" fmla="*/ 490 w 529"/>
                <a:gd name="T5" fmla="*/ 516 h 915"/>
                <a:gd name="T6" fmla="*/ 0 w 529"/>
                <a:gd name="T7" fmla="*/ 915 h 915"/>
                <a:gd name="T8" fmla="*/ 0 w 529"/>
                <a:gd name="T9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915">
                  <a:moveTo>
                    <a:pt x="0" y="0"/>
                  </a:moveTo>
                  <a:lnTo>
                    <a:pt x="490" y="399"/>
                  </a:lnTo>
                  <a:cubicBezTo>
                    <a:pt x="529" y="431"/>
                    <a:pt x="529" y="484"/>
                    <a:pt x="490" y="516"/>
                  </a:cubicBezTo>
                  <a:lnTo>
                    <a:pt x="0" y="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B8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E8DC57D-3408-A03E-A564-BD21AFF3CE8D}"/>
                </a:ext>
              </a:extLst>
            </p:cNvPr>
            <p:cNvSpPr/>
            <p:nvPr/>
          </p:nvSpPr>
          <p:spPr bwMode="auto">
            <a:xfrm>
              <a:off x="3290" y="0"/>
              <a:ext cx="974299" cy="1086979"/>
            </a:xfrm>
            <a:custGeom>
              <a:avLst/>
              <a:gdLst>
                <a:gd name="T0" fmla="*/ 0 w 560"/>
                <a:gd name="T1" fmla="*/ 0 h 973"/>
                <a:gd name="T2" fmla="*/ 516 w 560"/>
                <a:gd name="T3" fmla="*/ 420 h 973"/>
                <a:gd name="T4" fmla="*/ 516 w 560"/>
                <a:gd name="T5" fmla="*/ 552 h 973"/>
                <a:gd name="T6" fmla="*/ 0 w 560"/>
                <a:gd name="T7" fmla="*/ 973 h 973"/>
                <a:gd name="T8" fmla="*/ 0 w 560"/>
                <a:gd name="T9" fmla="*/ 0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0" h="973">
                  <a:moveTo>
                    <a:pt x="0" y="0"/>
                  </a:moveTo>
                  <a:lnTo>
                    <a:pt x="516" y="420"/>
                  </a:lnTo>
                  <a:cubicBezTo>
                    <a:pt x="560" y="457"/>
                    <a:pt x="560" y="516"/>
                    <a:pt x="516" y="552"/>
                  </a:cubicBezTo>
                  <a:lnTo>
                    <a:pt x="0" y="9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B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EB6722E-2E53-39E9-5860-1A03E60B2567}"/>
                </a:ext>
              </a:extLst>
            </p:cNvPr>
            <p:cNvSpPr txBox="1"/>
            <p:nvPr/>
          </p:nvSpPr>
          <p:spPr>
            <a:xfrm>
              <a:off x="-51603" y="146972"/>
              <a:ext cx="1084083" cy="689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三</a:t>
              </a:r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A41206E1-E909-69EA-DED5-EA30C1C3A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29" y="2081326"/>
            <a:ext cx="5584408" cy="236128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4004800-D1E1-3058-95CE-C2D0D12BD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477" y="2073064"/>
            <a:ext cx="5584407" cy="236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282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032BE-1FF7-1340-E605-BA7BA45F0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D1A716FC-B672-BAB2-D9C1-C050053B3E12}"/>
              </a:ext>
            </a:extLst>
          </p:cNvPr>
          <p:cNvSpPr/>
          <p:nvPr/>
        </p:nvSpPr>
        <p:spPr>
          <a:xfrm>
            <a:off x="-2226" y="-1"/>
            <a:ext cx="2521894" cy="6857329"/>
          </a:xfrm>
          <a:prstGeom prst="rect">
            <a:avLst/>
          </a:prstGeom>
          <a:gradFill>
            <a:gsLst>
              <a:gs pos="0">
                <a:srgbClr val="142756"/>
              </a:gs>
              <a:gs pos="100000">
                <a:srgbClr val="2E5DA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4" name="圆角矩形 33">
            <a:extLst>
              <a:ext uri="{FF2B5EF4-FFF2-40B4-BE49-F238E27FC236}">
                <a16:creationId xmlns:a16="http://schemas.microsoft.com/office/drawing/2014/main" id="{118DDD6D-B703-BD2B-386F-C3833CE47966}"/>
              </a:ext>
            </a:extLst>
          </p:cNvPr>
          <p:cNvSpPr/>
          <p:nvPr/>
        </p:nvSpPr>
        <p:spPr>
          <a:xfrm>
            <a:off x="756025" y="1993900"/>
            <a:ext cx="1156306" cy="2870200"/>
          </a:xfrm>
          <a:prstGeom prst="roundRect">
            <a:avLst>
              <a:gd name="adj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41FFFFC-010D-EAF1-1EB4-FEB50CF553D7}"/>
              </a:ext>
            </a:extLst>
          </p:cNvPr>
          <p:cNvSpPr txBox="1"/>
          <p:nvPr/>
        </p:nvSpPr>
        <p:spPr>
          <a:xfrm>
            <a:off x="964846" y="2286380"/>
            <a:ext cx="738664" cy="228524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汇 报 内 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FB23F8-78E3-7669-710E-21476195AEE4}"/>
              </a:ext>
            </a:extLst>
          </p:cNvPr>
          <p:cNvSpPr>
            <a:spLocks/>
          </p:cNvSpPr>
          <p:nvPr/>
        </p:nvSpPr>
        <p:spPr>
          <a:xfrm>
            <a:off x="4398346" y="835941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57175">
              <a:defRPr/>
            </a:pPr>
            <a:r>
              <a:rPr kumimoji="1" lang="en-US" altLang="zh-CN" sz="3600" b="1" kern="0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EFDC</a:t>
            </a:r>
            <a:r>
              <a:rPr kumimoji="1" lang="zh-CN" altLang="en-US" sz="3600" b="1" kern="0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模型基本概念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57AE762-03BA-BC29-DEF8-3C225BA877AA}"/>
              </a:ext>
            </a:extLst>
          </p:cNvPr>
          <p:cNvSpPr/>
          <p:nvPr/>
        </p:nvSpPr>
        <p:spPr>
          <a:xfrm>
            <a:off x="4340479" y="714989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CE5E4FB-DC2B-1FB2-9163-7A3129E841BF}"/>
              </a:ext>
            </a:extLst>
          </p:cNvPr>
          <p:cNvSpPr/>
          <p:nvPr/>
        </p:nvSpPr>
        <p:spPr>
          <a:xfrm>
            <a:off x="3491889" y="716881"/>
            <a:ext cx="906457" cy="871365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E5CF207-4B7E-F14F-FF7D-F5EDEE9D9743}"/>
              </a:ext>
            </a:extLst>
          </p:cNvPr>
          <p:cNvSpPr/>
          <p:nvPr/>
        </p:nvSpPr>
        <p:spPr>
          <a:xfrm>
            <a:off x="3606962" y="816941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一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18AA297-38DA-027D-B23B-D28ACD34A10E}"/>
              </a:ext>
            </a:extLst>
          </p:cNvPr>
          <p:cNvSpPr>
            <a:spLocks/>
          </p:cNvSpPr>
          <p:nvPr/>
        </p:nvSpPr>
        <p:spPr>
          <a:xfrm>
            <a:off x="4417997" y="2380268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</a:t>
            </a:r>
            <a:r>
              <a:rPr lang="zh-CN" altLang="en-US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模型应用背景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A4E947A-B871-250B-FC23-C02612DA2626}"/>
              </a:ext>
            </a:extLst>
          </p:cNvPr>
          <p:cNvSpPr/>
          <p:nvPr/>
        </p:nvSpPr>
        <p:spPr>
          <a:xfrm>
            <a:off x="4340479" y="2249440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61D2C92-3CEE-AE3D-604E-C955339A6476}"/>
              </a:ext>
            </a:extLst>
          </p:cNvPr>
          <p:cNvSpPr/>
          <p:nvPr/>
        </p:nvSpPr>
        <p:spPr>
          <a:xfrm>
            <a:off x="3491889" y="2249440"/>
            <a:ext cx="906457" cy="873258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79FD556-1F16-8796-733F-8EBFEFC9E274}"/>
              </a:ext>
            </a:extLst>
          </p:cNvPr>
          <p:cNvSpPr/>
          <p:nvPr/>
        </p:nvSpPr>
        <p:spPr>
          <a:xfrm>
            <a:off x="3606962" y="2351392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7FA5231-1017-8334-EE3E-465E1EFD19BA}"/>
              </a:ext>
            </a:extLst>
          </p:cNvPr>
          <p:cNvSpPr>
            <a:spLocks/>
          </p:cNvSpPr>
          <p:nvPr/>
        </p:nvSpPr>
        <p:spPr>
          <a:xfrm>
            <a:off x="4418353" y="5390281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结果与结论</a:t>
            </a:r>
            <a:endParaRPr lang="zh-CN" altLang="en-US" sz="2800" b="1" dirty="0">
              <a:solidFill>
                <a:srgbClr val="C00000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BD77CCB-A0D3-5F46-444F-8A3FCD9A959A}"/>
              </a:ext>
            </a:extLst>
          </p:cNvPr>
          <p:cNvSpPr/>
          <p:nvPr/>
        </p:nvSpPr>
        <p:spPr>
          <a:xfrm>
            <a:off x="4340479" y="5269078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3D19380-370D-B18C-6EB3-B972F7A55515}"/>
              </a:ext>
            </a:extLst>
          </p:cNvPr>
          <p:cNvSpPr/>
          <p:nvPr/>
        </p:nvSpPr>
        <p:spPr>
          <a:xfrm>
            <a:off x="3491889" y="5270970"/>
            <a:ext cx="906457" cy="871365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D88560A-64F8-5555-5545-13FE9D67716C}"/>
              </a:ext>
            </a:extLst>
          </p:cNvPr>
          <p:cNvSpPr/>
          <p:nvPr/>
        </p:nvSpPr>
        <p:spPr>
          <a:xfrm>
            <a:off x="3606962" y="5371030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四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AAA7765-D791-9306-027C-5CC771D50FF8}"/>
              </a:ext>
            </a:extLst>
          </p:cNvPr>
          <p:cNvSpPr>
            <a:spLocks/>
          </p:cNvSpPr>
          <p:nvPr/>
        </p:nvSpPr>
        <p:spPr>
          <a:xfrm>
            <a:off x="4415507" y="3879517"/>
            <a:ext cx="664775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EFDC</a:t>
            </a:r>
            <a:r>
              <a:rPr lang="zh-CN" altLang="en-US" sz="3600" b="1" dirty="0">
                <a:solidFill>
                  <a:srgbClr val="0F4995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模型应用方式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DE34303-FA47-18E3-50B6-97AB366E4790}"/>
              </a:ext>
            </a:extLst>
          </p:cNvPr>
          <p:cNvSpPr/>
          <p:nvPr/>
        </p:nvSpPr>
        <p:spPr>
          <a:xfrm>
            <a:off x="4340479" y="3758314"/>
            <a:ext cx="6705619" cy="873258"/>
          </a:xfrm>
          <a:prstGeom prst="rect">
            <a:avLst/>
          </a:prstGeom>
          <a:noFill/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394F36C-A243-DDA1-EA1E-0EFD9B219C50}"/>
              </a:ext>
            </a:extLst>
          </p:cNvPr>
          <p:cNvSpPr/>
          <p:nvPr/>
        </p:nvSpPr>
        <p:spPr>
          <a:xfrm>
            <a:off x="3491889" y="3758314"/>
            <a:ext cx="906457" cy="873258"/>
          </a:xfrm>
          <a:prstGeom prst="rect">
            <a:avLst/>
          </a:prstGeom>
          <a:solidFill>
            <a:srgbClr val="0F4995"/>
          </a:solidFill>
          <a:ln>
            <a:solidFill>
              <a:srgbClr val="0F49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b="1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1AF7C40-5F61-CF4E-1CBB-004B305E9209}"/>
              </a:ext>
            </a:extLst>
          </p:cNvPr>
          <p:cNvSpPr/>
          <p:nvPr/>
        </p:nvSpPr>
        <p:spPr>
          <a:xfrm>
            <a:off x="3606962" y="3860266"/>
            <a:ext cx="690787" cy="6712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0249F4-EA90-745F-1AF2-710C8CA6D67E}"/>
              </a:ext>
            </a:extLst>
          </p:cNvPr>
          <p:cNvSpPr/>
          <p:nvPr/>
        </p:nvSpPr>
        <p:spPr>
          <a:xfrm>
            <a:off x="3161214" y="528663"/>
            <a:ext cx="8274761" cy="448226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522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>
            <a:extLst>
              <a:ext uri="{FF2B5EF4-FFF2-40B4-BE49-F238E27FC236}">
                <a16:creationId xmlns:a16="http://schemas.microsoft.com/office/drawing/2014/main" id="{EAC27C75-9878-4AF1-BD21-EDA5BAEF50FF}"/>
              </a:ext>
            </a:extLst>
          </p:cNvPr>
          <p:cNvSpPr txBox="1"/>
          <p:nvPr/>
        </p:nvSpPr>
        <p:spPr>
          <a:xfrm>
            <a:off x="298115" y="944284"/>
            <a:ext cx="11595769" cy="561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57200" marR="0" lvl="0" indent="-45720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"/>
              <a:tabLst/>
              <a:defRPr kumimoji="0" sz="2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defRPr/>
            </a:pPr>
            <a:r>
              <a:rPr lang="zh-CN" altLang="en-US" dirty="0"/>
              <a:t>分析</a:t>
            </a:r>
            <a:r>
              <a:rPr lang="zh-CN" altLang="en-US" dirty="0">
                <a:solidFill>
                  <a:schemeClr val="tx2"/>
                </a:solidFill>
              </a:rPr>
              <a:t>叶绿素 </a:t>
            </a:r>
            <a:r>
              <a:rPr lang="en-US" altLang="zh-CN" dirty="0">
                <a:solidFill>
                  <a:schemeClr val="tx2"/>
                </a:solidFill>
              </a:rPr>
              <a:t>a</a:t>
            </a:r>
            <a:r>
              <a:rPr lang="zh-CN" altLang="en-US" dirty="0"/>
              <a:t>年际变化和年内变化特征</a:t>
            </a:r>
          </a:p>
        </p:txBody>
      </p:sp>
      <p:sp>
        <p:nvSpPr>
          <p:cNvPr id="35" name="灯片编号占位符 3">
            <a:extLst>
              <a:ext uri="{FF2B5EF4-FFF2-40B4-BE49-F238E27FC236}">
                <a16:creationId xmlns:a16="http://schemas.microsoft.com/office/drawing/2014/main" id="{4E13C9AD-C81E-4EE3-B9EC-34FF68A841E2}"/>
              </a:ext>
            </a:extLst>
          </p:cNvPr>
          <p:cNvSpPr txBox="1">
            <a:spLocks/>
          </p:cNvSpPr>
          <p:nvPr/>
        </p:nvSpPr>
        <p:spPr>
          <a:xfrm>
            <a:off x="9282546" y="108066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24612B-083E-42A1-A722-547198ACFF6B}" type="slidenum">
              <a:rPr kumimoji="0" lang="zh-CN" altLang="en-US" sz="24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118B07D-E2F7-41D4-BCBE-7D670F4A3580}"/>
              </a:ext>
            </a:extLst>
          </p:cNvPr>
          <p:cNvSpPr txBox="1"/>
          <p:nvPr/>
        </p:nvSpPr>
        <p:spPr>
          <a:xfrm>
            <a:off x="1061390" y="-67577"/>
            <a:ext cx="3396310" cy="76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defPPr>
              <a:defRPr lang="en-US"/>
            </a:defPPr>
            <a:lvl1pPr fontAlgn="base">
              <a:spcBef>
                <a:spcPct val="0"/>
              </a:spcBef>
              <a:spcAft>
                <a:spcPct val="0"/>
              </a:spcAft>
              <a:defRPr sz="4800" b="1">
                <a:gradFill>
                  <a:gsLst>
                    <a:gs pos="100000">
                      <a:srgbClr val="026EBB"/>
                    </a:gs>
                    <a:gs pos="0">
                      <a:srgbClr val="038EDB"/>
                    </a:gs>
                  </a:gsLst>
                  <a:lin ang="0" scaled="1"/>
                </a:gradFill>
                <a:latin typeface="Eras Bold ITC" panose="020B0907030504020204" pitchFamily="34" charset="0"/>
                <a:ea typeface="思源黑体 CN Medium" panose="020B0600000000000000" pitchFamily="34" charset="-122"/>
                <a:cs typeface="+mj-cs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marL="571500" marR="0" lvl="0" indent="-571500" algn="l" defTabSz="4572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3800" b="1" i="0" u="none" strike="noStrike" kern="0" cap="none" spc="0" normalizeH="0" baseline="0" noProof="0" dirty="0">
                <a:ln>
                  <a:noFill/>
                </a:ln>
                <a:solidFill>
                  <a:srgbClr val="0066CC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结果与结论</a:t>
            </a:r>
          </a:p>
        </p:txBody>
      </p:sp>
      <p:sp>
        <p:nvSpPr>
          <p:cNvPr id="38" name="平行四边形 37">
            <a:extLst>
              <a:ext uri="{FF2B5EF4-FFF2-40B4-BE49-F238E27FC236}">
                <a16:creationId xmlns:a16="http://schemas.microsoft.com/office/drawing/2014/main" id="{9237FECA-4EA3-4697-B699-84730BAE8B10}"/>
              </a:ext>
            </a:extLst>
          </p:cNvPr>
          <p:cNvSpPr/>
          <p:nvPr/>
        </p:nvSpPr>
        <p:spPr>
          <a:xfrm rot="10800000">
            <a:off x="566665" y="775626"/>
            <a:ext cx="2787949" cy="95817"/>
          </a:xfrm>
          <a:prstGeom prst="parallelogram">
            <a:avLst>
              <a:gd name="adj" fmla="val 196700"/>
            </a:avLst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845614F-7241-4DB3-9BE0-9960246D59D7}"/>
              </a:ext>
            </a:extLst>
          </p:cNvPr>
          <p:cNvGrpSpPr/>
          <p:nvPr/>
        </p:nvGrpSpPr>
        <p:grpSpPr>
          <a:xfrm>
            <a:off x="-53106" y="0"/>
            <a:ext cx="963271" cy="1033814"/>
            <a:chOff x="-51603" y="0"/>
            <a:chExt cx="1084083" cy="1219009"/>
          </a:xfrm>
        </p:grpSpPr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A1BDF8D0-A1CC-4209-B8DF-D36E34D6C3AC}"/>
                </a:ext>
              </a:extLst>
            </p:cNvPr>
            <p:cNvSpPr/>
            <p:nvPr/>
          </p:nvSpPr>
          <p:spPr bwMode="auto">
            <a:xfrm>
              <a:off x="3290" y="132030"/>
              <a:ext cx="974299" cy="1086979"/>
            </a:xfrm>
            <a:custGeom>
              <a:avLst/>
              <a:gdLst>
                <a:gd name="T0" fmla="*/ 0 w 529"/>
                <a:gd name="T1" fmla="*/ 0 h 915"/>
                <a:gd name="T2" fmla="*/ 490 w 529"/>
                <a:gd name="T3" fmla="*/ 399 h 915"/>
                <a:gd name="T4" fmla="*/ 490 w 529"/>
                <a:gd name="T5" fmla="*/ 516 h 915"/>
                <a:gd name="T6" fmla="*/ 0 w 529"/>
                <a:gd name="T7" fmla="*/ 915 h 915"/>
                <a:gd name="T8" fmla="*/ 0 w 529"/>
                <a:gd name="T9" fmla="*/ 0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915">
                  <a:moveTo>
                    <a:pt x="0" y="0"/>
                  </a:moveTo>
                  <a:lnTo>
                    <a:pt x="490" y="399"/>
                  </a:lnTo>
                  <a:cubicBezTo>
                    <a:pt x="529" y="431"/>
                    <a:pt x="529" y="484"/>
                    <a:pt x="490" y="516"/>
                  </a:cubicBezTo>
                  <a:lnTo>
                    <a:pt x="0" y="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9B8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DE0E586D-84DD-4F85-8A67-93CFE0890111}"/>
                </a:ext>
              </a:extLst>
            </p:cNvPr>
            <p:cNvSpPr/>
            <p:nvPr/>
          </p:nvSpPr>
          <p:spPr bwMode="auto">
            <a:xfrm>
              <a:off x="3290" y="0"/>
              <a:ext cx="974299" cy="1086979"/>
            </a:xfrm>
            <a:custGeom>
              <a:avLst/>
              <a:gdLst>
                <a:gd name="T0" fmla="*/ 0 w 560"/>
                <a:gd name="T1" fmla="*/ 0 h 973"/>
                <a:gd name="T2" fmla="*/ 516 w 560"/>
                <a:gd name="T3" fmla="*/ 420 h 973"/>
                <a:gd name="T4" fmla="*/ 516 w 560"/>
                <a:gd name="T5" fmla="*/ 552 h 973"/>
                <a:gd name="T6" fmla="*/ 0 w 560"/>
                <a:gd name="T7" fmla="*/ 973 h 973"/>
                <a:gd name="T8" fmla="*/ 0 w 560"/>
                <a:gd name="T9" fmla="*/ 0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0" h="973">
                  <a:moveTo>
                    <a:pt x="0" y="0"/>
                  </a:moveTo>
                  <a:lnTo>
                    <a:pt x="516" y="420"/>
                  </a:lnTo>
                  <a:cubicBezTo>
                    <a:pt x="560" y="457"/>
                    <a:pt x="560" y="516"/>
                    <a:pt x="516" y="552"/>
                  </a:cubicBezTo>
                  <a:lnTo>
                    <a:pt x="0" y="9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BA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CD277C01-E6B7-43ED-A530-CA7B9A8586F1}"/>
                </a:ext>
              </a:extLst>
            </p:cNvPr>
            <p:cNvSpPr txBox="1"/>
            <p:nvPr/>
          </p:nvSpPr>
          <p:spPr>
            <a:xfrm>
              <a:off x="-51603" y="146972"/>
              <a:ext cx="1084083" cy="689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四</a:t>
              </a:r>
            </a:p>
          </p:txBody>
        </p:sp>
      </p:grpSp>
      <p:sp>
        <p:nvSpPr>
          <p:cNvPr id="43" name="平行四边形 42">
            <a:extLst>
              <a:ext uri="{FF2B5EF4-FFF2-40B4-BE49-F238E27FC236}">
                <a16:creationId xmlns:a16="http://schemas.microsoft.com/office/drawing/2014/main" id="{EE906314-E1D9-4315-8673-A4C33AFAC90F}"/>
              </a:ext>
            </a:extLst>
          </p:cNvPr>
          <p:cNvSpPr/>
          <p:nvPr/>
        </p:nvSpPr>
        <p:spPr>
          <a:xfrm rot="10800000">
            <a:off x="3320143" y="775627"/>
            <a:ext cx="8868566" cy="90674"/>
          </a:xfrm>
          <a:prstGeom prst="parallelogram">
            <a:avLst>
              <a:gd name="adj" fmla="val 196700"/>
            </a:avLst>
          </a:prstGeom>
          <a:solidFill>
            <a:srgbClr val="69B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C7EDFBC-E1F2-4FC7-8F9D-13E659D6D631}"/>
              </a:ext>
            </a:extLst>
          </p:cNvPr>
          <p:cNvGrpSpPr/>
          <p:nvPr/>
        </p:nvGrpSpPr>
        <p:grpSpPr>
          <a:xfrm>
            <a:off x="-53106" y="1549194"/>
            <a:ext cx="6593054" cy="4364522"/>
            <a:chOff x="9137870" y="2197936"/>
            <a:chExt cx="2823353" cy="1591953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E13658B4-99D7-4390-B6CA-35C4B938CA3C}"/>
                </a:ext>
              </a:extLst>
            </p:cNvPr>
            <p:cNvGrpSpPr/>
            <p:nvPr/>
          </p:nvGrpSpPr>
          <p:grpSpPr>
            <a:xfrm>
              <a:off x="9169400" y="2197936"/>
              <a:ext cx="2743176" cy="1591953"/>
              <a:chOff x="1199732" y="5259960"/>
              <a:chExt cx="3104442" cy="1075370"/>
            </a:xfrm>
          </p:grpSpPr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3C657A99-3780-43F4-84AE-F01962852990}"/>
                  </a:ext>
                </a:extLst>
              </p:cNvPr>
              <p:cNvSpPr/>
              <p:nvPr/>
            </p:nvSpPr>
            <p:spPr>
              <a:xfrm>
                <a:off x="1199732" y="5265041"/>
                <a:ext cx="3104442" cy="1070289"/>
              </a:xfrm>
              <a:prstGeom prst="rect">
                <a:avLst/>
              </a:prstGeom>
              <a:gradFill>
                <a:gsLst>
                  <a:gs pos="0">
                    <a:srgbClr val="1A76DC">
                      <a:lumMod val="15000"/>
                      <a:lumOff val="85000"/>
                    </a:srgbClr>
                  </a:gs>
                  <a:gs pos="100000">
                    <a:sysClr val="window" lastClr="FFFFFF"/>
                  </a:gs>
                </a:gsLst>
                <a:lin ang="54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lIns="18000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 Light" panose="020B0502040204020203" charset="-122"/>
                  <a:cs typeface="+mn-cs"/>
                  <a:sym typeface="Times New Roman" panose="02020603050405020304" pitchFamily="18" charset="0"/>
                </a:endParaRPr>
              </a:p>
            </p:txBody>
          </p: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3CE043AE-C225-4434-BA64-EE5B19A8B0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99732" y="5259960"/>
                <a:ext cx="3104442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04FA8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51" name="矩形 33">
              <a:extLst>
                <a:ext uri="{FF2B5EF4-FFF2-40B4-BE49-F238E27FC236}">
                  <a16:creationId xmlns:a16="http://schemas.microsoft.com/office/drawing/2014/main" id="{E48671B1-C53F-4015-A9F7-B59A23323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870" y="2244618"/>
              <a:ext cx="2823353" cy="153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endPara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D8094609-8F84-4959-A5AF-D0CD05CD87A3}"/>
              </a:ext>
            </a:extLst>
          </p:cNvPr>
          <p:cNvSpPr txBox="1"/>
          <p:nvPr/>
        </p:nvSpPr>
        <p:spPr>
          <a:xfrm>
            <a:off x="148640" y="1560652"/>
            <a:ext cx="6281977" cy="438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rgbClr val="0F499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主成分分析结果 ：</a:t>
            </a:r>
            <a:endParaRPr lang="en-US" altLang="zh-CN" b="1" dirty="0">
              <a:solidFill>
                <a:srgbClr val="0F499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在水华暴发时期，叶绿素 </a:t>
            </a:r>
            <a:r>
              <a:rPr lang="en-US" altLang="zh-CN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与 </a:t>
            </a:r>
            <a:r>
              <a:rPr lang="en-US" altLang="zh-CN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TP</a:t>
            </a:r>
            <a:r>
              <a:rPr lang="zh-CN" altLang="en-US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TN</a:t>
            </a:r>
            <a:r>
              <a:rPr lang="zh-CN" altLang="en-US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、温度的相关性最强，这三者是影响九洲江下游（广西段）水华暴发的主要因子，温度对叶绿素 </a:t>
            </a:r>
            <a:r>
              <a:rPr lang="en-US" altLang="zh-CN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的影响存在一定的非线性关系；而九洲江流域流速长期处于较低值，流速和水龄对叶绿素 </a:t>
            </a:r>
            <a:r>
              <a:rPr lang="en-US" altLang="zh-CN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a </a:t>
            </a:r>
            <a:r>
              <a:rPr lang="zh-CN" altLang="en-US" b="1" kern="0" dirty="0">
                <a:solidFill>
                  <a:prstClr val="black"/>
                </a:solidFill>
                <a:latin typeface="Times New Roman" panose="02020603050405020304" pitchFamily="18" charset="0"/>
              </a:rPr>
              <a:t>的影响相对较小。</a:t>
            </a:r>
            <a:endParaRPr lang="en-US" altLang="zh-CN" b="1" kern="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F499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贝叶斯概率分析结果 ：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F499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当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TP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处于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0.04 - 0.18mg/L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、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TN 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处于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1.5 - 2.6mg/L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、温度处于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25 - 35℃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时，水华发生的概率分别达到了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98.6%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、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61%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、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61%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，并且分别求出了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TP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、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TN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、温度对水华暴发的影响权重为 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0.2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、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0.2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、</a:t>
            </a:r>
            <a:r>
              <a:rPr kumimoji="0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0.3</a:t>
            </a: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+mn-cs"/>
              </a:rPr>
              <a:t>。这些结果明确了九洲江下游（广西段）水华暴发的关键阈值区间和各影响因子的重要程度，为水华的预警和防控提供了科学依据。</a:t>
            </a:r>
          </a:p>
        </p:txBody>
      </p:sp>
      <p:sp>
        <p:nvSpPr>
          <p:cNvPr id="73" name="箭头: 右 72">
            <a:extLst>
              <a:ext uri="{FF2B5EF4-FFF2-40B4-BE49-F238E27FC236}">
                <a16:creationId xmlns:a16="http://schemas.microsoft.com/office/drawing/2014/main" id="{43CA6C6B-BE84-4793-81DD-FA56D5B0A2D4}"/>
              </a:ext>
            </a:extLst>
          </p:cNvPr>
          <p:cNvSpPr>
            <a:spLocks/>
          </p:cNvSpPr>
          <p:nvPr/>
        </p:nvSpPr>
        <p:spPr>
          <a:xfrm rot="5400000">
            <a:off x="3014143" y="5899789"/>
            <a:ext cx="324000" cy="288000"/>
          </a:xfrm>
          <a:prstGeom prst="rightArrow">
            <a:avLst>
              <a:gd name="adj1" fmla="val 50000"/>
              <a:gd name="adj2" fmla="val 62225"/>
            </a:avLst>
          </a:prstGeom>
          <a:gradFill flip="none" rotWithShape="1">
            <a:gsLst>
              <a:gs pos="8426">
                <a:schemeClr val="accent2">
                  <a:lumMod val="20000"/>
                  <a:lumOff val="80000"/>
                </a:schemeClr>
              </a:gs>
              <a:gs pos="22000">
                <a:schemeClr val="accent2">
                  <a:lumMod val="60000"/>
                  <a:lumOff val="40000"/>
                </a:schemeClr>
              </a:gs>
              <a:gs pos="73000">
                <a:srgbClr val="C00000">
                  <a:alpha val="82000"/>
                </a:srgbClr>
              </a:gs>
              <a:gs pos="0">
                <a:schemeClr val="bg1">
                  <a:alpha val="62000"/>
                </a:schemeClr>
              </a:gs>
            </a:gsLst>
            <a:lin ang="0" scaled="1"/>
            <a:tileRect/>
          </a:gradFill>
          <a:ln w="25400" cap="flat" cmpd="sng" algn="ctr">
            <a:noFill/>
            <a:prstDash val="solid"/>
            <a:miter lim="800000"/>
          </a:ln>
          <a:effectLst>
            <a:outerShdw blurRad="190500" dist="38100" dir="2700000" algn="tl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 dirty="0">
              <a:solidFill>
                <a:sysClr val="window" lastClr="FFFFFF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3EDD737-2C55-4234-BB53-DF1AA54FC0A7}"/>
              </a:ext>
            </a:extLst>
          </p:cNvPr>
          <p:cNvSpPr/>
          <p:nvPr/>
        </p:nvSpPr>
        <p:spPr>
          <a:xfrm>
            <a:off x="20522" y="6237816"/>
            <a:ext cx="11829232" cy="561428"/>
          </a:xfrm>
          <a:prstGeom prst="roundRect">
            <a:avLst/>
          </a:prstGeom>
          <a:solidFill>
            <a:schemeClr val="accent2">
              <a:lumMod val="40000"/>
              <a:lumOff val="60000"/>
              <a:alpha val="46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>
              <a:lnSpc>
                <a:spcPct val="130000"/>
              </a:lnSpc>
            </a:pP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本研究成功揭示了九洲江下游（广西段）水华暴发的时空变化特征及其主要影响因子，为流域水华的治理和预防提供了有力的技术支持和决策依据。</a:t>
            </a: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7B4DEB0A-8D70-4EEF-879E-262F14A23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1209" y="1140231"/>
            <a:ext cx="2118545" cy="191529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B1B863D-56D3-859E-D44F-8A1065312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976" y="1506041"/>
            <a:ext cx="2943335" cy="4308313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C56BFDA1-35AE-4049-9D19-700B0BA4014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327" r="1917"/>
          <a:stretch/>
        </p:blipFill>
        <p:spPr>
          <a:xfrm>
            <a:off x="8897773" y="3182087"/>
            <a:ext cx="2951981" cy="28617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55046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-687968"/>
            <a:ext cx="7784892" cy="7784892"/>
          </a:xfrm>
          <a:prstGeom prst="rect">
            <a:avLst/>
          </a:prstGeom>
        </p:spPr>
      </p:pic>
      <p:sp>
        <p:nvSpPr>
          <p:cNvPr id="99" name="流程图: 手动输入 3"/>
          <p:cNvSpPr/>
          <p:nvPr/>
        </p:nvSpPr>
        <p:spPr>
          <a:xfrm rot="5400000">
            <a:off x="-772141" y="765575"/>
            <a:ext cx="6865184" cy="5316494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0 w 10013"/>
              <a:gd name="connsiteY0-2" fmla="*/ 3619 h 10000"/>
              <a:gd name="connsiteX1-3" fmla="*/ 10013 w 10013"/>
              <a:gd name="connsiteY1-4" fmla="*/ 0 h 10000"/>
              <a:gd name="connsiteX2-5" fmla="*/ 10013 w 10013"/>
              <a:gd name="connsiteY2-6" fmla="*/ 10000 h 10000"/>
              <a:gd name="connsiteX3-7" fmla="*/ 13 w 10013"/>
              <a:gd name="connsiteY3-8" fmla="*/ 10000 h 10000"/>
              <a:gd name="connsiteX4-9" fmla="*/ 0 w 10013"/>
              <a:gd name="connsiteY4-10" fmla="*/ 3619 h 10000"/>
              <a:gd name="connsiteX0-11" fmla="*/ 0 w 10013"/>
              <a:gd name="connsiteY0-12" fmla="*/ 3970 h 10000"/>
              <a:gd name="connsiteX1-13" fmla="*/ 10013 w 10013"/>
              <a:gd name="connsiteY1-14" fmla="*/ 0 h 10000"/>
              <a:gd name="connsiteX2-15" fmla="*/ 10013 w 10013"/>
              <a:gd name="connsiteY2-16" fmla="*/ 10000 h 10000"/>
              <a:gd name="connsiteX3-17" fmla="*/ 13 w 10013"/>
              <a:gd name="connsiteY3-18" fmla="*/ 10000 h 10000"/>
              <a:gd name="connsiteX4-19" fmla="*/ 0 w 10013"/>
              <a:gd name="connsiteY4-20" fmla="*/ 3970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13" h="10000">
                <a:moveTo>
                  <a:pt x="0" y="3970"/>
                </a:moveTo>
                <a:lnTo>
                  <a:pt x="10013" y="0"/>
                </a:lnTo>
                <a:lnTo>
                  <a:pt x="10013" y="10000"/>
                </a:lnTo>
                <a:lnTo>
                  <a:pt x="13" y="10000"/>
                </a:lnTo>
                <a:cubicBezTo>
                  <a:pt x="9" y="7873"/>
                  <a:pt x="4" y="6097"/>
                  <a:pt x="0" y="3970"/>
                </a:cubicBezTo>
                <a:close/>
              </a:path>
            </a:pathLst>
          </a:custGeom>
          <a:gradFill>
            <a:gsLst>
              <a:gs pos="0">
                <a:srgbClr val="142756"/>
              </a:gs>
              <a:gs pos="100000">
                <a:srgbClr val="2E5DAE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0" dirty="0">
              <a:solidFill>
                <a:schemeClr val="lt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" b="32"/>
          <a:stretch>
            <a:fillRect/>
          </a:stretch>
        </p:blipFill>
        <p:spPr>
          <a:xfrm>
            <a:off x="819657" y="1074336"/>
            <a:ext cx="4892808" cy="4939693"/>
          </a:xfrm>
          <a:prstGeom prst="ellipse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4" name="空心弧 103"/>
          <p:cNvSpPr/>
          <p:nvPr/>
        </p:nvSpPr>
        <p:spPr>
          <a:xfrm rot="14414393">
            <a:off x="895496" y="1098487"/>
            <a:ext cx="4801452" cy="4801452"/>
          </a:xfrm>
          <a:prstGeom prst="blockArc">
            <a:avLst>
              <a:gd name="adj1" fmla="val 10800000"/>
              <a:gd name="adj2" fmla="val 467453"/>
              <a:gd name="adj3" fmla="val 2676"/>
            </a:avLst>
          </a:prstGeom>
          <a:solidFill>
            <a:srgbClr val="FBF9F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>
              <a:defRPr/>
            </a:pPr>
            <a:endParaRPr lang="zh-CN" altLang="en-US" kern="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10" name="Freeform 236"/>
          <p:cNvSpPr/>
          <p:nvPr/>
        </p:nvSpPr>
        <p:spPr bwMode="auto">
          <a:xfrm rot="10800000" flipH="1" flipV="1">
            <a:off x="6784728" y="4032933"/>
            <a:ext cx="4242848" cy="58622"/>
          </a:xfrm>
          <a:custGeom>
            <a:avLst/>
            <a:gdLst>
              <a:gd name="T0" fmla="*/ 508 w 508"/>
              <a:gd name="T1" fmla="*/ 28 h 66"/>
              <a:gd name="T2" fmla="*/ 433 w 508"/>
              <a:gd name="T3" fmla="*/ 21 h 66"/>
              <a:gd name="T4" fmla="*/ 445 w 508"/>
              <a:gd name="T5" fmla="*/ 20 h 66"/>
              <a:gd name="T6" fmla="*/ 209 w 508"/>
              <a:gd name="T7" fmla="*/ 5 h 66"/>
              <a:gd name="T8" fmla="*/ 94 w 508"/>
              <a:gd name="T9" fmla="*/ 4 h 66"/>
              <a:gd name="T10" fmla="*/ 62 w 508"/>
              <a:gd name="T11" fmla="*/ 10 h 66"/>
              <a:gd name="T12" fmla="*/ 26 w 508"/>
              <a:gd name="T13" fmla="*/ 14 h 66"/>
              <a:gd name="T14" fmla="*/ 2 w 508"/>
              <a:gd name="T15" fmla="*/ 24 h 66"/>
              <a:gd name="T16" fmla="*/ 12 w 508"/>
              <a:gd name="T17" fmla="*/ 53 h 66"/>
              <a:gd name="T18" fmla="*/ 10 w 508"/>
              <a:gd name="T19" fmla="*/ 56 h 66"/>
              <a:gd name="T20" fmla="*/ 11 w 508"/>
              <a:gd name="T21" fmla="*/ 65 h 66"/>
              <a:gd name="T22" fmla="*/ 23 w 508"/>
              <a:gd name="T23" fmla="*/ 60 h 66"/>
              <a:gd name="T24" fmla="*/ 34 w 508"/>
              <a:gd name="T25" fmla="*/ 62 h 66"/>
              <a:gd name="T26" fmla="*/ 61 w 508"/>
              <a:gd name="T27" fmla="*/ 52 h 66"/>
              <a:gd name="T28" fmla="*/ 108 w 508"/>
              <a:gd name="T29" fmla="*/ 54 h 66"/>
              <a:gd name="T30" fmla="*/ 279 w 508"/>
              <a:gd name="T31" fmla="*/ 48 h 66"/>
              <a:gd name="T32" fmla="*/ 366 w 508"/>
              <a:gd name="T33" fmla="*/ 43 h 66"/>
              <a:gd name="T34" fmla="*/ 362 w 508"/>
              <a:gd name="T35" fmla="*/ 42 h 66"/>
              <a:gd name="T36" fmla="*/ 477 w 508"/>
              <a:gd name="T37" fmla="*/ 36 h 66"/>
              <a:gd name="T38" fmla="*/ 491 w 508"/>
              <a:gd name="T39" fmla="*/ 33 h 66"/>
              <a:gd name="T40" fmla="*/ 474 w 508"/>
              <a:gd name="T41" fmla="*/ 31 h 66"/>
              <a:gd name="T42" fmla="*/ 508 w 508"/>
              <a:gd name="T43" fmla="*/ 28 h 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508" h="66">
                <a:moveTo>
                  <a:pt x="508" y="28"/>
                </a:moveTo>
                <a:cubicBezTo>
                  <a:pt x="433" y="21"/>
                  <a:pt x="433" y="21"/>
                  <a:pt x="433" y="21"/>
                </a:cubicBezTo>
                <a:cubicBezTo>
                  <a:pt x="437" y="20"/>
                  <a:pt x="441" y="22"/>
                  <a:pt x="445" y="20"/>
                </a:cubicBezTo>
                <a:cubicBezTo>
                  <a:pt x="360" y="13"/>
                  <a:pt x="292" y="6"/>
                  <a:pt x="209" y="5"/>
                </a:cubicBezTo>
                <a:cubicBezTo>
                  <a:pt x="172" y="6"/>
                  <a:pt x="130" y="1"/>
                  <a:pt x="94" y="4"/>
                </a:cubicBezTo>
                <a:cubicBezTo>
                  <a:pt x="85" y="11"/>
                  <a:pt x="70" y="0"/>
                  <a:pt x="62" y="10"/>
                </a:cubicBezTo>
                <a:cubicBezTo>
                  <a:pt x="50" y="10"/>
                  <a:pt x="37" y="10"/>
                  <a:pt x="26" y="14"/>
                </a:cubicBezTo>
                <a:cubicBezTo>
                  <a:pt x="16" y="10"/>
                  <a:pt x="10" y="20"/>
                  <a:pt x="2" y="24"/>
                </a:cubicBezTo>
                <a:cubicBezTo>
                  <a:pt x="0" y="34"/>
                  <a:pt x="4" y="44"/>
                  <a:pt x="12" y="53"/>
                </a:cubicBezTo>
                <a:cubicBezTo>
                  <a:pt x="12" y="54"/>
                  <a:pt x="11" y="55"/>
                  <a:pt x="10" y="56"/>
                </a:cubicBezTo>
                <a:cubicBezTo>
                  <a:pt x="8" y="59"/>
                  <a:pt x="8" y="63"/>
                  <a:pt x="11" y="65"/>
                </a:cubicBezTo>
                <a:cubicBezTo>
                  <a:pt x="15" y="64"/>
                  <a:pt x="19" y="63"/>
                  <a:pt x="23" y="60"/>
                </a:cubicBezTo>
                <a:cubicBezTo>
                  <a:pt x="27" y="60"/>
                  <a:pt x="30" y="66"/>
                  <a:pt x="34" y="62"/>
                </a:cubicBezTo>
                <a:cubicBezTo>
                  <a:pt x="42" y="54"/>
                  <a:pt x="52" y="55"/>
                  <a:pt x="61" y="52"/>
                </a:cubicBezTo>
                <a:cubicBezTo>
                  <a:pt x="76" y="54"/>
                  <a:pt x="93" y="53"/>
                  <a:pt x="108" y="54"/>
                </a:cubicBezTo>
                <a:cubicBezTo>
                  <a:pt x="161" y="52"/>
                  <a:pt x="222" y="49"/>
                  <a:pt x="279" y="48"/>
                </a:cubicBezTo>
                <a:cubicBezTo>
                  <a:pt x="308" y="49"/>
                  <a:pt x="338" y="46"/>
                  <a:pt x="366" y="43"/>
                </a:cubicBezTo>
                <a:cubicBezTo>
                  <a:pt x="365" y="43"/>
                  <a:pt x="363" y="43"/>
                  <a:pt x="362" y="42"/>
                </a:cubicBezTo>
                <a:cubicBezTo>
                  <a:pt x="401" y="41"/>
                  <a:pt x="439" y="38"/>
                  <a:pt x="477" y="36"/>
                </a:cubicBezTo>
                <a:cubicBezTo>
                  <a:pt x="481" y="34"/>
                  <a:pt x="487" y="37"/>
                  <a:pt x="491" y="33"/>
                </a:cubicBezTo>
                <a:cubicBezTo>
                  <a:pt x="486" y="31"/>
                  <a:pt x="479" y="33"/>
                  <a:pt x="474" y="31"/>
                </a:cubicBezTo>
                <a:cubicBezTo>
                  <a:pt x="485" y="29"/>
                  <a:pt x="498" y="31"/>
                  <a:pt x="508" y="28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defTabSz="457200">
              <a:lnSpc>
                <a:spcPct val="130000"/>
              </a:lnSpc>
            </a:pPr>
            <a:endParaRPr lang="zh-CN" altLang="en-US" dirty="0">
              <a:solidFill>
                <a:prstClr val="white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526635" y="4735646"/>
            <a:ext cx="2227055" cy="370546"/>
            <a:chOff x="4654427" y="4718860"/>
            <a:chExt cx="1663809" cy="276971"/>
          </a:xfrm>
        </p:grpSpPr>
        <p:grpSp>
          <p:nvGrpSpPr>
            <p:cNvPr id="12" name="组合 11"/>
            <p:cNvGrpSpPr/>
            <p:nvPr/>
          </p:nvGrpSpPr>
          <p:grpSpPr>
            <a:xfrm>
              <a:off x="4654427" y="4718860"/>
              <a:ext cx="276971" cy="276971"/>
              <a:chOff x="3725237" y="4930504"/>
              <a:chExt cx="531780" cy="531780"/>
            </a:xfrm>
          </p:grpSpPr>
          <p:sp>
            <p:nvSpPr>
              <p:cNvPr id="14" name="圆角矩形 2"/>
              <p:cNvSpPr/>
              <p:nvPr/>
            </p:nvSpPr>
            <p:spPr>
              <a:xfrm>
                <a:off x="3725237" y="4930504"/>
                <a:ext cx="531780" cy="531780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algn="ctr" defTabSz="913765">
                  <a:defRPr/>
                </a:pPr>
                <a:endParaRPr lang="zh-CN" alt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5" name="student-graduation-cap-shape_52041"/>
              <p:cNvSpPr>
                <a:spLocks noChangeAspect="1"/>
              </p:cNvSpPr>
              <p:nvPr/>
            </p:nvSpPr>
            <p:spPr bwMode="auto">
              <a:xfrm>
                <a:off x="3875605" y="5054575"/>
                <a:ext cx="219840" cy="264806"/>
              </a:xfrm>
              <a:custGeom>
                <a:avLst/>
                <a:gdLst>
                  <a:gd name="connsiteX0" fmla="*/ 56671 w 279400"/>
                  <a:gd name="connsiteY0" fmla="*/ 192087 h 336550"/>
                  <a:gd name="connsiteX1" fmla="*/ 224047 w 279400"/>
                  <a:gd name="connsiteY1" fmla="*/ 192087 h 336550"/>
                  <a:gd name="connsiteX2" fmla="*/ 279400 w 279400"/>
                  <a:gd name="connsiteY2" fmla="*/ 247752 h 336550"/>
                  <a:gd name="connsiteX3" fmla="*/ 279400 w 279400"/>
                  <a:gd name="connsiteY3" fmla="*/ 336550 h 336550"/>
                  <a:gd name="connsiteX4" fmla="*/ 176602 w 279400"/>
                  <a:gd name="connsiteY4" fmla="*/ 336550 h 336550"/>
                  <a:gd name="connsiteX5" fmla="*/ 158151 w 279400"/>
                  <a:gd name="connsiteY5" fmla="*/ 245101 h 336550"/>
                  <a:gd name="connsiteX6" fmla="*/ 151562 w 279400"/>
                  <a:gd name="connsiteY6" fmla="*/ 239800 h 336550"/>
                  <a:gd name="connsiteX7" fmla="*/ 167377 w 279400"/>
                  <a:gd name="connsiteY7" fmla="*/ 213293 h 336550"/>
                  <a:gd name="connsiteX8" fmla="*/ 167377 w 279400"/>
                  <a:gd name="connsiteY8" fmla="*/ 209317 h 336550"/>
                  <a:gd name="connsiteX9" fmla="*/ 163423 w 279400"/>
                  <a:gd name="connsiteY9" fmla="*/ 207991 h 336550"/>
                  <a:gd name="connsiteX10" fmla="*/ 121249 w 279400"/>
                  <a:gd name="connsiteY10" fmla="*/ 207991 h 336550"/>
                  <a:gd name="connsiteX11" fmla="*/ 118613 w 279400"/>
                  <a:gd name="connsiteY11" fmla="*/ 209317 h 336550"/>
                  <a:gd name="connsiteX12" fmla="*/ 118613 w 279400"/>
                  <a:gd name="connsiteY12" fmla="*/ 213293 h 336550"/>
                  <a:gd name="connsiteX13" fmla="*/ 134429 w 279400"/>
                  <a:gd name="connsiteY13" fmla="*/ 239800 h 336550"/>
                  <a:gd name="connsiteX14" fmla="*/ 126521 w 279400"/>
                  <a:gd name="connsiteY14" fmla="*/ 245101 h 336550"/>
                  <a:gd name="connsiteX15" fmla="*/ 110706 w 279400"/>
                  <a:gd name="connsiteY15" fmla="*/ 336550 h 336550"/>
                  <a:gd name="connsiteX16" fmla="*/ 0 w 279400"/>
                  <a:gd name="connsiteY16" fmla="*/ 336550 h 336550"/>
                  <a:gd name="connsiteX17" fmla="*/ 0 w 279400"/>
                  <a:gd name="connsiteY17" fmla="*/ 247752 h 336550"/>
                  <a:gd name="connsiteX18" fmla="*/ 56671 w 279400"/>
                  <a:gd name="connsiteY18" fmla="*/ 192087 h 336550"/>
                  <a:gd name="connsiteX19" fmla="*/ 138907 w 279400"/>
                  <a:gd name="connsiteY19" fmla="*/ 0 h 336550"/>
                  <a:gd name="connsiteX20" fmla="*/ 219076 w 279400"/>
                  <a:gd name="connsiteY20" fmla="*/ 80169 h 336550"/>
                  <a:gd name="connsiteX21" fmla="*/ 138907 w 279400"/>
                  <a:gd name="connsiteY21" fmla="*/ 160338 h 336550"/>
                  <a:gd name="connsiteX22" fmla="*/ 58738 w 279400"/>
                  <a:gd name="connsiteY22" fmla="*/ 80169 h 336550"/>
                  <a:gd name="connsiteX23" fmla="*/ 138907 w 279400"/>
                  <a:gd name="connsiteY23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79400" h="336550">
                    <a:moveTo>
                      <a:pt x="56671" y="192087"/>
                    </a:moveTo>
                    <a:cubicBezTo>
                      <a:pt x="56671" y="192087"/>
                      <a:pt x="56671" y="192087"/>
                      <a:pt x="224047" y="192087"/>
                    </a:cubicBezTo>
                    <a:cubicBezTo>
                      <a:pt x="254360" y="192087"/>
                      <a:pt x="279400" y="217269"/>
                      <a:pt x="279400" y="247752"/>
                    </a:cubicBezTo>
                    <a:cubicBezTo>
                      <a:pt x="279400" y="247752"/>
                      <a:pt x="279400" y="247752"/>
                      <a:pt x="279400" y="336550"/>
                    </a:cubicBezTo>
                    <a:cubicBezTo>
                      <a:pt x="279400" y="336550"/>
                      <a:pt x="279400" y="336550"/>
                      <a:pt x="176602" y="336550"/>
                    </a:cubicBezTo>
                    <a:cubicBezTo>
                      <a:pt x="176602" y="336550"/>
                      <a:pt x="176602" y="336550"/>
                      <a:pt x="158151" y="245101"/>
                    </a:cubicBezTo>
                    <a:cubicBezTo>
                      <a:pt x="158151" y="242450"/>
                      <a:pt x="154197" y="239800"/>
                      <a:pt x="151562" y="239800"/>
                    </a:cubicBezTo>
                    <a:cubicBezTo>
                      <a:pt x="151562" y="239800"/>
                      <a:pt x="151562" y="239800"/>
                      <a:pt x="167377" y="213293"/>
                    </a:cubicBezTo>
                    <a:cubicBezTo>
                      <a:pt x="167377" y="211967"/>
                      <a:pt x="167377" y="210642"/>
                      <a:pt x="167377" y="209317"/>
                    </a:cubicBezTo>
                    <a:cubicBezTo>
                      <a:pt x="166059" y="207991"/>
                      <a:pt x="164741" y="207991"/>
                      <a:pt x="163423" y="207991"/>
                    </a:cubicBezTo>
                    <a:cubicBezTo>
                      <a:pt x="163423" y="207991"/>
                      <a:pt x="163423" y="207991"/>
                      <a:pt x="121249" y="207991"/>
                    </a:cubicBezTo>
                    <a:cubicBezTo>
                      <a:pt x="119931" y="207991"/>
                      <a:pt x="118613" y="207991"/>
                      <a:pt x="118613" y="209317"/>
                    </a:cubicBezTo>
                    <a:cubicBezTo>
                      <a:pt x="117296" y="210642"/>
                      <a:pt x="117296" y="211967"/>
                      <a:pt x="118613" y="213293"/>
                    </a:cubicBezTo>
                    <a:cubicBezTo>
                      <a:pt x="118613" y="213293"/>
                      <a:pt x="118613" y="213293"/>
                      <a:pt x="134429" y="239800"/>
                    </a:cubicBezTo>
                    <a:cubicBezTo>
                      <a:pt x="130475" y="239800"/>
                      <a:pt x="127839" y="242450"/>
                      <a:pt x="126521" y="245101"/>
                    </a:cubicBezTo>
                    <a:cubicBezTo>
                      <a:pt x="126521" y="245101"/>
                      <a:pt x="126521" y="245101"/>
                      <a:pt x="110706" y="336550"/>
                    </a:cubicBezTo>
                    <a:cubicBezTo>
                      <a:pt x="110706" y="336550"/>
                      <a:pt x="110706" y="336550"/>
                      <a:pt x="0" y="336550"/>
                    </a:cubicBezTo>
                    <a:cubicBezTo>
                      <a:pt x="0" y="336550"/>
                      <a:pt x="0" y="336550"/>
                      <a:pt x="0" y="247752"/>
                    </a:cubicBezTo>
                    <a:cubicBezTo>
                      <a:pt x="0" y="217269"/>
                      <a:pt x="25040" y="192087"/>
                      <a:pt x="56671" y="192087"/>
                    </a:cubicBezTo>
                    <a:close/>
                    <a:moveTo>
                      <a:pt x="138907" y="0"/>
                    </a:moveTo>
                    <a:cubicBezTo>
                      <a:pt x="183183" y="0"/>
                      <a:pt x="219076" y="35893"/>
                      <a:pt x="219076" y="80169"/>
                    </a:cubicBezTo>
                    <a:cubicBezTo>
                      <a:pt x="219076" y="124445"/>
                      <a:pt x="183183" y="160338"/>
                      <a:pt x="138907" y="160338"/>
                    </a:cubicBezTo>
                    <a:cubicBezTo>
                      <a:pt x="94631" y="160338"/>
                      <a:pt x="58738" y="124445"/>
                      <a:pt x="58738" y="80169"/>
                    </a:cubicBezTo>
                    <a:cubicBezTo>
                      <a:pt x="58738" y="35893"/>
                      <a:pt x="94631" y="0"/>
                      <a:pt x="138907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defTabSz="913765">
                  <a:defRPr/>
                </a:pPr>
                <a:endPara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13" name="文本框 22"/>
            <p:cNvSpPr txBox="1"/>
            <p:nvPr/>
          </p:nvSpPr>
          <p:spPr>
            <a:xfrm>
              <a:off x="4925563" y="4732803"/>
              <a:ext cx="1392673" cy="253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defTabSz="913765">
                <a:defRPr/>
              </a:pPr>
              <a:r>
                <a:rPr lang="zh-CN" altLang="en-US" sz="16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汇报人：周嘉伟</a:t>
              </a: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9022660" y="4735646"/>
            <a:ext cx="2698615" cy="370765"/>
            <a:chOff x="6395842" y="4718860"/>
            <a:chExt cx="2016134" cy="276971"/>
          </a:xfrm>
        </p:grpSpPr>
        <p:grpSp>
          <p:nvGrpSpPr>
            <p:cNvPr id="17" name="组合 16"/>
            <p:cNvGrpSpPr/>
            <p:nvPr/>
          </p:nvGrpSpPr>
          <p:grpSpPr>
            <a:xfrm>
              <a:off x="6395842" y="4718860"/>
              <a:ext cx="276971" cy="276971"/>
              <a:chOff x="6392770" y="4930504"/>
              <a:chExt cx="531780" cy="531780"/>
            </a:xfrm>
          </p:grpSpPr>
          <p:sp>
            <p:nvSpPr>
              <p:cNvPr id="19" name="圆角矩形 2"/>
              <p:cNvSpPr/>
              <p:nvPr/>
            </p:nvSpPr>
            <p:spPr>
              <a:xfrm>
                <a:off x="6392770" y="4930504"/>
                <a:ext cx="531780" cy="531780"/>
              </a:xfrm>
              <a:prstGeom prst="ellipse">
                <a:avLst/>
              </a:prstGeom>
              <a:solidFill>
                <a:srgbClr val="0070C0"/>
              </a:solidFill>
              <a:ln w="25400" cap="flat" cmpd="sng" algn="ctr">
                <a:noFill/>
                <a:prstDash val="solid"/>
                <a:miter lim="800000"/>
              </a:ln>
              <a:effectLst>
                <a:outerShdw blurRad="177800" dist="101600" dir="8100000" algn="tr" rotWithShape="0">
                  <a:prstClr val="black">
                    <a:alpha val="30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algn="ctr" defTabSz="913765">
                  <a:defRPr/>
                </a:pPr>
                <a:endParaRPr lang="zh-CN" altLang="en-US" sz="1400" b="1" dirty="0">
                  <a:solidFill>
                    <a:srgbClr val="FFFFFF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20" name="student-graduation-cap-shape_52041"/>
              <p:cNvSpPr>
                <a:spLocks noChangeAspect="1"/>
              </p:cNvSpPr>
              <p:nvPr/>
            </p:nvSpPr>
            <p:spPr bwMode="auto">
              <a:xfrm>
                <a:off x="6527005" y="5064598"/>
                <a:ext cx="256066" cy="264808"/>
              </a:xfrm>
              <a:custGeom>
                <a:avLst/>
                <a:gdLst>
                  <a:gd name="connsiteX0" fmla="*/ 233363 w 325438"/>
                  <a:gd name="connsiteY0" fmla="*/ 249238 h 336550"/>
                  <a:gd name="connsiteX1" fmla="*/ 279401 w 325438"/>
                  <a:gd name="connsiteY1" fmla="*/ 249238 h 336550"/>
                  <a:gd name="connsiteX2" fmla="*/ 279401 w 325438"/>
                  <a:gd name="connsiteY2" fmla="*/ 290513 h 336550"/>
                  <a:gd name="connsiteX3" fmla="*/ 233363 w 325438"/>
                  <a:gd name="connsiteY3" fmla="*/ 290513 h 336550"/>
                  <a:gd name="connsiteX4" fmla="*/ 171450 w 325438"/>
                  <a:gd name="connsiteY4" fmla="*/ 249238 h 336550"/>
                  <a:gd name="connsiteX5" fmla="*/ 217488 w 325438"/>
                  <a:gd name="connsiteY5" fmla="*/ 249238 h 336550"/>
                  <a:gd name="connsiteX6" fmla="*/ 217488 w 325438"/>
                  <a:gd name="connsiteY6" fmla="*/ 290513 h 336550"/>
                  <a:gd name="connsiteX7" fmla="*/ 171450 w 325438"/>
                  <a:gd name="connsiteY7" fmla="*/ 290513 h 336550"/>
                  <a:gd name="connsiteX8" fmla="*/ 107950 w 325438"/>
                  <a:gd name="connsiteY8" fmla="*/ 249238 h 336550"/>
                  <a:gd name="connsiteX9" fmla="*/ 155575 w 325438"/>
                  <a:gd name="connsiteY9" fmla="*/ 249238 h 336550"/>
                  <a:gd name="connsiteX10" fmla="*/ 155575 w 325438"/>
                  <a:gd name="connsiteY10" fmla="*/ 290513 h 336550"/>
                  <a:gd name="connsiteX11" fmla="*/ 107950 w 325438"/>
                  <a:gd name="connsiteY11" fmla="*/ 290513 h 336550"/>
                  <a:gd name="connsiteX12" fmla="*/ 46038 w 325438"/>
                  <a:gd name="connsiteY12" fmla="*/ 249238 h 336550"/>
                  <a:gd name="connsiteX13" fmla="*/ 93663 w 325438"/>
                  <a:gd name="connsiteY13" fmla="*/ 249238 h 336550"/>
                  <a:gd name="connsiteX14" fmla="*/ 93663 w 325438"/>
                  <a:gd name="connsiteY14" fmla="*/ 290513 h 336550"/>
                  <a:gd name="connsiteX15" fmla="*/ 46038 w 325438"/>
                  <a:gd name="connsiteY15" fmla="*/ 290513 h 336550"/>
                  <a:gd name="connsiteX16" fmla="*/ 233363 w 325438"/>
                  <a:gd name="connsiteY16" fmla="*/ 195263 h 336550"/>
                  <a:gd name="connsiteX17" fmla="*/ 279401 w 325438"/>
                  <a:gd name="connsiteY17" fmla="*/ 195263 h 336550"/>
                  <a:gd name="connsiteX18" fmla="*/ 279401 w 325438"/>
                  <a:gd name="connsiteY18" fmla="*/ 234951 h 336550"/>
                  <a:gd name="connsiteX19" fmla="*/ 233363 w 325438"/>
                  <a:gd name="connsiteY19" fmla="*/ 234951 h 336550"/>
                  <a:gd name="connsiteX20" fmla="*/ 171450 w 325438"/>
                  <a:gd name="connsiteY20" fmla="*/ 195263 h 336550"/>
                  <a:gd name="connsiteX21" fmla="*/ 217488 w 325438"/>
                  <a:gd name="connsiteY21" fmla="*/ 195263 h 336550"/>
                  <a:gd name="connsiteX22" fmla="*/ 217488 w 325438"/>
                  <a:gd name="connsiteY22" fmla="*/ 234951 h 336550"/>
                  <a:gd name="connsiteX23" fmla="*/ 171450 w 325438"/>
                  <a:gd name="connsiteY23" fmla="*/ 234951 h 336550"/>
                  <a:gd name="connsiteX24" fmla="*/ 107950 w 325438"/>
                  <a:gd name="connsiteY24" fmla="*/ 195263 h 336550"/>
                  <a:gd name="connsiteX25" fmla="*/ 155575 w 325438"/>
                  <a:gd name="connsiteY25" fmla="*/ 195263 h 336550"/>
                  <a:gd name="connsiteX26" fmla="*/ 155575 w 325438"/>
                  <a:gd name="connsiteY26" fmla="*/ 234951 h 336550"/>
                  <a:gd name="connsiteX27" fmla="*/ 107950 w 325438"/>
                  <a:gd name="connsiteY27" fmla="*/ 234951 h 336550"/>
                  <a:gd name="connsiteX28" fmla="*/ 46038 w 325438"/>
                  <a:gd name="connsiteY28" fmla="*/ 195263 h 336550"/>
                  <a:gd name="connsiteX29" fmla="*/ 93663 w 325438"/>
                  <a:gd name="connsiteY29" fmla="*/ 195263 h 336550"/>
                  <a:gd name="connsiteX30" fmla="*/ 93663 w 325438"/>
                  <a:gd name="connsiteY30" fmla="*/ 234951 h 336550"/>
                  <a:gd name="connsiteX31" fmla="*/ 46038 w 325438"/>
                  <a:gd name="connsiteY31" fmla="*/ 234951 h 336550"/>
                  <a:gd name="connsiteX32" fmla="*/ 233363 w 325438"/>
                  <a:gd name="connsiteY32" fmla="*/ 139700 h 336550"/>
                  <a:gd name="connsiteX33" fmla="*/ 279401 w 325438"/>
                  <a:gd name="connsiteY33" fmla="*/ 139700 h 336550"/>
                  <a:gd name="connsiteX34" fmla="*/ 279401 w 325438"/>
                  <a:gd name="connsiteY34" fmla="*/ 180975 h 336550"/>
                  <a:gd name="connsiteX35" fmla="*/ 233363 w 325438"/>
                  <a:gd name="connsiteY35" fmla="*/ 180975 h 336550"/>
                  <a:gd name="connsiteX36" fmla="*/ 171450 w 325438"/>
                  <a:gd name="connsiteY36" fmla="*/ 139700 h 336550"/>
                  <a:gd name="connsiteX37" fmla="*/ 217488 w 325438"/>
                  <a:gd name="connsiteY37" fmla="*/ 139700 h 336550"/>
                  <a:gd name="connsiteX38" fmla="*/ 217488 w 325438"/>
                  <a:gd name="connsiteY38" fmla="*/ 180975 h 336550"/>
                  <a:gd name="connsiteX39" fmla="*/ 171450 w 325438"/>
                  <a:gd name="connsiteY39" fmla="*/ 180975 h 336550"/>
                  <a:gd name="connsiteX40" fmla="*/ 107950 w 325438"/>
                  <a:gd name="connsiteY40" fmla="*/ 139700 h 336550"/>
                  <a:gd name="connsiteX41" fmla="*/ 155575 w 325438"/>
                  <a:gd name="connsiteY41" fmla="*/ 139700 h 336550"/>
                  <a:gd name="connsiteX42" fmla="*/ 155575 w 325438"/>
                  <a:gd name="connsiteY42" fmla="*/ 180975 h 336550"/>
                  <a:gd name="connsiteX43" fmla="*/ 107950 w 325438"/>
                  <a:gd name="connsiteY43" fmla="*/ 180975 h 336550"/>
                  <a:gd name="connsiteX44" fmla="*/ 49167 w 325438"/>
                  <a:gd name="connsiteY44" fmla="*/ 38100 h 336550"/>
                  <a:gd name="connsiteX45" fmla="*/ 25400 w 325438"/>
                  <a:gd name="connsiteY45" fmla="*/ 61753 h 336550"/>
                  <a:gd name="connsiteX46" fmla="*/ 25400 w 325438"/>
                  <a:gd name="connsiteY46" fmla="*/ 289085 h 336550"/>
                  <a:gd name="connsiteX47" fmla="*/ 49167 w 325438"/>
                  <a:gd name="connsiteY47" fmla="*/ 312738 h 336550"/>
                  <a:gd name="connsiteX48" fmla="*/ 276271 w 325438"/>
                  <a:gd name="connsiteY48" fmla="*/ 312738 h 336550"/>
                  <a:gd name="connsiteX49" fmla="*/ 300038 w 325438"/>
                  <a:gd name="connsiteY49" fmla="*/ 289085 h 336550"/>
                  <a:gd name="connsiteX50" fmla="*/ 300038 w 325438"/>
                  <a:gd name="connsiteY50" fmla="*/ 61753 h 336550"/>
                  <a:gd name="connsiteX51" fmla="*/ 276271 w 325438"/>
                  <a:gd name="connsiteY51" fmla="*/ 38100 h 336550"/>
                  <a:gd name="connsiteX52" fmla="*/ 269669 w 325438"/>
                  <a:gd name="connsiteY52" fmla="*/ 38100 h 336550"/>
                  <a:gd name="connsiteX53" fmla="*/ 269669 w 325438"/>
                  <a:gd name="connsiteY53" fmla="*/ 63067 h 336550"/>
                  <a:gd name="connsiteX54" fmla="*/ 276271 w 325438"/>
                  <a:gd name="connsiteY54" fmla="*/ 74894 h 336550"/>
                  <a:gd name="connsiteX55" fmla="*/ 260427 w 325438"/>
                  <a:gd name="connsiteY55" fmla="*/ 90662 h 336550"/>
                  <a:gd name="connsiteX56" fmla="*/ 244582 w 325438"/>
                  <a:gd name="connsiteY56" fmla="*/ 74894 h 336550"/>
                  <a:gd name="connsiteX57" fmla="*/ 249864 w 325438"/>
                  <a:gd name="connsiteY57" fmla="*/ 63067 h 336550"/>
                  <a:gd name="connsiteX58" fmla="*/ 249864 w 325438"/>
                  <a:gd name="connsiteY58" fmla="*/ 38100 h 336550"/>
                  <a:gd name="connsiteX59" fmla="*/ 231379 w 325438"/>
                  <a:gd name="connsiteY59" fmla="*/ 38100 h 336550"/>
                  <a:gd name="connsiteX60" fmla="*/ 231379 w 325438"/>
                  <a:gd name="connsiteY60" fmla="*/ 63067 h 336550"/>
                  <a:gd name="connsiteX61" fmla="*/ 236660 w 325438"/>
                  <a:gd name="connsiteY61" fmla="*/ 74894 h 336550"/>
                  <a:gd name="connsiteX62" fmla="*/ 220816 w 325438"/>
                  <a:gd name="connsiteY62" fmla="*/ 90662 h 336550"/>
                  <a:gd name="connsiteX63" fmla="*/ 204971 w 325438"/>
                  <a:gd name="connsiteY63" fmla="*/ 74894 h 336550"/>
                  <a:gd name="connsiteX64" fmla="*/ 210253 w 325438"/>
                  <a:gd name="connsiteY64" fmla="*/ 63067 h 336550"/>
                  <a:gd name="connsiteX65" fmla="*/ 210253 w 325438"/>
                  <a:gd name="connsiteY65" fmla="*/ 38100 h 336550"/>
                  <a:gd name="connsiteX66" fmla="*/ 191767 w 325438"/>
                  <a:gd name="connsiteY66" fmla="*/ 38100 h 336550"/>
                  <a:gd name="connsiteX67" fmla="*/ 191767 w 325438"/>
                  <a:gd name="connsiteY67" fmla="*/ 63067 h 336550"/>
                  <a:gd name="connsiteX68" fmla="*/ 198369 w 325438"/>
                  <a:gd name="connsiteY68" fmla="*/ 74894 h 336550"/>
                  <a:gd name="connsiteX69" fmla="*/ 182525 w 325438"/>
                  <a:gd name="connsiteY69" fmla="*/ 90662 h 336550"/>
                  <a:gd name="connsiteX70" fmla="*/ 166680 w 325438"/>
                  <a:gd name="connsiteY70" fmla="*/ 74894 h 336550"/>
                  <a:gd name="connsiteX71" fmla="*/ 171962 w 325438"/>
                  <a:gd name="connsiteY71" fmla="*/ 63067 h 336550"/>
                  <a:gd name="connsiteX72" fmla="*/ 171962 w 325438"/>
                  <a:gd name="connsiteY72" fmla="*/ 38100 h 336550"/>
                  <a:gd name="connsiteX73" fmla="*/ 153476 w 325438"/>
                  <a:gd name="connsiteY73" fmla="*/ 38100 h 336550"/>
                  <a:gd name="connsiteX74" fmla="*/ 153476 w 325438"/>
                  <a:gd name="connsiteY74" fmla="*/ 63067 h 336550"/>
                  <a:gd name="connsiteX75" fmla="*/ 158758 w 325438"/>
                  <a:gd name="connsiteY75" fmla="*/ 74894 h 336550"/>
                  <a:gd name="connsiteX76" fmla="*/ 142913 w 325438"/>
                  <a:gd name="connsiteY76" fmla="*/ 90662 h 336550"/>
                  <a:gd name="connsiteX77" fmla="*/ 127069 w 325438"/>
                  <a:gd name="connsiteY77" fmla="*/ 74894 h 336550"/>
                  <a:gd name="connsiteX78" fmla="*/ 133671 w 325438"/>
                  <a:gd name="connsiteY78" fmla="*/ 63067 h 336550"/>
                  <a:gd name="connsiteX79" fmla="*/ 133671 w 325438"/>
                  <a:gd name="connsiteY79" fmla="*/ 38100 h 336550"/>
                  <a:gd name="connsiteX80" fmla="*/ 115186 w 325438"/>
                  <a:gd name="connsiteY80" fmla="*/ 38100 h 336550"/>
                  <a:gd name="connsiteX81" fmla="*/ 115186 w 325438"/>
                  <a:gd name="connsiteY81" fmla="*/ 63067 h 336550"/>
                  <a:gd name="connsiteX82" fmla="*/ 120467 w 325438"/>
                  <a:gd name="connsiteY82" fmla="*/ 74894 h 336550"/>
                  <a:gd name="connsiteX83" fmla="*/ 104623 w 325438"/>
                  <a:gd name="connsiteY83" fmla="*/ 90662 h 336550"/>
                  <a:gd name="connsiteX84" fmla="*/ 88778 w 325438"/>
                  <a:gd name="connsiteY84" fmla="*/ 74894 h 336550"/>
                  <a:gd name="connsiteX85" fmla="*/ 94060 w 325438"/>
                  <a:gd name="connsiteY85" fmla="*/ 63067 h 336550"/>
                  <a:gd name="connsiteX86" fmla="*/ 94060 w 325438"/>
                  <a:gd name="connsiteY86" fmla="*/ 38100 h 336550"/>
                  <a:gd name="connsiteX87" fmla="*/ 75574 w 325438"/>
                  <a:gd name="connsiteY87" fmla="*/ 38100 h 336550"/>
                  <a:gd name="connsiteX88" fmla="*/ 75574 w 325438"/>
                  <a:gd name="connsiteY88" fmla="*/ 63067 h 336550"/>
                  <a:gd name="connsiteX89" fmla="*/ 80856 w 325438"/>
                  <a:gd name="connsiteY89" fmla="*/ 74894 h 336550"/>
                  <a:gd name="connsiteX90" fmla="*/ 65011 w 325438"/>
                  <a:gd name="connsiteY90" fmla="*/ 90662 h 336550"/>
                  <a:gd name="connsiteX91" fmla="*/ 49167 w 325438"/>
                  <a:gd name="connsiteY91" fmla="*/ 74894 h 336550"/>
                  <a:gd name="connsiteX92" fmla="*/ 55769 w 325438"/>
                  <a:gd name="connsiteY92" fmla="*/ 63067 h 336550"/>
                  <a:gd name="connsiteX93" fmla="*/ 55769 w 325438"/>
                  <a:gd name="connsiteY93" fmla="*/ 38100 h 336550"/>
                  <a:gd name="connsiteX94" fmla="*/ 49167 w 325438"/>
                  <a:gd name="connsiteY94" fmla="*/ 38100 h 336550"/>
                  <a:gd name="connsiteX95" fmla="*/ 65315 w 325438"/>
                  <a:gd name="connsiteY95" fmla="*/ 4763 h 336550"/>
                  <a:gd name="connsiteX96" fmla="*/ 61913 w 325438"/>
                  <a:gd name="connsiteY96" fmla="*/ 10110 h 336550"/>
                  <a:gd name="connsiteX97" fmla="*/ 61913 w 325438"/>
                  <a:gd name="connsiteY97" fmla="*/ 75616 h 336550"/>
                  <a:gd name="connsiteX98" fmla="*/ 65315 w 325438"/>
                  <a:gd name="connsiteY98" fmla="*/ 80963 h 336550"/>
                  <a:gd name="connsiteX99" fmla="*/ 69851 w 325438"/>
                  <a:gd name="connsiteY99" fmla="*/ 75616 h 336550"/>
                  <a:gd name="connsiteX100" fmla="*/ 69851 w 325438"/>
                  <a:gd name="connsiteY100" fmla="*/ 10110 h 336550"/>
                  <a:gd name="connsiteX101" fmla="*/ 65315 w 325438"/>
                  <a:gd name="connsiteY101" fmla="*/ 4763 h 336550"/>
                  <a:gd name="connsiteX102" fmla="*/ 104776 w 325438"/>
                  <a:gd name="connsiteY102" fmla="*/ 4763 h 336550"/>
                  <a:gd name="connsiteX103" fmla="*/ 100013 w 325438"/>
                  <a:gd name="connsiteY103" fmla="*/ 10110 h 336550"/>
                  <a:gd name="connsiteX104" fmla="*/ 100013 w 325438"/>
                  <a:gd name="connsiteY104" fmla="*/ 75616 h 336550"/>
                  <a:gd name="connsiteX105" fmla="*/ 104776 w 325438"/>
                  <a:gd name="connsiteY105" fmla="*/ 80963 h 336550"/>
                  <a:gd name="connsiteX106" fmla="*/ 109538 w 325438"/>
                  <a:gd name="connsiteY106" fmla="*/ 75616 h 336550"/>
                  <a:gd name="connsiteX107" fmla="*/ 109538 w 325438"/>
                  <a:gd name="connsiteY107" fmla="*/ 10110 h 336550"/>
                  <a:gd name="connsiteX108" fmla="*/ 104776 w 325438"/>
                  <a:gd name="connsiteY108" fmla="*/ 4763 h 336550"/>
                  <a:gd name="connsiteX109" fmla="*/ 142876 w 325438"/>
                  <a:gd name="connsiteY109" fmla="*/ 4763 h 336550"/>
                  <a:gd name="connsiteX110" fmla="*/ 138113 w 325438"/>
                  <a:gd name="connsiteY110" fmla="*/ 10110 h 336550"/>
                  <a:gd name="connsiteX111" fmla="*/ 138113 w 325438"/>
                  <a:gd name="connsiteY111" fmla="*/ 75616 h 336550"/>
                  <a:gd name="connsiteX112" fmla="*/ 142876 w 325438"/>
                  <a:gd name="connsiteY112" fmla="*/ 80963 h 336550"/>
                  <a:gd name="connsiteX113" fmla="*/ 147638 w 325438"/>
                  <a:gd name="connsiteY113" fmla="*/ 75616 h 336550"/>
                  <a:gd name="connsiteX114" fmla="*/ 147638 w 325438"/>
                  <a:gd name="connsiteY114" fmla="*/ 10110 h 336550"/>
                  <a:gd name="connsiteX115" fmla="*/ 142876 w 325438"/>
                  <a:gd name="connsiteY115" fmla="*/ 4763 h 336550"/>
                  <a:gd name="connsiteX116" fmla="*/ 182563 w 325438"/>
                  <a:gd name="connsiteY116" fmla="*/ 4763 h 336550"/>
                  <a:gd name="connsiteX117" fmla="*/ 177800 w 325438"/>
                  <a:gd name="connsiteY117" fmla="*/ 10110 h 336550"/>
                  <a:gd name="connsiteX118" fmla="*/ 177800 w 325438"/>
                  <a:gd name="connsiteY118" fmla="*/ 75616 h 336550"/>
                  <a:gd name="connsiteX119" fmla="*/ 182563 w 325438"/>
                  <a:gd name="connsiteY119" fmla="*/ 80963 h 336550"/>
                  <a:gd name="connsiteX120" fmla="*/ 187325 w 325438"/>
                  <a:gd name="connsiteY120" fmla="*/ 75616 h 336550"/>
                  <a:gd name="connsiteX121" fmla="*/ 187325 w 325438"/>
                  <a:gd name="connsiteY121" fmla="*/ 10110 h 336550"/>
                  <a:gd name="connsiteX122" fmla="*/ 182563 w 325438"/>
                  <a:gd name="connsiteY122" fmla="*/ 4763 h 336550"/>
                  <a:gd name="connsiteX123" fmla="*/ 220663 w 325438"/>
                  <a:gd name="connsiteY123" fmla="*/ 4763 h 336550"/>
                  <a:gd name="connsiteX124" fmla="*/ 215900 w 325438"/>
                  <a:gd name="connsiteY124" fmla="*/ 10110 h 336550"/>
                  <a:gd name="connsiteX125" fmla="*/ 215900 w 325438"/>
                  <a:gd name="connsiteY125" fmla="*/ 75616 h 336550"/>
                  <a:gd name="connsiteX126" fmla="*/ 220663 w 325438"/>
                  <a:gd name="connsiteY126" fmla="*/ 80963 h 336550"/>
                  <a:gd name="connsiteX127" fmla="*/ 225425 w 325438"/>
                  <a:gd name="connsiteY127" fmla="*/ 75616 h 336550"/>
                  <a:gd name="connsiteX128" fmla="*/ 225425 w 325438"/>
                  <a:gd name="connsiteY128" fmla="*/ 10110 h 336550"/>
                  <a:gd name="connsiteX129" fmla="*/ 220663 w 325438"/>
                  <a:gd name="connsiteY129" fmla="*/ 4763 h 336550"/>
                  <a:gd name="connsiteX130" fmla="*/ 260124 w 325438"/>
                  <a:gd name="connsiteY130" fmla="*/ 4763 h 336550"/>
                  <a:gd name="connsiteX131" fmla="*/ 255588 w 325438"/>
                  <a:gd name="connsiteY131" fmla="*/ 10110 h 336550"/>
                  <a:gd name="connsiteX132" fmla="*/ 255588 w 325438"/>
                  <a:gd name="connsiteY132" fmla="*/ 75616 h 336550"/>
                  <a:gd name="connsiteX133" fmla="*/ 260124 w 325438"/>
                  <a:gd name="connsiteY133" fmla="*/ 80963 h 336550"/>
                  <a:gd name="connsiteX134" fmla="*/ 263526 w 325438"/>
                  <a:gd name="connsiteY134" fmla="*/ 75616 h 336550"/>
                  <a:gd name="connsiteX135" fmla="*/ 263526 w 325438"/>
                  <a:gd name="connsiteY135" fmla="*/ 10110 h 336550"/>
                  <a:gd name="connsiteX136" fmla="*/ 260124 w 325438"/>
                  <a:gd name="connsiteY136" fmla="*/ 4763 h 336550"/>
                  <a:gd name="connsiteX137" fmla="*/ 64823 w 325438"/>
                  <a:gd name="connsiteY137" fmla="*/ 0 h 336550"/>
                  <a:gd name="connsiteX138" fmla="*/ 75406 w 325438"/>
                  <a:gd name="connsiteY138" fmla="*/ 10517 h 336550"/>
                  <a:gd name="connsiteX139" fmla="*/ 75406 w 325438"/>
                  <a:gd name="connsiteY139" fmla="*/ 14461 h 336550"/>
                  <a:gd name="connsiteX140" fmla="*/ 93927 w 325438"/>
                  <a:gd name="connsiteY140" fmla="*/ 14461 h 336550"/>
                  <a:gd name="connsiteX141" fmla="*/ 93927 w 325438"/>
                  <a:gd name="connsiteY141" fmla="*/ 10517 h 336550"/>
                  <a:gd name="connsiteX142" fmla="*/ 104511 w 325438"/>
                  <a:gd name="connsiteY142" fmla="*/ 0 h 336550"/>
                  <a:gd name="connsiteX143" fmla="*/ 115094 w 325438"/>
                  <a:gd name="connsiteY143" fmla="*/ 10517 h 336550"/>
                  <a:gd name="connsiteX144" fmla="*/ 115094 w 325438"/>
                  <a:gd name="connsiteY144" fmla="*/ 14461 h 336550"/>
                  <a:gd name="connsiteX145" fmla="*/ 133615 w 325438"/>
                  <a:gd name="connsiteY145" fmla="*/ 14461 h 336550"/>
                  <a:gd name="connsiteX146" fmla="*/ 133615 w 325438"/>
                  <a:gd name="connsiteY146" fmla="*/ 10517 h 336550"/>
                  <a:gd name="connsiteX147" fmla="*/ 142875 w 325438"/>
                  <a:gd name="connsiteY147" fmla="*/ 0 h 336550"/>
                  <a:gd name="connsiteX148" fmla="*/ 153459 w 325438"/>
                  <a:gd name="connsiteY148" fmla="*/ 10517 h 336550"/>
                  <a:gd name="connsiteX149" fmla="*/ 153459 w 325438"/>
                  <a:gd name="connsiteY149" fmla="*/ 14461 h 336550"/>
                  <a:gd name="connsiteX150" fmla="*/ 171980 w 325438"/>
                  <a:gd name="connsiteY150" fmla="*/ 14461 h 336550"/>
                  <a:gd name="connsiteX151" fmla="*/ 171980 w 325438"/>
                  <a:gd name="connsiteY151" fmla="*/ 10517 h 336550"/>
                  <a:gd name="connsiteX152" fmla="*/ 182563 w 325438"/>
                  <a:gd name="connsiteY152" fmla="*/ 0 h 336550"/>
                  <a:gd name="connsiteX153" fmla="*/ 191823 w 325438"/>
                  <a:gd name="connsiteY153" fmla="*/ 10517 h 336550"/>
                  <a:gd name="connsiteX154" fmla="*/ 191823 w 325438"/>
                  <a:gd name="connsiteY154" fmla="*/ 14461 h 336550"/>
                  <a:gd name="connsiteX155" fmla="*/ 210344 w 325438"/>
                  <a:gd name="connsiteY155" fmla="*/ 14461 h 336550"/>
                  <a:gd name="connsiteX156" fmla="*/ 210344 w 325438"/>
                  <a:gd name="connsiteY156" fmla="*/ 10517 h 336550"/>
                  <a:gd name="connsiteX157" fmla="*/ 220927 w 325438"/>
                  <a:gd name="connsiteY157" fmla="*/ 0 h 336550"/>
                  <a:gd name="connsiteX158" fmla="*/ 231511 w 325438"/>
                  <a:gd name="connsiteY158" fmla="*/ 10517 h 336550"/>
                  <a:gd name="connsiteX159" fmla="*/ 231511 w 325438"/>
                  <a:gd name="connsiteY159" fmla="*/ 14461 h 336550"/>
                  <a:gd name="connsiteX160" fmla="*/ 250032 w 325438"/>
                  <a:gd name="connsiteY160" fmla="*/ 14461 h 336550"/>
                  <a:gd name="connsiteX161" fmla="*/ 250032 w 325438"/>
                  <a:gd name="connsiteY161" fmla="*/ 10517 h 336550"/>
                  <a:gd name="connsiteX162" fmla="*/ 260615 w 325438"/>
                  <a:gd name="connsiteY162" fmla="*/ 0 h 336550"/>
                  <a:gd name="connsiteX163" fmla="*/ 269875 w 325438"/>
                  <a:gd name="connsiteY163" fmla="*/ 10517 h 336550"/>
                  <a:gd name="connsiteX164" fmla="*/ 269875 w 325438"/>
                  <a:gd name="connsiteY164" fmla="*/ 14461 h 336550"/>
                  <a:gd name="connsiteX165" fmla="*/ 276490 w 325438"/>
                  <a:gd name="connsiteY165" fmla="*/ 14461 h 336550"/>
                  <a:gd name="connsiteX166" fmla="*/ 325438 w 325438"/>
                  <a:gd name="connsiteY166" fmla="*/ 61789 h 336550"/>
                  <a:gd name="connsiteX167" fmla="*/ 325438 w 325438"/>
                  <a:gd name="connsiteY167" fmla="*/ 289223 h 336550"/>
                  <a:gd name="connsiteX168" fmla="*/ 276490 w 325438"/>
                  <a:gd name="connsiteY168" fmla="*/ 336550 h 336550"/>
                  <a:gd name="connsiteX169" fmla="*/ 48948 w 325438"/>
                  <a:gd name="connsiteY169" fmla="*/ 336550 h 336550"/>
                  <a:gd name="connsiteX170" fmla="*/ 0 w 325438"/>
                  <a:gd name="connsiteY170" fmla="*/ 289223 h 336550"/>
                  <a:gd name="connsiteX171" fmla="*/ 0 w 325438"/>
                  <a:gd name="connsiteY171" fmla="*/ 61789 h 336550"/>
                  <a:gd name="connsiteX172" fmla="*/ 48948 w 325438"/>
                  <a:gd name="connsiteY172" fmla="*/ 14461 h 336550"/>
                  <a:gd name="connsiteX173" fmla="*/ 55563 w 325438"/>
                  <a:gd name="connsiteY173" fmla="*/ 14461 h 336550"/>
                  <a:gd name="connsiteX174" fmla="*/ 55563 w 325438"/>
                  <a:gd name="connsiteY174" fmla="*/ 10517 h 336550"/>
                  <a:gd name="connsiteX175" fmla="*/ 64823 w 325438"/>
                  <a:gd name="connsiteY175" fmla="*/ 0 h 33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</a:cxnLst>
                <a:rect l="l" t="t" r="r" b="b"/>
                <a:pathLst>
                  <a:path w="325438" h="336550">
                    <a:moveTo>
                      <a:pt x="233363" y="249238"/>
                    </a:moveTo>
                    <a:lnTo>
                      <a:pt x="279401" y="249238"/>
                    </a:lnTo>
                    <a:lnTo>
                      <a:pt x="279401" y="290513"/>
                    </a:lnTo>
                    <a:lnTo>
                      <a:pt x="233363" y="290513"/>
                    </a:lnTo>
                    <a:close/>
                    <a:moveTo>
                      <a:pt x="171450" y="249238"/>
                    </a:moveTo>
                    <a:lnTo>
                      <a:pt x="217488" y="249238"/>
                    </a:lnTo>
                    <a:lnTo>
                      <a:pt x="217488" y="290513"/>
                    </a:lnTo>
                    <a:lnTo>
                      <a:pt x="171450" y="290513"/>
                    </a:lnTo>
                    <a:close/>
                    <a:moveTo>
                      <a:pt x="107950" y="249238"/>
                    </a:moveTo>
                    <a:lnTo>
                      <a:pt x="155575" y="249238"/>
                    </a:lnTo>
                    <a:lnTo>
                      <a:pt x="155575" y="290513"/>
                    </a:lnTo>
                    <a:lnTo>
                      <a:pt x="107950" y="290513"/>
                    </a:lnTo>
                    <a:close/>
                    <a:moveTo>
                      <a:pt x="46038" y="249238"/>
                    </a:moveTo>
                    <a:lnTo>
                      <a:pt x="93663" y="249238"/>
                    </a:lnTo>
                    <a:lnTo>
                      <a:pt x="93663" y="290513"/>
                    </a:lnTo>
                    <a:lnTo>
                      <a:pt x="46038" y="290513"/>
                    </a:lnTo>
                    <a:close/>
                    <a:moveTo>
                      <a:pt x="233363" y="195263"/>
                    </a:moveTo>
                    <a:lnTo>
                      <a:pt x="279401" y="195263"/>
                    </a:lnTo>
                    <a:lnTo>
                      <a:pt x="279401" y="234951"/>
                    </a:lnTo>
                    <a:lnTo>
                      <a:pt x="233363" y="234951"/>
                    </a:lnTo>
                    <a:close/>
                    <a:moveTo>
                      <a:pt x="171450" y="195263"/>
                    </a:moveTo>
                    <a:lnTo>
                      <a:pt x="217488" y="195263"/>
                    </a:lnTo>
                    <a:lnTo>
                      <a:pt x="217488" y="234951"/>
                    </a:lnTo>
                    <a:lnTo>
                      <a:pt x="171450" y="234951"/>
                    </a:lnTo>
                    <a:close/>
                    <a:moveTo>
                      <a:pt x="107950" y="195263"/>
                    </a:moveTo>
                    <a:lnTo>
                      <a:pt x="155575" y="195263"/>
                    </a:lnTo>
                    <a:lnTo>
                      <a:pt x="155575" y="234951"/>
                    </a:lnTo>
                    <a:lnTo>
                      <a:pt x="107950" y="234951"/>
                    </a:lnTo>
                    <a:close/>
                    <a:moveTo>
                      <a:pt x="46038" y="195263"/>
                    </a:moveTo>
                    <a:lnTo>
                      <a:pt x="93663" y="195263"/>
                    </a:lnTo>
                    <a:lnTo>
                      <a:pt x="93663" y="234951"/>
                    </a:lnTo>
                    <a:lnTo>
                      <a:pt x="46038" y="234951"/>
                    </a:lnTo>
                    <a:close/>
                    <a:moveTo>
                      <a:pt x="233363" y="139700"/>
                    </a:moveTo>
                    <a:lnTo>
                      <a:pt x="279401" y="139700"/>
                    </a:lnTo>
                    <a:lnTo>
                      <a:pt x="279401" y="180975"/>
                    </a:lnTo>
                    <a:lnTo>
                      <a:pt x="233363" y="180975"/>
                    </a:lnTo>
                    <a:close/>
                    <a:moveTo>
                      <a:pt x="171450" y="139700"/>
                    </a:moveTo>
                    <a:lnTo>
                      <a:pt x="217488" y="139700"/>
                    </a:lnTo>
                    <a:lnTo>
                      <a:pt x="217488" y="180975"/>
                    </a:lnTo>
                    <a:lnTo>
                      <a:pt x="171450" y="180975"/>
                    </a:lnTo>
                    <a:close/>
                    <a:moveTo>
                      <a:pt x="107950" y="139700"/>
                    </a:moveTo>
                    <a:lnTo>
                      <a:pt x="155575" y="139700"/>
                    </a:lnTo>
                    <a:lnTo>
                      <a:pt x="155575" y="180975"/>
                    </a:lnTo>
                    <a:lnTo>
                      <a:pt x="107950" y="180975"/>
                    </a:lnTo>
                    <a:close/>
                    <a:moveTo>
                      <a:pt x="49167" y="38100"/>
                    </a:moveTo>
                    <a:cubicBezTo>
                      <a:pt x="35963" y="38100"/>
                      <a:pt x="25400" y="48613"/>
                      <a:pt x="25400" y="61753"/>
                    </a:cubicBezTo>
                    <a:cubicBezTo>
                      <a:pt x="25400" y="61753"/>
                      <a:pt x="25400" y="61753"/>
                      <a:pt x="25400" y="289085"/>
                    </a:cubicBezTo>
                    <a:cubicBezTo>
                      <a:pt x="25400" y="302226"/>
                      <a:pt x="35963" y="312738"/>
                      <a:pt x="49167" y="312738"/>
                    </a:cubicBezTo>
                    <a:cubicBezTo>
                      <a:pt x="49167" y="312738"/>
                      <a:pt x="49167" y="312738"/>
                      <a:pt x="276271" y="312738"/>
                    </a:cubicBezTo>
                    <a:cubicBezTo>
                      <a:pt x="289475" y="312738"/>
                      <a:pt x="300038" y="302226"/>
                      <a:pt x="300038" y="289085"/>
                    </a:cubicBezTo>
                    <a:cubicBezTo>
                      <a:pt x="300038" y="289085"/>
                      <a:pt x="300038" y="289085"/>
                      <a:pt x="300038" y="61753"/>
                    </a:cubicBezTo>
                    <a:cubicBezTo>
                      <a:pt x="300038" y="48613"/>
                      <a:pt x="289475" y="38100"/>
                      <a:pt x="276271" y="38100"/>
                    </a:cubicBezTo>
                    <a:cubicBezTo>
                      <a:pt x="276271" y="38100"/>
                      <a:pt x="276271" y="38100"/>
                      <a:pt x="269669" y="38100"/>
                    </a:cubicBezTo>
                    <a:cubicBezTo>
                      <a:pt x="269669" y="38100"/>
                      <a:pt x="269669" y="38100"/>
                      <a:pt x="269669" y="63067"/>
                    </a:cubicBezTo>
                    <a:cubicBezTo>
                      <a:pt x="273631" y="65695"/>
                      <a:pt x="276271" y="70951"/>
                      <a:pt x="276271" y="74894"/>
                    </a:cubicBezTo>
                    <a:cubicBezTo>
                      <a:pt x="276271" y="84092"/>
                      <a:pt x="268349" y="90662"/>
                      <a:pt x="260427" y="90662"/>
                    </a:cubicBezTo>
                    <a:cubicBezTo>
                      <a:pt x="251184" y="90662"/>
                      <a:pt x="244582" y="84092"/>
                      <a:pt x="244582" y="74894"/>
                    </a:cubicBezTo>
                    <a:cubicBezTo>
                      <a:pt x="244582" y="70951"/>
                      <a:pt x="245903" y="65695"/>
                      <a:pt x="249864" y="63067"/>
                    </a:cubicBezTo>
                    <a:cubicBezTo>
                      <a:pt x="249864" y="63067"/>
                      <a:pt x="249864" y="63067"/>
                      <a:pt x="249864" y="38100"/>
                    </a:cubicBezTo>
                    <a:cubicBezTo>
                      <a:pt x="249864" y="38100"/>
                      <a:pt x="249864" y="38100"/>
                      <a:pt x="231379" y="38100"/>
                    </a:cubicBezTo>
                    <a:cubicBezTo>
                      <a:pt x="231379" y="38100"/>
                      <a:pt x="231379" y="38100"/>
                      <a:pt x="231379" y="63067"/>
                    </a:cubicBezTo>
                    <a:cubicBezTo>
                      <a:pt x="234019" y="65695"/>
                      <a:pt x="236660" y="70951"/>
                      <a:pt x="236660" y="74894"/>
                    </a:cubicBezTo>
                    <a:cubicBezTo>
                      <a:pt x="236660" y="84092"/>
                      <a:pt x="230058" y="90662"/>
                      <a:pt x="220816" y="90662"/>
                    </a:cubicBezTo>
                    <a:cubicBezTo>
                      <a:pt x="212893" y="90662"/>
                      <a:pt x="204971" y="84092"/>
                      <a:pt x="204971" y="74894"/>
                    </a:cubicBezTo>
                    <a:cubicBezTo>
                      <a:pt x="204971" y="70951"/>
                      <a:pt x="207612" y="65695"/>
                      <a:pt x="210253" y="63067"/>
                    </a:cubicBezTo>
                    <a:cubicBezTo>
                      <a:pt x="210253" y="63067"/>
                      <a:pt x="210253" y="63067"/>
                      <a:pt x="210253" y="38100"/>
                    </a:cubicBezTo>
                    <a:cubicBezTo>
                      <a:pt x="210253" y="38100"/>
                      <a:pt x="210253" y="38100"/>
                      <a:pt x="191767" y="38100"/>
                    </a:cubicBezTo>
                    <a:cubicBezTo>
                      <a:pt x="191767" y="38100"/>
                      <a:pt x="191767" y="38100"/>
                      <a:pt x="191767" y="63067"/>
                    </a:cubicBezTo>
                    <a:cubicBezTo>
                      <a:pt x="195728" y="65695"/>
                      <a:pt x="198369" y="70951"/>
                      <a:pt x="198369" y="74894"/>
                    </a:cubicBezTo>
                    <a:cubicBezTo>
                      <a:pt x="198369" y="84092"/>
                      <a:pt x="190447" y="90662"/>
                      <a:pt x="182525" y="90662"/>
                    </a:cubicBezTo>
                    <a:cubicBezTo>
                      <a:pt x="173282" y="90662"/>
                      <a:pt x="166680" y="84092"/>
                      <a:pt x="166680" y="74894"/>
                    </a:cubicBezTo>
                    <a:cubicBezTo>
                      <a:pt x="166680" y="70951"/>
                      <a:pt x="168001" y="65695"/>
                      <a:pt x="171962" y="63067"/>
                    </a:cubicBezTo>
                    <a:cubicBezTo>
                      <a:pt x="171962" y="63067"/>
                      <a:pt x="171962" y="63067"/>
                      <a:pt x="171962" y="38100"/>
                    </a:cubicBezTo>
                    <a:cubicBezTo>
                      <a:pt x="171962" y="38100"/>
                      <a:pt x="171962" y="38100"/>
                      <a:pt x="153476" y="38100"/>
                    </a:cubicBezTo>
                    <a:cubicBezTo>
                      <a:pt x="153476" y="38100"/>
                      <a:pt x="153476" y="38100"/>
                      <a:pt x="153476" y="63067"/>
                    </a:cubicBezTo>
                    <a:cubicBezTo>
                      <a:pt x="157438" y="65695"/>
                      <a:pt x="158758" y="70951"/>
                      <a:pt x="158758" y="74894"/>
                    </a:cubicBezTo>
                    <a:cubicBezTo>
                      <a:pt x="158758" y="84092"/>
                      <a:pt x="152156" y="90662"/>
                      <a:pt x="142913" y="90662"/>
                    </a:cubicBezTo>
                    <a:cubicBezTo>
                      <a:pt x="134991" y="90662"/>
                      <a:pt x="127069" y="84092"/>
                      <a:pt x="127069" y="74894"/>
                    </a:cubicBezTo>
                    <a:cubicBezTo>
                      <a:pt x="127069" y="70951"/>
                      <a:pt x="129710" y="65695"/>
                      <a:pt x="133671" y="63067"/>
                    </a:cubicBezTo>
                    <a:cubicBezTo>
                      <a:pt x="133671" y="63067"/>
                      <a:pt x="133671" y="63067"/>
                      <a:pt x="133671" y="38100"/>
                    </a:cubicBezTo>
                    <a:cubicBezTo>
                      <a:pt x="133671" y="38100"/>
                      <a:pt x="133671" y="38100"/>
                      <a:pt x="115186" y="38100"/>
                    </a:cubicBezTo>
                    <a:cubicBezTo>
                      <a:pt x="115186" y="38100"/>
                      <a:pt x="115186" y="38100"/>
                      <a:pt x="115186" y="63067"/>
                    </a:cubicBezTo>
                    <a:cubicBezTo>
                      <a:pt x="117826" y="65695"/>
                      <a:pt x="120467" y="70951"/>
                      <a:pt x="120467" y="74894"/>
                    </a:cubicBezTo>
                    <a:cubicBezTo>
                      <a:pt x="120467" y="84092"/>
                      <a:pt x="112545" y="90662"/>
                      <a:pt x="104623" y="90662"/>
                    </a:cubicBezTo>
                    <a:cubicBezTo>
                      <a:pt x="95380" y="90662"/>
                      <a:pt x="88778" y="84092"/>
                      <a:pt x="88778" y="74894"/>
                    </a:cubicBezTo>
                    <a:cubicBezTo>
                      <a:pt x="88778" y="70951"/>
                      <a:pt x="91419" y="65695"/>
                      <a:pt x="94060" y="63067"/>
                    </a:cubicBezTo>
                    <a:cubicBezTo>
                      <a:pt x="94060" y="63067"/>
                      <a:pt x="94060" y="63067"/>
                      <a:pt x="94060" y="38100"/>
                    </a:cubicBezTo>
                    <a:cubicBezTo>
                      <a:pt x="94060" y="38100"/>
                      <a:pt x="94060" y="38100"/>
                      <a:pt x="75574" y="38100"/>
                    </a:cubicBezTo>
                    <a:cubicBezTo>
                      <a:pt x="75574" y="38100"/>
                      <a:pt x="75574" y="38100"/>
                      <a:pt x="75574" y="63067"/>
                    </a:cubicBezTo>
                    <a:cubicBezTo>
                      <a:pt x="79535" y="65695"/>
                      <a:pt x="80856" y="70951"/>
                      <a:pt x="80856" y="74894"/>
                    </a:cubicBezTo>
                    <a:cubicBezTo>
                      <a:pt x="80856" y="84092"/>
                      <a:pt x="74254" y="90662"/>
                      <a:pt x="65011" y="90662"/>
                    </a:cubicBezTo>
                    <a:cubicBezTo>
                      <a:pt x="57089" y="90662"/>
                      <a:pt x="49167" y="84092"/>
                      <a:pt x="49167" y="74894"/>
                    </a:cubicBezTo>
                    <a:cubicBezTo>
                      <a:pt x="49167" y="70951"/>
                      <a:pt x="51808" y="65695"/>
                      <a:pt x="55769" y="63067"/>
                    </a:cubicBezTo>
                    <a:cubicBezTo>
                      <a:pt x="55769" y="63067"/>
                      <a:pt x="55769" y="63067"/>
                      <a:pt x="55769" y="38100"/>
                    </a:cubicBezTo>
                    <a:cubicBezTo>
                      <a:pt x="55769" y="38100"/>
                      <a:pt x="55769" y="38100"/>
                      <a:pt x="49167" y="38100"/>
                    </a:cubicBezTo>
                    <a:close/>
                    <a:moveTo>
                      <a:pt x="65315" y="4763"/>
                    </a:moveTo>
                    <a:cubicBezTo>
                      <a:pt x="63047" y="4763"/>
                      <a:pt x="61913" y="7437"/>
                      <a:pt x="61913" y="10110"/>
                    </a:cubicBezTo>
                    <a:lnTo>
                      <a:pt x="61913" y="75616"/>
                    </a:lnTo>
                    <a:cubicBezTo>
                      <a:pt x="61913" y="79626"/>
                      <a:pt x="63047" y="80963"/>
                      <a:pt x="65315" y="80963"/>
                    </a:cubicBezTo>
                    <a:cubicBezTo>
                      <a:pt x="68717" y="80963"/>
                      <a:pt x="69851" y="79626"/>
                      <a:pt x="69851" y="75616"/>
                    </a:cubicBezTo>
                    <a:cubicBezTo>
                      <a:pt x="69851" y="75616"/>
                      <a:pt x="69851" y="75616"/>
                      <a:pt x="69851" y="10110"/>
                    </a:cubicBezTo>
                    <a:cubicBezTo>
                      <a:pt x="69851" y="7437"/>
                      <a:pt x="68717" y="4763"/>
                      <a:pt x="65315" y="4763"/>
                    </a:cubicBezTo>
                    <a:close/>
                    <a:moveTo>
                      <a:pt x="104776" y="4763"/>
                    </a:moveTo>
                    <a:cubicBezTo>
                      <a:pt x="102394" y="4763"/>
                      <a:pt x="100013" y="7437"/>
                      <a:pt x="100013" y="10110"/>
                    </a:cubicBezTo>
                    <a:lnTo>
                      <a:pt x="100013" y="75616"/>
                    </a:lnTo>
                    <a:cubicBezTo>
                      <a:pt x="100013" y="79626"/>
                      <a:pt x="102394" y="80963"/>
                      <a:pt x="104776" y="80963"/>
                    </a:cubicBezTo>
                    <a:cubicBezTo>
                      <a:pt x="107157" y="80963"/>
                      <a:pt x="109538" y="79626"/>
                      <a:pt x="109538" y="75616"/>
                    </a:cubicBezTo>
                    <a:cubicBezTo>
                      <a:pt x="109538" y="75616"/>
                      <a:pt x="109538" y="75616"/>
                      <a:pt x="109538" y="10110"/>
                    </a:cubicBezTo>
                    <a:cubicBezTo>
                      <a:pt x="109538" y="7437"/>
                      <a:pt x="107157" y="4763"/>
                      <a:pt x="104776" y="4763"/>
                    </a:cubicBezTo>
                    <a:close/>
                    <a:moveTo>
                      <a:pt x="142876" y="4763"/>
                    </a:moveTo>
                    <a:cubicBezTo>
                      <a:pt x="140494" y="4763"/>
                      <a:pt x="138113" y="7437"/>
                      <a:pt x="138113" y="10110"/>
                    </a:cubicBezTo>
                    <a:lnTo>
                      <a:pt x="138113" y="75616"/>
                    </a:lnTo>
                    <a:cubicBezTo>
                      <a:pt x="138113" y="79626"/>
                      <a:pt x="140494" y="80963"/>
                      <a:pt x="142876" y="80963"/>
                    </a:cubicBezTo>
                    <a:cubicBezTo>
                      <a:pt x="145257" y="80963"/>
                      <a:pt x="147638" y="79626"/>
                      <a:pt x="147638" y="75616"/>
                    </a:cubicBezTo>
                    <a:cubicBezTo>
                      <a:pt x="147638" y="75616"/>
                      <a:pt x="147638" y="75616"/>
                      <a:pt x="147638" y="10110"/>
                    </a:cubicBezTo>
                    <a:cubicBezTo>
                      <a:pt x="147638" y="7437"/>
                      <a:pt x="145257" y="4763"/>
                      <a:pt x="142876" y="4763"/>
                    </a:cubicBezTo>
                    <a:close/>
                    <a:moveTo>
                      <a:pt x="182563" y="4763"/>
                    </a:moveTo>
                    <a:cubicBezTo>
                      <a:pt x="180181" y="4763"/>
                      <a:pt x="177800" y="7437"/>
                      <a:pt x="177800" y="10110"/>
                    </a:cubicBezTo>
                    <a:lnTo>
                      <a:pt x="177800" y="75616"/>
                    </a:lnTo>
                    <a:cubicBezTo>
                      <a:pt x="177800" y="79626"/>
                      <a:pt x="180181" y="80963"/>
                      <a:pt x="182563" y="80963"/>
                    </a:cubicBezTo>
                    <a:cubicBezTo>
                      <a:pt x="184944" y="80963"/>
                      <a:pt x="187325" y="79626"/>
                      <a:pt x="187325" y="75616"/>
                    </a:cubicBezTo>
                    <a:cubicBezTo>
                      <a:pt x="187325" y="75616"/>
                      <a:pt x="187325" y="75616"/>
                      <a:pt x="187325" y="10110"/>
                    </a:cubicBezTo>
                    <a:cubicBezTo>
                      <a:pt x="187325" y="7437"/>
                      <a:pt x="184944" y="4763"/>
                      <a:pt x="182563" y="4763"/>
                    </a:cubicBezTo>
                    <a:close/>
                    <a:moveTo>
                      <a:pt x="220663" y="4763"/>
                    </a:moveTo>
                    <a:cubicBezTo>
                      <a:pt x="218281" y="4763"/>
                      <a:pt x="215900" y="7437"/>
                      <a:pt x="215900" y="10110"/>
                    </a:cubicBezTo>
                    <a:lnTo>
                      <a:pt x="215900" y="75616"/>
                    </a:lnTo>
                    <a:cubicBezTo>
                      <a:pt x="215900" y="79626"/>
                      <a:pt x="218281" y="80963"/>
                      <a:pt x="220663" y="80963"/>
                    </a:cubicBezTo>
                    <a:cubicBezTo>
                      <a:pt x="223044" y="80963"/>
                      <a:pt x="225425" y="79626"/>
                      <a:pt x="225425" y="75616"/>
                    </a:cubicBezTo>
                    <a:cubicBezTo>
                      <a:pt x="225425" y="75616"/>
                      <a:pt x="225425" y="75616"/>
                      <a:pt x="225425" y="10110"/>
                    </a:cubicBezTo>
                    <a:cubicBezTo>
                      <a:pt x="225425" y="7437"/>
                      <a:pt x="223044" y="4763"/>
                      <a:pt x="220663" y="4763"/>
                    </a:cubicBezTo>
                    <a:close/>
                    <a:moveTo>
                      <a:pt x="260124" y="4763"/>
                    </a:moveTo>
                    <a:cubicBezTo>
                      <a:pt x="256722" y="4763"/>
                      <a:pt x="255588" y="7437"/>
                      <a:pt x="255588" y="10110"/>
                    </a:cubicBezTo>
                    <a:lnTo>
                      <a:pt x="255588" y="75616"/>
                    </a:lnTo>
                    <a:cubicBezTo>
                      <a:pt x="255588" y="79626"/>
                      <a:pt x="256722" y="80963"/>
                      <a:pt x="260124" y="80963"/>
                    </a:cubicBezTo>
                    <a:cubicBezTo>
                      <a:pt x="262392" y="80963"/>
                      <a:pt x="263526" y="79626"/>
                      <a:pt x="263526" y="75616"/>
                    </a:cubicBezTo>
                    <a:cubicBezTo>
                      <a:pt x="263526" y="75616"/>
                      <a:pt x="263526" y="75616"/>
                      <a:pt x="263526" y="10110"/>
                    </a:cubicBezTo>
                    <a:cubicBezTo>
                      <a:pt x="263526" y="7437"/>
                      <a:pt x="262392" y="4763"/>
                      <a:pt x="260124" y="4763"/>
                    </a:cubicBezTo>
                    <a:close/>
                    <a:moveTo>
                      <a:pt x="64823" y="0"/>
                    </a:moveTo>
                    <a:cubicBezTo>
                      <a:pt x="71438" y="0"/>
                      <a:pt x="75406" y="3944"/>
                      <a:pt x="75406" y="10517"/>
                    </a:cubicBezTo>
                    <a:cubicBezTo>
                      <a:pt x="75406" y="10517"/>
                      <a:pt x="75406" y="10517"/>
                      <a:pt x="75406" y="14461"/>
                    </a:cubicBezTo>
                    <a:cubicBezTo>
                      <a:pt x="75406" y="14461"/>
                      <a:pt x="75406" y="14461"/>
                      <a:pt x="93927" y="14461"/>
                    </a:cubicBezTo>
                    <a:cubicBezTo>
                      <a:pt x="93927" y="14461"/>
                      <a:pt x="93927" y="14461"/>
                      <a:pt x="93927" y="10517"/>
                    </a:cubicBezTo>
                    <a:cubicBezTo>
                      <a:pt x="93927" y="3944"/>
                      <a:pt x="99219" y="0"/>
                      <a:pt x="104511" y="0"/>
                    </a:cubicBezTo>
                    <a:cubicBezTo>
                      <a:pt x="109802" y="0"/>
                      <a:pt x="115094" y="3944"/>
                      <a:pt x="115094" y="10517"/>
                    </a:cubicBezTo>
                    <a:cubicBezTo>
                      <a:pt x="115094" y="10517"/>
                      <a:pt x="115094" y="10517"/>
                      <a:pt x="115094" y="14461"/>
                    </a:cubicBezTo>
                    <a:cubicBezTo>
                      <a:pt x="115094" y="14461"/>
                      <a:pt x="115094" y="14461"/>
                      <a:pt x="133615" y="14461"/>
                    </a:cubicBezTo>
                    <a:cubicBezTo>
                      <a:pt x="133615" y="14461"/>
                      <a:pt x="133615" y="14461"/>
                      <a:pt x="133615" y="10517"/>
                    </a:cubicBezTo>
                    <a:cubicBezTo>
                      <a:pt x="133615" y="3944"/>
                      <a:pt x="137584" y="0"/>
                      <a:pt x="142875" y="0"/>
                    </a:cubicBezTo>
                    <a:cubicBezTo>
                      <a:pt x="149490" y="0"/>
                      <a:pt x="153459" y="3944"/>
                      <a:pt x="153459" y="10517"/>
                    </a:cubicBezTo>
                    <a:cubicBezTo>
                      <a:pt x="153459" y="10517"/>
                      <a:pt x="153459" y="10517"/>
                      <a:pt x="153459" y="14461"/>
                    </a:cubicBezTo>
                    <a:cubicBezTo>
                      <a:pt x="153459" y="14461"/>
                      <a:pt x="153459" y="14461"/>
                      <a:pt x="171980" y="14461"/>
                    </a:cubicBezTo>
                    <a:cubicBezTo>
                      <a:pt x="171980" y="14461"/>
                      <a:pt x="171980" y="14461"/>
                      <a:pt x="171980" y="10517"/>
                    </a:cubicBezTo>
                    <a:cubicBezTo>
                      <a:pt x="171980" y="3944"/>
                      <a:pt x="175948" y="0"/>
                      <a:pt x="182563" y="0"/>
                    </a:cubicBezTo>
                    <a:cubicBezTo>
                      <a:pt x="187855" y="0"/>
                      <a:pt x="191823" y="3944"/>
                      <a:pt x="191823" y="10517"/>
                    </a:cubicBezTo>
                    <a:cubicBezTo>
                      <a:pt x="191823" y="10517"/>
                      <a:pt x="191823" y="10517"/>
                      <a:pt x="191823" y="14461"/>
                    </a:cubicBezTo>
                    <a:cubicBezTo>
                      <a:pt x="191823" y="14461"/>
                      <a:pt x="191823" y="14461"/>
                      <a:pt x="210344" y="14461"/>
                    </a:cubicBezTo>
                    <a:cubicBezTo>
                      <a:pt x="210344" y="14461"/>
                      <a:pt x="210344" y="14461"/>
                      <a:pt x="210344" y="10517"/>
                    </a:cubicBezTo>
                    <a:cubicBezTo>
                      <a:pt x="210344" y="3944"/>
                      <a:pt x="215636" y="0"/>
                      <a:pt x="220927" y="0"/>
                    </a:cubicBezTo>
                    <a:cubicBezTo>
                      <a:pt x="226219" y="0"/>
                      <a:pt x="231511" y="3944"/>
                      <a:pt x="231511" y="10517"/>
                    </a:cubicBezTo>
                    <a:cubicBezTo>
                      <a:pt x="231511" y="10517"/>
                      <a:pt x="231511" y="10517"/>
                      <a:pt x="231511" y="14461"/>
                    </a:cubicBezTo>
                    <a:cubicBezTo>
                      <a:pt x="231511" y="14461"/>
                      <a:pt x="231511" y="14461"/>
                      <a:pt x="250032" y="14461"/>
                    </a:cubicBezTo>
                    <a:cubicBezTo>
                      <a:pt x="250032" y="14461"/>
                      <a:pt x="250032" y="14461"/>
                      <a:pt x="250032" y="10517"/>
                    </a:cubicBezTo>
                    <a:cubicBezTo>
                      <a:pt x="250032" y="3944"/>
                      <a:pt x="254000" y="0"/>
                      <a:pt x="260615" y="0"/>
                    </a:cubicBezTo>
                    <a:cubicBezTo>
                      <a:pt x="265907" y="0"/>
                      <a:pt x="269875" y="3944"/>
                      <a:pt x="269875" y="10517"/>
                    </a:cubicBezTo>
                    <a:cubicBezTo>
                      <a:pt x="269875" y="10517"/>
                      <a:pt x="269875" y="10517"/>
                      <a:pt x="269875" y="14461"/>
                    </a:cubicBezTo>
                    <a:cubicBezTo>
                      <a:pt x="269875" y="14461"/>
                      <a:pt x="269875" y="14461"/>
                      <a:pt x="276490" y="14461"/>
                    </a:cubicBezTo>
                    <a:cubicBezTo>
                      <a:pt x="302948" y="14461"/>
                      <a:pt x="325438" y="35496"/>
                      <a:pt x="325438" y="61789"/>
                    </a:cubicBezTo>
                    <a:cubicBezTo>
                      <a:pt x="325438" y="61789"/>
                      <a:pt x="325438" y="61789"/>
                      <a:pt x="325438" y="289223"/>
                    </a:cubicBezTo>
                    <a:cubicBezTo>
                      <a:pt x="325438" y="315516"/>
                      <a:pt x="302948" y="336550"/>
                      <a:pt x="276490" y="336550"/>
                    </a:cubicBezTo>
                    <a:cubicBezTo>
                      <a:pt x="276490" y="336550"/>
                      <a:pt x="276490" y="336550"/>
                      <a:pt x="48948" y="336550"/>
                    </a:cubicBezTo>
                    <a:cubicBezTo>
                      <a:pt x="22490" y="336550"/>
                      <a:pt x="0" y="315516"/>
                      <a:pt x="0" y="289223"/>
                    </a:cubicBezTo>
                    <a:cubicBezTo>
                      <a:pt x="0" y="289223"/>
                      <a:pt x="0" y="289223"/>
                      <a:pt x="0" y="61789"/>
                    </a:cubicBezTo>
                    <a:cubicBezTo>
                      <a:pt x="0" y="35496"/>
                      <a:pt x="22490" y="14461"/>
                      <a:pt x="48948" y="14461"/>
                    </a:cubicBezTo>
                    <a:cubicBezTo>
                      <a:pt x="48948" y="14461"/>
                      <a:pt x="48948" y="14461"/>
                      <a:pt x="55563" y="14461"/>
                    </a:cubicBezTo>
                    <a:cubicBezTo>
                      <a:pt x="55563" y="14461"/>
                      <a:pt x="55563" y="14461"/>
                      <a:pt x="55563" y="10517"/>
                    </a:cubicBezTo>
                    <a:cubicBezTo>
                      <a:pt x="55563" y="3944"/>
                      <a:pt x="59531" y="0"/>
                      <a:pt x="64823" y="0"/>
                    </a:cubicBezTo>
                    <a:close/>
                  </a:path>
                </a:pathLst>
              </a:custGeom>
              <a:solidFill>
                <a:sysClr val="window" lastClr="FFFFFF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charset="-122"/>
                    <a:cs typeface="+mn-ea"/>
                  </a:defRPr>
                </a:lvl9pPr>
              </a:lstStyle>
              <a:p>
                <a:pPr defTabSz="913765">
                  <a:defRPr/>
                </a:pPr>
                <a:endParaRPr lang="zh-CN" altLang="en-US" sz="1400" b="1" dirty="0"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endParaRPr>
              </a:p>
            </p:txBody>
          </p:sp>
        </p:grpSp>
        <p:sp>
          <p:nvSpPr>
            <p:cNvPr id="18" name="文本框 27"/>
            <p:cNvSpPr txBox="1"/>
            <p:nvPr/>
          </p:nvSpPr>
          <p:spPr>
            <a:xfrm>
              <a:off x="6669040" y="4733309"/>
              <a:ext cx="1742936" cy="2529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charset="-122"/>
                  <a:cs typeface="+mn-ea"/>
                </a:defRPr>
              </a:lvl9pPr>
            </a:lstStyle>
            <a:p>
              <a:pPr defTabSz="913765">
                <a:defRPr/>
              </a:pPr>
              <a:r>
                <a:rPr lang="zh-CN" altLang="en-US" sz="16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时间：</a:t>
              </a:r>
              <a:r>
                <a:rPr lang="en-US" altLang="zh-CN" sz="1600" b="1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2025-04-22</a:t>
              </a:r>
              <a:endParaRPr lang="zh-CN" altLang="en-US" sz="1600" b="1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1251" y="6249432"/>
            <a:ext cx="2757212" cy="385951"/>
          </a:xfrm>
          <a:prstGeom prst="rect">
            <a:avLst/>
          </a:prstGeom>
        </p:spPr>
      </p:pic>
      <p:sp>
        <p:nvSpPr>
          <p:cNvPr id="21" name="文本占位符 1">
            <a:extLst>
              <a:ext uri="{FF2B5EF4-FFF2-40B4-BE49-F238E27FC236}">
                <a16:creationId xmlns:a16="http://schemas.microsoft.com/office/drawing/2014/main" id="{45E3CF39-A26E-422F-9A35-4160A6319B45}"/>
              </a:ext>
            </a:extLst>
          </p:cNvPr>
          <p:cNvSpPr txBox="1"/>
          <p:nvPr/>
        </p:nvSpPr>
        <p:spPr>
          <a:xfrm>
            <a:off x="5267597" y="1331398"/>
            <a:ext cx="7155284" cy="197121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4000" b="1" kern="1200" spc="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汇报结束 </a:t>
            </a:r>
            <a:endParaRPr kumimoji="0" lang="en-US" altLang="zh-CN" sz="8000" b="1" i="0" u="none" strike="noStrike" kern="1200" cap="none" spc="60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0" spc="60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谢谢大家</a:t>
            </a:r>
            <a:r>
              <a:rPr kumimoji="0" lang="zh-CN" altLang="en-US" sz="8000" b="1" i="1" u="none" strike="noStrike" kern="1200" cap="none" spc="60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16680418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FmNzNhNTgzZmRjOTk0NjdlYmI0YmE1ZTNlZDNhNjMifQ=="/>
</p:tagLst>
</file>

<file path=ppt/theme/theme1.xml><?xml version="1.0" encoding="utf-8"?>
<a:theme xmlns:a="http://schemas.openxmlformats.org/drawingml/2006/main" name="第一PPT，www.1ppt.com">
  <a:themeElements>
    <a:clrScheme name="自定义 40">
      <a:dk1>
        <a:sysClr val="windowText" lastClr="000000"/>
      </a:dk1>
      <a:lt1>
        <a:sysClr val="window" lastClr="FFFFFF"/>
      </a:lt1>
      <a:dk2>
        <a:srgbClr val="C00000"/>
      </a:dk2>
      <a:lt2>
        <a:srgbClr val="FF0000"/>
      </a:lt2>
      <a:accent1>
        <a:srgbClr val="FF6600"/>
      </a:accent1>
      <a:accent2>
        <a:srgbClr val="FFC000"/>
      </a:accent2>
      <a:accent3>
        <a:srgbClr val="92D050"/>
      </a:accent3>
      <a:accent4>
        <a:srgbClr val="00B0F0"/>
      </a:accent4>
      <a:accent5>
        <a:srgbClr val="7F7F7F"/>
      </a:accent5>
      <a:accent6>
        <a:srgbClr val="262626"/>
      </a:accent6>
      <a:hlink>
        <a:srgbClr val="262626"/>
      </a:hlink>
      <a:folHlink>
        <a:srgbClr val="7F7F7F"/>
      </a:folHlink>
    </a:clrScheme>
    <a:fontScheme name="2rrodchb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1422</TotalTime>
  <Words>1154</Words>
  <Application>Microsoft Office PowerPoint</Application>
  <PresentationFormat>宽屏</PresentationFormat>
  <Paragraphs>102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微软雅黑</vt:lpstr>
      <vt:lpstr>Arial</vt:lpstr>
      <vt:lpstr>Calibri</vt:lpstr>
      <vt:lpstr>Times New Roman</vt:lpstr>
      <vt:lpstr>Wingdings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嘉伟 周</cp:lastModifiedBy>
  <cp:revision>137</cp:revision>
  <dcterms:created xsi:type="dcterms:W3CDTF">2021-04-15T12:03:00Z</dcterms:created>
  <dcterms:modified xsi:type="dcterms:W3CDTF">2025-06-16T10:21:20Z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CC7496E30844449AB513B6CA296F35C7_12</vt:lpwstr>
  </property>
  <property fmtid="{D5CDD505-2E9C-101B-9397-08002B2CF9AE}" pid="3" name="KSOProductBuildVer">
    <vt:lpwstr>2052-12.1.0.15712</vt:lpwstr>
  </property>
</Properties>
</file>