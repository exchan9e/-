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483" r:id="rId2"/>
    <p:sldId id="510" r:id="rId3"/>
    <p:sldId id="518" r:id="rId4"/>
    <p:sldId id="536" r:id="rId5"/>
    <p:sldId id="539" r:id="rId6"/>
    <p:sldId id="520" r:id="rId7"/>
    <p:sldId id="537" r:id="rId8"/>
    <p:sldId id="521" r:id="rId9"/>
    <p:sldId id="538" r:id="rId10"/>
    <p:sldId id="524" r:id="rId11"/>
    <p:sldId id="514" r:id="rId12"/>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4995"/>
    <a:srgbClr val="FF33CC"/>
    <a:srgbClr val="D7E1EE"/>
    <a:srgbClr val="4245BE"/>
    <a:srgbClr val="0070C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56" autoAdjust="0"/>
    <p:restoredTop sz="94660"/>
  </p:normalViewPr>
  <p:slideViewPr>
    <p:cSldViewPr snapToGrid="0">
      <p:cViewPr varScale="1">
        <p:scale>
          <a:sx n="82" d="100"/>
          <a:sy n="82" d="100"/>
        </p:scale>
        <p:origin x="355"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D5AAD-12B1-4117-8A4B-C4109D64BF51}" type="datetimeFigureOut">
              <a:rPr lang="zh-CN" altLang="en-US" smtClean="0"/>
              <a:t>2025/6/16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8F440-86C7-4ABB-A7C0-3F9FD6847DA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65EFC850-7D77-4205-9604-040A94831ED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90351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242794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154B0-585A-BFA4-DB85-9C5DC2FF91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AB7B92-5C57-D81F-CFBA-077AA45011F7}"/>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ECEC1197-99E2-5BE7-4119-CF0AD2DD5C8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FAC55DE-6757-2DD1-2031-DCD060587960}"/>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790443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531546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563560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80FE9-D31A-D9E2-95A3-02BABD1DC8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8D7D72-0E0F-BDA3-9089-22569B1DDE8F}"/>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CAE1523B-A45E-FA77-6C4F-919A645C91B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370ACEE-08BD-176D-7E1C-E3583E11D345}"/>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643124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1FB97-ED7F-F397-535B-04BB3ADB60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171A4C-C621-053A-8600-40657B8089F8}"/>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B234978C-3151-65F3-DA45-E1C7CD9A77F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1E5FFED-9465-36E3-F688-336ECB663318}"/>
              </a:ext>
            </a:extLst>
          </p:cNvPr>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81BBE174-D638-475B-A0A6-2E5C6AD14BBC}"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071341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65EFC850-7D77-4205-9604-040A94831ED4}"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11</a:t>
            </a:fld>
            <a:endParaRPr kumimoji="0" lang="en-US" altLang="zh-CN"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121859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矩形 4"/>
          <p:cNvSpPr/>
          <p:nvPr userDrawn="1"/>
        </p:nvSpPr>
        <p:spPr>
          <a:xfrm>
            <a:off x="9072331" y="6021289"/>
            <a:ext cx="1033515" cy="276931"/>
          </a:xfrm>
          <a:prstGeom prst="rect">
            <a:avLst/>
          </a:prstGeom>
        </p:spPr>
        <p:txBody>
          <a:bodyPr wrap="square" lIns="121889" tIns="60944" rIns="121889" bIns="60944">
            <a:spAutoFit/>
          </a:bodyPr>
          <a:lstStyle/>
          <a:p>
            <a:pPr defTabSz="12192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pPr defTabSz="1219200"/>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pPr defTabSz="12192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pPr defTabSz="1219200"/>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pPr defTabSz="1219200"/>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pPr defTabSz="1219200"/>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pPr defTabSz="1219200"/>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pPr defTabSz="1219200"/>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pPr defTabSz="1219200"/>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pPr defTabSz="1219200"/>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pic>
        <p:nvPicPr>
          <p:cNvPr id="1026" name="Picture 2" descr="C:\Users\Administrator\Desktop\灰色01副本.jpg"/>
          <p:cNvPicPr>
            <a:picLocks noChangeAspect="1" noChangeArrowheads="1"/>
          </p:cNvPicPr>
          <p:nvPr userDrawn="1"/>
        </p:nvPicPr>
        <p:blipFill>
          <a:blip r:embed="rId5"/>
          <a:srcRect/>
          <a:stretch>
            <a:fillRect/>
          </a:stretch>
        </p:blipFill>
        <p:spPr bwMode="auto">
          <a:xfrm>
            <a:off x="30291" y="-826"/>
            <a:ext cx="12161709" cy="68589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p:cNvPicPr>
            <a:picLocks noChangeAspect="1" noChangeArrowheads="1"/>
          </p:cNvPicPr>
          <p:nvPr userDrawn="1"/>
        </p:nvPicPr>
        <p:blipFill>
          <a:blip r:embed="rId6">
            <a:extLst>
              <a:ext uri="{28A0092B-C50C-407E-A947-70E740481C1C}">
                <a14:useLocalDpi xmlns:a14="http://schemas.microsoft.com/office/drawing/2010/main" val="0"/>
              </a:ext>
            </a:extLst>
          </a:blip>
          <a:stretch>
            <a:fillRect/>
          </a:stretch>
        </p:blipFill>
        <p:spPr bwMode="auto">
          <a:xfrm>
            <a:off x="2765" y="-3659"/>
            <a:ext cx="12178317" cy="686166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121856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89965" indent="-381000" algn="l" defTabSz="121856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3365"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193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153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049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009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79060"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8565" algn="l" defTabSz="1218565" rtl="0" eaLnBrk="1" latinLnBrk="0" hangingPunct="1">
        <a:defRPr sz="2400" kern="1200">
          <a:solidFill>
            <a:schemeClr val="tx1"/>
          </a:solidFill>
          <a:latin typeface="+mn-lt"/>
          <a:ea typeface="+mn-ea"/>
          <a:cs typeface="+mn-cs"/>
        </a:defRPr>
      </a:lvl3pPr>
      <a:lvl4pPr marL="1828165" algn="l" defTabSz="1218565" rtl="0" eaLnBrk="1" latinLnBrk="0" hangingPunct="1">
        <a:defRPr sz="2400" kern="1200">
          <a:solidFill>
            <a:schemeClr val="tx1"/>
          </a:solidFill>
          <a:latin typeface="+mn-lt"/>
          <a:ea typeface="+mn-ea"/>
          <a:cs typeface="+mn-cs"/>
        </a:defRPr>
      </a:lvl4pPr>
      <a:lvl5pPr marL="2437130" algn="l" defTabSz="1218565" rtl="0" eaLnBrk="1" latinLnBrk="0" hangingPunct="1">
        <a:defRPr sz="2400" kern="1200">
          <a:solidFill>
            <a:schemeClr val="tx1"/>
          </a:solidFill>
          <a:latin typeface="+mn-lt"/>
          <a:ea typeface="+mn-ea"/>
          <a:cs typeface="+mn-cs"/>
        </a:defRPr>
      </a:lvl5pPr>
      <a:lvl6pPr marL="3046730" algn="l" defTabSz="1218565" rtl="0" eaLnBrk="1" latinLnBrk="0" hangingPunct="1">
        <a:defRPr sz="2400" kern="1200">
          <a:solidFill>
            <a:schemeClr val="tx1"/>
          </a:solidFill>
          <a:latin typeface="+mn-lt"/>
          <a:ea typeface="+mn-ea"/>
          <a:cs typeface="+mn-cs"/>
        </a:defRPr>
      </a:lvl6pPr>
      <a:lvl7pPr marL="3655695" algn="l" defTabSz="1218565" rtl="0" eaLnBrk="1" latinLnBrk="0" hangingPunct="1">
        <a:defRPr sz="2400" kern="1200">
          <a:solidFill>
            <a:schemeClr val="tx1"/>
          </a:solidFill>
          <a:latin typeface="+mn-lt"/>
          <a:ea typeface="+mn-ea"/>
          <a:cs typeface="+mn-cs"/>
        </a:defRPr>
      </a:lvl7pPr>
      <a:lvl8pPr marL="4265295" algn="l" defTabSz="1218565" rtl="0" eaLnBrk="1" latinLnBrk="0" hangingPunct="1">
        <a:defRPr sz="2400" kern="1200">
          <a:solidFill>
            <a:schemeClr val="tx1"/>
          </a:solidFill>
          <a:latin typeface="+mn-lt"/>
          <a:ea typeface="+mn-ea"/>
          <a:cs typeface="+mn-cs"/>
        </a:defRPr>
      </a:lvl8pPr>
      <a:lvl9pPr marL="4874895"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87968"/>
            <a:ext cx="7784892" cy="7784892"/>
          </a:xfrm>
          <a:prstGeom prst="rect">
            <a:avLst/>
          </a:prstGeom>
        </p:spPr>
      </p:pic>
      <p:sp>
        <p:nvSpPr>
          <p:cNvPr id="99" name="流程图: 手动输入 3"/>
          <p:cNvSpPr/>
          <p:nvPr/>
        </p:nvSpPr>
        <p:spPr>
          <a:xfrm rot="5400000">
            <a:off x="-772141" y="765575"/>
            <a:ext cx="6865184" cy="531649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13"/>
              <a:gd name="connsiteY0-2" fmla="*/ 3619 h 10000"/>
              <a:gd name="connsiteX1-3" fmla="*/ 10013 w 10013"/>
              <a:gd name="connsiteY1-4" fmla="*/ 0 h 10000"/>
              <a:gd name="connsiteX2-5" fmla="*/ 10013 w 10013"/>
              <a:gd name="connsiteY2-6" fmla="*/ 10000 h 10000"/>
              <a:gd name="connsiteX3-7" fmla="*/ 13 w 10013"/>
              <a:gd name="connsiteY3-8" fmla="*/ 10000 h 10000"/>
              <a:gd name="connsiteX4-9" fmla="*/ 0 w 10013"/>
              <a:gd name="connsiteY4-10" fmla="*/ 3619 h 10000"/>
              <a:gd name="connsiteX0-11" fmla="*/ 0 w 10013"/>
              <a:gd name="connsiteY0-12" fmla="*/ 3970 h 10000"/>
              <a:gd name="connsiteX1-13" fmla="*/ 10013 w 10013"/>
              <a:gd name="connsiteY1-14" fmla="*/ 0 h 10000"/>
              <a:gd name="connsiteX2-15" fmla="*/ 10013 w 10013"/>
              <a:gd name="connsiteY2-16" fmla="*/ 10000 h 10000"/>
              <a:gd name="connsiteX3-17" fmla="*/ 13 w 10013"/>
              <a:gd name="connsiteY3-18" fmla="*/ 10000 h 10000"/>
              <a:gd name="connsiteX4-19" fmla="*/ 0 w 10013"/>
              <a:gd name="connsiteY4-20" fmla="*/ 397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13" h="10000">
                <a:moveTo>
                  <a:pt x="0" y="3970"/>
                </a:moveTo>
                <a:lnTo>
                  <a:pt x="10013" y="0"/>
                </a:lnTo>
                <a:lnTo>
                  <a:pt x="10013" y="10000"/>
                </a:lnTo>
                <a:lnTo>
                  <a:pt x="13" y="10000"/>
                </a:lnTo>
                <a:cubicBezTo>
                  <a:pt x="9" y="7873"/>
                  <a:pt x="4" y="6097"/>
                  <a:pt x="0" y="3970"/>
                </a:cubicBezTo>
                <a:close/>
              </a:path>
            </a:pathLst>
          </a:cu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dirty="0">
              <a:solidFill>
                <a:schemeClr val="lt1"/>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00" name="图片 99"/>
          <p:cNvPicPr>
            <a:picLocks noChangeAspect="1"/>
          </p:cNvPicPr>
          <p:nvPr/>
        </p:nvPicPr>
        <p:blipFill>
          <a:blip r:embed="rId4">
            <a:extLst>
              <a:ext uri="{28A0092B-C50C-407E-A947-70E740481C1C}">
                <a14:useLocalDpi xmlns:a14="http://schemas.microsoft.com/office/drawing/2010/main" val="0"/>
              </a:ext>
            </a:extLst>
          </a:blip>
          <a:srcRect t="32" b="32"/>
          <a:stretch>
            <a:fillRect/>
          </a:stretch>
        </p:blipFill>
        <p:spPr>
          <a:xfrm>
            <a:off x="819657" y="1074336"/>
            <a:ext cx="4892808" cy="4939693"/>
          </a:xfrm>
          <a:prstGeom prst="ellipse">
            <a:avLst/>
          </a:prstGeom>
          <a:effectLst>
            <a:outerShdw blurRad="63500" sx="102000" sy="102000" algn="ctr" rotWithShape="0">
              <a:prstClr val="black">
                <a:alpha val="40000"/>
              </a:prstClr>
            </a:outerShdw>
          </a:effectLst>
        </p:spPr>
      </p:pic>
      <p:sp>
        <p:nvSpPr>
          <p:cNvPr id="104" name="空心弧 103"/>
          <p:cNvSpPr/>
          <p:nvPr/>
        </p:nvSpPr>
        <p:spPr>
          <a:xfrm rot="14414393">
            <a:off x="895496" y="1098487"/>
            <a:ext cx="4801452" cy="4801452"/>
          </a:xfrm>
          <a:prstGeom prst="blockArc">
            <a:avLst>
              <a:gd name="adj1" fmla="val 10800000"/>
              <a:gd name="adj2" fmla="val 467453"/>
              <a:gd name="adj3" fmla="val 2676"/>
            </a:avLst>
          </a:prstGeom>
          <a:solidFill>
            <a:srgbClr val="FBF9F7"/>
          </a:solidFill>
          <a:ln w="12700" cap="flat" cmpd="sng" algn="ctr">
            <a:noFill/>
            <a:prstDash val="solid"/>
            <a:miter lim="800000"/>
          </a:ln>
          <a:effectLst/>
        </p:spPr>
        <p:txBody>
          <a:bodyPr rtlCol="0" anchor="ctr"/>
          <a:lstStyle/>
          <a:p>
            <a:pPr algn="ctr" defTabSz="914400">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 name="文本占位符 1"/>
          <p:cNvSpPr txBox="1"/>
          <p:nvPr/>
        </p:nvSpPr>
        <p:spPr>
          <a:xfrm>
            <a:off x="5150499" y="713903"/>
            <a:ext cx="6867329" cy="3786230"/>
          </a:xfrm>
          <a:prstGeom prst="rect">
            <a:avLst/>
          </a:prstGeom>
        </p:spPr>
        <p:txBody>
          <a:bodyPr vert="horz" wrap="none" lIns="91440" tIns="45720" rIns="91440" bIns="45720" rtlCol="0" anchor="ctr">
            <a:noAutofit/>
          </a:bodyPr>
          <a:lstStyle>
            <a:lvl1pPr marL="0" indent="0" algn="ctr" defTabSz="914400" rtl="0" eaLnBrk="1" latinLnBrk="0" hangingPunct="1">
              <a:lnSpc>
                <a:spcPct val="90000"/>
              </a:lnSpc>
              <a:spcBef>
                <a:spcPts val="1000"/>
              </a:spcBef>
              <a:buFontTx/>
              <a:buNone/>
              <a:defRPr sz="4000" b="1" kern="1200" spc="0" baseline="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defRPr/>
            </a:pPr>
            <a:endPar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zh-CN" altLang="en-US"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甘肃省</a:t>
            </a:r>
            <a:r>
              <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1981</a:t>
            </a:r>
            <a:r>
              <a:rPr lang="zh-CN" altLang="en-US"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2020</a:t>
            </a:r>
            <a:r>
              <a:rPr lang="zh-CN" altLang="en-US"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年植被覆盖度</a:t>
            </a:r>
            <a:endPar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zh-CN" altLang="en-US"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时空变化特征及气候因子分析</a:t>
            </a:r>
            <a:endParaRPr lang="en-US" altLang="zh-CN" sz="3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00000"/>
              </a:lnSpc>
              <a:defRPr/>
            </a:pPr>
            <a:r>
              <a:rPr lang="zh-CN" altLang="en-US" sz="2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相关性分析案例</a:t>
            </a:r>
            <a:endParaRPr lang="en-US" altLang="zh-CN" sz="28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Freeform 236"/>
          <p:cNvSpPr/>
          <p:nvPr/>
        </p:nvSpPr>
        <p:spPr bwMode="auto">
          <a:xfrm rot="10800000" flipH="1" flipV="1">
            <a:off x="6784728" y="4032933"/>
            <a:ext cx="4242848" cy="58622"/>
          </a:xfrm>
          <a:custGeom>
            <a:avLst/>
            <a:gdLst>
              <a:gd name="T0" fmla="*/ 508 w 508"/>
              <a:gd name="T1" fmla="*/ 28 h 66"/>
              <a:gd name="T2" fmla="*/ 433 w 508"/>
              <a:gd name="T3" fmla="*/ 21 h 66"/>
              <a:gd name="T4" fmla="*/ 445 w 508"/>
              <a:gd name="T5" fmla="*/ 20 h 66"/>
              <a:gd name="T6" fmla="*/ 209 w 508"/>
              <a:gd name="T7" fmla="*/ 5 h 66"/>
              <a:gd name="T8" fmla="*/ 94 w 508"/>
              <a:gd name="T9" fmla="*/ 4 h 66"/>
              <a:gd name="T10" fmla="*/ 62 w 508"/>
              <a:gd name="T11" fmla="*/ 10 h 66"/>
              <a:gd name="T12" fmla="*/ 26 w 508"/>
              <a:gd name="T13" fmla="*/ 14 h 66"/>
              <a:gd name="T14" fmla="*/ 2 w 508"/>
              <a:gd name="T15" fmla="*/ 24 h 66"/>
              <a:gd name="T16" fmla="*/ 12 w 508"/>
              <a:gd name="T17" fmla="*/ 53 h 66"/>
              <a:gd name="T18" fmla="*/ 10 w 508"/>
              <a:gd name="T19" fmla="*/ 56 h 66"/>
              <a:gd name="T20" fmla="*/ 11 w 508"/>
              <a:gd name="T21" fmla="*/ 65 h 66"/>
              <a:gd name="T22" fmla="*/ 23 w 508"/>
              <a:gd name="T23" fmla="*/ 60 h 66"/>
              <a:gd name="T24" fmla="*/ 34 w 508"/>
              <a:gd name="T25" fmla="*/ 62 h 66"/>
              <a:gd name="T26" fmla="*/ 61 w 508"/>
              <a:gd name="T27" fmla="*/ 52 h 66"/>
              <a:gd name="T28" fmla="*/ 108 w 508"/>
              <a:gd name="T29" fmla="*/ 54 h 66"/>
              <a:gd name="T30" fmla="*/ 279 w 508"/>
              <a:gd name="T31" fmla="*/ 48 h 66"/>
              <a:gd name="T32" fmla="*/ 366 w 508"/>
              <a:gd name="T33" fmla="*/ 43 h 66"/>
              <a:gd name="T34" fmla="*/ 362 w 508"/>
              <a:gd name="T35" fmla="*/ 42 h 66"/>
              <a:gd name="T36" fmla="*/ 477 w 508"/>
              <a:gd name="T37" fmla="*/ 36 h 66"/>
              <a:gd name="T38" fmla="*/ 491 w 508"/>
              <a:gd name="T39" fmla="*/ 33 h 66"/>
              <a:gd name="T40" fmla="*/ 474 w 508"/>
              <a:gd name="T41" fmla="*/ 31 h 66"/>
              <a:gd name="T42" fmla="*/ 508 w 508"/>
              <a:gd name="T43"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8" h="66">
                <a:moveTo>
                  <a:pt x="508" y="28"/>
                </a:moveTo>
                <a:cubicBezTo>
                  <a:pt x="433" y="21"/>
                  <a:pt x="433" y="21"/>
                  <a:pt x="433" y="21"/>
                </a:cubicBezTo>
                <a:cubicBezTo>
                  <a:pt x="437" y="20"/>
                  <a:pt x="441" y="22"/>
                  <a:pt x="445" y="20"/>
                </a:cubicBezTo>
                <a:cubicBezTo>
                  <a:pt x="360" y="13"/>
                  <a:pt x="292" y="6"/>
                  <a:pt x="209" y="5"/>
                </a:cubicBezTo>
                <a:cubicBezTo>
                  <a:pt x="172" y="6"/>
                  <a:pt x="130" y="1"/>
                  <a:pt x="94" y="4"/>
                </a:cubicBezTo>
                <a:cubicBezTo>
                  <a:pt x="85" y="11"/>
                  <a:pt x="70" y="0"/>
                  <a:pt x="62" y="10"/>
                </a:cubicBezTo>
                <a:cubicBezTo>
                  <a:pt x="50" y="10"/>
                  <a:pt x="37" y="10"/>
                  <a:pt x="26" y="14"/>
                </a:cubicBezTo>
                <a:cubicBezTo>
                  <a:pt x="16" y="10"/>
                  <a:pt x="10" y="20"/>
                  <a:pt x="2" y="24"/>
                </a:cubicBezTo>
                <a:cubicBezTo>
                  <a:pt x="0" y="34"/>
                  <a:pt x="4" y="44"/>
                  <a:pt x="12" y="53"/>
                </a:cubicBezTo>
                <a:cubicBezTo>
                  <a:pt x="12" y="54"/>
                  <a:pt x="11" y="55"/>
                  <a:pt x="10" y="56"/>
                </a:cubicBezTo>
                <a:cubicBezTo>
                  <a:pt x="8" y="59"/>
                  <a:pt x="8" y="63"/>
                  <a:pt x="11" y="65"/>
                </a:cubicBezTo>
                <a:cubicBezTo>
                  <a:pt x="15" y="64"/>
                  <a:pt x="19" y="63"/>
                  <a:pt x="23" y="60"/>
                </a:cubicBezTo>
                <a:cubicBezTo>
                  <a:pt x="27" y="60"/>
                  <a:pt x="30" y="66"/>
                  <a:pt x="34" y="62"/>
                </a:cubicBezTo>
                <a:cubicBezTo>
                  <a:pt x="42" y="54"/>
                  <a:pt x="52" y="55"/>
                  <a:pt x="61" y="52"/>
                </a:cubicBezTo>
                <a:cubicBezTo>
                  <a:pt x="76" y="54"/>
                  <a:pt x="93" y="53"/>
                  <a:pt x="108" y="54"/>
                </a:cubicBezTo>
                <a:cubicBezTo>
                  <a:pt x="161" y="52"/>
                  <a:pt x="222" y="49"/>
                  <a:pt x="279" y="48"/>
                </a:cubicBezTo>
                <a:cubicBezTo>
                  <a:pt x="308" y="49"/>
                  <a:pt x="338" y="46"/>
                  <a:pt x="366" y="43"/>
                </a:cubicBezTo>
                <a:cubicBezTo>
                  <a:pt x="365" y="43"/>
                  <a:pt x="363" y="43"/>
                  <a:pt x="362" y="42"/>
                </a:cubicBezTo>
                <a:cubicBezTo>
                  <a:pt x="401" y="41"/>
                  <a:pt x="439" y="38"/>
                  <a:pt x="477" y="36"/>
                </a:cubicBezTo>
                <a:cubicBezTo>
                  <a:pt x="481" y="34"/>
                  <a:pt x="487" y="37"/>
                  <a:pt x="491" y="33"/>
                </a:cubicBezTo>
                <a:cubicBezTo>
                  <a:pt x="486" y="31"/>
                  <a:pt x="479" y="33"/>
                  <a:pt x="474" y="31"/>
                </a:cubicBezTo>
                <a:cubicBezTo>
                  <a:pt x="485" y="29"/>
                  <a:pt x="498" y="31"/>
                  <a:pt x="508" y="28"/>
                </a:cubicBezTo>
                <a:close/>
              </a:path>
            </a:pathLst>
          </a:custGeom>
          <a:solidFill>
            <a:srgbClr val="0070C0"/>
          </a:solidFill>
          <a:ln>
            <a:noFill/>
          </a:ln>
        </p:spPr>
        <p:txBody>
          <a:bodyPr vert="horz" wrap="square" lIns="91440" tIns="45720" rIns="91440" bIns="45720" numCol="1" anchor="t" anchorCtr="0" compatLnSpc="1"/>
          <a:lstStyle/>
          <a:p>
            <a:pPr defTabSz="457200">
              <a:lnSpc>
                <a:spcPct val="130000"/>
              </a:lnSpc>
            </a:pPr>
            <a:endParaRPr lang="zh-CN" altLang="en-US" dirty="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1" name="组合 10"/>
          <p:cNvGrpSpPr/>
          <p:nvPr/>
        </p:nvGrpSpPr>
        <p:grpSpPr>
          <a:xfrm>
            <a:off x="6526635" y="4735646"/>
            <a:ext cx="2227055" cy="370546"/>
            <a:chOff x="4654427" y="4718860"/>
            <a:chExt cx="1663809" cy="276971"/>
          </a:xfrm>
        </p:grpSpPr>
        <p:grpSp>
          <p:nvGrpSpPr>
            <p:cNvPr id="12" name="组合 11"/>
            <p:cNvGrpSpPr/>
            <p:nvPr/>
          </p:nvGrpSpPr>
          <p:grpSpPr>
            <a:xfrm>
              <a:off x="4654427" y="4718860"/>
              <a:ext cx="276971" cy="276971"/>
              <a:chOff x="3725237" y="4930504"/>
              <a:chExt cx="531780" cy="531780"/>
            </a:xfrm>
          </p:grpSpPr>
          <p:sp>
            <p:nvSpPr>
              <p:cNvPr id="14" name="圆角矩形 2"/>
              <p:cNvSpPr/>
              <p:nvPr/>
            </p:nvSpPr>
            <p:spPr>
              <a:xfrm>
                <a:off x="3725237"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student-graduation-cap-shape_52041"/>
              <p:cNvSpPr>
                <a:spLocks noChangeAspect="1"/>
              </p:cNvSpPr>
              <p:nvPr/>
            </p:nvSpPr>
            <p:spPr bwMode="auto">
              <a:xfrm>
                <a:off x="3875605" y="5054575"/>
                <a:ext cx="219840" cy="264806"/>
              </a:xfrm>
              <a:custGeom>
                <a:avLst/>
                <a:gdLst>
                  <a:gd name="connsiteX0" fmla="*/ 56671 w 279400"/>
                  <a:gd name="connsiteY0" fmla="*/ 192087 h 336550"/>
                  <a:gd name="connsiteX1" fmla="*/ 224047 w 279400"/>
                  <a:gd name="connsiteY1" fmla="*/ 192087 h 336550"/>
                  <a:gd name="connsiteX2" fmla="*/ 279400 w 279400"/>
                  <a:gd name="connsiteY2" fmla="*/ 247752 h 336550"/>
                  <a:gd name="connsiteX3" fmla="*/ 279400 w 279400"/>
                  <a:gd name="connsiteY3" fmla="*/ 336550 h 336550"/>
                  <a:gd name="connsiteX4" fmla="*/ 176602 w 279400"/>
                  <a:gd name="connsiteY4" fmla="*/ 336550 h 336550"/>
                  <a:gd name="connsiteX5" fmla="*/ 158151 w 279400"/>
                  <a:gd name="connsiteY5" fmla="*/ 245101 h 336550"/>
                  <a:gd name="connsiteX6" fmla="*/ 151562 w 279400"/>
                  <a:gd name="connsiteY6" fmla="*/ 239800 h 336550"/>
                  <a:gd name="connsiteX7" fmla="*/ 167377 w 279400"/>
                  <a:gd name="connsiteY7" fmla="*/ 213293 h 336550"/>
                  <a:gd name="connsiteX8" fmla="*/ 167377 w 279400"/>
                  <a:gd name="connsiteY8" fmla="*/ 209317 h 336550"/>
                  <a:gd name="connsiteX9" fmla="*/ 163423 w 279400"/>
                  <a:gd name="connsiteY9" fmla="*/ 207991 h 336550"/>
                  <a:gd name="connsiteX10" fmla="*/ 121249 w 279400"/>
                  <a:gd name="connsiteY10" fmla="*/ 207991 h 336550"/>
                  <a:gd name="connsiteX11" fmla="*/ 118613 w 279400"/>
                  <a:gd name="connsiteY11" fmla="*/ 209317 h 336550"/>
                  <a:gd name="connsiteX12" fmla="*/ 118613 w 279400"/>
                  <a:gd name="connsiteY12" fmla="*/ 213293 h 336550"/>
                  <a:gd name="connsiteX13" fmla="*/ 134429 w 279400"/>
                  <a:gd name="connsiteY13" fmla="*/ 239800 h 336550"/>
                  <a:gd name="connsiteX14" fmla="*/ 126521 w 279400"/>
                  <a:gd name="connsiteY14" fmla="*/ 245101 h 336550"/>
                  <a:gd name="connsiteX15" fmla="*/ 110706 w 279400"/>
                  <a:gd name="connsiteY15" fmla="*/ 336550 h 336550"/>
                  <a:gd name="connsiteX16" fmla="*/ 0 w 279400"/>
                  <a:gd name="connsiteY16" fmla="*/ 336550 h 336550"/>
                  <a:gd name="connsiteX17" fmla="*/ 0 w 279400"/>
                  <a:gd name="connsiteY17" fmla="*/ 247752 h 336550"/>
                  <a:gd name="connsiteX18" fmla="*/ 56671 w 279400"/>
                  <a:gd name="connsiteY18" fmla="*/ 192087 h 336550"/>
                  <a:gd name="connsiteX19" fmla="*/ 138907 w 279400"/>
                  <a:gd name="connsiteY19" fmla="*/ 0 h 336550"/>
                  <a:gd name="connsiteX20" fmla="*/ 219076 w 279400"/>
                  <a:gd name="connsiteY20" fmla="*/ 80169 h 336550"/>
                  <a:gd name="connsiteX21" fmla="*/ 138907 w 279400"/>
                  <a:gd name="connsiteY21" fmla="*/ 160338 h 336550"/>
                  <a:gd name="connsiteX22" fmla="*/ 58738 w 279400"/>
                  <a:gd name="connsiteY22" fmla="*/ 80169 h 336550"/>
                  <a:gd name="connsiteX23" fmla="*/ 138907 w 279400"/>
                  <a:gd name="connsiteY2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9400" h="336550">
                    <a:moveTo>
                      <a:pt x="56671" y="192087"/>
                    </a:moveTo>
                    <a:cubicBezTo>
                      <a:pt x="56671" y="192087"/>
                      <a:pt x="56671" y="192087"/>
                      <a:pt x="224047" y="192087"/>
                    </a:cubicBezTo>
                    <a:cubicBezTo>
                      <a:pt x="254360" y="192087"/>
                      <a:pt x="279400" y="217269"/>
                      <a:pt x="279400" y="247752"/>
                    </a:cubicBezTo>
                    <a:cubicBezTo>
                      <a:pt x="279400" y="247752"/>
                      <a:pt x="279400" y="247752"/>
                      <a:pt x="279400" y="336550"/>
                    </a:cubicBezTo>
                    <a:cubicBezTo>
                      <a:pt x="279400" y="336550"/>
                      <a:pt x="279400" y="336550"/>
                      <a:pt x="176602" y="336550"/>
                    </a:cubicBezTo>
                    <a:cubicBezTo>
                      <a:pt x="176602" y="336550"/>
                      <a:pt x="176602" y="336550"/>
                      <a:pt x="158151" y="245101"/>
                    </a:cubicBezTo>
                    <a:cubicBezTo>
                      <a:pt x="158151" y="242450"/>
                      <a:pt x="154197" y="239800"/>
                      <a:pt x="151562" y="239800"/>
                    </a:cubicBezTo>
                    <a:cubicBezTo>
                      <a:pt x="151562" y="239800"/>
                      <a:pt x="151562" y="239800"/>
                      <a:pt x="167377" y="213293"/>
                    </a:cubicBezTo>
                    <a:cubicBezTo>
                      <a:pt x="167377" y="211967"/>
                      <a:pt x="167377" y="210642"/>
                      <a:pt x="167377" y="209317"/>
                    </a:cubicBezTo>
                    <a:cubicBezTo>
                      <a:pt x="166059" y="207991"/>
                      <a:pt x="164741" y="207991"/>
                      <a:pt x="163423" y="207991"/>
                    </a:cubicBezTo>
                    <a:cubicBezTo>
                      <a:pt x="163423" y="207991"/>
                      <a:pt x="163423" y="207991"/>
                      <a:pt x="121249" y="207991"/>
                    </a:cubicBezTo>
                    <a:cubicBezTo>
                      <a:pt x="119931" y="207991"/>
                      <a:pt x="118613" y="207991"/>
                      <a:pt x="118613" y="209317"/>
                    </a:cubicBezTo>
                    <a:cubicBezTo>
                      <a:pt x="117296" y="210642"/>
                      <a:pt x="117296" y="211967"/>
                      <a:pt x="118613" y="213293"/>
                    </a:cubicBezTo>
                    <a:cubicBezTo>
                      <a:pt x="118613" y="213293"/>
                      <a:pt x="118613" y="213293"/>
                      <a:pt x="134429" y="239800"/>
                    </a:cubicBezTo>
                    <a:cubicBezTo>
                      <a:pt x="130475" y="239800"/>
                      <a:pt x="127839" y="242450"/>
                      <a:pt x="126521" y="245101"/>
                    </a:cubicBezTo>
                    <a:cubicBezTo>
                      <a:pt x="126521" y="245101"/>
                      <a:pt x="126521" y="245101"/>
                      <a:pt x="110706" y="336550"/>
                    </a:cubicBezTo>
                    <a:cubicBezTo>
                      <a:pt x="110706" y="336550"/>
                      <a:pt x="110706" y="336550"/>
                      <a:pt x="0" y="336550"/>
                    </a:cubicBezTo>
                    <a:cubicBezTo>
                      <a:pt x="0" y="336550"/>
                      <a:pt x="0" y="336550"/>
                      <a:pt x="0" y="247752"/>
                    </a:cubicBezTo>
                    <a:cubicBezTo>
                      <a:pt x="0" y="217269"/>
                      <a:pt x="25040" y="192087"/>
                      <a:pt x="56671" y="192087"/>
                    </a:cubicBezTo>
                    <a:close/>
                    <a:moveTo>
                      <a:pt x="138907" y="0"/>
                    </a:moveTo>
                    <a:cubicBezTo>
                      <a:pt x="183183" y="0"/>
                      <a:pt x="219076" y="35893"/>
                      <a:pt x="219076" y="80169"/>
                    </a:cubicBezTo>
                    <a:cubicBezTo>
                      <a:pt x="219076" y="124445"/>
                      <a:pt x="183183" y="160338"/>
                      <a:pt x="138907" y="160338"/>
                    </a:cubicBezTo>
                    <a:cubicBezTo>
                      <a:pt x="94631" y="160338"/>
                      <a:pt x="58738" y="124445"/>
                      <a:pt x="58738" y="80169"/>
                    </a:cubicBezTo>
                    <a:cubicBezTo>
                      <a:pt x="58738" y="35893"/>
                      <a:pt x="94631" y="0"/>
                      <a:pt x="138907"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3" name="文本框 22"/>
            <p:cNvSpPr txBox="1"/>
            <p:nvPr/>
          </p:nvSpPr>
          <p:spPr>
            <a:xfrm>
              <a:off x="4925563" y="4732803"/>
              <a:ext cx="1392673" cy="253058"/>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汇报人：周嘉伟</a:t>
              </a:r>
            </a:p>
          </p:txBody>
        </p:sp>
      </p:grpSp>
      <p:grpSp>
        <p:nvGrpSpPr>
          <p:cNvPr id="16" name="组合 15"/>
          <p:cNvGrpSpPr/>
          <p:nvPr/>
        </p:nvGrpSpPr>
        <p:grpSpPr>
          <a:xfrm>
            <a:off x="9022660" y="4735646"/>
            <a:ext cx="2698615" cy="370765"/>
            <a:chOff x="6395842" y="4718860"/>
            <a:chExt cx="2016134" cy="276971"/>
          </a:xfrm>
        </p:grpSpPr>
        <p:grpSp>
          <p:nvGrpSpPr>
            <p:cNvPr id="17" name="组合 16"/>
            <p:cNvGrpSpPr/>
            <p:nvPr/>
          </p:nvGrpSpPr>
          <p:grpSpPr>
            <a:xfrm>
              <a:off x="6395842" y="4718860"/>
              <a:ext cx="276971" cy="276971"/>
              <a:chOff x="6392770" y="4930504"/>
              <a:chExt cx="531780" cy="531780"/>
            </a:xfrm>
          </p:grpSpPr>
          <p:sp>
            <p:nvSpPr>
              <p:cNvPr id="19" name="圆角矩形 2"/>
              <p:cNvSpPr/>
              <p:nvPr/>
            </p:nvSpPr>
            <p:spPr>
              <a:xfrm>
                <a:off x="6392770"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student-graduation-cap-shape_52041"/>
              <p:cNvSpPr>
                <a:spLocks noChangeAspect="1"/>
              </p:cNvSpPr>
              <p:nvPr/>
            </p:nvSpPr>
            <p:spPr bwMode="auto">
              <a:xfrm>
                <a:off x="6527005" y="5064598"/>
                <a:ext cx="256066" cy="264808"/>
              </a:xfrm>
              <a:custGeom>
                <a:avLst/>
                <a:gdLst>
                  <a:gd name="connsiteX0" fmla="*/ 233363 w 325438"/>
                  <a:gd name="connsiteY0" fmla="*/ 249238 h 336550"/>
                  <a:gd name="connsiteX1" fmla="*/ 279401 w 325438"/>
                  <a:gd name="connsiteY1" fmla="*/ 249238 h 336550"/>
                  <a:gd name="connsiteX2" fmla="*/ 279401 w 325438"/>
                  <a:gd name="connsiteY2" fmla="*/ 290513 h 336550"/>
                  <a:gd name="connsiteX3" fmla="*/ 233363 w 325438"/>
                  <a:gd name="connsiteY3" fmla="*/ 290513 h 336550"/>
                  <a:gd name="connsiteX4" fmla="*/ 171450 w 325438"/>
                  <a:gd name="connsiteY4" fmla="*/ 249238 h 336550"/>
                  <a:gd name="connsiteX5" fmla="*/ 217488 w 325438"/>
                  <a:gd name="connsiteY5" fmla="*/ 249238 h 336550"/>
                  <a:gd name="connsiteX6" fmla="*/ 217488 w 325438"/>
                  <a:gd name="connsiteY6" fmla="*/ 290513 h 336550"/>
                  <a:gd name="connsiteX7" fmla="*/ 171450 w 325438"/>
                  <a:gd name="connsiteY7" fmla="*/ 290513 h 336550"/>
                  <a:gd name="connsiteX8" fmla="*/ 107950 w 325438"/>
                  <a:gd name="connsiteY8" fmla="*/ 249238 h 336550"/>
                  <a:gd name="connsiteX9" fmla="*/ 155575 w 325438"/>
                  <a:gd name="connsiteY9" fmla="*/ 249238 h 336550"/>
                  <a:gd name="connsiteX10" fmla="*/ 155575 w 325438"/>
                  <a:gd name="connsiteY10" fmla="*/ 290513 h 336550"/>
                  <a:gd name="connsiteX11" fmla="*/ 107950 w 325438"/>
                  <a:gd name="connsiteY11" fmla="*/ 290513 h 336550"/>
                  <a:gd name="connsiteX12" fmla="*/ 46038 w 325438"/>
                  <a:gd name="connsiteY12" fmla="*/ 249238 h 336550"/>
                  <a:gd name="connsiteX13" fmla="*/ 93663 w 325438"/>
                  <a:gd name="connsiteY13" fmla="*/ 249238 h 336550"/>
                  <a:gd name="connsiteX14" fmla="*/ 93663 w 325438"/>
                  <a:gd name="connsiteY14" fmla="*/ 290513 h 336550"/>
                  <a:gd name="connsiteX15" fmla="*/ 46038 w 325438"/>
                  <a:gd name="connsiteY15" fmla="*/ 290513 h 336550"/>
                  <a:gd name="connsiteX16" fmla="*/ 233363 w 325438"/>
                  <a:gd name="connsiteY16" fmla="*/ 195263 h 336550"/>
                  <a:gd name="connsiteX17" fmla="*/ 279401 w 325438"/>
                  <a:gd name="connsiteY17" fmla="*/ 195263 h 336550"/>
                  <a:gd name="connsiteX18" fmla="*/ 279401 w 325438"/>
                  <a:gd name="connsiteY18" fmla="*/ 234951 h 336550"/>
                  <a:gd name="connsiteX19" fmla="*/ 233363 w 325438"/>
                  <a:gd name="connsiteY19" fmla="*/ 234951 h 336550"/>
                  <a:gd name="connsiteX20" fmla="*/ 171450 w 325438"/>
                  <a:gd name="connsiteY20" fmla="*/ 195263 h 336550"/>
                  <a:gd name="connsiteX21" fmla="*/ 217488 w 325438"/>
                  <a:gd name="connsiteY21" fmla="*/ 195263 h 336550"/>
                  <a:gd name="connsiteX22" fmla="*/ 217488 w 325438"/>
                  <a:gd name="connsiteY22" fmla="*/ 234951 h 336550"/>
                  <a:gd name="connsiteX23" fmla="*/ 171450 w 325438"/>
                  <a:gd name="connsiteY23" fmla="*/ 234951 h 336550"/>
                  <a:gd name="connsiteX24" fmla="*/ 107950 w 325438"/>
                  <a:gd name="connsiteY24" fmla="*/ 195263 h 336550"/>
                  <a:gd name="connsiteX25" fmla="*/ 155575 w 325438"/>
                  <a:gd name="connsiteY25" fmla="*/ 195263 h 336550"/>
                  <a:gd name="connsiteX26" fmla="*/ 155575 w 325438"/>
                  <a:gd name="connsiteY26" fmla="*/ 234951 h 336550"/>
                  <a:gd name="connsiteX27" fmla="*/ 107950 w 325438"/>
                  <a:gd name="connsiteY27" fmla="*/ 234951 h 336550"/>
                  <a:gd name="connsiteX28" fmla="*/ 46038 w 325438"/>
                  <a:gd name="connsiteY28" fmla="*/ 195263 h 336550"/>
                  <a:gd name="connsiteX29" fmla="*/ 93663 w 325438"/>
                  <a:gd name="connsiteY29" fmla="*/ 195263 h 336550"/>
                  <a:gd name="connsiteX30" fmla="*/ 93663 w 325438"/>
                  <a:gd name="connsiteY30" fmla="*/ 234951 h 336550"/>
                  <a:gd name="connsiteX31" fmla="*/ 46038 w 325438"/>
                  <a:gd name="connsiteY31" fmla="*/ 234951 h 336550"/>
                  <a:gd name="connsiteX32" fmla="*/ 233363 w 325438"/>
                  <a:gd name="connsiteY32" fmla="*/ 139700 h 336550"/>
                  <a:gd name="connsiteX33" fmla="*/ 279401 w 325438"/>
                  <a:gd name="connsiteY33" fmla="*/ 139700 h 336550"/>
                  <a:gd name="connsiteX34" fmla="*/ 279401 w 325438"/>
                  <a:gd name="connsiteY34" fmla="*/ 180975 h 336550"/>
                  <a:gd name="connsiteX35" fmla="*/ 233363 w 325438"/>
                  <a:gd name="connsiteY35" fmla="*/ 180975 h 336550"/>
                  <a:gd name="connsiteX36" fmla="*/ 171450 w 325438"/>
                  <a:gd name="connsiteY36" fmla="*/ 139700 h 336550"/>
                  <a:gd name="connsiteX37" fmla="*/ 217488 w 325438"/>
                  <a:gd name="connsiteY37" fmla="*/ 139700 h 336550"/>
                  <a:gd name="connsiteX38" fmla="*/ 217488 w 325438"/>
                  <a:gd name="connsiteY38" fmla="*/ 180975 h 336550"/>
                  <a:gd name="connsiteX39" fmla="*/ 171450 w 325438"/>
                  <a:gd name="connsiteY39" fmla="*/ 180975 h 336550"/>
                  <a:gd name="connsiteX40" fmla="*/ 107950 w 325438"/>
                  <a:gd name="connsiteY40" fmla="*/ 139700 h 336550"/>
                  <a:gd name="connsiteX41" fmla="*/ 155575 w 325438"/>
                  <a:gd name="connsiteY41" fmla="*/ 139700 h 336550"/>
                  <a:gd name="connsiteX42" fmla="*/ 155575 w 325438"/>
                  <a:gd name="connsiteY42" fmla="*/ 180975 h 336550"/>
                  <a:gd name="connsiteX43" fmla="*/ 107950 w 325438"/>
                  <a:gd name="connsiteY43" fmla="*/ 180975 h 336550"/>
                  <a:gd name="connsiteX44" fmla="*/ 49167 w 325438"/>
                  <a:gd name="connsiteY44" fmla="*/ 38100 h 336550"/>
                  <a:gd name="connsiteX45" fmla="*/ 25400 w 325438"/>
                  <a:gd name="connsiteY45" fmla="*/ 61753 h 336550"/>
                  <a:gd name="connsiteX46" fmla="*/ 25400 w 325438"/>
                  <a:gd name="connsiteY46" fmla="*/ 289085 h 336550"/>
                  <a:gd name="connsiteX47" fmla="*/ 49167 w 325438"/>
                  <a:gd name="connsiteY47" fmla="*/ 312738 h 336550"/>
                  <a:gd name="connsiteX48" fmla="*/ 276271 w 325438"/>
                  <a:gd name="connsiteY48" fmla="*/ 312738 h 336550"/>
                  <a:gd name="connsiteX49" fmla="*/ 300038 w 325438"/>
                  <a:gd name="connsiteY49" fmla="*/ 289085 h 336550"/>
                  <a:gd name="connsiteX50" fmla="*/ 300038 w 325438"/>
                  <a:gd name="connsiteY50" fmla="*/ 61753 h 336550"/>
                  <a:gd name="connsiteX51" fmla="*/ 276271 w 325438"/>
                  <a:gd name="connsiteY51" fmla="*/ 38100 h 336550"/>
                  <a:gd name="connsiteX52" fmla="*/ 269669 w 325438"/>
                  <a:gd name="connsiteY52" fmla="*/ 38100 h 336550"/>
                  <a:gd name="connsiteX53" fmla="*/ 269669 w 325438"/>
                  <a:gd name="connsiteY53" fmla="*/ 63067 h 336550"/>
                  <a:gd name="connsiteX54" fmla="*/ 276271 w 325438"/>
                  <a:gd name="connsiteY54" fmla="*/ 74894 h 336550"/>
                  <a:gd name="connsiteX55" fmla="*/ 260427 w 325438"/>
                  <a:gd name="connsiteY55" fmla="*/ 90662 h 336550"/>
                  <a:gd name="connsiteX56" fmla="*/ 244582 w 325438"/>
                  <a:gd name="connsiteY56" fmla="*/ 74894 h 336550"/>
                  <a:gd name="connsiteX57" fmla="*/ 249864 w 325438"/>
                  <a:gd name="connsiteY57" fmla="*/ 63067 h 336550"/>
                  <a:gd name="connsiteX58" fmla="*/ 249864 w 325438"/>
                  <a:gd name="connsiteY58" fmla="*/ 38100 h 336550"/>
                  <a:gd name="connsiteX59" fmla="*/ 231379 w 325438"/>
                  <a:gd name="connsiteY59" fmla="*/ 38100 h 336550"/>
                  <a:gd name="connsiteX60" fmla="*/ 231379 w 325438"/>
                  <a:gd name="connsiteY60" fmla="*/ 63067 h 336550"/>
                  <a:gd name="connsiteX61" fmla="*/ 236660 w 325438"/>
                  <a:gd name="connsiteY61" fmla="*/ 74894 h 336550"/>
                  <a:gd name="connsiteX62" fmla="*/ 220816 w 325438"/>
                  <a:gd name="connsiteY62" fmla="*/ 90662 h 336550"/>
                  <a:gd name="connsiteX63" fmla="*/ 204971 w 325438"/>
                  <a:gd name="connsiteY63" fmla="*/ 74894 h 336550"/>
                  <a:gd name="connsiteX64" fmla="*/ 210253 w 325438"/>
                  <a:gd name="connsiteY64" fmla="*/ 63067 h 336550"/>
                  <a:gd name="connsiteX65" fmla="*/ 210253 w 325438"/>
                  <a:gd name="connsiteY65" fmla="*/ 38100 h 336550"/>
                  <a:gd name="connsiteX66" fmla="*/ 191767 w 325438"/>
                  <a:gd name="connsiteY66" fmla="*/ 38100 h 336550"/>
                  <a:gd name="connsiteX67" fmla="*/ 191767 w 325438"/>
                  <a:gd name="connsiteY67" fmla="*/ 63067 h 336550"/>
                  <a:gd name="connsiteX68" fmla="*/ 198369 w 325438"/>
                  <a:gd name="connsiteY68" fmla="*/ 74894 h 336550"/>
                  <a:gd name="connsiteX69" fmla="*/ 182525 w 325438"/>
                  <a:gd name="connsiteY69" fmla="*/ 90662 h 336550"/>
                  <a:gd name="connsiteX70" fmla="*/ 166680 w 325438"/>
                  <a:gd name="connsiteY70" fmla="*/ 74894 h 336550"/>
                  <a:gd name="connsiteX71" fmla="*/ 171962 w 325438"/>
                  <a:gd name="connsiteY71" fmla="*/ 63067 h 336550"/>
                  <a:gd name="connsiteX72" fmla="*/ 171962 w 325438"/>
                  <a:gd name="connsiteY72" fmla="*/ 38100 h 336550"/>
                  <a:gd name="connsiteX73" fmla="*/ 153476 w 325438"/>
                  <a:gd name="connsiteY73" fmla="*/ 38100 h 336550"/>
                  <a:gd name="connsiteX74" fmla="*/ 153476 w 325438"/>
                  <a:gd name="connsiteY74" fmla="*/ 63067 h 336550"/>
                  <a:gd name="connsiteX75" fmla="*/ 158758 w 325438"/>
                  <a:gd name="connsiteY75" fmla="*/ 74894 h 336550"/>
                  <a:gd name="connsiteX76" fmla="*/ 142913 w 325438"/>
                  <a:gd name="connsiteY76" fmla="*/ 90662 h 336550"/>
                  <a:gd name="connsiteX77" fmla="*/ 127069 w 325438"/>
                  <a:gd name="connsiteY77" fmla="*/ 74894 h 336550"/>
                  <a:gd name="connsiteX78" fmla="*/ 133671 w 325438"/>
                  <a:gd name="connsiteY78" fmla="*/ 63067 h 336550"/>
                  <a:gd name="connsiteX79" fmla="*/ 133671 w 325438"/>
                  <a:gd name="connsiteY79" fmla="*/ 38100 h 336550"/>
                  <a:gd name="connsiteX80" fmla="*/ 115186 w 325438"/>
                  <a:gd name="connsiteY80" fmla="*/ 38100 h 336550"/>
                  <a:gd name="connsiteX81" fmla="*/ 115186 w 325438"/>
                  <a:gd name="connsiteY81" fmla="*/ 63067 h 336550"/>
                  <a:gd name="connsiteX82" fmla="*/ 120467 w 325438"/>
                  <a:gd name="connsiteY82" fmla="*/ 74894 h 336550"/>
                  <a:gd name="connsiteX83" fmla="*/ 104623 w 325438"/>
                  <a:gd name="connsiteY83" fmla="*/ 90662 h 336550"/>
                  <a:gd name="connsiteX84" fmla="*/ 88778 w 325438"/>
                  <a:gd name="connsiteY84" fmla="*/ 74894 h 336550"/>
                  <a:gd name="connsiteX85" fmla="*/ 94060 w 325438"/>
                  <a:gd name="connsiteY85" fmla="*/ 63067 h 336550"/>
                  <a:gd name="connsiteX86" fmla="*/ 94060 w 325438"/>
                  <a:gd name="connsiteY86" fmla="*/ 38100 h 336550"/>
                  <a:gd name="connsiteX87" fmla="*/ 75574 w 325438"/>
                  <a:gd name="connsiteY87" fmla="*/ 38100 h 336550"/>
                  <a:gd name="connsiteX88" fmla="*/ 75574 w 325438"/>
                  <a:gd name="connsiteY88" fmla="*/ 63067 h 336550"/>
                  <a:gd name="connsiteX89" fmla="*/ 80856 w 325438"/>
                  <a:gd name="connsiteY89" fmla="*/ 74894 h 336550"/>
                  <a:gd name="connsiteX90" fmla="*/ 65011 w 325438"/>
                  <a:gd name="connsiteY90" fmla="*/ 90662 h 336550"/>
                  <a:gd name="connsiteX91" fmla="*/ 49167 w 325438"/>
                  <a:gd name="connsiteY91" fmla="*/ 74894 h 336550"/>
                  <a:gd name="connsiteX92" fmla="*/ 55769 w 325438"/>
                  <a:gd name="connsiteY92" fmla="*/ 63067 h 336550"/>
                  <a:gd name="connsiteX93" fmla="*/ 55769 w 325438"/>
                  <a:gd name="connsiteY93" fmla="*/ 38100 h 336550"/>
                  <a:gd name="connsiteX94" fmla="*/ 49167 w 325438"/>
                  <a:gd name="connsiteY94" fmla="*/ 38100 h 336550"/>
                  <a:gd name="connsiteX95" fmla="*/ 65315 w 325438"/>
                  <a:gd name="connsiteY95" fmla="*/ 4763 h 336550"/>
                  <a:gd name="connsiteX96" fmla="*/ 61913 w 325438"/>
                  <a:gd name="connsiteY96" fmla="*/ 10110 h 336550"/>
                  <a:gd name="connsiteX97" fmla="*/ 61913 w 325438"/>
                  <a:gd name="connsiteY97" fmla="*/ 75616 h 336550"/>
                  <a:gd name="connsiteX98" fmla="*/ 65315 w 325438"/>
                  <a:gd name="connsiteY98" fmla="*/ 80963 h 336550"/>
                  <a:gd name="connsiteX99" fmla="*/ 69851 w 325438"/>
                  <a:gd name="connsiteY99" fmla="*/ 75616 h 336550"/>
                  <a:gd name="connsiteX100" fmla="*/ 69851 w 325438"/>
                  <a:gd name="connsiteY100" fmla="*/ 10110 h 336550"/>
                  <a:gd name="connsiteX101" fmla="*/ 65315 w 325438"/>
                  <a:gd name="connsiteY101" fmla="*/ 4763 h 336550"/>
                  <a:gd name="connsiteX102" fmla="*/ 104776 w 325438"/>
                  <a:gd name="connsiteY102" fmla="*/ 4763 h 336550"/>
                  <a:gd name="connsiteX103" fmla="*/ 100013 w 325438"/>
                  <a:gd name="connsiteY103" fmla="*/ 10110 h 336550"/>
                  <a:gd name="connsiteX104" fmla="*/ 100013 w 325438"/>
                  <a:gd name="connsiteY104" fmla="*/ 75616 h 336550"/>
                  <a:gd name="connsiteX105" fmla="*/ 104776 w 325438"/>
                  <a:gd name="connsiteY105" fmla="*/ 80963 h 336550"/>
                  <a:gd name="connsiteX106" fmla="*/ 109538 w 325438"/>
                  <a:gd name="connsiteY106" fmla="*/ 75616 h 336550"/>
                  <a:gd name="connsiteX107" fmla="*/ 109538 w 325438"/>
                  <a:gd name="connsiteY107" fmla="*/ 10110 h 336550"/>
                  <a:gd name="connsiteX108" fmla="*/ 104776 w 325438"/>
                  <a:gd name="connsiteY108" fmla="*/ 4763 h 336550"/>
                  <a:gd name="connsiteX109" fmla="*/ 142876 w 325438"/>
                  <a:gd name="connsiteY109" fmla="*/ 4763 h 336550"/>
                  <a:gd name="connsiteX110" fmla="*/ 138113 w 325438"/>
                  <a:gd name="connsiteY110" fmla="*/ 10110 h 336550"/>
                  <a:gd name="connsiteX111" fmla="*/ 138113 w 325438"/>
                  <a:gd name="connsiteY111" fmla="*/ 75616 h 336550"/>
                  <a:gd name="connsiteX112" fmla="*/ 142876 w 325438"/>
                  <a:gd name="connsiteY112" fmla="*/ 80963 h 336550"/>
                  <a:gd name="connsiteX113" fmla="*/ 147638 w 325438"/>
                  <a:gd name="connsiteY113" fmla="*/ 75616 h 336550"/>
                  <a:gd name="connsiteX114" fmla="*/ 147638 w 325438"/>
                  <a:gd name="connsiteY114" fmla="*/ 10110 h 336550"/>
                  <a:gd name="connsiteX115" fmla="*/ 142876 w 325438"/>
                  <a:gd name="connsiteY115" fmla="*/ 4763 h 336550"/>
                  <a:gd name="connsiteX116" fmla="*/ 182563 w 325438"/>
                  <a:gd name="connsiteY116" fmla="*/ 4763 h 336550"/>
                  <a:gd name="connsiteX117" fmla="*/ 177800 w 325438"/>
                  <a:gd name="connsiteY117" fmla="*/ 10110 h 336550"/>
                  <a:gd name="connsiteX118" fmla="*/ 177800 w 325438"/>
                  <a:gd name="connsiteY118" fmla="*/ 75616 h 336550"/>
                  <a:gd name="connsiteX119" fmla="*/ 182563 w 325438"/>
                  <a:gd name="connsiteY119" fmla="*/ 80963 h 336550"/>
                  <a:gd name="connsiteX120" fmla="*/ 187325 w 325438"/>
                  <a:gd name="connsiteY120" fmla="*/ 75616 h 336550"/>
                  <a:gd name="connsiteX121" fmla="*/ 187325 w 325438"/>
                  <a:gd name="connsiteY121" fmla="*/ 10110 h 336550"/>
                  <a:gd name="connsiteX122" fmla="*/ 182563 w 325438"/>
                  <a:gd name="connsiteY122" fmla="*/ 4763 h 336550"/>
                  <a:gd name="connsiteX123" fmla="*/ 220663 w 325438"/>
                  <a:gd name="connsiteY123" fmla="*/ 4763 h 336550"/>
                  <a:gd name="connsiteX124" fmla="*/ 215900 w 325438"/>
                  <a:gd name="connsiteY124" fmla="*/ 10110 h 336550"/>
                  <a:gd name="connsiteX125" fmla="*/ 215900 w 325438"/>
                  <a:gd name="connsiteY125" fmla="*/ 75616 h 336550"/>
                  <a:gd name="connsiteX126" fmla="*/ 220663 w 325438"/>
                  <a:gd name="connsiteY126" fmla="*/ 80963 h 336550"/>
                  <a:gd name="connsiteX127" fmla="*/ 225425 w 325438"/>
                  <a:gd name="connsiteY127" fmla="*/ 75616 h 336550"/>
                  <a:gd name="connsiteX128" fmla="*/ 225425 w 325438"/>
                  <a:gd name="connsiteY128" fmla="*/ 10110 h 336550"/>
                  <a:gd name="connsiteX129" fmla="*/ 220663 w 325438"/>
                  <a:gd name="connsiteY129" fmla="*/ 4763 h 336550"/>
                  <a:gd name="connsiteX130" fmla="*/ 260124 w 325438"/>
                  <a:gd name="connsiteY130" fmla="*/ 4763 h 336550"/>
                  <a:gd name="connsiteX131" fmla="*/ 255588 w 325438"/>
                  <a:gd name="connsiteY131" fmla="*/ 10110 h 336550"/>
                  <a:gd name="connsiteX132" fmla="*/ 255588 w 325438"/>
                  <a:gd name="connsiteY132" fmla="*/ 75616 h 336550"/>
                  <a:gd name="connsiteX133" fmla="*/ 260124 w 325438"/>
                  <a:gd name="connsiteY133" fmla="*/ 80963 h 336550"/>
                  <a:gd name="connsiteX134" fmla="*/ 263526 w 325438"/>
                  <a:gd name="connsiteY134" fmla="*/ 75616 h 336550"/>
                  <a:gd name="connsiteX135" fmla="*/ 263526 w 325438"/>
                  <a:gd name="connsiteY135" fmla="*/ 10110 h 336550"/>
                  <a:gd name="connsiteX136" fmla="*/ 260124 w 325438"/>
                  <a:gd name="connsiteY136" fmla="*/ 4763 h 336550"/>
                  <a:gd name="connsiteX137" fmla="*/ 64823 w 325438"/>
                  <a:gd name="connsiteY137" fmla="*/ 0 h 336550"/>
                  <a:gd name="connsiteX138" fmla="*/ 75406 w 325438"/>
                  <a:gd name="connsiteY138" fmla="*/ 10517 h 336550"/>
                  <a:gd name="connsiteX139" fmla="*/ 75406 w 325438"/>
                  <a:gd name="connsiteY139" fmla="*/ 14461 h 336550"/>
                  <a:gd name="connsiteX140" fmla="*/ 93927 w 325438"/>
                  <a:gd name="connsiteY140" fmla="*/ 14461 h 336550"/>
                  <a:gd name="connsiteX141" fmla="*/ 93927 w 325438"/>
                  <a:gd name="connsiteY141" fmla="*/ 10517 h 336550"/>
                  <a:gd name="connsiteX142" fmla="*/ 104511 w 325438"/>
                  <a:gd name="connsiteY142" fmla="*/ 0 h 336550"/>
                  <a:gd name="connsiteX143" fmla="*/ 115094 w 325438"/>
                  <a:gd name="connsiteY143" fmla="*/ 10517 h 336550"/>
                  <a:gd name="connsiteX144" fmla="*/ 115094 w 325438"/>
                  <a:gd name="connsiteY144" fmla="*/ 14461 h 336550"/>
                  <a:gd name="connsiteX145" fmla="*/ 133615 w 325438"/>
                  <a:gd name="connsiteY145" fmla="*/ 14461 h 336550"/>
                  <a:gd name="connsiteX146" fmla="*/ 133615 w 325438"/>
                  <a:gd name="connsiteY146" fmla="*/ 10517 h 336550"/>
                  <a:gd name="connsiteX147" fmla="*/ 142875 w 325438"/>
                  <a:gd name="connsiteY147" fmla="*/ 0 h 336550"/>
                  <a:gd name="connsiteX148" fmla="*/ 153459 w 325438"/>
                  <a:gd name="connsiteY148" fmla="*/ 10517 h 336550"/>
                  <a:gd name="connsiteX149" fmla="*/ 153459 w 325438"/>
                  <a:gd name="connsiteY149" fmla="*/ 14461 h 336550"/>
                  <a:gd name="connsiteX150" fmla="*/ 171980 w 325438"/>
                  <a:gd name="connsiteY150" fmla="*/ 14461 h 336550"/>
                  <a:gd name="connsiteX151" fmla="*/ 171980 w 325438"/>
                  <a:gd name="connsiteY151" fmla="*/ 10517 h 336550"/>
                  <a:gd name="connsiteX152" fmla="*/ 182563 w 325438"/>
                  <a:gd name="connsiteY152" fmla="*/ 0 h 336550"/>
                  <a:gd name="connsiteX153" fmla="*/ 191823 w 325438"/>
                  <a:gd name="connsiteY153" fmla="*/ 10517 h 336550"/>
                  <a:gd name="connsiteX154" fmla="*/ 191823 w 325438"/>
                  <a:gd name="connsiteY154" fmla="*/ 14461 h 336550"/>
                  <a:gd name="connsiteX155" fmla="*/ 210344 w 325438"/>
                  <a:gd name="connsiteY155" fmla="*/ 14461 h 336550"/>
                  <a:gd name="connsiteX156" fmla="*/ 210344 w 325438"/>
                  <a:gd name="connsiteY156" fmla="*/ 10517 h 336550"/>
                  <a:gd name="connsiteX157" fmla="*/ 220927 w 325438"/>
                  <a:gd name="connsiteY157" fmla="*/ 0 h 336550"/>
                  <a:gd name="connsiteX158" fmla="*/ 231511 w 325438"/>
                  <a:gd name="connsiteY158" fmla="*/ 10517 h 336550"/>
                  <a:gd name="connsiteX159" fmla="*/ 231511 w 325438"/>
                  <a:gd name="connsiteY159" fmla="*/ 14461 h 336550"/>
                  <a:gd name="connsiteX160" fmla="*/ 250032 w 325438"/>
                  <a:gd name="connsiteY160" fmla="*/ 14461 h 336550"/>
                  <a:gd name="connsiteX161" fmla="*/ 250032 w 325438"/>
                  <a:gd name="connsiteY161" fmla="*/ 10517 h 336550"/>
                  <a:gd name="connsiteX162" fmla="*/ 260615 w 325438"/>
                  <a:gd name="connsiteY162" fmla="*/ 0 h 336550"/>
                  <a:gd name="connsiteX163" fmla="*/ 269875 w 325438"/>
                  <a:gd name="connsiteY163" fmla="*/ 10517 h 336550"/>
                  <a:gd name="connsiteX164" fmla="*/ 269875 w 325438"/>
                  <a:gd name="connsiteY164" fmla="*/ 14461 h 336550"/>
                  <a:gd name="connsiteX165" fmla="*/ 276490 w 325438"/>
                  <a:gd name="connsiteY165" fmla="*/ 14461 h 336550"/>
                  <a:gd name="connsiteX166" fmla="*/ 325438 w 325438"/>
                  <a:gd name="connsiteY166" fmla="*/ 61789 h 336550"/>
                  <a:gd name="connsiteX167" fmla="*/ 325438 w 325438"/>
                  <a:gd name="connsiteY167" fmla="*/ 289223 h 336550"/>
                  <a:gd name="connsiteX168" fmla="*/ 276490 w 325438"/>
                  <a:gd name="connsiteY168" fmla="*/ 336550 h 336550"/>
                  <a:gd name="connsiteX169" fmla="*/ 48948 w 325438"/>
                  <a:gd name="connsiteY169" fmla="*/ 336550 h 336550"/>
                  <a:gd name="connsiteX170" fmla="*/ 0 w 325438"/>
                  <a:gd name="connsiteY170" fmla="*/ 289223 h 336550"/>
                  <a:gd name="connsiteX171" fmla="*/ 0 w 325438"/>
                  <a:gd name="connsiteY171" fmla="*/ 61789 h 336550"/>
                  <a:gd name="connsiteX172" fmla="*/ 48948 w 325438"/>
                  <a:gd name="connsiteY172" fmla="*/ 14461 h 336550"/>
                  <a:gd name="connsiteX173" fmla="*/ 55563 w 325438"/>
                  <a:gd name="connsiteY173" fmla="*/ 14461 h 336550"/>
                  <a:gd name="connsiteX174" fmla="*/ 55563 w 325438"/>
                  <a:gd name="connsiteY174" fmla="*/ 10517 h 336550"/>
                  <a:gd name="connsiteX175" fmla="*/ 64823 w 325438"/>
                  <a:gd name="connsiteY17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25438" h="336550">
                    <a:moveTo>
                      <a:pt x="233363" y="249238"/>
                    </a:moveTo>
                    <a:lnTo>
                      <a:pt x="279401" y="249238"/>
                    </a:lnTo>
                    <a:lnTo>
                      <a:pt x="279401" y="290513"/>
                    </a:lnTo>
                    <a:lnTo>
                      <a:pt x="233363" y="290513"/>
                    </a:lnTo>
                    <a:close/>
                    <a:moveTo>
                      <a:pt x="171450" y="249238"/>
                    </a:moveTo>
                    <a:lnTo>
                      <a:pt x="217488" y="249238"/>
                    </a:lnTo>
                    <a:lnTo>
                      <a:pt x="217488" y="290513"/>
                    </a:lnTo>
                    <a:lnTo>
                      <a:pt x="171450" y="290513"/>
                    </a:lnTo>
                    <a:close/>
                    <a:moveTo>
                      <a:pt x="107950" y="249238"/>
                    </a:moveTo>
                    <a:lnTo>
                      <a:pt x="155575" y="249238"/>
                    </a:lnTo>
                    <a:lnTo>
                      <a:pt x="155575" y="290513"/>
                    </a:lnTo>
                    <a:lnTo>
                      <a:pt x="107950" y="290513"/>
                    </a:lnTo>
                    <a:close/>
                    <a:moveTo>
                      <a:pt x="46038" y="249238"/>
                    </a:moveTo>
                    <a:lnTo>
                      <a:pt x="93663" y="249238"/>
                    </a:lnTo>
                    <a:lnTo>
                      <a:pt x="93663" y="290513"/>
                    </a:lnTo>
                    <a:lnTo>
                      <a:pt x="46038" y="290513"/>
                    </a:lnTo>
                    <a:close/>
                    <a:moveTo>
                      <a:pt x="233363" y="195263"/>
                    </a:moveTo>
                    <a:lnTo>
                      <a:pt x="279401" y="195263"/>
                    </a:lnTo>
                    <a:lnTo>
                      <a:pt x="279401" y="234951"/>
                    </a:lnTo>
                    <a:lnTo>
                      <a:pt x="233363" y="234951"/>
                    </a:lnTo>
                    <a:close/>
                    <a:moveTo>
                      <a:pt x="171450" y="195263"/>
                    </a:moveTo>
                    <a:lnTo>
                      <a:pt x="217488" y="195263"/>
                    </a:lnTo>
                    <a:lnTo>
                      <a:pt x="217488" y="234951"/>
                    </a:lnTo>
                    <a:lnTo>
                      <a:pt x="171450" y="234951"/>
                    </a:lnTo>
                    <a:close/>
                    <a:moveTo>
                      <a:pt x="107950" y="195263"/>
                    </a:moveTo>
                    <a:lnTo>
                      <a:pt x="155575" y="195263"/>
                    </a:lnTo>
                    <a:lnTo>
                      <a:pt x="155575" y="234951"/>
                    </a:lnTo>
                    <a:lnTo>
                      <a:pt x="107950" y="234951"/>
                    </a:lnTo>
                    <a:close/>
                    <a:moveTo>
                      <a:pt x="46038" y="195263"/>
                    </a:moveTo>
                    <a:lnTo>
                      <a:pt x="93663" y="195263"/>
                    </a:lnTo>
                    <a:lnTo>
                      <a:pt x="93663" y="234951"/>
                    </a:lnTo>
                    <a:lnTo>
                      <a:pt x="46038" y="234951"/>
                    </a:lnTo>
                    <a:close/>
                    <a:moveTo>
                      <a:pt x="233363" y="139700"/>
                    </a:moveTo>
                    <a:lnTo>
                      <a:pt x="279401" y="139700"/>
                    </a:lnTo>
                    <a:lnTo>
                      <a:pt x="279401" y="180975"/>
                    </a:lnTo>
                    <a:lnTo>
                      <a:pt x="233363" y="180975"/>
                    </a:lnTo>
                    <a:close/>
                    <a:moveTo>
                      <a:pt x="171450" y="139700"/>
                    </a:moveTo>
                    <a:lnTo>
                      <a:pt x="217488" y="139700"/>
                    </a:lnTo>
                    <a:lnTo>
                      <a:pt x="217488" y="180975"/>
                    </a:lnTo>
                    <a:lnTo>
                      <a:pt x="171450" y="180975"/>
                    </a:lnTo>
                    <a:close/>
                    <a:moveTo>
                      <a:pt x="107950" y="139700"/>
                    </a:moveTo>
                    <a:lnTo>
                      <a:pt x="155575" y="139700"/>
                    </a:lnTo>
                    <a:lnTo>
                      <a:pt x="155575" y="180975"/>
                    </a:lnTo>
                    <a:lnTo>
                      <a:pt x="107950" y="180975"/>
                    </a:lnTo>
                    <a:close/>
                    <a:moveTo>
                      <a:pt x="49167" y="38100"/>
                    </a:moveTo>
                    <a:cubicBezTo>
                      <a:pt x="35963" y="38100"/>
                      <a:pt x="25400" y="48613"/>
                      <a:pt x="25400" y="61753"/>
                    </a:cubicBezTo>
                    <a:cubicBezTo>
                      <a:pt x="25400" y="61753"/>
                      <a:pt x="25400" y="61753"/>
                      <a:pt x="25400" y="289085"/>
                    </a:cubicBezTo>
                    <a:cubicBezTo>
                      <a:pt x="25400" y="302226"/>
                      <a:pt x="35963" y="312738"/>
                      <a:pt x="49167" y="312738"/>
                    </a:cubicBezTo>
                    <a:cubicBezTo>
                      <a:pt x="49167" y="312738"/>
                      <a:pt x="49167" y="312738"/>
                      <a:pt x="276271" y="312738"/>
                    </a:cubicBezTo>
                    <a:cubicBezTo>
                      <a:pt x="289475" y="312738"/>
                      <a:pt x="300038" y="302226"/>
                      <a:pt x="300038" y="289085"/>
                    </a:cubicBezTo>
                    <a:cubicBezTo>
                      <a:pt x="300038" y="289085"/>
                      <a:pt x="300038" y="289085"/>
                      <a:pt x="300038" y="61753"/>
                    </a:cubicBezTo>
                    <a:cubicBezTo>
                      <a:pt x="300038" y="48613"/>
                      <a:pt x="289475" y="38100"/>
                      <a:pt x="276271" y="38100"/>
                    </a:cubicBezTo>
                    <a:cubicBezTo>
                      <a:pt x="276271" y="38100"/>
                      <a:pt x="276271" y="38100"/>
                      <a:pt x="269669" y="38100"/>
                    </a:cubicBezTo>
                    <a:cubicBezTo>
                      <a:pt x="269669" y="38100"/>
                      <a:pt x="269669" y="38100"/>
                      <a:pt x="269669" y="63067"/>
                    </a:cubicBezTo>
                    <a:cubicBezTo>
                      <a:pt x="273631" y="65695"/>
                      <a:pt x="276271" y="70951"/>
                      <a:pt x="276271" y="74894"/>
                    </a:cubicBezTo>
                    <a:cubicBezTo>
                      <a:pt x="276271" y="84092"/>
                      <a:pt x="268349" y="90662"/>
                      <a:pt x="260427" y="90662"/>
                    </a:cubicBezTo>
                    <a:cubicBezTo>
                      <a:pt x="251184" y="90662"/>
                      <a:pt x="244582" y="84092"/>
                      <a:pt x="244582" y="74894"/>
                    </a:cubicBezTo>
                    <a:cubicBezTo>
                      <a:pt x="244582" y="70951"/>
                      <a:pt x="245903" y="65695"/>
                      <a:pt x="249864" y="63067"/>
                    </a:cubicBezTo>
                    <a:cubicBezTo>
                      <a:pt x="249864" y="63067"/>
                      <a:pt x="249864" y="63067"/>
                      <a:pt x="249864" y="38100"/>
                    </a:cubicBezTo>
                    <a:cubicBezTo>
                      <a:pt x="249864" y="38100"/>
                      <a:pt x="249864" y="38100"/>
                      <a:pt x="231379" y="38100"/>
                    </a:cubicBezTo>
                    <a:cubicBezTo>
                      <a:pt x="231379" y="38100"/>
                      <a:pt x="231379" y="38100"/>
                      <a:pt x="231379" y="63067"/>
                    </a:cubicBezTo>
                    <a:cubicBezTo>
                      <a:pt x="234019" y="65695"/>
                      <a:pt x="236660" y="70951"/>
                      <a:pt x="236660" y="74894"/>
                    </a:cubicBezTo>
                    <a:cubicBezTo>
                      <a:pt x="236660" y="84092"/>
                      <a:pt x="230058" y="90662"/>
                      <a:pt x="220816" y="90662"/>
                    </a:cubicBezTo>
                    <a:cubicBezTo>
                      <a:pt x="212893" y="90662"/>
                      <a:pt x="204971" y="84092"/>
                      <a:pt x="204971" y="74894"/>
                    </a:cubicBezTo>
                    <a:cubicBezTo>
                      <a:pt x="204971" y="70951"/>
                      <a:pt x="207612" y="65695"/>
                      <a:pt x="210253" y="63067"/>
                    </a:cubicBezTo>
                    <a:cubicBezTo>
                      <a:pt x="210253" y="63067"/>
                      <a:pt x="210253" y="63067"/>
                      <a:pt x="210253" y="38100"/>
                    </a:cubicBezTo>
                    <a:cubicBezTo>
                      <a:pt x="210253" y="38100"/>
                      <a:pt x="210253" y="38100"/>
                      <a:pt x="191767" y="38100"/>
                    </a:cubicBezTo>
                    <a:cubicBezTo>
                      <a:pt x="191767" y="38100"/>
                      <a:pt x="191767" y="38100"/>
                      <a:pt x="191767" y="63067"/>
                    </a:cubicBezTo>
                    <a:cubicBezTo>
                      <a:pt x="195728" y="65695"/>
                      <a:pt x="198369" y="70951"/>
                      <a:pt x="198369" y="74894"/>
                    </a:cubicBezTo>
                    <a:cubicBezTo>
                      <a:pt x="198369" y="84092"/>
                      <a:pt x="190447" y="90662"/>
                      <a:pt x="182525" y="90662"/>
                    </a:cubicBezTo>
                    <a:cubicBezTo>
                      <a:pt x="173282" y="90662"/>
                      <a:pt x="166680" y="84092"/>
                      <a:pt x="166680" y="74894"/>
                    </a:cubicBezTo>
                    <a:cubicBezTo>
                      <a:pt x="166680" y="70951"/>
                      <a:pt x="168001" y="65695"/>
                      <a:pt x="171962" y="63067"/>
                    </a:cubicBezTo>
                    <a:cubicBezTo>
                      <a:pt x="171962" y="63067"/>
                      <a:pt x="171962" y="63067"/>
                      <a:pt x="171962" y="38100"/>
                    </a:cubicBezTo>
                    <a:cubicBezTo>
                      <a:pt x="171962" y="38100"/>
                      <a:pt x="171962" y="38100"/>
                      <a:pt x="153476" y="38100"/>
                    </a:cubicBezTo>
                    <a:cubicBezTo>
                      <a:pt x="153476" y="38100"/>
                      <a:pt x="153476" y="38100"/>
                      <a:pt x="153476" y="63067"/>
                    </a:cubicBezTo>
                    <a:cubicBezTo>
                      <a:pt x="157438" y="65695"/>
                      <a:pt x="158758" y="70951"/>
                      <a:pt x="158758" y="74894"/>
                    </a:cubicBezTo>
                    <a:cubicBezTo>
                      <a:pt x="158758" y="84092"/>
                      <a:pt x="152156" y="90662"/>
                      <a:pt x="142913" y="90662"/>
                    </a:cubicBezTo>
                    <a:cubicBezTo>
                      <a:pt x="134991" y="90662"/>
                      <a:pt x="127069" y="84092"/>
                      <a:pt x="127069" y="74894"/>
                    </a:cubicBezTo>
                    <a:cubicBezTo>
                      <a:pt x="127069" y="70951"/>
                      <a:pt x="129710" y="65695"/>
                      <a:pt x="133671" y="63067"/>
                    </a:cubicBezTo>
                    <a:cubicBezTo>
                      <a:pt x="133671" y="63067"/>
                      <a:pt x="133671" y="63067"/>
                      <a:pt x="133671" y="38100"/>
                    </a:cubicBezTo>
                    <a:cubicBezTo>
                      <a:pt x="133671" y="38100"/>
                      <a:pt x="133671" y="38100"/>
                      <a:pt x="115186" y="38100"/>
                    </a:cubicBezTo>
                    <a:cubicBezTo>
                      <a:pt x="115186" y="38100"/>
                      <a:pt x="115186" y="38100"/>
                      <a:pt x="115186" y="63067"/>
                    </a:cubicBezTo>
                    <a:cubicBezTo>
                      <a:pt x="117826" y="65695"/>
                      <a:pt x="120467" y="70951"/>
                      <a:pt x="120467" y="74894"/>
                    </a:cubicBezTo>
                    <a:cubicBezTo>
                      <a:pt x="120467" y="84092"/>
                      <a:pt x="112545" y="90662"/>
                      <a:pt x="104623" y="90662"/>
                    </a:cubicBezTo>
                    <a:cubicBezTo>
                      <a:pt x="95380" y="90662"/>
                      <a:pt x="88778" y="84092"/>
                      <a:pt x="88778" y="74894"/>
                    </a:cubicBezTo>
                    <a:cubicBezTo>
                      <a:pt x="88778" y="70951"/>
                      <a:pt x="91419" y="65695"/>
                      <a:pt x="94060" y="63067"/>
                    </a:cubicBezTo>
                    <a:cubicBezTo>
                      <a:pt x="94060" y="63067"/>
                      <a:pt x="94060" y="63067"/>
                      <a:pt x="94060" y="38100"/>
                    </a:cubicBezTo>
                    <a:cubicBezTo>
                      <a:pt x="94060" y="38100"/>
                      <a:pt x="94060" y="38100"/>
                      <a:pt x="75574" y="38100"/>
                    </a:cubicBezTo>
                    <a:cubicBezTo>
                      <a:pt x="75574" y="38100"/>
                      <a:pt x="75574" y="38100"/>
                      <a:pt x="75574" y="63067"/>
                    </a:cubicBezTo>
                    <a:cubicBezTo>
                      <a:pt x="79535" y="65695"/>
                      <a:pt x="80856" y="70951"/>
                      <a:pt x="80856" y="74894"/>
                    </a:cubicBezTo>
                    <a:cubicBezTo>
                      <a:pt x="80856" y="84092"/>
                      <a:pt x="74254" y="90662"/>
                      <a:pt x="65011" y="90662"/>
                    </a:cubicBezTo>
                    <a:cubicBezTo>
                      <a:pt x="57089" y="90662"/>
                      <a:pt x="49167" y="84092"/>
                      <a:pt x="49167" y="74894"/>
                    </a:cubicBezTo>
                    <a:cubicBezTo>
                      <a:pt x="49167" y="70951"/>
                      <a:pt x="51808" y="65695"/>
                      <a:pt x="55769" y="63067"/>
                    </a:cubicBezTo>
                    <a:cubicBezTo>
                      <a:pt x="55769" y="63067"/>
                      <a:pt x="55769" y="63067"/>
                      <a:pt x="55769" y="38100"/>
                    </a:cubicBezTo>
                    <a:cubicBezTo>
                      <a:pt x="55769" y="38100"/>
                      <a:pt x="55769" y="38100"/>
                      <a:pt x="49167" y="38100"/>
                    </a:cubicBezTo>
                    <a:close/>
                    <a:moveTo>
                      <a:pt x="65315" y="4763"/>
                    </a:moveTo>
                    <a:cubicBezTo>
                      <a:pt x="63047" y="4763"/>
                      <a:pt x="61913" y="7437"/>
                      <a:pt x="61913" y="10110"/>
                    </a:cubicBezTo>
                    <a:lnTo>
                      <a:pt x="61913" y="75616"/>
                    </a:lnTo>
                    <a:cubicBezTo>
                      <a:pt x="61913" y="79626"/>
                      <a:pt x="63047" y="80963"/>
                      <a:pt x="65315" y="80963"/>
                    </a:cubicBezTo>
                    <a:cubicBezTo>
                      <a:pt x="68717" y="80963"/>
                      <a:pt x="69851" y="79626"/>
                      <a:pt x="69851" y="75616"/>
                    </a:cubicBezTo>
                    <a:cubicBezTo>
                      <a:pt x="69851" y="75616"/>
                      <a:pt x="69851" y="75616"/>
                      <a:pt x="69851" y="10110"/>
                    </a:cubicBezTo>
                    <a:cubicBezTo>
                      <a:pt x="69851" y="7437"/>
                      <a:pt x="68717" y="4763"/>
                      <a:pt x="65315" y="4763"/>
                    </a:cubicBezTo>
                    <a:close/>
                    <a:moveTo>
                      <a:pt x="104776" y="4763"/>
                    </a:moveTo>
                    <a:cubicBezTo>
                      <a:pt x="102394" y="4763"/>
                      <a:pt x="100013" y="7437"/>
                      <a:pt x="100013" y="10110"/>
                    </a:cubicBezTo>
                    <a:lnTo>
                      <a:pt x="100013" y="75616"/>
                    </a:lnTo>
                    <a:cubicBezTo>
                      <a:pt x="100013" y="79626"/>
                      <a:pt x="102394" y="80963"/>
                      <a:pt x="104776" y="80963"/>
                    </a:cubicBezTo>
                    <a:cubicBezTo>
                      <a:pt x="107157" y="80963"/>
                      <a:pt x="109538" y="79626"/>
                      <a:pt x="109538" y="75616"/>
                    </a:cubicBezTo>
                    <a:cubicBezTo>
                      <a:pt x="109538" y="75616"/>
                      <a:pt x="109538" y="75616"/>
                      <a:pt x="109538" y="10110"/>
                    </a:cubicBezTo>
                    <a:cubicBezTo>
                      <a:pt x="109538" y="7437"/>
                      <a:pt x="107157" y="4763"/>
                      <a:pt x="104776" y="4763"/>
                    </a:cubicBezTo>
                    <a:close/>
                    <a:moveTo>
                      <a:pt x="142876" y="4763"/>
                    </a:moveTo>
                    <a:cubicBezTo>
                      <a:pt x="140494" y="4763"/>
                      <a:pt x="138113" y="7437"/>
                      <a:pt x="138113" y="10110"/>
                    </a:cubicBezTo>
                    <a:lnTo>
                      <a:pt x="138113" y="75616"/>
                    </a:lnTo>
                    <a:cubicBezTo>
                      <a:pt x="138113" y="79626"/>
                      <a:pt x="140494" y="80963"/>
                      <a:pt x="142876" y="80963"/>
                    </a:cubicBezTo>
                    <a:cubicBezTo>
                      <a:pt x="145257" y="80963"/>
                      <a:pt x="147638" y="79626"/>
                      <a:pt x="147638" y="75616"/>
                    </a:cubicBezTo>
                    <a:cubicBezTo>
                      <a:pt x="147638" y="75616"/>
                      <a:pt x="147638" y="75616"/>
                      <a:pt x="147638" y="10110"/>
                    </a:cubicBezTo>
                    <a:cubicBezTo>
                      <a:pt x="147638" y="7437"/>
                      <a:pt x="145257" y="4763"/>
                      <a:pt x="142876" y="4763"/>
                    </a:cubicBezTo>
                    <a:close/>
                    <a:moveTo>
                      <a:pt x="182563" y="4763"/>
                    </a:moveTo>
                    <a:cubicBezTo>
                      <a:pt x="180181" y="4763"/>
                      <a:pt x="177800" y="7437"/>
                      <a:pt x="177800" y="10110"/>
                    </a:cubicBezTo>
                    <a:lnTo>
                      <a:pt x="177800" y="75616"/>
                    </a:lnTo>
                    <a:cubicBezTo>
                      <a:pt x="177800" y="79626"/>
                      <a:pt x="180181" y="80963"/>
                      <a:pt x="182563" y="80963"/>
                    </a:cubicBezTo>
                    <a:cubicBezTo>
                      <a:pt x="184944" y="80963"/>
                      <a:pt x="187325" y="79626"/>
                      <a:pt x="187325" y="75616"/>
                    </a:cubicBezTo>
                    <a:cubicBezTo>
                      <a:pt x="187325" y="75616"/>
                      <a:pt x="187325" y="75616"/>
                      <a:pt x="187325" y="10110"/>
                    </a:cubicBezTo>
                    <a:cubicBezTo>
                      <a:pt x="187325" y="7437"/>
                      <a:pt x="184944" y="4763"/>
                      <a:pt x="182563" y="4763"/>
                    </a:cubicBezTo>
                    <a:close/>
                    <a:moveTo>
                      <a:pt x="220663" y="4763"/>
                    </a:moveTo>
                    <a:cubicBezTo>
                      <a:pt x="218281" y="4763"/>
                      <a:pt x="215900" y="7437"/>
                      <a:pt x="215900" y="10110"/>
                    </a:cubicBezTo>
                    <a:lnTo>
                      <a:pt x="215900" y="75616"/>
                    </a:lnTo>
                    <a:cubicBezTo>
                      <a:pt x="215900" y="79626"/>
                      <a:pt x="218281" y="80963"/>
                      <a:pt x="220663" y="80963"/>
                    </a:cubicBezTo>
                    <a:cubicBezTo>
                      <a:pt x="223044" y="80963"/>
                      <a:pt x="225425" y="79626"/>
                      <a:pt x="225425" y="75616"/>
                    </a:cubicBezTo>
                    <a:cubicBezTo>
                      <a:pt x="225425" y="75616"/>
                      <a:pt x="225425" y="75616"/>
                      <a:pt x="225425" y="10110"/>
                    </a:cubicBezTo>
                    <a:cubicBezTo>
                      <a:pt x="225425" y="7437"/>
                      <a:pt x="223044" y="4763"/>
                      <a:pt x="220663" y="4763"/>
                    </a:cubicBezTo>
                    <a:close/>
                    <a:moveTo>
                      <a:pt x="260124" y="4763"/>
                    </a:moveTo>
                    <a:cubicBezTo>
                      <a:pt x="256722" y="4763"/>
                      <a:pt x="255588" y="7437"/>
                      <a:pt x="255588" y="10110"/>
                    </a:cubicBezTo>
                    <a:lnTo>
                      <a:pt x="255588" y="75616"/>
                    </a:lnTo>
                    <a:cubicBezTo>
                      <a:pt x="255588" y="79626"/>
                      <a:pt x="256722" y="80963"/>
                      <a:pt x="260124" y="80963"/>
                    </a:cubicBezTo>
                    <a:cubicBezTo>
                      <a:pt x="262392" y="80963"/>
                      <a:pt x="263526" y="79626"/>
                      <a:pt x="263526" y="75616"/>
                    </a:cubicBezTo>
                    <a:cubicBezTo>
                      <a:pt x="263526" y="75616"/>
                      <a:pt x="263526" y="75616"/>
                      <a:pt x="263526" y="10110"/>
                    </a:cubicBezTo>
                    <a:cubicBezTo>
                      <a:pt x="263526" y="7437"/>
                      <a:pt x="262392" y="4763"/>
                      <a:pt x="260124" y="4763"/>
                    </a:cubicBezTo>
                    <a:close/>
                    <a:moveTo>
                      <a:pt x="64823" y="0"/>
                    </a:moveTo>
                    <a:cubicBezTo>
                      <a:pt x="71438" y="0"/>
                      <a:pt x="75406" y="3944"/>
                      <a:pt x="75406" y="10517"/>
                    </a:cubicBezTo>
                    <a:cubicBezTo>
                      <a:pt x="75406" y="10517"/>
                      <a:pt x="75406" y="10517"/>
                      <a:pt x="75406" y="14461"/>
                    </a:cubicBezTo>
                    <a:cubicBezTo>
                      <a:pt x="75406" y="14461"/>
                      <a:pt x="75406" y="14461"/>
                      <a:pt x="93927" y="14461"/>
                    </a:cubicBezTo>
                    <a:cubicBezTo>
                      <a:pt x="93927" y="14461"/>
                      <a:pt x="93927" y="14461"/>
                      <a:pt x="93927" y="10517"/>
                    </a:cubicBezTo>
                    <a:cubicBezTo>
                      <a:pt x="93927" y="3944"/>
                      <a:pt x="99219" y="0"/>
                      <a:pt x="104511" y="0"/>
                    </a:cubicBezTo>
                    <a:cubicBezTo>
                      <a:pt x="109802" y="0"/>
                      <a:pt x="115094" y="3944"/>
                      <a:pt x="115094" y="10517"/>
                    </a:cubicBezTo>
                    <a:cubicBezTo>
                      <a:pt x="115094" y="10517"/>
                      <a:pt x="115094" y="10517"/>
                      <a:pt x="115094" y="14461"/>
                    </a:cubicBezTo>
                    <a:cubicBezTo>
                      <a:pt x="115094" y="14461"/>
                      <a:pt x="115094" y="14461"/>
                      <a:pt x="133615" y="14461"/>
                    </a:cubicBezTo>
                    <a:cubicBezTo>
                      <a:pt x="133615" y="14461"/>
                      <a:pt x="133615" y="14461"/>
                      <a:pt x="133615" y="10517"/>
                    </a:cubicBezTo>
                    <a:cubicBezTo>
                      <a:pt x="133615" y="3944"/>
                      <a:pt x="137584" y="0"/>
                      <a:pt x="142875" y="0"/>
                    </a:cubicBezTo>
                    <a:cubicBezTo>
                      <a:pt x="149490" y="0"/>
                      <a:pt x="153459" y="3944"/>
                      <a:pt x="153459" y="10517"/>
                    </a:cubicBezTo>
                    <a:cubicBezTo>
                      <a:pt x="153459" y="10517"/>
                      <a:pt x="153459" y="10517"/>
                      <a:pt x="153459" y="14461"/>
                    </a:cubicBezTo>
                    <a:cubicBezTo>
                      <a:pt x="153459" y="14461"/>
                      <a:pt x="153459" y="14461"/>
                      <a:pt x="171980" y="14461"/>
                    </a:cubicBezTo>
                    <a:cubicBezTo>
                      <a:pt x="171980" y="14461"/>
                      <a:pt x="171980" y="14461"/>
                      <a:pt x="171980" y="10517"/>
                    </a:cubicBezTo>
                    <a:cubicBezTo>
                      <a:pt x="171980" y="3944"/>
                      <a:pt x="175948" y="0"/>
                      <a:pt x="182563" y="0"/>
                    </a:cubicBezTo>
                    <a:cubicBezTo>
                      <a:pt x="187855" y="0"/>
                      <a:pt x="191823" y="3944"/>
                      <a:pt x="191823" y="10517"/>
                    </a:cubicBezTo>
                    <a:cubicBezTo>
                      <a:pt x="191823" y="10517"/>
                      <a:pt x="191823" y="10517"/>
                      <a:pt x="191823" y="14461"/>
                    </a:cubicBezTo>
                    <a:cubicBezTo>
                      <a:pt x="191823" y="14461"/>
                      <a:pt x="191823" y="14461"/>
                      <a:pt x="210344" y="14461"/>
                    </a:cubicBezTo>
                    <a:cubicBezTo>
                      <a:pt x="210344" y="14461"/>
                      <a:pt x="210344" y="14461"/>
                      <a:pt x="210344" y="10517"/>
                    </a:cubicBezTo>
                    <a:cubicBezTo>
                      <a:pt x="210344" y="3944"/>
                      <a:pt x="215636" y="0"/>
                      <a:pt x="220927" y="0"/>
                    </a:cubicBezTo>
                    <a:cubicBezTo>
                      <a:pt x="226219" y="0"/>
                      <a:pt x="231511" y="3944"/>
                      <a:pt x="231511" y="10517"/>
                    </a:cubicBezTo>
                    <a:cubicBezTo>
                      <a:pt x="231511" y="10517"/>
                      <a:pt x="231511" y="10517"/>
                      <a:pt x="231511" y="14461"/>
                    </a:cubicBezTo>
                    <a:cubicBezTo>
                      <a:pt x="231511" y="14461"/>
                      <a:pt x="231511" y="14461"/>
                      <a:pt x="250032" y="14461"/>
                    </a:cubicBezTo>
                    <a:cubicBezTo>
                      <a:pt x="250032" y="14461"/>
                      <a:pt x="250032" y="14461"/>
                      <a:pt x="250032" y="10517"/>
                    </a:cubicBezTo>
                    <a:cubicBezTo>
                      <a:pt x="250032" y="3944"/>
                      <a:pt x="254000" y="0"/>
                      <a:pt x="260615" y="0"/>
                    </a:cubicBezTo>
                    <a:cubicBezTo>
                      <a:pt x="265907" y="0"/>
                      <a:pt x="269875" y="3944"/>
                      <a:pt x="269875" y="10517"/>
                    </a:cubicBezTo>
                    <a:cubicBezTo>
                      <a:pt x="269875" y="10517"/>
                      <a:pt x="269875" y="10517"/>
                      <a:pt x="269875" y="14461"/>
                    </a:cubicBezTo>
                    <a:cubicBezTo>
                      <a:pt x="269875" y="14461"/>
                      <a:pt x="269875" y="14461"/>
                      <a:pt x="276490" y="14461"/>
                    </a:cubicBezTo>
                    <a:cubicBezTo>
                      <a:pt x="302948" y="14461"/>
                      <a:pt x="325438" y="35496"/>
                      <a:pt x="325438" y="61789"/>
                    </a:cubicBezTo>
                    <a:cubicBezTo>
                      <a:pt x="325438" y="61789"/>
                      <a:pt x="325438" y="61789"/>
                      <a:pt x="325438" y="289223"/>
                    </a:cubicBezTo>
                    <a:cubicBezTo>
                      <a:pt x="325438" y="315516"/>
                      <a:pt x="302948" y="336550"/>
                      <a:pt x="276490" y="336550"/>
                    </a:cubicBezTo>
                    <a:cubicBezTo>
                      <a:pt x="276490" y="336550"/>
                      <a:pt x="276490" y="336550"/>
                      <a:pt x="48948" y="336550"/>
                    </a:cubicBezTo>
                    <a:cubicBezTo>
                      <a:pt x="22490" y="336550"/>
                      <a:pt x="0" y="315516"/>
                      <a:pt x="0" y="289223"/>
                    </a:cubicBezTo>
                    <a:cubicBezTo>
                      <a:pt x="0" y="289223"/>
                      <a:pt x="0" y="289223"/>
                      <a:pt x="0" y="61789"/>
                    </a:cubicBezTo>
                    <a:cubicBezTo>
                      <a:pt x="0" y="35496"/>
                      <a:pt x="22490" y="14461"/>
                      <a:pt x="48948" y="14461"/>
                    </a:cubicBezTo>
                    <a:cubicBezTo>
                      <a:pt x="48948" y="14461"/>
                      <a:pt x="48948" y="14461"/>
                      <a:pt x="55563" y="14461"/>
                    </a:cubicBezTo>
                    <a:cubicBezTo>
                      <a:pt x="55563" y="14461"/>
                      <a:pt x="55563" y="14461"/>
                      <a:pt x="55563" y="10517"/>
                    </a:cubicBezTo>
                    <a:cubicBezTo>
                      <a:pt x="55563" y="3944"/>
                      <a:pt x="59531" y="0"/>
                      <a:pt x="64823"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文本框 27"/>
            <p:cNvSpPr txBox="1"/>
            <p:nvPr/>
          </p:nvSpPr>
          <p:spPr>
            <a:xfrm>
              <a:off x="6669040" y="4733309"/>
              <a:ext cx="1742936" cy="252909"/>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时间：</a:t>
              </a:r>
              <a:r>
                <a:rPr lang="en-US" altLang="zh-CN"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2025-04-21</a:t>
              </a:r>
              <a:endPar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01251" y="6249432"/>
            <a:ext cx="2757212" cy="3859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B6F7C394-972D-4308-98A0-EEB5E394CD1D}"/>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6E861A0F-B75E-409A-949E-EF0231F37CCA}"/>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BA4A94CD-51AE-4B4B-9073-96EB778AB4C2}"/>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9D2FA53E-3943-4277-9678-07CA48EF055C}"/>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zh-CN" altLang="en-US" sz="3600" b="1" kern="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相关性分析基本概念</a:t>
            </a:r>
          </a:p>
        </p:txBody>
      </p:sp>
      <p:sp>
        <p:nvSpPr>
          <p:cNvPr id="27" name="矩形 26">
            <a:extLst>
              <a:ext uri="{FF2B5EF4-FFF2-40B4-BE49-F238E27FC236}">
                <a16:creationId xmlns:a16="http://schemas.microsoft.com/office/drawing/2014/main" id="{DD727800-F181-47A9-B5A2-9BE234D07C6F}"/>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77C2DEF3-85C6-41EB-BEA1-26D309BA763D}"/>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6B404D87-5BC9-40D2-B86C-57BADE0EB884}"/>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097AE74C-BCFB-4EB2-8990-771F14CB4CC6}"/>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相关性分析应用背景</a:t>
            </a:r>
          </a:p>
        </p:txBody>
      </p:sp>
      <p:sp>
        <p:nvSpPr>
          <p:cNvPr id="31" name="矩形 30">
            <a:extLst>
              <a:ext uri="{FF2B5EF4-FFF2-40B4-BE49-F238E27FC236}">
                <a16:creationId xmlns:a16="http://schemas.microsoft.com/office/drawing/2014/main" id="{15276682-91C6-494A-8BD8-79A54AAEF61D}"/>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C3B1753A-5B90-46AD-84AB-A97505A14A1E}"/>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B762DDDD-7200-4BEC-9DFC-E5B95FA5DE84}"/>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459D90B5-9E70-48C0-BFE9-6A0BBBCCC6E9}"/>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37CBF392-C907-4D29-BE6C-7C7B99F43455}"/>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817C9E68-6BA3-4702-8099-B23D38F9BB6E}"/>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997959D4-98E0-4591-9170-BF6758D3EC2C}"/>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1147B276-6AB7-460B-90E6-ADEAC5A17164}"/>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相关性分析应用方式</a:t>
            </a:r>
          </a:p>
        </p:txBody>
      </p:sp>
      <p:sp>
        <p:nvSpPr>
          <p:cNvPr id="39" name="矩形 38">
            <a:extLst>
              <a:ext uri="{FF2B5EF4-FFF2-40B4-BE49-F238E27FC236}">
                <a16:creationId xmlns:a16="http://schemas.microsoft.com/office/drawing/2014/main" id="{FE736492-4D64-42E6-9678-F4869AF879F3}"/>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012EA1B3-FB3D-4AF2-B2B7-C84D036D2BBD}"/>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97E547B0-5CC0-40EE-A904-E304FCE58231}"/>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81B31F91-01CC-46D5-986E-F9061072BFD3}"/>
              </a:ext>
            </a:extLst>
          </p:cNvPr>
          <p:cNvSpPr/>
          <p:nvPr/>
        </p:nvSpPr>
        <p:spPr>
          <a:xfrm>
            <a:off x="3161214" y="1779473"/>
            <a:ext cx="8274761" cy="458977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817000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66E385C0-46B6-47D9-AA11-521F386398EE}"/>
              </a:ext>
            </a:extLst>
          </p:cNvPr>
          <p:cNvSpPr txBox="1"/>
          <p:nvPr/>
        </p:nvSpPr>
        <p:spPr>
          <a:xfrm>
            <a:off x="298115" y="944284"/>
            <a:ext cx="11595769" cy="1081643"/>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dirty="0"/>
              <a:t>概念：描述了两个变量之间的</a:t>
            </a:r>
            <a:r>
              <a:rPr lang="zh-CN" altLang="en-US" dirty="0">
                <a:solidFill>
                  <a:srgbClr val="C00000"/>
                </a:solidFill>
              </a:rPr>
              <a:t>线性关系</a:t>
            </a:r>
            <a:r>
              <a:rPr lang="zh-CN" altLang="en-US" dirty="0"/>
              <a:t>程度和方向，但不涉及因果关系。即使两个变量具有高度相关性，也不能说明一个变量会导致另一个变量的变化。</a:t>
            </a:r>
            <a:endParaRPr kumimoji="0" lang="en-US" altLang="zh-CN" sz="2600" b="1" i="0" u="none" strike="noStrike" kern="1200" cap="none" spc="0" normalizeH="0" baseline="0" noProof="0" dirty="0">
              <a:ln>
                <a:noFill/>
              </a:ln>
              <a:solidFill>
                <a:srgbClr val="C00000"/>
              </a:solidFill>
              <a:effectLst/>
              <a:uLnTx/>
              <a:uFillTx/>
              <a:latin typeface="Times New Roman" panose="02020603050405020304" pitchFamily="18" charset="0"/>
              <a:sym typeface="Times New Roman" panose="02020603050405020304" pitchFamily="18" charset="0"/>
            </a:endParaRPr>
          </a:p>
        </p:txBody>
      </p:sp>
      <p:sp>
        <p:nvSpPr>
          <p:cNvPr id="59" name="灯片编号占位符 3">
            <a:extLst>
              <a:ext uri="{FF2B5EF4-FFF2-40B4-BE49-F238E27FC236}">
                <a16:creationId xmlns:a16="http://schemas.microsoft.com/office/drawing/2014/main" id="{65FB6339-72B3-4D19-B15A-3549C38402FE}"/>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61" name="文本框 60">
            <a:extLst>
              <a:ext uri="{FF2B5EF4-FFF2-40B4-BE49-F238E27FC236}">
                <a16:creationId xmlns:a16="http://schemas.microsoft.com/office/drawing/2014/main" id="{8C32579A-9C75-4E3E-BBB6-F37DD3EF31D3}"/>
              </a:ext>
            </a:extLst>
          </p:cNvPr>
          <p:cNvSpPr txBox="1"/>
          <p:nvPr/>
        </p:nvSpPr>
        <p:spPr>
          <a:xfrm>
            <a:off x="1061389" y="-67577"/>
            <a:ext cx="4212739"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相关性分析</a:t>
            </a:r>
          </a:p>
        </p:txBody>
      </p:sp>
      <p:sp>
        <p:nvSpPr>
          <p:cNvPr id="62" name="平行四边形 61">
            <a:extLst>
              <a:ext uri="{FF2B5EF4-FFF2-40B4-BE49-F238E27FC236}">
                <a16:creationId xmlns:a16="http://schemas.microsoft.com/office/drawing/2014/main" id="{BC26353B-BA58-428C-B648-8E0401A63A99}"/>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3" name="组合 62">
            <a:extLst>
              <a:ext uri="{FF2B5EF4-FFF2-40B4-BE49-F238E27FC236}">
                <a16:creationId xmlns:a16="http://schemas.microsoft.com/office/drawing/2014/main" id="{9165285A-6DDA-4204-8FD4-2BCD23EC3978}"/>
              </a:ext>
            </a:extLst>
          </p:cNvPr>
          <p:cNvGrpSpPr/>
          <p:nvPr/>
        </p:nvGrpSpPr>
        <p:grpSpPr>
          <a:xfrm>
            <a:off x="-53106" y="0"/>
            <a:ext cx="963271" cy="1033814"/>
            <a:chOff x="-51603" y="0"/>
            <a:chExt cx="1084083" cy="1219009"/>
          </a:xfrm>
        </p:grpSpPr>
        <p:sp>
          <p:nvSpPr>
            <p:cNvPr id="64" name="Freeform 7">
              <a:extLst>
                <a:ext uri="{FF2B5EF4-FFF2-40B4-BE49-F238E27FC236}">
                  <a16:creationId xmlns:a16="http://schemas.microsoft.com/office/drawing/2014/main" id="{ECC5B651-37DC-4C4D-8C15-9BDBC38A7ED1}"/>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 name="Freeform 8">
              <a:extLst>
                <a:ext uri="{FF2B5EF4-FFF2-40B4-BE49-F238E27FC236}">
                  <a16:creationId xmlns:a16="http://schemas.microsoft.com/office/drawing/2014/main" id="{DB5B96F3-1690-4433-94B9-F8E5727054E2}"/>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文本框 73">
              <a:extLst>
                <a:ext uri="{FF2B5EF4-FFF2-40B4-BE49-F238E27FC236}">
                  <a16:creationId xmlns:a16="http://schemas.microsoft.com/office/drawing/2014/main" id="{75619FC7-1EFC-40A2-9453-1A2035FC7DAB}"/>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一</a:t>
              </a:r>
              <a:endPar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75" name="平行四边形 74">
            <a:extLst>
              <a:ext uri="{FF2B5EF4-FFF2-40B4-BE49-F238E27FC236}">
                <a16:creationId xmlns:a16="http://schemas.microsoft.com/office/drawing/2014/main" id="{D007D02F-9988-4DD1-BCDE-62FC3ACDE0E3}"/>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7" name="组合 6">
            <a:extLst>
              <a:ext uri="{FF2B5EF4-FFF2-40B4-BE49-F238E27FC236}">
                <a16:creationId xmlns:a16="http://schemas.microsoft.com/office/drawing/2014/main" id="{110F5718-5466-198A-7DFC-AAF2AC6EE8DE}"/>
              </a:ext>
            </a:extLst>
          </p:cNvPr>
          <p:cNvGrpSpPr/>
          <p:nvPr/>
        </p:nvGrpSpPr>
        <p:grpSpPr>
          <a:xfrm>
            <a:off x="568990" y="2282295"/>
            <a:ext cx="10914182" cy="4248849"/>
            <a:chOff x="668079" y="2282295"/>
            <a:chExt cx="10914182" cy="4248849"/>
          </a:xfrm>
        </p:grpSpPr>
        <p:grpSp>
          <p:nvGrpSpPr>
            <p:cNvPr id="9" name="组合 48">
              <a:extLst>
                <a:ext uri="{FF2B5EF4-FFF2-40B4-BE49-F238E27FC236}">
                  <a16:creationId xmlns:a16="http://schemas.microsoft.com/office/drawing/2014/main" id="{3628DC3A-D21F-E243-1D60-7CF9A82A6ED8}"/>
                </a:ext>
              </a:extLst>
            </p:cNvPr>
            <p:cNvGrpSpPr/>
            <p:nvPr/>
          </p:nvGrpSpPr>
          <p:grpSpPr bwMode="auto">
            <a:xfrm>
              <a:off x="668080" y="2282295"/>
              <a:ext cx="6583621" cy="1225105"/>
              <a:chOff x="2678521" y="2847139"/>
              <a:chExt cx="13001539" cy="2417231"/>
            </a:xfrm>
          </p:grpSpPr>
          <p:sp>
            <p:nvSpPr>
              <p:cNvPr id="34" name="Freeform 19">
                <a:extLst>
                  <a:ext uri="{FF2B5EF4-FFF2-40B4-BE49-F238E27FC236}">
                    <a16:creationId xmlns:a16="http://schemas.microsoft.com/office/drawing/2014/main" id="{4F0870B9-ABCA-BB7A-96C5-D5C63C81D1AF}"/>
                  </a:ext>
                </a:extLst>
              </p:cNvPr>
              <p:cNvSpPr/>
              <p:nvPr/>
            </p:nvSpPr>
            <p:spPr bwMode="auto">
              <a:xfrm>
                <a:off x="2678521" y="2856132"/>
                <a:ext cx="13001539" cy="2408238"/>
              </a:xfrm>
              <a:custGeom>
                <a:avLst/>
                <a:gdLst>
                  <a:gd name="T0" fmla="*/ 3200 w 3200"/>
                  <a:gd name="T1" fmla="*/ 320 h 640"/>
                  <a:gd name="T2" fmla="*/ 2880 w 3200"/>
                  <a:gd name="T3" fmla="*/ 640 h 640"/>
                  <a:gd name="T4" fmla="*/ 320 w 3200"/>
                  <a:gd name="T5" fmla="*/ 640 h 640"/>
                  <a:gd name="T6" fmla="*/ 0 w 3200"/>
                  <a:gd name="T7" fmla="*/ 320 h 640"/>
                  <a:gd name="T8" fmla="*/ 320 w 3200"/>
                  <a:gd name="T9" fmla="*/ 0 h 640"/>
                  <a:gd name="T10" fmla="*/ 2880 w 3200"/>
                  <a:gd name="T11" fmla="*/ 0 h 640"/>
                  <a:gd name="T12" fmla="*/ 3200 w 320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0" h="640">
                    <a:moveTo>
                      <a:pt x="3200" y="320"/>
                    </a:moveTo>
                    <a:cubicBezTo>
                      <a:pt x="3200" y="496"/>
                      <a:pt x="3056" y="640"/>
                      <a:pt x="2880" y="640"/>
                    </a:cubicBezTo>
                    <a:cubicBezTo>
                      <a:pt x="320" y="640"/>
                      <a:pt x="320" y="640"/>
                      <a:pt x="320" y="640"/>
                    </a:cubicBezTo>
                    <a:cubicBezTo>
                      <a:pt x="144" y="640"/>
                      <a:pt x="0" y="496"/>
                      <a:pt x="0" y="320"/>
                    </a:cubicBezTo>
                    <a:cubicBezTo>
                      <a:pt x="0" y="144"/>
                      <a:pt x="144" y="0"/>
                      <a:pt x="320" y="0"/>
                    </a:cubicBezTo>
                    <a:cubicBezTo>
                      <a:pt x="2880" y="0"/>
                      <a:pt x="2880" y="0"/>
                      <a:pt x="2880" y="0"/>
                    </a:cubicBezTo>
                    <a:cubicBezTo>
                      <a:pt x="3056" y="0"/>
                      <a:pt x="3200" y="144"/>
                      <a:pt x="3200" y="320"/>
                    </a:cubicBezTo>
                    <a:close/>
                  </a:path>
                </a:pathLst>
              </a:custGeom>
              <a:solidFill>
                <a:srgbClr val="00B0F0"/>
              </a:solidFill>
              <a:ln w="28575"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5" name="Freeform 20">
                <a:extLst>
                  <a:ext uri="{FF2B5EF4-FFF2-40B4-BE49-F238E27FC236}">
                    <a16:creationId xmlns:a16="http://schemas.microsoft.com/office/drawing/2014/main" id="{70776EBA-F3E7-9B4C-BFA1-AE1111F365D4}"/>
                  </a:ext>
                </a:extLst>
              </p:cNvPr>
              <p:cNvSpPr>
                <a:spLocks noEditPoints="1"/>
              </p:cNvSpPr>
              <p:nvPr/>
            </p:nvSpPr>
            <p:spPr bwMode="auto">
              <a:xfrm>
                <a:off x="2678521" y="2847139"/>
                <a:ext cx="6005512" cy="2408238"/>
              </a:xfrm>
              <a:custGeom>
                <a:avLst/>
                <a:gdLst>
                  <a:gd name="T0" fmla="*/ 1280 w 1600"/>
                  <a:gd name="T1" fmla="*/ 0 h 640"/>
                  <a:gd name="T2" fmla="*/ 320 w 1600"/>
                  <a:gd name="T3" fmla="*/ 0 h 640"/>
                  <a:gd name="T4" fmla="*/ 0 w 1600"/>
                  <a:gd name="T5" fmla="*/ 320 h 640"/>
                  <a:gd name="T6" fmla="*/ 320 w 1600"/>
                  <a:gd name="T7" fmla="*/ 640 h 640"/>
                  <a:gd name="T8" fmla="*/ 1280 w 1600"/>
                  <a:gd name="T9" fmla="*/ 640 h 640"/>
                  <a:gd name="T10" fmla="*/ 1600 w 1600"/>
                  <a:gd name="T11" fmla="*/ 320 h 640"/>
                  <a:gd name="T12" fmla="*/ 1280 w 1600"/>
                  <a:gd name="T13" fmla="*/ 0 h 640"/>
                  <a:gd name="T14" fmla="*/ 1493 w 1600"/>
                  <a:gd name="T15" fmla="*/ 365 h 640"/>
                  <a:gd name="T16" fmla="*/ 1435 w 1600"/>
                  <a:gd name="T17" fmla="*/ 385 h 640"/>
                  <a:gd name="T18" fmla="*/ 1427 w 1600"/>
                  <a:gd name="T19" fmla="*/ 381 h 640"/>
                  <a:gd name="T20" fmla="*/ 1416 w 1600"/>
                  <a:gd name="T21" fmla="*/ 320 h 640"/>
                  <a:gd name="T22" fmla="*/ 1427 w 1600"/>
                  <a:gd name="T23" fmla="*/ 259 h 640"/>
                  <a:gd name="T24" fmla="*/ 1435 w 1600"/>
                  <a:gd name="T25" fmla="*/ 255 h 640"/>
                  <a:gd name="T26" fmla="*/ 1493 w 1600"/>
                  <a:gd name="T27" fmla="*/ 275 h 640"/>
                  <a:gd name="T28" fmla="*/ 1541 w 1600"/>
                  <a:gd name="T29" fmla="*/ 316 h 640"/>
                  <a:gd name="T30" fmla="*/ 1541 w 1600"/>
                  <a:gd name="T31" fmla="*/ 324 h 640"/>
                  <a:gd name="T32" fmla="*/ 1493 w 1600"/>
                  <a:gd name="T33" fmla="*/ 365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0" h="640">
                    <a:moveTo>
                      <a:pt x="1280" y="0"/>
                    </a:moveTo>
                    <a:cubicBezTo>
                      <a:pt x="320" y="0"/>
                      <a:pt x="320" y="0"/>
                      <a:pt x="320" y="0"/>
                    </a:cubicBezTo>
                    <a:cubicBezTo>
                      <a:pt x="144" y="0"/>
                      <a:pt x="0" y="144"/>
                      <a:pt x="0" y="320"/>
                    </a:cubicBezTo>
                    <a:cubicBezTo>
                      <a:pt x="0" y="496"/>
                      <a:pt x="144" y="640"/>
                      <a:pt x="320" y="640"/>
                    </a:cubicBezTo>
                    <a:cubicBezTo>
                      <a:pt x="1280" y="640"/>
                      <a:pt x="1280" y="640"/>
                      <a:pt x="1280" y="640"/>
                    </a:cubicBezTo>
                    <a:cubicBezTo>
                      <a:pt x="1456" y="640"/>
                      <a:pt x="1600" y="496"/>
                      <a:pt x="1600" y="320"/>
                    </a:cubicBezTo>
                    <a:cubicBezTo>
                      <a:pt x="1600" y="144"/>
                      <a:pt x="1456" y="0"/>
                      <a:pt x="1280" y="0"/>
                    </a:cubicBezTo>
                    <a:close/>
                    <a:moveTo>
                      <a:pt x="1493" y="365"/>
                    </a:moveTo>
                    <a:cubicBezTo>
                      <a:pt x="1455" y="387"/>
                      <a:pt x="1435" y="385"/>
                      <a:pt x="1435" y="385"/>
                    </a:cubicBezTo>
                    <a:cubicBezTo>
                      <a:pt x="1432" y="385"/>
                      <a:pt x="1429" y="383"/>
                      <a:pt x="1427" y="381"/>
                    </a:cubicBezTo>
                    <a:cubicBezTo>
                      <a:pt x="1427" y="381"/>
                      <a:pt x="1416" y="364"/>
                      <a:pt x="1416" y="320"/>
                    </a:cubicBezTo>
                    <a:cubicBezTo>
                      <a:pt x="1416" y="276"/>
                      <a:pt x="1427" y="259"/>
                      <a:pt x="1427" y="259"/>
                    </a:cubicBezTo>
                    <a:cubicBezTo>
                      <a:pt x="1429" y="257"/>
                      <a:pt x="1432" y="255"/>
                      <a:pt x="1435" y="255"/>
                    </a:cubicBezTo>
                    <a:cubicBezTo>
                      <a:pt x="1435" y="255"/>
                      <a:pt x="1455" y="253"/>
                      <a:pt x="1493" y="275"/>
                    </a:cubicBezTo>
                    <a:cubicBezTo>
                      <a:pt x="1532" y="297"/>
                      <a:pt x="1541" y="316"/>
                      <a:pt x="1541" y="316"/>
                    </a:cubicBezTo>
                    <a:cubicBezTo>
                      <a:pt x="1542" y="318"/>
                      <a:pt x="1542" y="322"/>
                      <a:pt x="1541" y="324"/>
                    </a:cubicBezTo>
                    <a:cubicBezTo>
                      <a:pt x="1541" y="324"/>
                      <a:pt x="1532" y="343"/>
                      <a:pt x="1493" y="365"/>
                    </a:cubicBezTo>
                    <a:close/>
                  </a:path>
                </a:pathLst>
              </a:custGeom>
              <a:gradFill>
                <a:gsLst>
                  <a:gs pos="0">
                    <a:srgbClr val="DEDEDE"/>
                  </a:gs>
                  <a:gs pos="100000">
                    <a:srgbClr val="FBFBFB"/>
                  </a:gs>
                </a:gsLst>
                <a:lin ang="5400000" scaled="1"/>
              </a:gradFill>
              <a:ln w="31750" cap="flat">
                <a:gradFill>
                  <a:gsLst>
                    <a:gs pos="0">
                      <a:sysClr val="window" lastClr="FFFFFF"/>
                    </a:gs>
                    <a:gs pos="100000">
                      <a:srgbClr val="DDDDDD"/>
                    </a:gs>
                  </a:gsLst>
                  <a:lin ang="5400000" scaled="1"/>
                </a:gradFill>
                <a:prstDash val="solid"/>
                <a:miter lim="800000"/>
              </a:ln>
              <a:effectLst>
                <a:outerShdw blurRad="228600" dist="101600" dir="5400000" algn="t" rotWithShape="0">
                  <a:sysClr val="windowText" lastClr="000000">
                    <a:lumMod val="85000"/>
                    <a:lumOff val="15000"/>
                    <a:alpha val="33000"/>
                  </a:sysClr>
                </a:outerShdw>
              </a:effectLst>
            </p:spPr>
            <p:txBody>
              <a:bodyPr/>
              <a:lstStyle/>
              <a:p>
                <a:pPr defTabSz="1218565">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6" name="椭圆 35">
                <a:extLst>
                  <a:ext uri="{FF2B5EF4-FFF2-40B4-BE49-F238E27FC236}">
                    <a16:creationId xmlns:a16="http://schemas.microsoft.com/office/drawing/2014/main" id="{A695A08C-94A5-9727-A45C-A55C26054EB6}"/>
                  </a:ext>
                </a:extLst>
              </p:cNvPr>
              <p:cNvSpPr/>
              <p:nvPr/>
            </p:nvSpPr>
            <p:spPr>
              <a:xfrm>
                <a:off x="2834834" y="3000057"/>
                <a:ext cx="2102400" cy="2102400"/>
              </a:xfrm>
              <a:prstGeom prst="ellipse">
                <a:avLst/>
              </a:prstGeom>
              <a:gradFill>
                <a:gsLst>
                  <a:gs pos="0">
                    <a:srgbClr val="DDDDDD"/>
                  </a:gs>
                  <a:gs pos="100000">
                    <a:srgbClr val="FBFBFB"/>
                  </a:gs>
                </a:gsLst>
                <a:lin ang="5400000" scaled="1"/>
              </a:gradFill>
              <a:ln w="101600" cap="flat">
                <a:gradFill>
                  <a:gsLst>
                    <a:gs pos="0">
                      <a:srgbClr val="FDFDFD"/>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7" name="Freeform 23">
                <a:extLst>
                  <a:ext uri="{FF2B5EF4-FFF2-40B4-BE49-F238E27FC236}">
                    <a16:creationId xmlns:a16="http://schemas.microsoft.com/office/drawing/2014/main" id="{9B51A071-4D23-93E7-B092-1E6675C537FF}"/>
                  </a:ext>
                </a:extLst>
              </p:cNvPr>
              <p:cNvSpPr/>
              <p:nvPr/>
            </p:nvSpPr>
            <p:spPr bwMode="auto">
              <a:xfrm>
                <a:off x="3298659" y="3423401"/>
                <a:ext cx="1174750" cy="1255712"/>
              </a:xfrm>
              <a:custGeom>
                <a:avLst/>
                <a:gdLst>
                  <a:gd name="T0" fmla="*/ 193 w 313"/>
                  <a:gd name="T1" fmla="*/ 279 h 334"/>
                  <a:gd name="T2" fmla="*/ 47 w 313"/>
                  <a:gd name="T3" fmla="*/ 330 h 334"/>
                  <a:gd name="T4" fmla="*/ 28 w 313"/>
                  <a:gd name="T5" fmla="*/ 319 h 334"/>
                  <a:gd name="T6" fmla="*/ 0 w 313"/>
                  <a:gd name="T7" fmla="*/ 167 h 334"/>
                  <a:gd name="T8" fmla="*/ 28 w 313"/>
                  <a:gd name="T9" fmla="*/ 15 h 334"/>
                  <a:gd name="T10" fmla="*/ 47 w 313"/>
                  <a:gd name="T11" fmla="*/ 4 h 334"/>
                  <a:gd name="T12" fmla="*/ 193 w 313"/>
                  <a:gd name="T13" fmla="*/ 55 h 334"/>
                  <a:gd name="T14" fmla="*/ 311 w 313"/>
                  <a:gd name="T15" fmla="*/ 156 h 334"/>
                  <a:gd name="T16" fmla="*/ 311 w 313"/>
                  <a:gd name="T17" fmla="*/ 178 h 334"/>
                  <a:gd name="T18" fmla="*/ 193 w 313"/>
                  <a:gd name="T19" fmla="*/ 27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3" h="334">
                    <a:moveTo>
                      <a:pt x="193" y="279"/>
                    </a:moveTo>
                    <a:cubicBezTo>
                      <a:pt x="98" y="334"/>
                      <a:pt x="47" y="330"/>
                      <a:pt x="47" y="330"/>
                    </a:cubicBezTo>
                    <a:cubicBezTo>
                      <a:pt x="40" y="329"/>
                      <a:pt x="32" y="325"/>
                      <a:pt x="28" y="319"/>
                    </a:cubicBezTo>
                    <a:cubicBezTo>
                      <a:pt x="28" y="319"/>
                      <a:pt x="0" y="277"/>
                      <a:pt x="0" y="167"/>
                    </a:cubicBezTo>
                    <a:cubicBezTo>
                      <a:pt x="0" y="57"/>
                      <a:pt x="28" y="15"/>
                      <a:pt x="28" y="15"/>
                    </a:cubicBezTo>
                    <a:cubicBezTo>
                      <a:pt x="32" y="9"/>
                      <a:pt x="40" y="5"/>
                      <a:pt x="47" y="4"/>
                    </a:cubicBezTo>
                    <a:cubicBezTo>
                      <a:pt x="47" y="4"/>
                      <a:pt x="98" y="0"/>
                      <a:pt x="193" y="55"/>
                    </a:cubicBezTo>
                    <a:cubicBezTo>
                      <a:pt x="289" y="110"/>
                      <a:pt x="311" y="156"/>
                      <a:pt x="311" y="156"/>
                    </a:cubicBezTo>
                    <a:cubicBezTo>
                      <a:pt x="313" y="162"/>
                      <a:pt x="313" y="172"/>
                      <a:pt x="311" y="178"/>
                    </a:cubicBezTo>
                    <a:cubicBezTo>
                      <a:pt x="311" y="178"/>
                      <a:pt x="289" y="224"/>
                      <a:pt x="193" y="279"/>
                    </a:cubicBezTo>
                    <a:close/>
                  </a:path>
                </a:pathLst>
              </a:custGeom>
              <a:solidFill>
                <a:srgbClr val="0070C0"/>
              </a:solidFill>
              <a:ln w="12700" cap="flat" cmpd="sng" algn="ctr">
                <a:noFill/>
                <a:prstDash val="solid"/>
                <a:miter lim="800000"/>
              </a:ln>
              <a:effectLst>
                <a:innerShdw blurRad="215900" dist="50800" dir="16200000">
                  <a:prstClr val="black">
                    <a:alpha val="42000"/>
                  </a:prstClr>
                </a:innerShdw>
              </a:effectLst>
            </p:spPr>
            <p:txBody>
              <a:bodyPr anchor="ctr"/>
              <a:lstStyle/>
              <a:p>
                <a:pPr algn="ctr" defTabSz="1218565">
                  <a:defRPr/>
                </a:pPr>
                <a:endParaRPr lang="zh-CN" altLang="en-US" kern="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
          <p:nvSpPr>
            <p:cNvPr id="10" name="文本框 64">
              <a:extLst>
                <a:ext uri="{FF2B5EF4-FFF2-40B4-BE49-F238E27FC236}">
                  <a16:creationId xmlns:a16="http://schemas.microsoft.com/office/drawing/2014/main" id="{C7F98155-C7A6-F715-F059-F7364579C5A3}"/>
                </a:ext>
              </a:extLst>
            </p:cNvPr>
            <p:cNvSpPr txBox="1">
              <a:spLocks noChangeArrowheads="1"/>
            </p:cNvSpPr>
            <p:nvPr/>
          </p:nvSpPr>
          <p:spPr bwMode="auto">
            <a:xfrm>
              <a:off x="3788258" y="2550173"/>
              <a:ext cx="3413270" cy="684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8" tIns="34284" rIns="68568" bIns="34284">
              <a:spAutoFit/>
            </a:bodyPr>
            <a:lstStyle>
              <a:lvl1pPr>
                <a:defRPr>
                  <a:solidFill>
                    <a:schemeClr val="tx1"/>
                  </a:solidFill>
                  <a:latin typeface="Calibri" panose="020F0502020204030204" pitchFamily="34" charset="0"/>
                  <a:ea typeface="微软雅黑" panose="020B0503020204020204" charset="-122"/>
                </a:defRPr>
              </a:lvl1pPr>
              <a:lvl2pPr marL="742950" indent="-285750">
                <a:defRPr>
                  <a:solidFill>
                    <a:schemeClr val="tx1"/>
                  </a:solidFill>
                  <a:latin typeface="Calibri" panose="020F0502020204030204" pitchFamily="34" charset="0"/>
                  <a:ea typeface="微软雅黑" panose="020B0503020204020204" charset="-122"/>
                </a:defRPr>
              </a:lvl2pPr>
              <a:lvl3pPr marL="1143000" indent="-228600">
                <a:defRPr>
                  <a:solidFill>
                    <a:schemeClr val="tx1"/>
                  </a:solidFill>
                  <a:latin typeface="Calibri" panose="020F0502020204030204" pitchFamily="34" charset="0"/>
                  <a:ea typeface="微软雅黑" panose="020B0503020204020204" charset="-122"/>
                </a:defRPr>
              </a:lvl3pPr>
              <a:lvl4pPr marL="1600200" indent="-228600">
                <a:defRPr>
                  <a:solidFill>
                    <a:schemeClr val="tx1"/>
                  </a:solidFill>
                  <a:latin typeface="Calibri" panose="020F0502020204030204" pitchFamily="34" charset="0"/>
                  <a:ea typeface="微软雅黑" panose="020B0503020204020204" charset="-122"/>
                </a:defRPr>
              </a:lvl4pPr>
              <a:lvl5pPr marL="2057400" indent="-228600">
                <a:defRPr>
                  <a:solidFill>
                    <a:schemeClr val="tx1"/>
                  </a:solidFill>
                  <a:latin typeface="Calibri" panose="020F0502020204030204" pitchFamily="34" charset="0"/>
                  <a:ea typeface="微软雅黑" panose="020B050302020402020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9pPr>
            </a:lstStyle>
            <a:p>
              <a:pPr defTabSz="1218565">
                <a:defRPr/>
              </a:pPr>
              <a:r>
                <a:rPr lang="zh-CN" altLang="en-US" sz="2000" b="1" kern="0" dirty="0">
                  <a:solidFill>
                    <a:srgbClr val="C00000"/>
                  </a:solidFill>
                  <a:latin typeface="Times New Roman" panose="02020603050405020304" pitchFamily="18" charset="0"/>
                  <a:ea typeface="微软雅黑" panose="020B0503020204020204" pitchFamily="34" charset="-122"/>
                  <a:cs typeface="+mn-ea"/>
                </a:rPr>
                <a:t>正相关</a:t>
              </a:r>
              <a:r>
                <a:rPr lang="zh-CN" altLang="en-US" sz="2000" b="1" kern="0" dirty="0">
                  <a:solidFill>
                    <a:sysClr val="window" lastClr="FFFFFF"/>
                  </a:solidFill>
                  <a:latin typeface="Times New Roman" panose="02020603050405020304" pitchFamily="18" charset="0"/>
                  <a:ea typeface="微软雅黑" panose="020B0503020204020204" pitchFamily="34" charset="-122"/>
                  <a:cs typeface="+mn-ea"/>
                </a:rPr>
                <a:t>：一个变量增加，另一个变量也倾向于增加。</a:t>
              </a:r>
              <a:endParaRPr lang="zh-CN" altLang="en-US" sz="2000" b="1"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1" name="Freeform 9">
              <a:extLst>
                <a:ext uri="{FF2B5EF4-FFF2-40B4-BE49-F238E27FC236}">
                  <a16:creationId xmlns:a16="http://schemas.microsoft.com/office/drawing/2014/main" id="{71E7BA93-2562-7B96-1944-561B05F7024D}"/>
                </a:ext>
              </a:extLst>
            </p:cNvPr>
            <p:cNvSpPr>
              <a:spLocks noEditPoints="1"/>
            </p:cNvSpPr>
            <p:nvPr/>
          </p:nvSpPr>
          <p:spPr bwMode="auto">
            <a:xfrm>
              <a:off x="2171265" y="2556789"/>
              <a:ext cx="610804" cy="612552"/>
            </a:xfrm>
            <a:custGeom>
              <a:avLst/>
              <a:gdLst>
                <a:gd name="T0" fmla="*/ 77737 w 406"/>
                <a:gd name="T1" fmla="*/ 370453 h 407"/>
                <a:gd name="T2" fmla="*/ 72775 w 406"/>
                <a:gd name="T3" fmla="*/ 358876 h 407"/>
                <a:gd name="T4" fmla="*/ 62851 w 406"/>
                <a:gd name="T5" fmla="*/ 352261 h 407"/>
                <a:gd name="T6" fmla="*/ 67813 w 406"/>
                <a:gd name="T7" fmla="*/ 372107 h 407"/>
                <a:gd name="T8" fmla="*/ 86007 w 406"/>
                <a:gd name="T9" fmla="*/ 380376 h 407"/>
                <a:gd name="T10" fmla="*/ 26464 w 406"/>
                <a:gd name="T11" fmla="*/ 253033 h 407"/>
                <a:gd name="T12" fmla="*/ 97584 w 406"/>
                <a:gd name="T13" fmla="*/ 138920 h 407"/>
                <a:gd name="T14" fmla="*/ 135626 w 406"/>
                <a:gd name="T15" fmla="*/ 114113 h 407"/>
                <a:gd name="T16" fmla="*/ 150512 w 406"/>
                <a:gd name="T17" fmla="*/ 67806 h 407"/>
                <a:gd name="T18" fmla="*/ 99238 w 406"/>
                <a:gd name="T19" fmla="*/ 104190 h 407"/>
                <a:gd name="T20" fmla="*/ 3308 w 406"/>
                <a:gd name="T21" fmla="*/ 297686 h 407"/>
                <a:gd name="T22" fmla="*/ 79391 w 406"/>
                <a:gd name="T23" fmla="*/ 386991 h 407"/>
                <a:gd name="T24" fmla="*/ 168705 w 406"/>
                <a:gd name="T25" fmla="*/ 49614 h 407"/>
                <a:gd name="T26" fmla="*/ 244788 w 406"/>
                <a:gd name="T27" fmla="*/ 23153 h 407"/>
                <a:gd name="T28" fmla="*/ 188553 w 406"/>
                <a:gd name="T29" fmla="*/ 47960 h 407"/>
                <a:gd name="T30" fmla="*/ 234864 w 406"/>
                <a:gd name="T31" fmla="*/ 19846 h 407"/>
                <a:gd name="T32" fmla="*/ 190207 w 406"/>
                <a:gd name="T33" fmla="*/ 39691 h 407"/>
                <a:gd name="T34" fmla="*/ 170359 w 406"/>
                <a:gd name="T35" fmla="*/ 51268 h 407"/>
                <a:gd name="T36" fmla="*/ 16540 w 406"/>
                <a:gd name="T37" fmla="*/ 324146 h 407"/>
                <a:gd name="T38" fmla="*/ 18194 w 406"/>
                <a:gd name="T39" fmla="*/ 324146 h 407"/>
                <a:gd name="T40" fmla="*/ 332449 w 406"/>
                <a:gd name="T41" fmla="*/ 625140 h 407"/>
                <a:gd name="T42" fmla="*/ 229902 w 406"/>
                <a:gd name="T43" fmla="*/ 454797 h 407"/>
                <a:gd name="T44" fmla="*/ 84353 w 406"/>
                <a:gd name="T45" fmla="*/ 411798 h 407"/>
                <a:gd name="T46" fmla="*/ 47965 w 406"/>
                <a:gd name="T47" fmla="*/ 415106 h 407"/>
                <a:gd name="T48" fmla="*/ 8270 w 406"/>
                <a:gd name="T49" fmla="*/ 398568 h 407"/>
                <a:gd name="T50" fmla="*/ 14886 w 406"/>
                <a:gd name="T51" fmla="*/ 436605 h 407"/>
                <a:gd name="T52" fmla="*/ 133972 w 406"/>
                <a:gd name="T53" fmla="*/ 583794 h 407"/>
                <a:gd name="T54" fmla="*/ 28118 w 406"/>
                <a:gd name="T55" fmla="*/ 373761 h 407"/>
                <a:gd name="T56" fmla="*/ 31425 w 406"/>
                <a:gd name="T57" fmla="*/ 365492 h 407"/>
                <a:gd name="T58" fmla="*/ 23156 w 406"/>
                <a:gd name="T59" fmla="*/ 355569 h 407"/>
                <a:gd name="T60" fmla="*/ 13232 w 406"/>
                <a:gd name="T61" fmla="*/ 355569 h 407"/>
                <a:gd name="T62" fmla="*/ 466420 w 406"/>
                <a:gd name="T63" fmla="*/ 61191 h 407"/>
                <a:gd name="T64" fmla="*/ 511078 w 406"/>
                <a:gd name="T65" fmla="*/ 69460 h 407"/>
                <a:gd name="T66" fmla="*/ 645049 w 406"/>
                <a:gd name="T67" fmla="*/ 464720 h 407"/>
                <a:gd name="T68" fmla="*/ 471382 w 406"/>
                <a:gd name="T69" fmla="*/ 61191 h 407"/>
                <a:gd name="T70" fmla="*/ 471382 w 406"/>
                <a:gd name="T71" fmla="*/ 61191 h 407"/>
                <a:gd name="T72" fmla="*/ 654973 w 406"/>
                <a:gd name="T73" fmla="*/ 223264 h 407"/>
                <a:gd name="T74" fmla="*/ 650011 w 406"/>
                <a:gd name="T75" fmla="*/ 196803 h 407"/>
                <a:gd name="T76" fmla="*/ 562351 w 406"/>
                <a:gd name="T77" fmla="*/ 76075 h 407"/>
                <a:gd name="T78" fmla="*/ 320871 w 406"/>
                <a:gd name="T79" fmla="*/ 11577 h 407"/>
                <a:gd name="T80" fmla="*/ 305985 w 406"/>
                <a:gd name="T81" fmla="*/ 24807 h 407"/>
                <a:gd name="T82" fmla="*/ 279521 w 406"/>
                <a:gd name="T83" fmla="*/ 21500 h 407"/>
                <a:gd name="T84" fmla="*/ 274560 w 406"/>
                <a:gd name="T85" fmla="*/ 33076 h 407"/>
                <a:gd name="T86" fmla="*/ 296061 w 406"/>
                <a:gd name="T87" fmla="*/ 28115 h 407"/>
                <a:gd name="T88" fmla="*/ 317563 w 406"/>
                <a:gd name="T89" fmla="*/ 31422 h 407"/>
                <a:gd name="T90" fmla="*/ 305985 w 406"/>
                <a:gd name="T91" fmla="*/ 90959 h 407"/>
                <a:gd name="T92" fmla="*/ 370490 w 406"/>
                <a:gd name="T93" fmla="*/ 44653 h 407"/>
                <a:gd name="T94" fmla="*/ 400261 w 406"/>
                <a:gd name="T95" fmla="*/ 41345 h 407"/>
                <a:gd name="T96" fmla="*/ 491230 w 406"/>
                <a:gd name="T97" fmla="*/ 61191 h 407"/>
                <a:gd name="T98" fmla="*/ 469728 w 406"/>
                <a:gd name="T99" fmla="*/ 82690 h 407"/>
                <a:gd name="T100" fmla="*/ 393646 w 406"/>
                <a:gd name="T101" fmla="*/ 74421 h 407"/>
                <a:gd name="T102" fmla="*/ 310947 w 406"/>
                <a:gd name="T103" fmla="*/ 158766 h 407"/>
                <a:gd name="T104" fmla="*/ 365528 w 406"/>
                <a:gd name="T105" fmla="*/ 309262 h 407"/>
                <a:gd name="T106" fmla="*/ 529271 w 406"/>
                <a:gd name="T107" fmla="*/ 353915 h 407"/>
                <a:gd name="T108" fmla="*/ 539195 w 406"/>
                <a:gd name="T109" fmla="*/ 570564 h 407"/>
                <a:gd name="T110" fmla="*/ 613624 w 406"/>
                <a:gd name="T111" fmla="*/ 128997 h 407"/>
                <a:gd name="T112" fmla="*/ 347334 w 406"/>
                <a:gd name="T113" fmla="*/ 11577 h 407"/>
                <a:gd name="T114" fmla="*/ 353950 w 406"/>
                <a:gd name="T115" fmla="*/ 11577 h 407"/>
                <a:gd name="T116" fmla="*/ 444919 w 406"/>
                <a:gd name="T117" fmla="*/ 23153 h 407"/>
                <a:gd name="T118" fmla="*/ 448227 w 406"/>
                <a:gd name="T119" fmla="*/ 38038 h 407"/>
                <a:gd name="T120" fmla="*/ 456497 w 406"/>
                <a:gd name="T121" fmla="*/ 28115 h 407"/>
                <a:gd name="T122" fmla="*/ 382068 w 406"/>
                <a:gd name="T123" fmla="*/ 54576 h 407"/>
                <a:gd name="T124" fmla="*/ 461458 w 406"/>
                <a:gd name="T125" fmla="*/ 57883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06" h="407">
                  <a:moveTo>
                    <a:pt x="44" y="222"/>
                  </a:moveTo>
                  <a:cubicBezTo>
                    <a:pt x="44" y="223"/>
                    <a:pt x="45" y="223"/>
                    <a:pt x="45" y="223"/>
                  </a:cubicBezTo>
                  <a:cubicBezTo>
                    <a:pt x="45" y="223"/>
                    <a:pt x="45" y="223"/>
                    <a:pt x="45" y="223"/>
                  </a:cubicBezTo>
                  <a:cubicBezTo>
                    <a:pt x="45" y="222"/>
                    <a:pt x="45" y="222"/>
                    <a:pt x="45" y="222"/>
                  </a:cubicBezTo>
                  <a:cubicBezTo>
                    <a:pt x="45" y="221"/>
                    <a:pt x="45" y="221"/>
                    <a:pt x="45" y="221"/>
                  </a:cubicBezTo>
                  <a:cubicBezTo>
                    <a:pt x="45" y="221"/>
                    <a:pt x="45" y="221"/>
                    <a:pt x="45" y="221"/>
                  </a:cubicBezTo>
                  <a:cubicBezTo>
                    <a:pt x="45" y="221"/>
                    <a:pt x="45" y="221"/>
                    <a:pt x="45" y="221"/>
                  </a:cubicBezTo>
                  <a:cubicBezTo>
                    <a:pt x="44" y="221"/>
                    <a:pt x="44" y="221"/>
                    <a:pt x="44" y="221"/>
                  </a:cubicBezTo>
                  <a:cubicBezTo>
                    <a:pt x="44" y="222"/>
                    <a:pt x="44" y="222"/>
                    <a:pt x="44" y="222"/>
                  </a:cubicBezTo>
                  <a:close/>
                  <a:moveTo>
                    <a:pt x="45" y="221"/>
                  </a:moveTo>
                  <a:cubicBezTo>
                    <a:pt x="45" y="221"/>
                    <a:pt x="45" y="221"/>
                    <a:pt x="45" y="221"/>
                  </a:cubicBezTo>
                  <a:cubicBezTo>
                    <a:pt x="45" y="221"/>
                    <a:pt x="45" y="221"/>
                    <a:pt x="45" y="221"/>
                  </a:cubicBezTo>
                  <a:cubicBezTo>
                    <a:pt x="45" y="221"/>
                    <a:pt x="45" y="220"/>
                    <a:pt x="45" y="220"/>
                  </a:cubicBezTo>
                  <a:cubicBezTo>
                    <a:pt x="45" y="219"/>
                    <a:pt x="45" y="219"/>
                    <a:pt x="45" y="219"/>
                  </a:cubicBezTo>
                  <a:cubicBezTo>
                    <a:pt x="45" y="219"/>
                    <a:pt x="45" y="219"/>
                    <a:pt x="45" y="219"/>
                  </a:cubicBezTo>
                  <a:cubicBezTo>
                    <a:pt x="45" y="219"/>
                    <a:pt x="45" y="219"/>
                    <a:pt x="45" y="219"/>
                  </a:cubicBezTo>
                  <a:cubicBezTo>
                    <a:pt x="44" y="220"/>
                    <a:pt x="44" y="220"/>
                    <a:pt x="44" y="220"/>
                  </a:cubicBezTo>
                  <a:cubicBezTo>
                    <a:pt x="44" y="220"/>
                    <a:pt x="44" y="220"/>
                    <a:pt x="45" y="221"/>
                  </a:cubicBezTo>
                  <a:close/>
                  <a:moveTo>
                    <a:pt x="47" y="225"/>
                  </a:moveTo>
                  <a:cubicBezTo>
                    <a:pt x="47" y="224"/>
                    <a:pt x="47" y="224"/>
                    <a:pt x="47" y="224"/>
                  </a:cubicBezTo>
                  <a:cubicBezTo>
                    <a:pt x="47" y="224"/>
                    <a:pt x="47" y="224"/>
                    <a:pt x="47" y="224"/>
                  </a:cubicBezTo>
                  <a:cubicBezTo>
                    <a:pt x="46" y="224"/>
                    <a:pt x="46" y="224"/>
                    <a:pt x="46" y="224"/>
                  </a:cubicBezTo>
                  <a:cubicBezTo>
                    <a:pt x="46" y="225"/>
                    <a:pt x="46" y="225"/>
                    <a:pt x="46" y="225"/>
                  </a:cubicBezTo>
                  <a:cubicBezTo>
                    <a:pt x="46" y="225"/>
                    <a:pt x="46" y="225"/>
                    <a:pt x="46" y="225"/>
                  </a:cubicBezTo>
                  <a:cubicBezTo>
                    <a:pt x="46" y="226"/>
                    <a:pt x="46" y="226"/>
                    <a:pt x="46" y="226"/>
                  </a:cubicBezTo>
                  <a:cubicBezTo>
                    <a:pt x="46" y="227"/>
                    <a:pt x="46" y="227"/>
                    <a:pt x="46" y="227"/>
                  </a:cubicBezTo>
                  <a:cubicBezTo>
                    <a:pt x="47" y="226"/>
                    <a:pt x="47" y="226"/>
                    <a:pt x="47" y="226"/>
                  </a:cubicBezTo>
                  <a:cubicBezTo>
                    <a:pt x="47" y="226"/>
                    <a:pt x="47" y="225"/>
                    <a:pt x="47" y="225"/>
                  </a:cubicBezTo>
                  <a:close/>
                  <a:moveTo>
                    <a:pt x="40" y="214"/>
                  </a:moveTo>
                  <a:cubicBezTo>
                    <a:pt x="40" y="215"/>
                    <a:pt x="40" y="215"/>
                    <a:pt x="40" y="215"/>
                  </a:cubicBezTo>
                  <a:cubicBezTo>
                    <a:pt x="39" y="215"/>
                    <a:pt x="39" y="215"/>
                    <a:pt x="39" y="215"/>
                  </a:cubicBezTo>
                  <a:cubicBezTo>
                    <a:pt x="39" y="215"/>
                    <a:pt x="39" y="216"/>
                    <a:pt x="40" y="216"/>
                  </a:cubicBezTo>
                  <a:cubicBezTo>
                    <a:pt x="40" y="216"/>
                    <a:pt x="40" y="216"/>
                    <a:pt x="40" y="216"/>
                  </a:cubicBezTo>
                  <a:cubicBezTo>
                    <a:pt x="40" y="216"/>
                    <a:pt x="40" y="216"/>
                    <a:pt x="40" y="216"/>
                  </a:cubicBezTo>
                  <a:cubicBezTo>
                    <a:pt x="40" y="216"/>
                    <a:pt x="40" y="216"/>
                    <a:pt x="40" y="216"/>
                  </a:cubicBezTo>
                  <a:cubicBezTo>
                    <a:pt x="40" y="216"/>
                    <a:pt x="40" y="216"/>
                    <a:pt x="40" y="215"/>
                  </a:cubicBezTo>
                  <a:cubicBezTo>
                    <a:pt x="40" y="214"/>
                    <a:pt x="40" y="214"/>
                    <a:pt x="40" y="214"/>
                  </a:cubicBezTo>
                  <a:cubicBezTo>
                    <a:pt x="40" y="214"/>
                    <a:pt x="40" y="214"/>
                    <a:pt x="40" y="214"/>
                  </a:cubicBezTo>
                  <a:cubicBezTo>
                    <a:pt x="40" y="214"/>
                    <a:pt x="40" y="214"/>
                    <a:pt x="40" y="214"/>
                  </a:cubicBezTo>
                  <a:close/>
                  <a:moveTo>
                    <a:pt x="44" y="217"/>
                  </a:moveTo>
                  <a:cubicBezTo>
                    <a:pt x="43" y="217"/>
                    <a:pt x="43" y="217"/>
                    <a:pt x="43" y="217"/>
                  </a:cubicBezTo>
                  <a:cubicBezTo>
                    <a:pt x="43" y="217"/>
                    <a:pt x="43" y="217"/>
                    <a:pt x="43" y="217"/>
                  </a:cubicBezTo>
                  <a:cubicBezTo>
                    <a:pt x="43" y="218"/>
                    <a:pt x="43" y="219"/>
                    <a:pt x="43" y="219"/>
                  </a:cubicBezTo>
                  <a:cubicBezTo>
                    <a:pt x="43" y="219"/>
                    <a:pt x="43" y="219"/>
                    <a:pt x="43" y="219"/>
                  </a:cubicBezTo>
                  <a:cubicBezTo>
                    <a:pt x="44" y="219"/>
                    <a:pt x="44" y="218"/>
                    <a:pt x="44" y="217"/>
                  </a:cubicBezTo>
                  <a:cubicBezTo>
                    <a:pt x="44" y="217"/>
                    <a:pt x="44" y="217"/>
                    <a:pt x="44" y="217"/>
                  </a:cubicBezTo>
                  <a:close/>
                  <a:moveTo>
                    <a:pt x="41" y="215"/>
                  </a:moveTo>
                  <a:cubicBezTo>
                    <a:pt x="42" y="214"/>
                    <a:pt x="42" y="214"/>
                    <a:pt x="42" y="214"/>
                  </a:cubicBezTo>
                  <a:cubicBezTo>
                    <a:pt x="42" y="214"/>
                    <a:pt x="42" y="214"/>
                    <a:pt x="42" y="214"/>
                  </a:cubicBezTo>
                  <a:cubicBezTo>
                    <a:pt x="41" y="214"/>
                    <a:pt x="41" y="214"/>
                    <a:pt x="41" y="214"/>
                  </a:cubicBezTo>
                  <a:cubicBezTo>
                    <a:pt x="41" y="214"/>
                    <a:pt x="41" y="214"/>
                    <a:pt x="41" y="214"/>
                  </a:cubicBezTo>
                  <a:cubicBezTo>
                    <a:pt x="41" y="214"/>
                    <a:pt x="41" y="214"/>
                    <a:pt x="41" y="214"/>
                  </a:cubicBezTo>
                  <a:cubicBezTo>
                    <a:pt x="41" y="214"/>
                    <a:pt x="41" y="215"/>
                    <a:pt x="41" y="215"/>
                  </a:cubicBezTo>
                  <a:close/>
                  <a:moveTo>
                    <a:pt x="39" y="213"/>
                  </a:moveTo>
                  <a:cubicBezTo>
                    <a:pt x="39" y="212"/>
                    <a:pt x="39" y="212"/>
                    <a:pt x="39" y="212"/>
                  </a:cubicBezTo>
                  <a:cubicBezTo>
                    <a:pt x="39" y="212"/>
                    <a:pt x="39" y="212"/>
                    <a:pt x="39" y="212"/>
                  </a:cubicBezTo>
                  <a:cubicBezTo>
                    <a:pt x="39" y="211"/>
                    <a:pt x="39" y="211"/>
                    <a:pt x="39" y="211"/>
                  </a:cubicBezTo>
                  <a:cubicBezTo>
                    <a:pt x="38" y="211"/>
                    <a:pt x="38" y="211"/>
                    <a:pt x="38" y="211"/>
                  </a:cubicBezTo>
                  <a:cubicBezTo>
                    <a:pt x="38" y="211"/>
                    <a:pt x="38" y="211"/>
                    <a:pt x="38" y="211"/>
                  </a:cubicBezTo>
                  <a:cubicBezTo>
                    <a:pt x="38" y="212"/>
                    <a:pt x="38" y="212"/>
                    <a:pt x="38" y="213"/>
                  </a:cubicBezTo>
                  <a:lnTo>
                    <a:pt x="39" y="213"/>
                  </a:lnTo>
                  <a:close/>
                  <a:moveTo>
                    <a:pt x="41" y="224"/>
                  </a:moveTo>
                  <a:cubicBezTo>
                    <a:pt x="41" y="224"/>
                    <a:pt x="41" y="224"/>
                    <a:pt x="41" y="224"/>
                  </a:cubicBezTo>
                  <a:cubicBezTo>
                    <a:pt x="41" y="224"/>
                    <a:pt x="41" y="224"/>
                    <a:pt x="41" y="224"/>
                  </a:cubicBezTo>
                  <a:cubicBezTo>
                    <a:pt x="41" y="224"/>
                    <a:pt x="41" y="224"/>
                    <a:pt x="41" y="224"/>
                  </a:cubicBezTo>
                  <a:cubicBezTo>
                    <a:pt x="40" y="224"/>
                    <a:pt x="40" y="224"/>
                    <a:pt x="40" y="224"/>
                  </a:cubicBezTo>
                  <a:cubicBezTo>
                    <a:pt x="40" y="224"/>
                    <a:pt x="40" y="224"/>
                    <a:pt x="40" y="224"/>
                  </a:cubicBezTo>
                  <a:cubicBezTo>
                    <a:pt x="40" y="224"/>
                    <a:pt x="40" y="224"/>
                    <a:pt x="40" y="224"/>
                  </a:cubicBezTo>
                  <a:cubicBezTo>
                    <a:pt x="40" y="224"/>
                    <a:pt x="40" y="224"/>
                    <a:pt x="40" y="224"/>
                  </a:cubicBezTo>
                  <a:cubicBezTo>
                    <a:pt x="40" y="224"/>
                    <a:pt x="40" y="224"/>
                    <a:pt x="40" y="224"/>
                  </a:cubicBezTo>
                  <a:cubicBezTo>
                    <a:pt x="40" y="224"/>
                    <a:pt x="40" y="224"/>
                    <a:pt x="40" y="224"/>
                  </a:cubicBezTo>
                  <a:cubicBezTo>
                    <a:pt x="40" y="225"/>
                    <a:pt x="40" y="225"/>
                    <a:pt x="40" y="225"/>
                  </a:cubicBezTo>
                  <a:cubicBezTo>
                    <a:pt x="40" y="225"/>
                    <a:pt x="40" y="225"/>
                    <a:pt x="40" y="225"/>
                  </a:cubicBezTo>
                  <a:cubicBezTo>
                    <a:pt x="40" y="225"/>
                    <a:pt x="40" y="225"/>
                    <a:pt x="40" y="225"/>
                  </a:cubicBezTo>
                  <a:cubicBezTo>
                    <a:pt x="40" y="225"/>
                    <a:pt x="40" y="225"/>
                    <a:pt x="40" y="225"/>
                  </a:cubicBezTo>
                  <a:cubicBezTo>
                    <a:pt x="41" y="225"/>
                    <a:pt x="41" y="225"/>
                    <a:pt x="41" y="225"/>
                  </a:cubicBezTo>
                  <a:cubicBezTo>
                    <a:pt x="41" y="225"/>
                    <a:pt x="41" y="225"/>
                    <a:pt x="41" y="225"/>
                  </a:cubicBezTo>
                  <a:cubicBezTo>
                    <a:pt x="41" y="225"/>
                    <a:pt x="41" y="225"/>
                    <a:pt x="41" y="225"/>
                  </a:cubicBezTo>
                  <a:cubicBezTo>
                    <a:pt x="41" y="225"/>
                    <a:pt x="41" y="225"/>
                    <a:pt x="41" y="225"/>
                  </a:cubicBezTo>
                  <a:cubicBezTo>
                    <a:pt x="41" y="225"/>
                    <a:pt x="41" y="225"/>
                    <a:pt x="41" y="225"/>
                  </a:cubicBezTo>
                  <a:cubicBezTo>
                    <a:pt x="41" y="225"/>
                    <a:pt x="41" y="225"/>
                    <a:pt x="41" y="225"/>
                  </a:cubicBezTo>
                  <a:lnTo>
                    <a:pt x="41" y="224"/>
                  </a:lnTo>
                  <a:close/>
                  <a:moveTo>
                    <a:pt x="48" y="239"/>
                  </a:moveTo>
                  <a:cubicBezTo>
                    <a:pt x="49" y="239"/>
                    <a:pt x="49" y="239"/>
                    <a:pt x="49" y="239"/>
                  </a:cubicBezTo>
                  <a:cubicBezTo>
                    <a:pt x="49" y="239"/>
                    <a:pt x="49" y="239"/>
                    <a:pt x="49" y="239"/>
                  </a:cubicBezTo>
                  <a:cubicBezTo>
                    <a:pt x="49" y="238"/>
                    <a:pt x="48" y="238"/>
                    <a:pt x="48" y="238"/>
                  </a:cubicBezTo>
                  <a:cubicBezTo>
                    <a:pt x="48" y="238"/>
                    <a:pt x="48" y="238"/>
                    <a:pt x="48" y="238"/>
                  </a:cubicBezTo>
                  <a:cubicBezTo>
                    <a:pt x="48" y="238"/>
                    <a:pt x="48" y="238"/>
                    <a:pt x="48" y="238"/>
                  </a:cubicBezTo>
                  <a:cubicBezTo>
                    <a:pt x="48" y="238"/>
                    <a:pt x="48" y="238"/>
                    <a:pt x="48" y="238"/>
                  </a:cubicBezTo>
                  <a:cubicBezTo>
                    <a:pt x="48" y="238"/>
                    <a:pt x="48" y="238"/>
                    <a:pt x="48" y="238"/>
                  </a:cubicBezTo>
                  <a:cubicBezTo>
                    <a:pt x="48" y="238"/>
                    <a:pt x="48" y="238"/>
                    <a:pt x="48" y="238"/>
                  </a:cubicBezTo>
                  <a:cubicBezTo>
                    <a:pt x="48" y="238"/>
                    <a:pt x="48" y="238"/>
                    <a:pt x="48" y="238"/>
                  </a:cubicBezTo>
                  <a:cubicBezTo>
                    <a:pt x="48" y="239"/>
                    <a:pt x="48" y="239"/>
                    <a:pt x="48" y="239"/>
                  </a:cubicBezTo>
                  <a:close/>
                  <a:moveTo>
                    <a:pt x="52" y="230"/>
                  </a:moveTo>
                  <a:cubicBezTo>
                    <a:pt x="51" y="230"/>
                    <a:pt x="51" y="230"/>
                    <a:pt x="51" y="230"/>
                  </a:cubicBezTo>
                  <a:cubicBezTo>
                    <a:pt x="51" y="230"/>
                    <a:pt x="51" y="230"/>
                    <a:pt x="51" y="230"/>
                  </a:cubicBezTo>
                  <a:cubicBezTo>
                    <a:pt x="51" y="231"/>
                    <a:pt x="52" y="232"/>
                    <a:pt x="52" y="232"/>
                  </a:cubicBezTo>
                  <a:cubicBezTo>
                    <a:pt x="52" y="231"/>
                    <a:pt x="52" y="231"/>
                    <a:pt x="52" y="231"/>
                  </a:cubicBezTo>
                  <a:cubicBezTo>
                    <a:pt x="53" y="231"/>
                    <a:pt x="53" y="231"/>
                    <a:pt x="53" y="231"/>
                  </a:cubicBezTo>
                  <a:cubicBezTo>
                    <a:pt x="52" y="230"/>
                    <a:pt x="52" y="230"/>
                    <a:pt x="52" y="230"/>
                  </a:cubicBezTo>
                  <a:close/>
                  <a:moveTo>
                    <a:pt x="3" y="184"/>
                  </a:moveTo>
                  <a:cubicBezTo>
                    <a:pt x="3" y="183"/>
                    <a:pt x="3" y="181"/>
                    <a:pt x="5" y="179"/>
                  </a:cubicBezTo>
                  <a:cubicBezTo>
                    <a:pt x="5" y="179"/>
                    <a:pt x="5" y="180"/>
                    <a:pt x="5" y="181"/>
                  </a:cubicBezTo>
                  <a:cubicBezTo>
                    <a:pt x="5" y="182"/>
                    <a:pt x="5" y="182"/>
                    <a:pt x="5" y="182"/>
                  </a:cubicBezTo>
                  <a:cubicBezTo>
                    <a:pt x="5" y="182"/>
                    <a:pt x="5" y="182"/>
                    <a:pt x="5" y="182"/>
                  </a:cubicBezTo>
                  <a:cubicBezTo>
                    <a:pt x="5" y="181"/>
                    <a:pt x="6" y="181"/>
                    <a:pt x="6" y="180"/>
                  </a:cubicBezTo>
                  <a:cubicBezTo>
                    <a:pt x="6" y="181"/>
                    <a:pt x="6" y="181"/>
                    <a:pt x="6" y="181"/>
                  </a:cubicBezTo>
                  <a:cubicBezTo>
                    <a:pt x="6" y="183"/>
                    <a:pt x="6" y="184"/>
                    <a:pt x="6" y="185"/>
                  </a:cubicBezTo>
                  <a:cubicBezTo>
                    <a:pt x="6" y="186"/>
                    <a:pt x="6" y="188"/>
                    <a:pt x="6" y="189"/>
                  </a:cubicBezTo>
                  <a:cubicBezTo>
                    <a:pt x="6" y="190"/>
                    <a:pt x="6" y="191"/>
                    <a:pt x="6" y="192"/>
                  </a:cubicBezTo>
                  <a:cubicBezTo>
                    <a:pt x="6" y="194"/>
                    <a:pt x="6" y="195"/>
                    <a:pt x="7" y="199"/>
                  </a:cubicBezTo>
                  <a:cubicBezTo>
                    <a:pt x="7" y="199"/>
                    <a:pt x="7" y="199"/>
                    <a:pt x="7" y="199"/>
                  </a:cubicBezTo>
                  <a:cubicBezTo>
                    <a:pt x="7" y="199"/>
                    <a:pt x="7" y="199"/>
                    <a:pt x="7" y="199"/>
                  </a:cubicBezTo>
                  <a:cubicBezTo>
                    <a:pt x="7" y="199"/>
                    <a:pt x="7" y="199"/>
                    <a:pt x="7" y="199"/>
                  </a:cubicBezTo>
                  <a:cubicBezTo>
                    <a:pt x="7" y="199"/>
                    <a:pt x="7" y="199"/>
                    <a:pt x="7" y="199"/>
                  </a:cubicBezTo>
                  <a:cubicBezTo>
                    <a:pt x="9" y="195"/>
                    <a:pt x="9" y="194"/>
                    <a:pt x="9" y="184"/>
                  </a:cubicBezTo>
                  <a:cubicBezTo>
                    <a:pt x="9" y="174"/>
                    <a:pt x="9" y="172"/>
                    <a:pt x="10" y="170"/>
                  </a:cubicBezTo>
                  <a:cubicBezTo>
                    <a:pt x="11" y="166"/>
                    <a:pt x="12" y="163"/>
                    <a:pt x="13" y="160"/>
                  </a:cubicBezTo>
                  <a:cubicBezTo>
                    <a:pt x="14" y="158"/>
                    <a:pt x="15" y="155"/>
                    <a:pt x="16" y="153"/>
                  </a:cubicBezTo>
                  <a:cubicBezTo>
                    <a:pt x="16" y="153"/>
                    <a:pt x="16" y="153"/>
                    <a:pt x="16" y="153"/>
                  </a:cubicBezTo>
                  <a:cubicBezTo>
                    <a:pt x="16" y="153"/>
                    <a:pt x="16" y="153"/>
                    <a:pt x="16" y="153"/>
                  </a:cubicBezTo>
                  <a:cubicBezTo>
                    <a:pt x="22" y="138"/>
                    <a:pt x="23" y="135"/>
                    <a:pt x="24" y="133"/>
                  </a:cubicBezTo>
                  <a:cubicBezTo>
                    <a:pt x="24" y="133"/>
                    <a:pt x="24" y="133"/>
                    <a:pt x="24" y="133"/>
                  </a:cubicBezTo>
                  <a:cubicBezTo>
                    <a:pt x="24" y="132"/>
                    <a:pt x="24" y="132"/>
                    <a:pt x="24" y="132"/>
                  </a:cubicBezTo>
                  <a:cubicBezTo>
                    <a:pt x="28" y="127"/>
                    <a:pt x="31" y="122"/>
                    <a:pt x="34" y="116"/>
                  </a:cubicBezTo>
                  <a:cubicBezTo>
                    <a:pt x="37" y="109"/>
                    <a:pt x="41" y="102"/>
                    <a:pt x="48" y="96"/>
                  </a:cubicBezTo>
                  <a:cubicBezTo>
                    <a:pt x="48" y="96"/>
                    <a:pt x="48" y="96"/>
                    <a:pt x="48" y="96"/>
                  </a:cubicBezTo>
                  <a:cubicBezTo>
                    <a:pt x="48" y="96"/>
                    <a:pt x="48" y="96"/>
                    <a:pt x="48" y="96"/>
                  </a:cubicBezTo>
                  <a:cubicBezTo>
                    <a:pt x="49" y="95"/>
                    <a:pt x="51" y="93"/>
                    <a:pt x="52" y="92"/>
                  </a:cubicBezTo>
                  <a:cubicBezTo>
                    <a:pt x="53" y="91"/>
                    <a:pt x="53" y="90"/>
                    <a:pt x="54" y="90"/>
                  </a:cubicBezTo>
                  <a:cubicBezTo>
                    <a:pt x="50" y="94"/>
                    <a:pt x="50" y="95"/>
                    <a:pt x="49" y="97"/>
                  </a:cubicBezTo>
                  <a:cubicBezTo>
                    <a:pt x="49" y="97"/>
                    <a:pt x="49" y="97"/>
                    <a:pt x="49" y="97"/>
                  </a:cubicBezTo>
                  <a:cubicBezTo>
                    <a:pt x="49" y="97"/>
                    <a:pt x="49" y="97"/>
                    <a:pt x="49" y="97"/>
                  </a:cubicBezTo>
                  <a:cubicBezTo>
                    <a:pt x="50" y="97"/>
                    <a:pt x="50" y="97"/>
                    <a:pt x="50" y="97"/>
                  </a:cubicBezTo>
                  <a:cubicBezTo>
                    <a:pt x="54" y="93"/>
                    <a:pt x="62" y="85"/>
                    <a:pt x="62" y="85"/>
                  </a:cubicBezTo>
                  <a:cubicBezTo>
                    <a:pt x="62" y="85"/>
                    <a:pt x="62" y="85"/>
                    <a:pt x="62" y="85"/>
                  </a:cubicBezTo>
                  <a:cubicBezTo>
                    <a:pt x="62" y="85"/>
                    <a:pt x="62" y="85"/>
                    <a:pt x="62" y="85"/>
                  </a:cubicBezTo>
                  <a:cubicBezTo>
                    <a:pt x="62" y="84"/>
                    <a:pt x="62" y="84"/>
                    <a:pt x="62" y="84"/>
                  </a:cubicBezTo>
                  <a:cubicBezTo>
                    <a:pt x="61" y="84"/>
                    <a:pt x="60" y="84"/>
                    <a:pt x="60" y="84"/>
                  </a:cubicBezTo>
                  <a:cubicBezTo>
                    <a:pt x="59" y="84"/>
                    <a:pt x="59" y="84"/>
                    <a:pt x="59" y="84"/>
                  </a:cubicBezTo>
                  <a:cubicBezTo>
                    <a:pt x="59" y="82"/>
                    <a:pt x="60" y="81"/>
                    <a:pt x="61" y="79"/>
                  </a:cubicBezTo>
                  <a:cubicBezTo>
                    <a:pt x="62" y="78"/>
                    <a:pt x="63" y="76"/>
                    <a:pt x="64" y="75"/>
                  </a:cubicBezTo>
                  <a:cubicBezTo>
                    <a:pt x="64" y="75"/>
                    <a:pt x="64" y="75"/>
                    <a:pt x="63" y="74"/>
                  </a:cubicBezTo>
                  <a:cubicBezTo>
                    <a:pt x="63" y="74"/>
                    <a:pt x="63" y="74"/>
                    <a:pt x="63" y="74"/>
                  </a:cubicBezTo>
                  <a:cubicBezTo>
                    <a:pt x="63" y="74"/>
                    <a:pt x="63" y="74"/>
                    <a:pt x="63" y="74"/>
                  </a:cubicBezTo>
                  <a:cubicBezTo>
                    <a:pt x="63" y="74"/>
                    <a:pt x="63" y="74"/>
                    <a:pt x="63" y="74"/>
                  </a:cubicBezTo>
                  <a:cubicBezTo>
                    <a:pt x="62" y="74"/>
                    <a:pt x="60" y="76"/>
                    <a:pt x="57" y="79"/>
                  </a:cubicBezTo>
                  <a:cubicBezTo>
                    <a:pt x="59" y="76"/>
                    <a:pt x="62" y="73"/>
                    <a:pt x="62" y="73"/>
                  </a:cubicBezTo>
                  <a:cubicBezTo>
                    <a:pt x="62" y="73"/>
                    <a:pt x="78" y="62"/>
                    <a:pt x="80" y="61"/>
                  </a:cubicBezTo>
                  <a:cubicBezTo>
                    <a:pt x="79" y="63"/>
                    <a:pt x="77" y="64"/>
                    <a:pt x="76" y="65"/>
                  </a:cubicBezTo>
                  <a:cubicBezTo>
                    <a:pt x="73" y="69"/>
                    <a:pt x="71" y="72"/>
                    <a:pt x="69" y="76"/>
                  </a:cubicBezTo>
                  <a:cubicBezTo>
                    <a:pt x="68" y="76"/>
                    <a:pt x="68" y="76"/>
                    <a:pt x="68" y="76"/>
                  </a:cubicBezTo>
                  <a:cubicBezTo>
                    <a:pt x="69" y="76"/>
                    <a:pt x="69" y="76"/>
                    <a:pt x="69" y="76"/>
                  </a:cubicBezTo>
                  <a:cubicBezTo>
                    <a:pt x="70" y="76"/>
                    <a:pt x="72" y="75"/>
                    <a:pt x="73" y="74"/>
                  </a:cubicBezTo>
                  <a:cubicBezTo>
                    <a:pt x="74" y="73"/>
                    <a:pt x="75" y="73"/>
                    <a:pt x="76" y="72"/>
                  </a:cubicBezTo>
                  <a:cubicBezTo>
                    <a:pt x="76" y="73"/>
                    <a:pt x="76" y="73"/>
                    <a:pt x="76" y="73"/>
                  </a:cubicBezTo>
                  <a:cubicBezTo>
                    <a:pt x="76" y="73"/>
                    <a:pt x="76" y="73"/>
                    <a:pt x="76" y="73"/>
                  </a:cubicBezTo>
                  <a:cubicBezTo>
                    <a:pt x="78" y="73"/>
                    <a:pt x="79" y="73"/>
                    <a:pt x="79" y="73"/>
                  </a:cubicBezTo>
                  <a:cubicBezTo>
                    <a:pt x="79" y="73"/>
                    <a:pt x="79" y="73"/>
                    <a:pt x="79" y="73"/>
                  </a:cubicBezTo>
                  <a:cubicBezTo>
                    <a:pt x="81" y="71"/>
                    <a:pt x="81" y="70"/>
                    <a:pt x="82" y="69"/>
                  </a:cubicBezTo>
                  <a:cubicBezTo>
                    <a:pt x="82" y="69"/>
                    <a:pt x="82" y="69"/>
                    <a:pt x="82" y="69"/>
                  </a:cubicBezTo>
                  <a:cubicBezTo>
                    <a:pt x="81" y="69"/>
                    <a:pt x="81" y="69"/>
                    <a:pt x="81" y="69"/>
                  </a:cubicBezTo>
                  <a:cubicBezTo>
                    <a:pt x="81" y="68"/>
                    <a:pt x="81" y="67"/>
                    <a:pt x="83" y="64"/>
                  </a:cubicBezTo>
                  <a:cubicBezTo>
                    <a:pt x="83" y="64"/>
                    <a:pt x="83" y="64"/>
                    <a:pt x="83" y="64"/>
                  </a:cubicBezTo>
                  <a:cubicBezTo>
                    <a:pt x="83" y="63"/>
                    <a:pt x="83" y="63"/>
                    <a:pt x="83" y="63"/>
                  </a:cubicBezTo>
                  <a:cubicBezTo>
                    <a:pt x="83" y="63"/>
                    <a:pt x="83" y="63"/>
                    <a:pt x="83" y="63"/>
                  </a:cubicBezTo>
                  <a:cubicBezTo>
                    <a:pt x="82" y="63"/>
                    <a:pt x="82" y="63"/>
                    <a:pt x="80" y="64"/>
                  </a:cubicBezTo>
                  <a:cubicBezTo>
                    <a:pt x="80" y="64"/>
                    <a:pt x="80" y="64"/>
                    <a:pt x="80" y="64"/>
                  </a:cubicBezTo>
                  <a:cubicBezTo>
                    <a:pt x="80" y="64"/>
                    <a:pt x="81" y="63"/>
                    <a:pt x="83" y="59"/>
                  </a:cubicBezTo>
                  <a:cubicBezTo>
                    <a:pt x="84" y="58"/>
                    <a:pt x="84" y="57"/>
                    <a:pt x="85" y="56"/>
                  </a:cubicBezTo>
                  <a:cubicBezTo>
                    <a:pt x="86" y="55"/>
                    <a:pt x="86" y="54"/>
                    <a:pt x="87" y="53"/>
                  </a:cubicBezTo>
                  <a:cubicBezTo>
                    <a:pt x="87" y="53"/>
                    <a:pt x="87" y="53"/>
                    <a:pt x="87" y="53"/>
                  </a:cubicBezTo>
                  <a:cubicBezTo>
                    <a:pt x="87" y="53"/>
                    <a:pt x="87" y="53"/>
                    <a:pt x="86" y="52"/>
                  </a:cubicBezTo>
                  <a:cubicBezTo>
                    <a:pt x="87" y="52"/>
                    <a:pt x="87" y="51"/>
                    <a:pt x="87" y="51"/>
                  </a:cubicBezTo>
                  <a:cubicBezTo>
                    <a:pt x="87" y="51"/>
                    <a:pt x="87" y="51"/>
                    <a:pt x="87" y="51"/>
                  </a:cubicBezTo>
                  <a:cubicBezTo>
                    <a:pt x="87" y="51"/>
                    <a:pt x="87" y="51"/>
                    <a:pt x="87" y="51"/>
                  </a:cubicBezTo>
                  <a:cubicBezTo>
                    <a:pt x="86" y="51"/>
                    <a:pt x="86" y="51"/>
                    <a:pt x="85" y="50"/>
                  </a:cubicBezTo>
                  <a:cubicBezTo>
                    <a:pt x="85" y="50"/>
                    <a:pt x="85" y="50"/>
                    <a:pt x="85" y="50"/>
                  </a:cubicBezTo>
                  <a:cubicBezTo>
                    <a:pt x="85" y="50"/>
                    <a:pt x="85" y="50"/>
                    <a:pt x="85" y="50"/>
                  </a:cubicBezTo>
                  <a:cubicBezTo>
                    <a:pt x="85" y="49"/>
                    <a:pt x="86" y="47"/>
                    <a:pt x="91" y="41"/>
                  </a:cubicBezTo>
                  <a:cubicBezTo>
                    <a:pt x="91" y="41"/>
                    <a:pt x="91" y="41"/>
                    <a:pt x="91" y="41"/>
                  </a:cubicBezTo>
                  <a:cubicBezTo>
                    <a:pt x="91" y="41"/>
                    <a:pt x="91" y="41"/>
                    <a:pt x="91" y="41"/>
                  </a:cubicBezTo>
                  <a:cubicBezTo>
                    <a:pt x="91" y="41"/>
                    <a:pt x="91" y="41"/>
                    <a:pt x="91" y="41"/>
                  </a:cubicBezTo>
                  <a:cubicBezTo>
                    <a:pt x="91" y="41"/>
                    <a:pt x="91" y="41"/>
                    <a:pt x="91" y="41"/>
                  </a:cubicBezTo>
                  <a:cubicBezTo>
                    <a:pt x="91" y="41"/>
                    <a:pt x="91" y="41"/>
                    <a:pt x="91" y="41"/>
                  </a:cubicBezTo>
                  <a:cubicBezTo>
                    <a:pt x="91" y="41"/>
                    <a:pt x="91" y="41"/>
                    <a:pt x="91" y="41"/>
                  </a:cubicBezTo>
                  <a:cubicBezTo>
                    <a:pt x="90" y="41"/>
                    <a:pt x="89" y="42"/>
                    <a:pt x="88" y="43"/>
                  </a:cubicBezTo>
                  <a:cubicBezTo>
                    <a:pt x="87" y="44"/>
                    <a:pt x="85" y="46"/>
                    <a:pt x="84" y="46"/>
                  </a:cubicBezTo>
                  <a:cubicBezTo>
                    <a:pt x="84" y="45"/>
                    <a:pt x="86" y="44"/>
                    <a:pt x="86" y="43"/>
                  </a:cubicBezTo>
                  <a:cubicBezTo>
                    <a:pt x="87" y="42"/>
                    <a:pt x="88" y="41"/>
                    <a:pt x="89" y="40"/>
                  </a:cubicBezTo>
                  <a:cubicBezTo>
                    <a:pt x="89" y="40"/>
                    <a:pt x="89" y="40"/>
                    <a:pt x="89" y="40"/>
                  </a:cubicBezTo>
                  <a:cubicBezTo>
                    <a:pt x="89" y="40"/>
                    <a:pt x="89" y="40"/>
                    <a:pt x="89" y="40"/>
                  </a:cubicBezTo>
                  <a:cubicBezTo>
                    <a:pt x="79" y="44"/>
                    <a:pt x="63" y="63"/>
                    <a:pt x="51" y="77"/>
                  </a:cubicBezTo>
                  <a:cubicBezTo>
                    <a:pt x="52" y="76"/>
                    <a:pt x="53" y="73"/>
                    <a:pt x="59" y="66"/>
                  </a:cubicBezTo>
                  <a:cubicBezTo>
                    <a:pt x="59" y="66"/>
                    <a:pt x="59" y="66"/>
                    <a:pt x="59" y="66"/>
                  </a:cubicBezTo>
                  <a:cubicBezTo>
                    <a:pt x="58" y="66"/>
                    <a:pt x="58" y="66"/>
                    <a:pt x="58" y="66"/>
                  </a:cubicBezTo>
                  <a:cubicBezTo>
                    <a:pt x="59" y="66"/>
                    <a:pt x="59" y="66"/>
                    <a:pt x="60" y="64"/>
                  </a:cubicBezTo>
                  <a:cubicBezTo>
                    <a:pt x="60" y="64"/>
                    <a:pt x="60" y="64"/>
                    <a:pt x="60" y="64"/>
                  </a:cubicBezTo>
                  <a:cubicBezTo>
                    <a:pt x="60" y="64"/>
                    <a:pt x="60" y="64"/>
                    <a:pt x="60" y="64"/>
                  </a:cubicBezTo>
                  <a:cubicBezTo>
                    <a:pt x="60" y="63"/>
                    <a:pt x="60" y="63"/>
                    <a:pt x="60" y="63"/>
                  </a:cubicBezTo>
                  <a:cubicBezTo>
                    <a:pt x="60" y="63"/>
                    <a:pt x="60" y="63"/>
                    <a:pt x="60" y="63"/>
                  </a:cubicBezTo>
                  <a:cubicBezTo>
                    <a:pt x="60" y="63"/>
                    <a:pt x="60" y="63"/>
                    <a:pt x="60" y="63"/>
                  </a:cubicBezTo>
                  <a:cubicBezTo>
                    <a:pt x="60" y="63"/>
                    <a:pt x="60" y="63"/>
                    <a:pt x="60" y="63"/>
                  </a:cubicBezTo>
                  <a:cubicBezTo>
                    <a:pt x="61" y="62"/>
                    <a:pt x="63" y="60"/>
                    <a:pt x="64" y="59"/>
                  </a:cubicBezTo>
                  <a:cubicBezTo>
                    <a:pt x="67" y="57"/>
                    <a:pt x="69" y="54"/>
                    <a:pt x="71" y="52"/>
                  </a:cubicBezTo>
                  <a:cubicBezTo>
                    <a:pt x="71" y="52"/>
                    <a:pt x="71" y="52"/>
                    <a:pt x="71" y="52"/>
                  </a:cubicBezTo>
                  <a:cubicBezTo>
                    <a:pt x="71" y="52"/>
                    <a:pt x="71" y="52"/>
                    <a:pt x="71" y="52"/>
                  </a:cubicBezTo>
                  <a:cubicBezTo>
                    <a:pt x="71" y="52"/>
                    <a:pt x="71" y="52"/>
                    <a:pt x="71" y="52"/>
                  </a:cubicBezTo>
                  <a:cubicBezTo>
                    <a:pt x="71" y="52"/>
                    <a:pt x="71" y="52"/>
                    <a:pt x="71" y="52"/>
                  </a:cubicBezTo>
                  <a:cubicBezTo>
                    <a:pt x="71" y="52"/>
                    <a:pt x="71" y="52"/>
                    <a:pt x="71" y="52"/>
                  </a:cubicBezTo>
                  <a:cubicBezTo>
                    <a:pt x="71" y="52"/>
                    <a:pt x="71" y="52"/>
                    <a:pt x="71" y="52"/>
                  </a:cubicBezTo>
                  <a:cubicBezTo>
                    <a:pt x="69" y="54"/>
                    <a:pt x="67" y="56"/>
                    <a:pt x="64" y="59"/>
                  </a:cubicBezTo>
                  <a:cubicBezTo>
                    <a:pt x="61" y="62"/>
                    <a:pt x="61" y="62"/>
                    <a:pt x="61" y="62"/>
                  </a:cubicBezTo>
                  <a:cubicBezTo>
                    <a:pt x="49" y="74"/>
                    <a:pt x="47" y="76"/>
                    <a:pt x="39" y="88"/>
                  </a:cubicBezTo>
                  <a:cubicBezTo>
                    <a:pt x="28" y="105"/>
                    <a:pt x="27" y="106"/>
                    <a:pt x="22" y="117"/>
                  </a:cubicBezTo>
                  <a:cubicBezTo>
                    <a:pt x="13" y="136"/>
                    <a:pt x="13" y="136"/>
                    <a:pt x="9" y="148"/>
                  </a:cubicBezTo>
                  <a:cubicBezTo>
                    <a:pt x="9" y="148"/>
                    <a:pt x="9" y="148"/>
                    <a:pt x="9" y="148"/>
                  </a:cubicBezTo>
                  <a:cubicBezTo>
                    <a:pt x="9" y="149"/>
                    <a:pt x="9" y="149"/>
                    <a:pt x="9" y="149"/>
                  </a:cubicBezTo>
                  <a:cubicBezTo>
                    <a:pt x="7" y="155"/>
                    <a:pt x="5" y="163"/>
                    <a:pt x="4" y="168"/>
                  </a:cubicBezTo>
                  <a:cubicBezTo>
                    <a:pt x="2" y="180"/>
                    <a:pt x="2" y="180"/>
                    <a:pt x="2" y="180"/>
                  </a:cubicBezTo>
                  <a:cubicBezTo>
                    <a:pt x="2" y="180"/>
                    <a:pt x="2" y="183"/>
                    <a:pt x="1" y="188"/>
                  </a:cubicBezTo>
                  <a:cubicBezTo>
                    <a:pt x="1" y="188"/>
                    <a:pt x="1" y="190"/>
                    <a:pt x="1" y="194"/>
                  </a:cubicBezTo>
                  <a:cubicBezTo>
                    <a:pt x="0" y="195"/>
                    <a:pt x="0" y="195"/>
                    <a:pt x="0" y="195"/>
                  </a:cubicBezTo>
                  <a:cubicBezTo>
                    <a:pt x="1" y="195"/>
                    <a:pt x="1" y="195"/>
                    <a:pt x="1" y="195"/>
                  </a:cubicBezTo>
                  <a:cubicBezTo>
                    <a:pt x="1" y="195"/>
                    <a:pt x="1" y="189"/>
                    <a:pt x="1" y="189"/>
                  </a:cubicBezTo>
                  <a:cubicBezTo>
                    <a:pt x="1" y="189"/>
                    <a:pt x="1" y="189"/>
                    <a:pt x="1" y="189"/>
                  </a:cubicBezTo>
                  <a:cubicBezTo>
                    <a:pt x="2" y="188"/>
                    <a:pt x="2" y="188"/>
                    <a:pt x="2" y="188"/>
                  </a:cubicBezTo>
                  <a:cubicBezTo>
                    <a:pt x="2" y="188"/>
                    <a:pt x="2" y="188"/>
                    <a:pt x="2" y="188"/>
                  </a:cubicBezTo>
                  <a:cubicBezTo>
                    <a:pt x="2" y="188"/>
                    <a:pt x="2" y="188"/>
                    <a:pt x="2" y="188"/>
                  </a:cubicBezTo>
                  <a:cubicBezTo>
                    <a:pt x="2" y="188"/>
                    <a:pt x="2" y="188"/>
                    <a:pt x="2" y="188"/>
                  </a:cubicBezTo>
                  <a:cubicBezTo>
                    <a:pt x="3" y="187"/>
                    <a:pt x="3" y="186"/>
                    <a:pt x="3" y="184"/>
                  </a:cubicBezTo>
                  <a:close/>
                  <a:moveTo>
                    <a:pt x="47" y="230"/>
                  </a:moveTo>
                  <a:cubicBezTo>
                    <a:pt x="48" y="230"/>
                    <a:pt x="48" y="230"/>
                    <a:pt x="48" y="230"/>
                  </a:cubicBezTo>
                  <a:cubicBezTo>
                    <a:pt x="48" y="229"/>
                    <a:pt x="48" y="229"/>
                    <a:pt x="48" y="229"/>
                  </a:cubicBezTo>
                  <a:cubicBezTo>
                    <a:pt x="48" y="228"/>
                    <a:pt x="48" y="228"/>
                    <a:pt x="48" y="228"/>
                  </a:cubicBezTo>
                  <a:cubicBezTo>
                    <a:pt x="47" y="228"/>
                    <a:pt x="47" y="228"/>
                    <a:pt x="47" y="228"/>
                  </a:cubicBezTo>
                  <a:cubicBezTo>
                    <a:pt x="47" y="228"/>
                    <a:pt x="47" y="228"/>
                    <a:pt x="47" y="228"/>
                  </a:cubicBezTo>
                  <a:cubicBezTo>
                    <a:pt x="47" y="229"/>
                    <a:pt x="47" y="229"/>
                    <a:pt x="47" y="229"/>
                  </a:cubicBezTo>
                  <a:lnTo>
                    <a:pt x="47" y="230"/>
                  </a:lnTo>
                  <a:close/>
                  <a:moveTo>
                    <a:pt x="48" y="234"/>
                  </a:moveTo>
                  <a:cubicBezTo>
                    <a:pt x="49" y="233"/>
                    <a:pt x="49" y="233"/>
                    <a:pt x="49" y="233"/>
                  </a:cubicBezTo>
                  <a:cubicBezTo>
                    <a:pt x="49" y="233"/>
                    <a:pt x="49" y="233"/>
                    <a:pt x="49" y="233"/>
                  </a:cubicBezTo>
                  <a:cubicBezTo>
                    <a:pt x="49" y="232"/>
                    <a:pt x="48" y="232"/>
                    <a:pt x="48" y="232"/>
                  </a:cubicBezTo>
                  <a:cubicBezTo>
                    <a:pt x="48" y="232"/>
                    <a:pt x="48" y="232"/>
                    <a:pt x="48" y="232"/>
                  </a:cubicBezTo>
                  <a:cubicBezTo>
                    <a:pt x="47" y="232"/>
                    <a:pt x="47" y="232"/>
                    <a:pt x="47" y="232"/>
                  </a:cubicBezTo>
                  <a:cubicBezTo>
                    <a:pt x="48" y="233"/>
                    <a:pt x="48" y="234"/>
                    <a:pt x="48" y="234"/>
                  </a:cubicBezTo>
                  <a:close/>
                  <a:moveTo>
                    <a:pt x="76" y="49"/>
                  </a:moveTo>
                  <a:cubicBezTo>
                    <a:pt x="77" y="47"/>
                    <a:pt x="80" y="46"/>
                    <a:pt x="82" y="44"/>
                  </a:cubicBezTo>
                  <a:cubicBezTo>
                    <a:pt x="82" y="44"/>
                    <a:pt x="82" y="44"/>
                    <a:pt x="82" y="44"/>
                  </a:cubicBezTo>
                  <a:cubicBezTo>
                    <a:pt x="86" y="41"/>
                    <a:pt x="86" y="41"/>
                    <a:pt x="86" y="41"/>
                  </a:cubicBezTo>
                  <a:cubicBezTo>
                    <a:pt x="86" y="41"/>
                    <a:pt x="86" y="41"/>
                    <a:pt x="86" y="41"/>
                  </a:cubicBezTo>
                  <a:cubicBezTo>
                    <a:pt x="86" y="41"/>
                    <a:pt x="86" y="41"/>
                    <a:pt x="86" y="41"/>
                  </a:cubicBezTo>
                  <a:cubicBezTo>
                    <a:pt x="87" y="41"/>
                    <a:pt x="89" y="39"/>
                    <a:pt x="89" y="39"/>
                  </a:cubicBezTo>
                  <a:cubicBezTo>
                    <a:pt x="89" y="39"/>
                    <a:pt x="90" y="38"/>
                    <a:pt x="91" y="37"/>
                  </a:cubicBezTo>
                  <a:cubicBezTo>
                    <a:pt x="95" y="35"/>
                    <a:pt x="99" y="32"/>
                    <a:pt x="102" y="30"/>
                  </a:cubicBezTo>
                  <a:cubicBezTo>
                    <a:pt x="102" y="30"/>
                    <a:pt x="102" y="30"/>
                    <a:pt x="102" y="30"/>
                  </a:cubicBezTo>
                  <a:cubicBezTo>
                    <a:pt x="102" y="30"/>
                    <a:pt x="102" y="30"/>
                    <a:pt x="102" y="30"/>
                  </a:cubicBezTo>
                  <a:cubicBezTo>
                    <a:pt x="102" y="30"/>
                    <a:pt x="102" y="30"/>
                    <a:pt x="102" y="30"/>
                  </a:cubicBezTo>
                  <a:cubicBezTo>
                    <a:pt x="102" y="30"/>
                    <a:pt x="102" y="30"/>
                    <a:pt x="102" y="30"/>
                  </a:cubicBezTo>
                  <a:cubicBezTo>
                    <a:pt x="102" y="30"/>
                    <a:pt x="102" y="30"/>
                    <a:pt x="102" y="30"/>
                  </a:cubicBezTo>
                  <a:cubicBezTo>
                    <a:pt x="101" y="30"/>
                    <a:pt x="101" y="30"/>
                    <a:pt x="101" y="30"/>
                  </a:cubicBezTo>
                  <a:cubicBezTo>
                    <a:pt x="100" y="31"/>
                    <a:pt x="95" y="34"/>
                    <a:pt x="91" y="37"/>
                  </a:cubicBezTo>
                  <a:cubicBezTo>
                    <a:pt x="89" y="38"/>
                    <a:pt x="89" y="38"/>
                    <a:pt x="89" y="38"/>
                  </a:cubicBezTo>
                  <a:cubicBezTo>
                    <a:pt x="88" y="39"/>
                    <a:pt x="88" y="39"/>
                    <a:pt x="88" y="39"/>
                  </a:cubicBezTo>
                  <a:cubicBezTo>
                    <a:pt x="88" y="39"/>
                    <a:pt x="88" y="39"/>
                    <a:pt x="88" y="39"/>
                  </a:cubicBezTo>
                  <a:cubicBezTo>
                    <a:pt x="84" y="42"/>
                    <a:pt x="84" y="42"/>
                    <a:pt x="76" y="48"/>
                  </a:cubicBezTo>
                  <a:cubicBezTo>
                    <a:pt x="75" y="49"/>
                    <a:pt x="75" y="49"/>
                    <a:pt x="75" y="49"/>
                  </a:cubicBezTo>
                  <a:cubicBezTo>
                    <a:pt x="76" y="49"/>
                    <a:pt x="76" y="49"/>
                    <a:pt x="76" y="49"/>
                  </a:cubicBezTo>
                  <a:close/>
                  <a:moveTo>
                    <a:pt x="141" y="14"/>
                  </a:moveTo>
                  <a:cubicBezTo>
                    <a:pt x="141" y="14"/>
                    <a:pt x="141" y="14"/>
                    <a:pt x="141" y="14"/>
                  </a:cubicBezTo>
                  <a:cubicBezTo>
                    <a:pt x="141" y="14"/>
                    <a:pt x="141" y="14"/>
                    <a:pt x="141" y="14"/>
                  </a:cubicBezTo>
                  <a:cubicBezTo>
                    <a:pt x="142" y="14"/>
                    <a:pt x="142" y="14"/>
                    <a:pt x="142" y="14"/>
                  </a:cubicBezTo>
                  <a:cubicBezTo>
                    <a:pt x="143" y="14"/>
                    <a:pt x="143" y="14"/>
                    <a:pt x="143" y="14"/>
                  </a:cubicBezTo>
                  <a:cubicBezTo>
                    <a:pt x="143" y="14"/>
                    <a:pt x="143" y="14"/>
                    <a:pt x="143" y="14"/>
                  </a:cubicBezTo>
                  <a:cubicBezTo>
                    <a:pt x="143" y="14"/>
                    <a:pt x="143" y="14"/>
                    <a:pt x="143" y="14"/>
                  </a:cubicBezTo>
                  <a:cubicBezTo>
                    <a:pt x="143" y="14"/>
                    <a:pt x="143" y="14"/>
                    <a:pt x="143" y="14"/>
                  </a:cubicBezTo>
                  <a:cubicBezTo>
                    <a:pt x="143" y="14"/>
                    <a:pt x="143" y="14"/>
                    <a:pt x="144" y="14"/>
                  </a:cubicBezTo>
                  <a:cubicBezTo>
                    <a:pt x="143" y="15"/>
                    <a:pt x="143" y="15"/>
                    <a:pt x="143" y="15"/>
                  </a:cubicBezTo>
                  <a:cubicBezTo>
                    <a:pt x="143" y="15"/>
                    <a:pt x="143" y="15"/>
                    <a:pt x="143" y="15"/>
                  </a:cubicBezTo>
                  <a:cubicBezTo>
                    <a:pt x="144" y="15"/>
                    <a:pt x="148" y="14"/>
                    <a:pt x="148" y="14"/>
                  </a:cubicBezTo>
                  <a:cubicBezTo>
                    <a:pt x="149" y="13"/>
                    <a:pt x="149" y="13"/>
                    <a:pt x="149" y="13"/>
                  </a:cubicBezTo>
                  <a:cubicBezTo>
                    <a:pt x="149" y="13"/>
                    <a:pt x="149" y="13"/>
                    <a:pt x="149" y="13"/>
                  </a:cubicBezTo>
                  <a:cubicBezTo>
                    <a:pt x="150" y="12"/>
                    <a:pt x="150" y="12"/>
                    <a:pt x="150" y="12"/>
                  </a:cubicBezTo>
                  <a:cubicBezTo>
                    <a:pt x="151" y="12"/>
                    <a:pt x="151" y="12"/>
                    <a:pt x="151" y="12"/>
                  </a:cubicBezTo>
                  <a:cubicBezTo>
                    <a:pt x="152" y="11"/>
                    <a:pt x="152" y="11"/>
                    <a:pt x="152" y="11"/>
                  </a:cubicBezTo>
                  <a:cubicBezTo>
                    <a:pt x="152" y="11"/>
                    <a:pt x="152" y="11"/>
                    <a:pt x="152" y="11"/>
                  </a:cubicBezTo>
                  <a:cubicBezTo>
                    <a:pt x="152" y="11"/>
                    <a:pt x="152" y="11"/>
                    <a:pt x="152" y="11"/>
                  </a:cubicBezTo>
                  <a:cubicBezTo>
                    <a:pt x="149" y="11"/>
                    <a:pt x="149" y="11"/>
                    <a:pt x="149" y="11"/>
                  </a:cubicBezTo>
                  <a:cubicBezTo>
                    <a:pt x="145" y="12"/>
                    <a:pt x="145" y="12"/>
                    <a:pt x="145" y="12"/>
                  </a:cubicBezTo>
                  <a:cubicBezTo>
                    <a:pt x="145" y="13"/>
                    <a:pt x="145" y="13"/>
                    <a:pt x="145" y="13"/>
                  </a:cubicBezTo>
                  <a:cubicBezTo>
                    <a:pt x="145" y="13"/>
                    <a:pt x="145" y="13"/>
                    <a:pt x="145" y="13"/>
                  </a:cubicBezTo>
                  <a:cubicBezTo>
                    <a:pt x="144" y="12"/>
                    <a:pt x="144" y="13"/>
                    <a:pt x="143" y="13"/>
                  </a:cubicBezTo>
                  <a:cubicBezTo>
                    <a:pt x="141" y="13"/>
                    <a:pt x="141" y="14"/>
                    <a:pt x="141" y="14"/>
                  </a:cubicBezTo>
                  <a:close/>
                  <a:moveTo>
                    <a:pt x="115" y="24"/>
                  </a:moveTo>
                  <a:cubicBezTo>
                    <a:pt x="113" y="26"/>
                    <a:pt x="111" y="28"/>
                    <a:pt x="111" y="30"/>
                  </a:cubicBezTo>
                  <a:cubicBezTo>
                    <a:pt x="112" y="30"/>
                    <a:pt x="112" y="30"/>
                    <a:pt x="112" y="30"/>
                  </a:cubicBezTo>
                  <a:cubicBezTo>
                    <a:pt x="112" y="30"/>
                    <a:pt x="112" y="30"/>
                    <a:pt x="112" y="30"/>
                  </a:cubicBezTo>
                  <a:cubicBezTo>
                    <a:pt x="112" y="30"/>
                    <a:pt x="112" y="30"/>
                    <a:pt x="112" y="30"/>
                  </a:cubicBezTo>
                  <a:cubicBezTo>
                    <a:pt x="113" y="30"/>
                    <a:pt x="114" y="29"/>
                    <a:pt x="114" y="29"/>
                  </a:cubicBezTo>
                  <a:cubicBezTo>
                    <a:pt x="114" y="29"/>
                    <a:pt x="114" y="29"/>
                    <a:pt x="114" y="29"/>
                  </a:cubicBezTo>
                  <a:cubicBezTo>
                    <a:pt x="114" y="30"/>
                    <a:pt x="114" y="30"/>
                    <a:pt x="114" y="30"/>
                  </a:cubicBezTo>
                  <a:cubicBezTo>
                    <a:pt x="115" y="30"/>
                    <a:pt x="116" y="30"/>
                    <a:pt x="116" y="30"/>
                  </a:cubicBezTo>
                  <a:cubicBezTo>
                    <a:pt x="116" y="29"/>
                    <a:pt x="117" y="29"/>
                    <a:pt x="118" y="28"/>
                  </a:cubicBezTo>
                  <a:cubicBezTo>
                    <a:pt x="118" y="28"/>
                    <a:pt x="119" y="27"/>
                    <a:pt x="119" y="26"/>
                  </a:cubicBezTo>
                  <a:cubicBezTo>
                    <a:pt x="120" y="26"/>
                    <a:pt x="120" y="25"/>
                    <a:pt x="121" y="25"/>
                  </a:cubicBezTo>
                  <a:cubicBezTo>
                    <a:pt x="121" y="24"/>
                    <a:pt x="121" y="24"/>
                    <a:pt x="121" y="24"/>
                  </a:cubicBezTo>
                  <a:cubicBezTo>
                    <a:pt x="122" y="24"/>
                    <a:pt x="122" y="24"/>
                    <a:pt x="122" y="24"/>
                  </a:cubicBezTo>
                  <a:cubicBezTo>
                    <a:pt x="123" y="23"/>
                    <a:pt x="123" y="23"/>
                    <a:pt x="124" y="22"/>
                  </a:cubicBezTo>
                  <a:cubicBezTo>
                    <a:pt x="124" y="22"/>
                    <a:pt x="125" y="21"/>
                    <a:pt x="125" y="21"/>
                  </a:cubicBezTo>
                  <a:cubicBezTo>
                    <a:pt x="126" y="20"/>
                    <a:pt x="126" y="20"/>
                    <a:pt x="126" y="20"/>
                  </a:cubicBezTo>
                  <a:cubicBezTo>
                    <a:pt x="127" y="20"/>
                    <a:pt x="127" y="20"/>
                    <a:pt x="127" y="20"/>
                  </a:cubicBezTo>
                  <a:cubicBezTo>
                    <a:pt x="128" y="19"/>
                    <a:pt x="128" y="19"/>
                    <a:pt x="129" y="19"/>
                  </a:cubicBezTo>
                  <a:cubicBezTo>
                    <a:pt x="129" y="19"/>
                    <a:pt x="129" y="19"/>
                    <a:pt x="129" y="19"/>
                  </a:cubicBezTo>
                  <a:cubicBezTo>
                    <a:pt x="129" y="19"/>
                    <a:pt x="129" y="19"/>
                    <a:pt x="129" y="19"/>
                  </a:cubicBezTo>
                  <a:cubicBezTo>
                    <a:pt x="129" y="19"/>
                    <a:pt x="130" y="19"/>
                    <a:pt x="135" y="15"/>
                  </a:cubicBezTo>
                  <a:cubicBezTo>
                    <a:pt x="135" y="15"/>
                    <a:pt x="135" y="15"/>
                    <a:pt x="135" y="15"/>
                  </a:cubicBezTo>
                  <a:cubicBezTo>
                    <a:pt x="135" y="15"/>
                    <a:pt x="135" y="15"/>
                    <a:pt x="135" y="15"/>
                  </a:cubicBezTo>
                  <a:cubicBezTo>
                    <a:pt x="136" y="15"/>
                    <a:pt x="136" y="15"/>
                    <a:pt x="136" y="15"/>
                  </a:cubicBezTo>
                  <a:cubicBezTo>
                    <a:pt x="137" y="15"/>
                    <a:pt x="137" y="15"/>
                    <a:pt x="137" y="15"/>
                  </a:cubicBezTo>
                  <a:cubicBezTo>
                    <a:pt x="139" y="14"/>
                    <a:pt x="141" y="12"/>
                    <a:pt x="142" y="12"/>
                  </a:cubicBezTo>
                  <a:cubicBezTo>
                    <a:pt x="142" y="12"/>
                    <a:pt x="142" y="12"/>
                    <a:pt x="142" y="12"/>
                  </a:cubicBezTo>
                  <a:cubicBezTo>
                    <a:pt x="143" y="12"/>
                    <a:pt x="143" y="12"/>
                    <a:pt x="143" y="12"/>
                  </a:cubicBezTo>
                  <a:cubicBezTo>
                    <a:pt x="143" y="11"/>
                    <a:pt x="143" y="11"/>
                    <a:pt x="143" y="11"/>
                  </a:cubicBezTo>
                  <a:cubicBezTo>
                    <a:pt x="143" y="11"/>
                    <a:pt x="143" y="11"/>
                    <a:pt x="143" y="11"/>
                  </a:cubicBezTo>
                  <a:cubicBezTo>
                    <a:pt x="143" y="11"/>
                    <a:pt x="143" y="11"/>
                    <a:pt x="143" y="11"/>
                  </a:cubicBezTo>
                  <a:cubicBezTo>
                    <a:pt x="143" y="11"/>
                    <a:pt x="143" y="11"/>
                    <a:pt x="143" y="11"/>
                  </a:cubicBezTo>
                  <a:cubicBezTo>
                    <a:pt x="143" y="11"/>
                    <a:pt x="143" y="11"/>
                    <a:pt x="141" y="12"/>
                  </a:cubicBezTo>
                  <a:cubicBezTo>
                    <a:pt x="141" y="12"/>
                    <a:pt x="141" y="12"/>
                    <a:pt x="141" y="12"/>
                  </a:cubicBezTo>
                  <a:cubicBezTo>
                    <a:pt x="141" y="12"/>
                    <a:pt x="141" y="12"/>
                    <a:pt x="141" y="12"/>
                  </a:cubicBezTo>
                  <a:cubicBezTo>
                    <a:pt x="135" y="14"/>
                    <a:pt x="135" y="14"/>
                    <a:pt x="135" y="14"/>
                  </a:cubicBezTo>
                  <a:cubicBezTo>
                    <a:pt x="135" y="14"/>
                    <a:pt x="135" y="14"/>
                    <a:pt x="135" y="14"/>
                  </a:cubicBezTo>
                  <a:cubicBezTo>
                    <a:pt x="131" y="15"/>
                    <a:pt x="131" y="15"/>
                    <a:pt x="131" y="15"/>
                  </a:cubicBezTo>
                  <a:cubicBezTo>
                    <a:pt x="129" y="16"/>
                    <a:pt x="129" y="16"/>
                    <a:pt x="129" y="16"/>
                  </a:cubicBezTo>
                  <a:cubicBezTo>
                    <a:pt x="125" y="18"/>
                    <a:pt x="125" y="18"/>
                    <a:pt x="125" y="18"/>
                  </a:cubicBezTo>
                  <a:cubicBezTo>
                    <a:pt x="125" y="18"/>
                    <a:pt x="125" y="18"/>
                    <a:pt x="125" y="18"/>
                  </a:cubicBezTo>
                  <a:cubicBezTo>
                    <a:pt x="125" y="18"/>
                    <a:pt x="125" y="18"/>
                    <a:pt x="124" y="18"/>
                  </a:cubicBezTo>
                  <a:cubicBezTo>
                    <a:pt x="124" y="18"/>
                    <a:pt x="124" y="18"/>
                    <a:pt x="124" y="18"/>
                  </a:cubicBezTo>
                  <a:cubicBezTo>
                    <a:pt x="124" y="19"/>
                    <a:pt x="124" y="19"/>
                    <a:pt x="124" y="19"/>
                  </a:cubicBezTo>
                  <a:cubicBezTo>
                    <a:pt x="121" y="20"/>
                    <a:pt x="121" y="20"/>
                    <a:pt x="121" y="20"/>
                  </a:cubicBezTo>
                  <a:cubicBezTo>
                    <a:pt x="119" y="21"/>
                    <a:pt x="117" y="22"/>
                    <a:pt x="115" y="24"/>
                  </a:cubicBezTo>
                  <a:close/>
                  <a:moveTo>
                    <a:pt x="91" y="37"/>
                  </a:moveTo>
                  <a:cubicBezTo>
                    <a:pt x="91" y="37"/>
                    <a:pt x="91" y="37"/>
                    <a:pt x="91" y="37"/>
                  </a:cubicBezTo>
                  <a:cubicBezTo>
                    <a:pt x="91" y="37"/>
                    <a:pt x="91" y="37"/>
                    <a:pt x="91" y="37"/>
                  </a:cubicBezTo>
                  <a:cubicBezTo>
                    <a:pt x="91" y="37"/>
                    <a:pt x="91" y="37"/>
                    <a:pt x="91" y="37"/>
                  </a:cubicBezTo>
                  <a:cubicBezTo>
                    <a:pt x="91" y="37"/>
                    <a:pt x="91" y="37"/>
                    <a:pt x="91" y="37"/>
                  </a:cubicBezTo>
                  <a:cubicBezTo>
                    <a:pt x="91" y="37"/>
                    <a:pt x="91" y="37"/>
                    <a:pt x="91" y="37"/>
                  </a:cubicBezTo>
                  <a:cubicBezTo>
                    <a:pt x="91" y="37"/>
                    <a:pt x="91" y="37"/>
                    <a:pt x="91" y="37"/>
                  </a:cubicBezTo>
                  <a:cubicBezTo>
                    <a:pt x="92" y="37"/>
                    <a:pt x="92" y="37"/>
                    <a:pt x="94" y="36"/>
                  </a:cubicBezTo>
                  <a:cubicBezTo>
                    <a:pt x="93" y="37"/>
                    <a:pt x="93" y="37"/>
                    <a:pt x="93" y="37"/>
                  </a:cubicBezTo>
                  <a:cubicBezTo>
                    <a:pt x="93" y="37"/>
                    <a:pt x="92" y="38"/>
                    <a:pt x="92" y="38"/>
                  </a:cubicBezTo>
                  <a:cubicBezTo>
                    <a:pt x="92" y="38"/>
                    <a:pt x="92" y="38"/>
                    <a:pt x="92" y="38"/>
                  </a:cubicBezTo>
                  <a:cubicBezTo>
                    <a:pt x="92" y="38"/>
                    <a:pt x="92" y="38"/>
                    <a:pt x="92" y="38"/>
                  </a:cubicBezTo>
                  <a:cubicBezTo>
                    <a:pt x="92" y="38"/>
                    <a:pt x="92" y="38"/>
                    <a:pt x="92" y="38"/>
                  </a:cubicBezTo>
                  <a:cubicBezTo>
                    <a:pt x="92" y="38"/>
                    <a:pt x="92" y="38"/>
                    <a:pt x="92" y="38"/>
                  </a:cubicBezTo>
                  <a:cubicBezTo>
                    <a:pt x="93" y="38"/>
                    <a:pt x="93" y="38"/>
                    <a:pt x="93" y="38"/>
                  </a:cubicBezTo>
                  <a:cubicBezTo>
                    <a:pt x="93" y="38"/>
                    <a:pt x="93" y="38"/>
                    <a:pt x="93" y="38"/>
                  </a:cubicBezTo>
                  <a:cubicBezTo>
                    <a:pt x="94" y="38"/>
                    <a:pt x="94" y="38"/>
                    <a:pt x="96" y="36"/>
                  </a:cubicBezTo>
                  <a:cubicBezTo>
                    <a:pt x="96" y="36"/>
                    <a:pt x="96" y="36"/>
                    <a:pt x="96" y="36"/>
                  </a:cubicBezTo>
                  <a:cubicBezTo>
                    <a:pt x="96" y="36"/>
                    <a:pt x="96" y="36"/>
                    <a:pt x="96" y="36"/>
                  </a:cubicBezTo>
                  <a:cubicBezTo>
                    <a:pt x="97" y="36"/>
                    <a:pt x="101" y="33"/>
                    <a:pt x="103" y="31"/>
                  </a:cubicBezTo>
                  <a:cubicBezTo>
                    <a:pt x="103" y="30"/>
                    <a:pt x="103" y="30"/>
                    <a:pt x="104" y="29"/>
                  </a:cubicBezTo>
                  <a:cubicBezTo>
                    <a:pt x="104" y="30"/>
                    <a:pt x="104" y="30"/>
                    <a:pt x="103" y="30"/>
                  </a:cubicBezTo>
                  <a:cubicBezTo>
                    <a:pt x="103" y="30"/>
                    <a:pt x="103" y="30"/>
                    <a:pt x="103" y="30"/>
                  </a:cubicBezTo>
                  <a:cubicBezTo>
                    <a:pt x="104" y="30"/>
                    <a:pt x="104" y="30"/>
                    <a:pt x="104" y="30"/>
                  </a:cubicBezTo>
                  <a:cubicBezTo>
                    <a:pt x="104" y="30"/>
                    <a:pt x="104" y="30"/>
                    <a:pt x="108" y="27"/>
                  </a:cubicBezTo>
                  <a:cubicBezTo>
                    <a:pt x="110" y="27"/>
                    <a:pt x="111" y="26"/>
                    <a:pt x="111" y="25"/>
                  </a:cubicBezTo>
                  <a:cubicBezTo>
                    <a:pt x="111" y="25"/>
                    <a:pt x="111" y="25"/>
                    <a:pt x="111" y="25"/>
                  </a:cubicBezTo>
                  <a:cubicBezTo>
                    <a:pt x="111" y="25"/>
                    <a:pt x="111" y="25"/>
                    <a:pt x="111" y="25"/>
                  </a:cubicBezTo>
                  <a:cubicBezTo>
                    <a:pt x="111" y="25"/>
                    <a:pt x="115" y="23"/>
                    <a:pt x="115" y="23"/>
                  </a:cubicBezTo>
                  <a:cubicBezTo>
                    <a:pt x="115" y="23"/>
                    <a:pt x="115" y="23"/>
                    <a:pt x="115" y="23"/>
                  </a:cubicBezTo>
                  <a:cubicBezTo>
                    <a:pt x="115" y="23"/>
                    <a:pt x="115" y="23"/>
                    <a:pt x="115" y="23"/>
                  </a:cubicBezTo>
                  <a:cubicBezTo>
                    <a:pt x="115" y="22"/>
                    <a:pt x="115" y="22"/>
                    <a:pt x="115" y="22"/>
                  </a:cubicBezTo>
                  <a:cubicBezTo>
                    <a:pt x="115" y="22"/>
                    <a:pt x="115" y="22"/>
                    <a:pt x="115" y="22"/>
                  </a:cubicBezTo>
                  <a:cubicBezTo>
                    <a:pt x="115" y="22"/>
                    <a:pt x="115" y="22"/>
                    <a:pt x="115" y="22"/>
                  </a:cubicBezTo>
                  <a:cubicBezTo>
                    <a:pt x="115" y="22"/>
                    <a:pt x="115" y="22"/>
                    <a:pt x="115" y="22"/>
                  </a:cubicBezTo>
                  <a:cubicBezTo>
                    <a:pt x="113" y="23"/>
                    <a:pt x="110" y="25"/>
                    <a:pt x="108" y="26"/>
                  </a:cubicBezTo>
                  <a:cubicBezTo>
                    <a:pt x="106" y="27"/>
                    <a:pt x="106" y="27"/>
                    <a:pt x="106" y="27"/>
                  </a:cubicBezTo>
                  <a:cubicBezTo>
                    <a:pt x="106" y="27"/>
                    <a:pt x="106" y="27"/>
                    <a:pt x="106" y="27"/>
                  </a:cubicBezTo>
                  <a:cubicBezTo>
                    <a:pt x="104" y="29"/>
                    <a:pt x="94" y="35"/>
                    <a:pt x="91" y="37"/>
                  </a:cubicBezTo>
                  <a:close/>
                  <a:moveTo>
                    <a:pt x="10" y="196"/>
                  </a:moveTo>
                  <a:cubicBezTo>
                    <a:pt x="10" y="196"/>
                    <a:pt x="10" y="196"/>
                    <a:pt x="10" y="196"/>
                  </a:cubicBezTo>
                  <a:cubicBezTo>
                    <a:pt x="10" y="196"/>
                    <a:pt x="10" y="196"/>
                    <a:pt x="10" y="196"/>
                  </a:cubicBezTo>
                  <a:cubicBezTo>
                    <a:pt x="10" y="197"/>
                    <a:pt x="10" y="197"/>
                    <a:pt x="10" y="198"/>
                  </a:cubicBezTo>
                  <a:cubicBezTo>
                    <a:pt x="10" y="200"/>
                    <a:pt x="10" y="201"/>
                    <a:pt x="11" y="202"/>
                  </a:cubicBezTo>
                  <a:cubicBezTo>
                    <a:pt x="11" y="202"/>
                    <a:pt x="11" y="202"/>
                    <a:pt x="11" y="202"/>
                  </a:cubicBezTo>
                  <a:cubicBezTo>
                    <a:pt x="11" y="202"/>
                    <a:pt x="11" y="202"/>
                    <a:pt x="11" y="202"/>
                  </a:cubicBezTo>
                  <a:cubicBezTo>
                    <a:pt x="11" y="201"/>
                    <a:pt x="11" y="201"/>
                    <a:pt x="11" y="199"/>
                  </a:cubicBezTo>
                  <a:cubicBezTo>
                    <a:pt x="11" y="198"/>
                    <a:pt x="11" y="197"/>
                    <a:pt x="10" y="196"/>
                  </a:cubicBezTo>
                  <a:close/>
                  <a:moveTo>
                    <a:pt x="12" y="195"/>
                  </a:moveTo>
                  <a:cubicBezTo>
                    <a:pt x="12" y="195"/>
                    <a:pt x="12" y="195"/>
                    <a:pt x="12" y="195"/>
                  </a:cubicBezTo>
                  <a:cubicBezTo>
                    <a:pt x="12" y="195"/>
                    <a:pt x="12" y="195"/>
                    <a:pt x="12" y="194"/>
                  </a:cubicBezTo>
                  <a:cubicBezTo>
                    <a:pt x="12" y="194"/>
                    <a:pt x="12" y="192"/>
                    <a:pt x="12" y="192"/>
                  </a:cubicBezTo>
                  <a:cubicBezTo>
                    <a:pt x="12" y="192"/>
                    <a:pt x="12" y="192"/>
                    <a:pt x="12" y="192"/>
                  </a:cubicBezTo>
                  <a:cubicBezTo>
                    <a:pt x="12" y="192"/>
                    <a:pt x="12" y="192"/>
                    <a:pt x="12" y="192"/>
                  </a:cubicBezTo>
                  <a:cubicBezTo>
                    <a:pt x="11" y="193"/>
                    <a:pt x="11" y="193"/>
                    <a:pt x="12" y="194"/>
                  </a:cubicBezTo>
                  <a:cubicBezTo>
                    <a:pt x="12" y="194"/>
                    <a:pt x="12" y="195"/>
                    <a:pt x="12" y="195"/>
                  </a:cubicBezTo>
                  <a:close/>
                  <a:moveTo>
                    <a:pt x="11" y="195"/>
                  </a:moveTo>
                  <a:cubicBezTo>
                    <a:pt x="11" y="195"/>
                    <a:pt x="11" y="195"/>
                    <a:pt x="11" y="195"/>
                  </a:cubicBezTo>
                  <a:cubicBezTo>
                    <a:pt x="11" y="195"/>
                    <a:pt x="11" y="195"/>
                    <a:pt x="11" y="195"/>
                  </a:cubicBezTo>
                  <a:cubicBezTo>
                    <a:pt x="11" y="195"/>
                    <a:pt x="11" y="195"/>
                    <a:pt x="11" y="196"/>
                  </a:cubicBezTo>
                  <a:cubicBezTo>
                    <a:pt x="11" y="196"/>
                    <a:pt x="11" y="196"/>
                    <a:pt x="11" y="196"/>
                  </a:cubicBezTo>
                  <a:cubicBezTo>
                    <a:pt x="11" y="196"/>
                    <a:pt x="12" y="196"/>
                    <a:pt x="12" y="196"/>
                  </a:cubicBezTo>
                  <a:cubicBezTo>
                    <a:pt x="12" y="195"/>
                    <a:pt x="11" y="195"/>
                    <a:pt x="11" y="195"/>
                  </a:cubicBezTo>
                  <a:close/>
                  <a:moveTo>
                    <a:pt x="279" y="403"/>
                  </a:moveTo>
                  <a:cubicBezTo>
                    <a:pt x="279" y="403"/>
                    <a:pt x="279" y="403"/>
                    <a:pt x="279" y="403"/>
                  </a:cubicBezTo>
                  <a:cubicBezTo>
                    <a:pt x="256" y="406"/>
                    <a:pt x="251" y="405"/>
                    <a:pt x="225" y="401"/>
                  </a:cubicBezTo>
                  <a:cubicBezTo>
                    <a:pt x="226" y="401"/>
                    <a:pt x="226" y="401"/>
                    <a:pt x="227" y="401"/>
                  </a:cubicBezTo>
                  <a:cubicBezTo>
                    <a:pt x="227" y="401"/>
                    <a:pt x="227" y="401"/>
                    <a:pt x="227" y="401"/>
                  </a:cubicBezTo>
                  <a:cubicBezTo>
                    <a:pt x="227" y="401"/>
                    <a:pt x="227" y="401"/>
                    <a:pt x="227" y="401"/>
                  </a:cubicBezTo>
                  <a:cubicBezTo>
                    <a:pt x="226" y="400"/>
                    <a:pt x="226" y="400"/>
                    <a:pt x="226" y="400"/>
                  </a:cubicBezTo>
                  <a:cubicBezTo>
                    <a:pt x="225" y="399"/>
                    <a:pt x="223" y="399"/>
                    <a:pt x="220" y="398"/>
                  </a:cubicBezTo>
                  <a:cubicBezTo>
                    <a:pt x="220" y="398"/>
                    <a:pt x="220" y="397"/>
                    <a:pt x="221" y="397"/>
                  </a:cubicBezTo>
                  <a:cubicBezTo>
                    <a:pt x="220" y="393"/>
                    <a:pt x="211" y="391"/>
                    <a:pt x="206" y="390"/>
                  </a:cubicBezTo>
                  <a:cubicBezTo>
                    <a:pt x="208" y="390"/>
                    <a:pt x="208" y="390"/>
                    <a:pt x="208" y="390"/>
                  </a:cubicBezTo>
                  <a:cubicBezTo>
                    <a:pt x="210" y="389"/>
                    <a:pt x="210" y="389"/>
                    <a:pt x="210" y="389"/>
                  </a:cubicBezTo>
                  <a:cubicBezTo>
                    <a:pt x="210" y="389"/>
                    <a:pt x="210" y="389"/>
                    <a:pt x="210" y="388"/>
                  </a:cubicBezTo>
                  <a:cubicBezTo>
                    <a:pt x="211" y="388"/>
                    <a:pt x="211" y="388"/>
                    <a:pt x="211" y="388"/>
                  </a:cubicBezTo>
                  <a:cubicBezTo>
                    <a:pt x="209" y="386"/>
                    <a:pt x="207" y="384"/>
                    <a:pt x="205" y="383"/>
                  </a:cubicBezTo>
                  <a:cubicBezTo>
                    <a:pt x="203" y="381"/>
                    <a:pt x="202" y="380"/>
                    <a:pt x="200" y="378"/>
                  </a:cubicBezTo>
                  <a:cubicBezTo>
                    <a:pt x="201" y="378"/>
                    <a:pt x="201" y="378"/>
                    <a:pt x="201" y="378"/>
                  </a:cubicBezTo>
                  <a:cubicBezTo>
                    <a:pt x="201" y="378"/>
                    <a:pt x="201" y="378"/>
                    <a:pt x="201" y="378"/>
                  </a:cubicBezTo>
                  <a:cubicBezTo>
                    <a:pt x="200" y="374"/>
                    <a:pt x="197" y="372"/>
                    <a:pt x="194" y="370"/>
                  </a:cubicBezTo>
                  <a:cubicBezTo>
                    <a:pt x="190" y="368"/>
                    <a:pt x="187" y="366"/>
                    <a:pt x="186" y="362"/>
                  </a:cubicBezTo>
                  <a:cubicBezTo>
                    <a:pt x="186" y="361"/>
                    <a:pt x="186" y="360"/>
                    <a:pt x="186" y="360"/>
                  </a:cubicBezTo>
                  <a:cubicBezTo>
                    <a:pt x="186" y="355"/>
                    <a:pt x="190" y="352"/>
                    <a:pt x="192" y="351"/>
                  </a:cubicBezTo>
                  <a:cubicBezTo>
                    <a:pt x="192" y="351"/>
                    <a:pt x="192" y="351"/>
                    <a:pt x="192" y="350"/>
                  </a:cubicBezTo>
                  <a:cubicBezTo>
                    <a:pt x="192" y="346"/>
                    <a:pt x="190" y="338"/>
                    <a:pt x="173" y="312"/>
                  </a:cubicBezTo>
                  <a:cubicBezTo>
                    <a:pt x="173" y="311"/>
                    <a:pt x="174" y="309"/>
                    <a:pt x="174" y="308"/>
                  </a:cubicBezTo>
                  <a:cubicBezTo>
                    <a:pt x="174" y="307"/>
                    <a:pt x="174" y="306"/>
                    <a:pt x="174" y="305"/>
                  </a:cubicBezTo>
                  <a:cubicBezTo>
                    <a:pt x="173" y="304"/>
                    <a:pt x="173" y="303"/>
                    <a:pt x="173" y="302"/>
                  </a:cubicBezTo>
                  <a:cubicBezTo>
                    <a:pt x="173" y="301"/>
                    <a:pt x="173" y="301"/>
                    <a:pt x="173" y="300"/>
                  </a:cubicBezTo>
                  <a:cubicBezTo>
                    <a:pt x="173" y="300"/>
                    <a:pt x="173" y="300"/>
                    <a:pt x="173" y="300"/>
                  </a:cubicBezTo>
                  <a:cubicBezTo>
                    <a:pt x="174" y="299"/>
                    <a:pt x="174" y="298"/>
                    <a:pt x="174" y="297"/>
                  </a:cubicBezTo>
                  <a:cubicBezTo>
                    <a:pt x="174" y="295"/>
                    <a:pt x="173" y="291"/>
                    <a:pt x="172" y="287"/>
                  </a:cubicBezTo>
                  <a:cubicBezTo>
                    <a:pt x="171" y="285"/>
                    <a:pt x="168" y="279"/>
                    <a:pt x="163" y="276"/>
                  </a:cubicBezTo>
                  <a:cubicBezTo>
                    <a:pt x="161" y="275"/>
                    <a:pt x="160" y="276"/>
                    <a:pt x="159" y="276"/>
                  </a:cubicBezTo>
                  <a:cubicBezTo>
                    <a:pt x="158" y="277"/>
                    <a:pt x="157" y="277"/>
                    <a:pt x="156" y="277"/>
                  </a:cubicBezTo>
                  <a:cubicBezTo>
                    <a:pt x="154" y="277"/>
                    <a:pt x="153" y="276"/>
                    <a:pt x="152" y="275"/>
                  </a:cubicBezTo>
                  <a:cubicBezTo>
                    <a:pt x="151" y="275"/>
                    <a:pt x="150" y="274"/>
                    <a:pt x="149" y="274"/>
                  </a:cubicBezTo>
                  <a:cubicBezTo>
                    <a:pt x="144" y="272"/>
                    <a:pt x="142" y="273"/>
                    <a:pt x="139" y="275"/>
                  </a:cubicBezTo>
                  <a:cubicBezTo>
                    <a:pt x="139" y="275"/>
                    <a:pt x="139" y="275"/>
                    <a:pt x="139" y="275"/>
                  </a:cubicBezTo>
                  <a:cubicBezTo>
                    <a:pt x="139" y="275"/>
                    <a:pt x="139" y="275"/>
                    <a:pt x="139" y="275"/>
                  </a:cubicBezTo>
                  <a:cubicBezTo>
                    <a:pt x="138" y="276"/>
                    <a:pt x="136" y="275"/>
                    <a:pt x="135" y="275"/>
                  </a:cubicBezTo>
                  <a:cubicBezTo>
                    <a:pt x="132" y="275"/>
                    <a:pt x="130" y="275"/>
                    <a:pt x="128" y="278"/>
                  </a:cubicBezTo>
                  <a:cubicBezTo>
                    <a:pt x="126" y="276"/>
                    <a:pt x="126" y="276"/>
                    <a:pt x="114" y="275"/>
                  </a:cubicBezTo>
                  <a:cubicBezTo>
                    <a:pt x="114" y="275"/>
                    <a:pt x="114" y="275"/>
                    <a:pt x="112" y="276"/>
                  </a:cubicBezTo>
                  <a:cubicBezTo>
                    <a:pt x="109" y="275"/>
                    <a:pt x="109" y="275"/>
                    <a:pt x="107" y="275"/>
                  </a:cubicBezTo>
                  <a:cubicBezTo>
                    <a:pt x="102" y="273"/>
                    <a:pt x="99" y="270"/>
                    <a:pt x="96" y="266"/>
                  </a:cubicBezTo>
                  <a:cubicBezTo>
                    <a:pt x="92" y="262"/>
                    <a:pt x="89" y="258"/>
                    <a:pt x="84" y="256"/>
                  </a:cubicBezTo>
                  <a:cubicBezTo>
                    <a:pt x="84" y="256"/>
                    <a:pt x="81" y="255"/>
                    <a:pt x="71" y="260"/>
                  </a:cubicBezTo>
                  <a:cubicBezTo>
                    <a:pt x="70" y="260"/>
                    <a:pt x="69" y="259"/>
                    <a:pt x="68" y="259"/>
                  </a:cubicBezTo>
                  <a:cubicBezTo>
                    <a:pt x="68" y="259"/>
                    <a:pt x="67" y="258"/>
                    <a:pt x="67" y="258"/>
                  </a:cubicBezTo>
                  <a:cubicBezTo>
                    <a:pt x="66" y="258"/>
                    <a:pt x="66" y="258"/>
                    <a:pt x="66" y="258"/>
                  </a:cubicBezTo>
                  <a:cubicBezTo>
                    <a:pt x="65" y="257"/>
                    <a:pt x="64" y="257"/>
                    <a:pt x="63" y="256"/>
                  </a:cubicBezTo>
                  <a:cubicBezTo>
                    <a:pt x="61" y="255"/>
                    <a:pt x="59" y="253"/>
                    <a:pt x="56" y="254"/>
                  </a:cubicBezTo>
                  <a:cubicBezTo>
                    <a:pt x="55" y="250"/>
                    <a:pt x="55" y="250"/>
                    <a:pt x="53" y="249"/>
                  </a:cubicBezTo>
                  <a:cubicBezTo>
                    <a:pt x="53" y="245"/>
                    <a:pt x="53" y="245"/>
                    <a:pt x="52" y="244"/>
                  </a:cubicBezTo>
                  <a:cubicBezTo>
                    <a:pt x="51" y="244"/>
                    <a:pt x="51" y="244"/>
                    <a:pt x="50" y="245"/>
                  </a:cubicBezTo>
                  <a:cubicBezTo>
                    <a:pt x="50" y="246"/>
                    <a:pt x="50" y="246"/>
                    <a:pt x="50" y="246"/>
                  </a:cubicBezTo>
                  <a:cubicBezTo>
                    <a:pt x="50" y="246"/>
                    <a:pt x="51" y="247"/>
                    <a:pt x="51" y="249"/>
                  </a:cubicBezTo>
                  <a:cubicBezTo>
                    <a:pt x="50" y="249"/>
                    <a:pt x="50" y="249"/>
                    <a:pt x="50" y="249"/>
                  </a:cubicBezTo>
                  <a:cubicBezTo>
                    <a:pt x="50" y="249"/>
                    <a:pt x="50" y="249"/>
                    <a:pt x="50" y="247"/>
                  </a:cubicBezTo>
                  <a:cubicBezTo>
                    <a:pt x="50" y="247"/>
                    <a:pt x="50" y="247"/>
                    <a:pt x="50" y="247"/>
                  </a:cubicBezTo>
                  <a:cubicBezTo>
                    <a:pt x="50" y="246"/>
                    <a:pt x="50" y="246"/>
                    <a:pt x="50" y="246"/>
                  </a:cubicBezTo>
                  <a:cubicBezTo>
                    <a:pt x="49" y="246"/>
                    <a:pt x="49" y="246"/>
                    <a:pt x="49" y="246"/>
                  </a:cubicBezTo>
                  <a:cubicBezTo>
                    <a:pt x="49" y="246"/>
                    <a:pt x="49" y="246"/>
                    <a:pt x="49" y="246"/>
                  </a:cubicBezTo>
                  <a:cubicBezTo>
                    <a:pt x="47" y="247"/>
                    <a:pt x="47" y="248"/>
                    <a:pt x="46" y="250"/>
                  </a:cubicBezTo>
                  <a:cubicBezTo>
                    <a:pt x="45" y="251"/>
                    <a:pt x="45" y="251"/>
                    <a:pt x="44" y="252"/>
                  </a:cubicBezTo>
                  <a:cubicBezTo>
                    <a:pt x="43" y="254"/>
                    <a:pt x="41" y="253"/>
                    <a:pt x="40" y="253"/>
                  </a:cubicBezTo>
                  <a:cubicBezTo>
                    <a:pt x="39" y="253"/>
                    <a:pt x="38" y="253"/>
                    <a:pt x="37" y="254"/>
                  </a:cubicBezTo>
                  <a:cubicBezTo>
                    <a:pt x="36" y="253"/>
                    <a:pt x="36" y="253"/>
                    <a:pt x="35" y="251"/>
                  </a:cubicBezTo>
                  <a:cubicBezTo>
                    <a:pt x="34" y="251"/>
                    <a:pt x="34" y="252"/>
                    <a:pt x="33" y="252"/>
                  </a:cubicBezTo>
                  <a:cubicBezTo>
                    <a:pt x="33" y="252"/>
                    <a:pt x="32" y="251"/>
                    <a:pt x="32" y="250"/>
                  </a:cubicBezTo>
                  <a:cubicBezTo>
                    <a:pt x="32" y="250"/>
                    <a:pt x="32" y="250"/>
                    <a:pt x="32" y="250"/>
                  </a:cubicBezTo>
                  <a:cubicBezTo>
                    <a:pt x="31" y="250"/>
                    <a:pt x="31" y="250"/>
                    <a:pt x="31" y="250"/>
                  </a:cubicBezTo>
                  <a:cubicBezTo>
                    <a:pt x="31" y="252"/>
                    <a:pt x="31" y="254"/>
                    <a:pt x="31" y="255"/>
                  </a:cubicBezTo>
                  <a:cubicBezTo>
                    <a:pt x="30" y="258"/>
                    <a:pt x="30" y="258"/>
                    <a:pt x="30" y="258"/>
                  </a:cubicBezTo>
                  <a:cubicBezTo>
                    <a:pt x="30" y="256"/>
                    <a:pt x="30" y="256"/>
                    <a:pt x="30" y="256"/>
                  </a:cubicBezTo>
                  <a:cubicBezTo>
                    <a:pt x="30" y="256"/>
                    <a:pt x="30" y="255"/>
                    <a:pt x="30" y="254"/>
                  </a:cubicBezTo>
                  <a:cubicBezTo>
                    <a:pt x="30" y="253"/>
                    <a:pt x="30" y="252"/>
                    <a:pt x="29" y="251"/>
                  </a:cubicBezTo>
                  <a:cubicBezTo>
                    <a:pt x="29" y="251"/>
                    <a:pt x="29" y="251"/>
                    <a:pt x="29" y="251"/>
                  </a:cubicBezTo>
                  <a:cubicBezTo>
                    <a:pt x="28" y="251"/>
                    <a:pt x="28" y="251"/>
                    <a:pt x="28" y="251"/>
                  </a:cubicBezTo>
                  <a:cubicBezTo>
                    <a:pt x="27" y="252"/>
                    <a:pt x="25" y="263"/>
                    <a:pt x="25" y="263"/>
                  </a:cubicBezTo>
                  <a:cubicBezTo>
                    <a:pt x="25" y="264"/>
                    <a:pt x="25" y="264"/>
                    <a:pt x="25" y="264"/>
                  </a:cubicBezTo>
                  <a:cubicBezTo>
                    <a:pt x="25" y="267"/>
                    <a:pt x="26" y="269"/>
                    <a:pt x="26" y="272"/>
                  </a:cubicBezTo>
                  <a:cubicBezTo>
                    <a:pt x="26" y="273"/>
                    <a:pt x="27" y="275"/>
                    <a:pt x="27" y="276"/>
                  </a:cubicBezTo>
                  <a:cubicBezTo>
                    <a:pt x="27" y="275"/>
                    <a:pt x="26" y="274"/>
                    <a:pt x="23" y="274"/>
                  </a:cubicBezTo>
                  <a:cubicBezTo>
                    <a:pt x="23" y="274"/>
                    <a:pt x="23" y="274"/>
                    <a:pt x="23" y="274"/>
                  </a:cubicBezTo>
                  <a:cubicBezTo>
                    <a:pt x="23" y="274"/>
                    <a:pt x="23" y="274"/>
                    <a:pt x="23" y="274"/>
                  </a:cubicBezTo>
                  <a:cubicBezTo>
                    <a:pt x="23" y="274"/>
                    <a:pt x="23" y="274"/>
                    <a:pt x="23" y="274"/>
                  </a:cubicBezTo>
                  <a:cubicBezTo>
                    <a:pt x="23" y="274"/>
                    <a:pt x="23" y="274"/>
                    <a:pt x="22" y="279"/>
                  </a:cubicBezTo>
                  <a:cubicBezTo>
                    <a:pt x="21" y="279"/>
                    <a:pt x="21" y="279"/>
                    <a:pt x="21" y="279"/>
                  </a:cubicBezTo>
                  <a:cubicBezTo>
                    <a:pt x="20" y="278"/>
                    <a:pt x="20" y="278"/>
                    <a:pt x="11" y="250"/>
                  </a:cubicBezTo>
                  <a:cubicBezTo>
                    <a:pt x="10" y="250"/>
                    <a:pt x="10" y="250"/>
                    <a:pt x="9" y="249"/>
                  </a:cubicBezTo>
                  <a:cubicBezTo>
                    <a:pt x="9" y="248"/>
                    <a:pt x="9" y="248"/>
                    <a:pt x="9" y="248"/>
                  </a:cubicBezTo>
                  <a:cubicBezTo>
                    <a:pt x="9" y="248"/>
                    <a:pt x="9" y="248"/>
                    <a:pt x="9" y="248"/>
                  </a:cubicBezTo>
                  <a:cubicBezTo>
                    <a:pt x="8" y="248"/>
                    <a:pt x="8" y="248"/>
                    <a:pt x="8" y="248"/>
                  </a:cubicBezTo>
                  <a:cubicBezTo>
                    <a:pt x="8" y="249"/>
                    <a:pt x="8" y="249"/>
                    <a:pt x="7" y="252"/>
                  </a:cubicBezTo>
                  <a:cubicBezTo>
                    <a:pt x="7" y="252"/>
                    <a:pt x="6" y="250"/>
                    <a:pt x="5" y="241"/>
                  </a:cubicBezTo>
                  <a:cubicBezTo>
                    <a:pt x="5" y="241"/>
                    <a:pt x="5" y="241"/>
                    <a:pt x="5" y="241"/>
                  </a:cubicBezTo>
                  <a:cubicBezTo>
                    <a:pt x="3" y="223"/>
                    <a:pt x="3" y="223"/>
                    <a:pt x="3" y="223"/>
                  </a:cubicBezTo>
                  <a:cubicBezTo>
                    <a:pt x="3" y="223"/>
                    <a:pt x="3" y="223"/>
                    <a:pt x="3" y="223"/>
                  </a:cubicBezTo>
                  <a:cubicBezTo>
                    <a:pt x="3" y="223"/>
                    <a:pt x="3" y="223"/>
                    <a:pt x="3" y="223"/>
                  </a:cubicBezTo>
                  <a:cubicBezTo>
                    <a:pt x="2" y="224"/>
                    <a:pt x="2" y="224"/>
                    <a:pt x="2" y="227"/>
                  </a:cubicBezTo>
                  <a:cubicBezTo>
                    <a:pt x="2" y="229"/>
                    <a:pt x="2" y="235"/>
                    <a:pt x="3" y="243"/>
                  </a:cubicBezTo>
                  <a:cubicBezTo>
                    <a:pt x="3" y="242"/>
                    <a:pt x="3" y="242"/>
                    <a:pt x="3" y="242"/>
                  </a:cubicBezTo>
                  <a:cubicBezTo>
                    <a:pt x="3" y="242"/>
                    <a:pt x="3" y="242"/>
                    <a:pt x="3" y="242"/>
                  </a:cubicBezTo>
                  <a:cubicBezTo>
                    <a:pt x="3" y="242"/>
                    <a:pt x="3" y="242"/>
                    <a:pt x="3" y="242"/>
                  </a:cubicBezTo>
                  <a:cubicBezTo>
                    <a:pt x="3" y="242"/>
                    <a:pt x="3" y="242"/>
                    <a:pt x="3" y="242"/>
                  </a:cubicBezTo>
                  <a:cubicBezTo>
                    <a:pt x="3" y="242"/>
                    <a:pt x="3" y="242"/>
                    <a:pt x="3" y="242"/>
                  </a:cubicBezTo>
                  <a:cubicBezTo>
                    <a:pt x="3" y="247"/>
                    <a:pt x="3" y="247"/>
                    <a:pt x="3" y="247"/>
                  </a:cubicBezTo>
                  <a:cubicBezTo>
                    <a:pt x="6" y="258"/>
                    <a:pt x="6" y="258"/>
                    <a:pt x="6" y="258"/>
                  </a:cubicBezTo>
                  <a:cubicBezTo>
                    <a:pt x="6" y="260"/>
                    <a:pt x="6" y="260"/>
                    <a:pt x="6" y="260"/>
                  </a:cubicBezTo>
                  <a:cubicBezTo>
                    <a:pt x="6" y="260"/>
                    <a:pt x="6" y="260"/>
                    <a:pt x="6" y="260"/>
                  </a:cubicBezTo>
                  <a:cubicBezTo>
                    <a:pt x="6" y="260"/>
                    <a:pt x="6" y="260"/>
                    <a:pt x="6" y="260"/>
                  </a:cubicBezTo>
                  <a:cubicBezTo>
                    <a:pt x="6" y="260"/>
                    <a:pt x="6" y="260"/>
                    <a:pt x="6" y="260"/>
                  </a:cubicBezTo>
                  <a:cubicBezTo>
                    <a:pt x="7" y="260"/>
                    <a:pt x="7" y="261"/>
                    <a:pt x="7" y="262"/>
                  </a:cubicBezTo>
                  <a:cubicBezTo>
                    <a:pt x="7" y="263"/>
                    <a:pt x="8" y="264"/>
                    <a:pt x="8" y="265"/>
                  </a:cubicBezTo>
                  <a:cubicBezTo>
                    <a:pt x="9" y="265"/>
                    <a:pt x="9" y="265"/>
                    <a:pt x="9" y="265"/>
                  </a:cubicBezTo>
                  <a:cubicBezTo>
                    <a:pt x="9" y="264"/>
                    <a:pt x="9" y="264"/>
                    <a:pt x="9" y="264"/>
                  </a:cubicBezTo>
                  <a:cubicBezTo>
                    <a:pt x="9" y="266"/>
                    <a:pt x="10" y="267"/>
                    <a:pt x="14" y="273"/>
                  </a:cubicBezTo>
                  <a:cubicBezTo>
                    <a:pt x="15" y="273"/>
                    <a:pt x="15" y="273"/>
                    <a:pt x="15" y="273"/>
                  </a:cubicBezTo>
                  <a:cubicBezTo>
                    <a:pt x="15" y="273"/>
                    <a:pt x="15" y="273"/>
                    <a:pt x="15" y="273"/>
                  </a:cubicBezTo>
                  <a:cubicBezTo>
                    <a:pt x="15" y="272"/>
                    <a:pt x="15" y="272"/>
                    <a:pt x="14" y="271"/>
                  </a:cubicBezTo>
                  <a:cubicBezTo>
                    <a:pt x="16" y="274"/>
                    <a:pt x="18" y="277"/>
                    <a:pt x="19" y="279"/>
                  </a:cubicBezTo>
                  <a:cubicBezTo>
                    <a:pt x="20" y="281"/>
                    <a:pt x="21" y="283"/>
                    <a:pt x="22" y="285"/>
                  </a:cubicBezTo>
                  <a:cubicBezTo>
                    <a:pt x="22" y="285"/>
                    <a:pt x="22" y="285"/>
                    <a:pt x="22" y="285"/>
                  </a:cubicBezTo>
                  <a:cubicBezTo>
                    <a:pt x="22" y="285"/>
                    <a:pt x="22" y="285"/>
                    <a:pt x="22" y="285"/>
                  </a:cubicBezTo>
                  <a:cubicBezTo>
                    <a:pt x="22" y="285"/>
                    <a:pt x="22" y="285"/>
                    <a:pt x="22" y="285"/>
                  </a:cubicBezTo>
                  <a:cubicBezTo>
                    <a:pt x="24" y="285"/>
                    <a:pt x="24" y="285"/>
                    <a:pt x="25" y="286"/>
                  </a:cubicBezTo>
                  <a:cubicBezTo>
                    <a:pt x="26" y="286"/>
                    <a:pt x="26" y="286"/>
                    <a:pt x="26" y="286"/>
                  </a:cubicBezTo>
                  <a:cubicBezTo>
                    <a:pt x="27" y="286"/>
                    <a:pt x="27" y="286"/>
                    <a:pt x="27" y="286"/>
                  </a:cubicBezTo>
                  <a:cubicBezTo>
                    <a:pt x="27" y="286"/>
                    <a:pt x="27" y="286"/>
                    <a:pt x="27" y="286"/>
                  </a:cubicBezTo>
                  <a:cubicBezTo>
                    <a:pt x="26" y="285"/>
                    <a:pt x="26" y="284"/>
                    <a:pt x="25" y="283"/>
                  </a:cubicBezTo>
                  <a:cubicBezTo>
                    <a:pt x="25" y="281"/>
                    <a:pt x="25" y="280"/>
                    <a:pt x="24" y="279"/>
                  </a:cubicBezTo>
                  <a:cubicBezTo>
                    <a:pt x="25" y="279"/>
                    <a:pt x="27" y="279"/>
                    <a:pt x="34" y="293"/>
                  </a:cubicBezTo>
                  <a:cubicBezTo>
                    <a:pt x="37" y="298"/>
                    <a:pt x="39" y="303"/>
                    <a:pt x="41" y="308"/>
                  </a:cubicBezTo>
                  <a:cubicBezTo>
                    <a:pt x="43" y="313"/>
                    <a:pt x="45" y="318"/>
                    <a:pt x="47" y="322"/>
                  </a:cubicBezTo>
                  <a:cubicBezTo>
                    <a:pt x="47" y="323"/>
                    <a:pt x="51" y="329"/>
                    <a:pt x="53" y="329"/>
                  </a:cubicBezTo>
                  <a:cubicBezTo>
                    <a:pt x="62" y="342"/>
                    <a:pt x="62" y="342"/>
                    <a:pt x="81" y="353"/>
                  </a:cubicBezTo>
                  <a:cubicBezTo>
                    <a:pt x="96" y="363"/>
                    <a:pt x="97" y="363"/>
                    <a:pt x="101" y="365"/>
                  </a:cubicBezTo>
                  <a:cubicBezTo>
                    <a:pt x="104" y="366"/>
                    <a:pt x="107" y="366"/>
                    <a:pt x="110" y="366"/>
                  </a:cubicBezTo>
                  <a:cubicBezTo>
                    <a:pt x="113" y="367"/>
                    <a:pt x="116" y="367"/>
                    <a:pt x="119" y="368"/>
                  </a:cubicBezTo>
                  <a:cubicBezTo>
                    <a:pt x="128" y="371"/>
                    <a:pt x="136" y="376"/>
                    <a:pt x="144" y="381"/>
                  </a:cubicBezTo>
                  <a:cubicBezTo>
                    <a:pt x="151" y="385"/>
                    <a:pt x="157" y="389"/>
                    <a:pt x="165" y="392"/>
                  </a:cubicBezTo>
                  <a:cubicBezTo>
                    <a:pt x="194" y="401"/>
                    <a:pt x="194" y="401"/>
                    <a:pt x="194" y="401"/>
                  </a:cubicBezTo>
                  <a:cubicBezTo>
                    <a:pt x="217" y="407"/>
                    <a:pt x="251" y="407"/>
                    <a:pt x="272" y="404"/>
                  </a:cubicBezTo>
                  <a:cubicBezTo>
                    <a:pt x="272" y="404"/>
                    <a:pt x="272" y="404"/>
                    <a:pt x="272" y="404"/>
                  </a:cubicBezTo>
                  <a:cubicBezTo>
                    <a:pt x="272" y="404"/>
                    <a:pt x="272" y="404"/>
                    <a:pt x="272" y="404"/>
                  </a:cubicBezTo>
                  <a:cubicBezTo>
                    <a:pt x="272" y="404"/>
                    <a:pt x="272" y="404"/>
                    <a:pt x="272" y="404"/>
                  </a:cubicBezTo>
                  <a:cubicBezTo>
                    <a:pt x="272" y="404"/>
                    <a:pt x="272" y="404"/>
                    <a:pt x="272" y="404"/>
                  </a:cubicBezTo>
                  <a:cubicBezTo>
                    <a:pt x="272" y="404"/>
                    <a:pt x="272" y="404"/>
                    <a:pt x="272" y="404"/>
                  </a:cubicBezTo>
                  <a:cubicBezTo>
                    <a:pt x="279" y="403"/>
                    <a:pt x="279" y="403"/>
                    <a:pt x="279" y="403"/>
                  </a:cubicBezTo>
                  <a:close/>
                  <a:moveTo>
                    <a:pt x="19" y="222"/>
                  </a:moveTo>
                  <a:cubicBezTo>
                    <a:pt x="19" y="222"/>
                    <a:pt x="19" y="222"/>
                    <a:pt x="19" y="222"/>
                  </a:cubicBezTo>
                  <a:cubicBezTo>
                    <a:pt x="17" y="223"/>
                    <a:pt x="17" y="224"/>
                    <a:pt x="17" y="225"/>
                  </a:cubicBezTo>
                  <a:cubicBezTo>
                    <a:pt x="17" y="226"/>
                    <a:pt x="17" y="226"/>
                    <a:pt x="17" y="226"/>
                  </a:cubicBezTo>
                  <a:cubicBezTo>
                    <a:pt x="17" y="226"/>
                    <a:pt x="17" y="226"/>
                    <a:pt x="17" y="226"/>
                  </a:cubicBezTo>
                  <a:cubicBezTo>
                    <a:pt x="17" y="226"/>
                    <a:pt x="17" y="226"/>
                    <a:pt x="17" y="226"/>
                  </a:cubicBezTo>
                  <a:cubicBezTo>
                    <a:pt x="17" y="226"/>
                    <a:pt x="17" y="226"/>
                    <a:pt x="17" y="226"/>
                  </a:cubicBezTo>
                  <a:cubicBezTo>
                    <a:pt x="21" y="226"/>
                    <a:pt x="22" y="225"/>
                    <a:pt x="23" y="222"/>
                  </a:cubicBezTo>
                  <a:cubicBezTo>
                    <a:pt x="23" y="222"/>
                    <a:pt x="24" y="222"/>
                    <a:pt x="24" y="221"/>
                  </a:cubicBezTo>
                  <a:cubicBezTo>
                    <a:pt x="24" y="221"/>
                    <a:pt x="25" y="220"/>
                    <a:pt x="25" y="220"/>
                  </a:cubicBezTo>
                  <a:cubicBezTo>
                    <a:pt x="25" y="219"/>
                    <a:pt x="25" y="219"/>
                    <a:pt x="25" y="219"/>
                  </a:cubicBezTo>
                  <a:cubicBezTo>
                    <a:pt x="26" y="219"/>
                    <a:pt x="26" y="219"/>
                    <a:pt x="26" y="219"/>
                  </a:cubicBezTo>
                  <a:cubicBezTo>
                    <a:pt x="27" y="219"/>
                    <a:pt x="27" y="219"/>
                    <a:pt x="27" y="219"/>
                  </a:cubicBezTo>
                  <a:cubicBezTo>
                    <a:pt x="27" y="218"/>
                    <a:pt x="27" y="218"/>
                    <a:pt x="27" y="218"/>
                  </a:cubicBezTo>
                  <a:cubicBezTo>
                    <a:pt x="27" y="216"/>
                    <a:pt x="26" y="215"/>
                    <a:pt x="26" y="214"/>
                  </a:cubicBezTo>
                  <a:cubicBezTo>
                    <a:pt x="25" y="214"/>
                    <a:pt x="24" y="214"/>
                    <a:pt x="23" y="214"/>
                  </a:cubicBezTo>
                  <a:cubicBezTo>
                    <a:pt x="23" y="214"/>
                    <a:pt x="23" y="214"/>
                    <a:pt x="23" y="214"/>
                  </a:cubicBezTo>
                  <a:cubicBezTo>
                    <a:pt x="23" y="215"/>
                    <a:pt x="23" y="215"/>
                    <a:pt x="23" y="215"/>
                  </a:cubicBezTo>
                  <a:cubicBezTo>
                    <a:pt x="23" y="214"/>
                    <a:pt x="23" y="214"/>
                    <a:pt x="23" y="214"/>
                  </a:cubicBezTo>
                  <a:cubicBezTo>
                    <a:pt x="22" y="214"/>
                    <a:pt x="22" y="213"/>
                    <a:pt x="21" y="213"/>
                  </a:cubicBezTo>
                  <a:cubicBezTo>
                    <a:pt x="21" y="213"/>
                    <a:pt x="21" y="214"/>
                    <a:pt x="21" y="214"/>
                  </a:cubicBezTo>
                  <a:cubicBezTo>
                    <a:pt x="20" y="215"/>
                    <a:pt x="20" y="215"/>
                    <a:pt x="19" y="215"/>
                  </a:cubicBezTo>
                  <a:cubicBezTo>
                    <a:pt x="18" y="216"/>
                    <a:pt x="18" y="216"/>
                    <a:pt x="18" y="216"/>
                  </a:cubicBezTo>
                  <a:cubicBezTo>
                    <a:pt x="18" y="216"/>
                    <a:pt x="17" y="217"/>
                    <a:pt x="17" y="217"/>
                  </a:cubicBezTo>
                  <a:cubicBezTo>
                    <a:pt x="17" y="217"/>
                    <a:pt x="17" y="217"/>
                    <a:pt x="17" y="217"/>
                  </a:cubicBezTo>
                  <a:cubicBezTo>
                    <a:pt x="17" y="218"/>
                    <a:pt x="18" y="218"/>
                    <a:pt x="18" y="219"/>
                  </a:cubicBezTo>
                  <a:cubicBezTo>
                    <a:pt x="19" y="220"/>
                    <a:pt x="19" y="220"/>
                    <a:pt x="19" y="221"/>
                  </a:cubicBezTo>
                  <a:cubicBezTo>
                    <a:pt x="19" y="221"/>
                    <a:pt x="19" y="221"/>
                    <a:pt x="19" y="221"/>
                  </a:cubicBezTo>
                  <a:lnTo>
                    <a:pt x="19" y="222"/>
                  </a:lnTo>
                  <a:close/>
                  <a:moveTo>
                    <a:pt x="30" y="214"/>
                  </a:moveTo>
                  <a:cubicBezTo>
                    <a:pt x="30" y="214"/>
                    <a:pt x="30" y="214"/>
                    <a:pt x="30" y="214"/>
                  </a:cubicBezTo>
                  <a:cubicBezTo>
                    <a:pt x="29" y="215"/>
                    <a:pt x="29" y="216"/>
                    <a:pt x="30" y="218"/>
                  </a:cubicBezTo>
                  <a:cubicBezTo>
                    <a:pt x="30" y="218"/>
                    <a:pt x="31" y="218"/>
                    <a:pt x="31" y="218"/>
                  </a:cubicBezTo>
                  <a:cubicBezTo>
                    <a:pt x="32" y="217"/>
                    <a:pt x="32" y="216"/>
                    <a:pt x="32" y="215"/>
                  </a:cubicBezTo>
                  <a:cubicBezTo>
                    <a:pt x="32" y="214"/>
                    <a:pt x="32" y="214"/>
                    <a:pt x="32" y="214"/>
                  </a:cubicBezTo>
                  <a:cubicBezTo>
                    <a:pt x="31" y="213"/>
                    <a:pt x="31" y="213"/>
                    <a:pt x="30" y="214"/>
                  </a:cubicBezTo>
                  <a:close/>
                  <a:moveTo>
                    <a:pt x="12" y="219"/>
                  </a:moveTo>
                  <a:cubicBezTo>
                    <a:pt x="12" y="219"/>
                    <a:pt x="12" y="221"/>
                    <a:pt x="12" y="222"/>
                  </a:cubicBezTo>
                  <a:cubicBezTo>
                    <a:pt x="12" y="222"/>
                    <a:pt x="13" y="222"/>
                    <a:pt x="13" y="222"/>
                  </a:cubicBezTo>
                  <a:cubicBezTo>
                    <a:pt x="13" y="221"/>
                    <a:pt x="13" y="221"/>
                    <a:pt x="13" y="221"/>
                  </a:cubicBezTo>
                  <a:cubicBezTo>
                    <a:pt x="14" y="220"/>
                    <a:pt x="14" y="220"/>
                    <a:pt x="14" y="220"/>
                  </a:cubicBezTo>
                  <a:cubicBezTo>
                    <a:pt x="14" y="221"/>
                    <a:pt x="15" y="221"/>
                    <a:pt x="15" y="221"/>
                  </a:cubicBezTo>
                  <a:cubicBezTo>
                    <a:pt x="16" y="221"/>
                    <a:pt x="17" y="220"/>
                    <a:pt x="17" y="219"/>
                  </a:cubicBezTo>
                  <a:cubicBezTo>
                    <a:pt x="17" y="218"/>
                    <a:pt x="17" y="218"/>
                    <a:pt x="17" y="217"/>
                  </a:cubicBezTo>
                  <a:cubicBezTo>
                    <a:pt x="17" y="216"/>
                    <a:pt x="17" y="216"/>
                    <a:pt x="16" y="216"/>
                  </a:cubicBezTo>
                  <a:cubicBezTo>
                    <a:pt x="16" y="215"/>
                    <a:pt x="16" y="215"/>
                    <a:pt x="15" y="215"/>
                  </a:cubicBezTo>
                  <a:cubicBezTo>
                    <a:pt x="14" y="215"/>
                    <a:pt x="14" y="215"/>
                    <a:pt x="14" y="215"/>
                  </a:cubicBezTo>
                  <a:cubicBezTo>
                    <a:pt x="14" y="214"/>
                    <a:pt x="14" y="214"/>
                    <a:pt x="14" y="214"/>
                  </a:cubicBezTo>
                  <a:cubicBezTo>
                    <a:pt x="14" y="213"/>
                    <a:pt x="14" y="213"/>
                    <a:pt x="14" y="213"/>
                  </a:cubicBezTo>
                  <a:cubicBezTo>
                    <a:pt x="13" y="213"/>
                    <a:pt x="13" y="213"/>
                    <a:pt x="13" y="213"/>
                  </a:cubicBezTo>
                  <a:cubicBezTo>
                    <a:pt x="13" y="213"/>
                    <a:pt x="13" y="213"/>
                    <a:pt x="13" y="213"/>
                  </a:cubicBezTo>
                  <a:cubicBezTo>
                    <a:pt x="13" y="213"/>
                    <a:pt x="13" y="213"/>
                    <a:pt x="13" y="213"/>
                  </a:cubicBezTo>
                  <a:cubicBezTo>
                    <a:pt x="12" y="213"/>
                    <a:pt x="12" y="213"/>
                    <a:pt x="12" y="213"/>
                  </a:cubicBezTo>
                  <a:cubicBezTo>
                    <a:pt x="12" y="213"/>
                    <a:pt x="12" y="213"/>
                    <a:pt x="12" y="213"/>
                  </a:cubicBezTo>
                  <a:cubicBezTo>
                    <a:pt x="12" y="213"/>
                    <a:pt x="12" y="212"/>
                    <a:pt x="11" y="211"/>
                  </a:cubicBezTo>
                  <a:cubicBezTo>
                    <a:pt x="11" y="211"/>
                    <a:pt x="11" y="210"/>
                    <a:pt x="10" y="209"/>
                  </a:cubicBezTo>
                  <a:cubicBezTo>
                    <a:pt x="10" y="210"/>
                    <a:pt x="9" y="210"/>
                    <a:pt x="9" y="210"/>
                  </a:cubicBezTo>
                  <a:cubicBezTo>
                    <a:pt x="9" y="209"/>
                    <a:pt x="8" y="208"/>
                    <a:pt x="8" y="208"/>
                  </a:cubicBezTo>
                  <a:cubicBezTo>
                    <a:pt x="7" y="208"/>
                    <a:pt x="6" y="209"/>
                    <a:pt x="6" y="210"/>
                  </a:cubicBezTo>
                  <a:cubicBezTo>
                    <a:pt x="6" y="210"/>
                    <a:pt x="6" y="210"/>
                    <a:pt x="6" y="210"/>
                  </a:cubicBezTo>
                  <a:cubicBezTo>
                    <a:pt x="4" y="213"/>
                    <a:pt x="4" y="216"/>
                    <a:pt x="4" y="220"/>
                  </a:cubicBezTo>
                  <a:cubicBezTo>
                    <a:pt x="4" y="220"/>
                    <a:pt x="4" y="220"/>
                    <a:pt x="4" y="220"/>
                  </a:cubicBezTo>
                  <a:cubicBezTo>
                    <a:pt x="5" y="220"/>
                    <a:pt x="5" y="220"/>
                    <a:pt x="5" y="220"/>
                  </a:cubicBezTo>
                  <a:cubicBezTo>
                    <a:pt x="5" y="220"/>
                    <a:pt x="5" y="219"/>
                    <a:pt x="5" y="218"/>
                  </a:cubicBezTo>
                  <a:cubicBezTo>
                    <a:pt x="6" y="216"/>
                    <a:pt x="6" y="215"/>
                    <a:pt x="6" y="214"/>
                  </a:cubicBezTo>
                  <a:cubicBezTo>
                    <a:pt x="7" y="215"/>
                    <a:pt x="7" y="215"/>
                    <a:pt x="7" y="215"/>
                  </a:cubicBezTo>
                  <a:cubicBezTo>
                    <a:pt x="7" y="215"/>
                    <a:pt x="8" y="215"/>
                    <a:pt x="8" y="215"/>
                  </a:cubicBezTo>
                  <a:cubicBezTo>
                    <a:pt x="9" y="215"/>
                    <a:pt x="9" y="215"/>
                    <a:pt x="9" y="215"/>
                  </a:cubicBezTo>
                  <a:cubicBezTo>
                    <a:pt x="9" y="215"/>
                    <a:pt x="9" y="216"/>
                    <a:pt x="10" y="216"/>
                  </a:cubicBezTo>
                  <a:cubicBezTo>
                    <a:pt x="10" y="216"/>
                    <a:pt x="10" y="216"/>
                    <a:pt x="10" y="216"/>
                  </a:cubicBezTo>
                  <a:cubicBezTo>
                    <a:pt x="10" y="217"/>
                    <a:pt x="10" y="217"/>
                    <a:pt x="11" y="218"/>
                  </a:cubicBezTo>
                  <a:cubicBezTo>
                    <a:pt x="11" y="218"/>
                    <a:pt x="12" y="218"/>
                    <a:pt x="12" y="218"/>
                  </a:cubicBezTo>
                  <a:cubicBezTo>
                    <a:pt x="12" y="219"/>
                    <a:pt x="12" y="219"/>
                    <a:pt x="12" y="219"/>
                  </a:cubicBezTo>
                  <a:cubicBezTo>
                    <a:pt x="12" y="219"/>
                    <a:pt x="12" y="219"/>
                    <a:pt x="12" y="219"/>
                  </a:cubicBezTo>
                  <a:close/>
                  <a:moveTo>
                    <a:pt x="36" y="210"/>
                  </a:moveTo>
                  <a:cubicBezTo>
                    <a:pt x="35" y="210"/>
                    <a:pt x="35" y="210"/>
                    <a:pt x="35" y="210"/>
                  </a:cubicBezTo>
                  <a:cubicBezTo>
                    <a:pt x="35" y="210"/>
                    <a:pt x="35" y="210"/>
                    <a:pt x="35" y="210"/>
                  </a:cubicBezTo>
                  <a:cubicBezTo>
                    <a:pt x="35" y="211"/>
                    <a:pt x="35" y="211"/>
                    <a:pt x="35" y="211"/>
                  </a:cubicBezTo>
                  <a:cubicBezTo>
                    <a:pt x="35" y="211"/>
                    <a:pt x="35" y="211"/>
                    <a:pt x="35" y="211"/>
                  </a:cubicBezTo>
                  <a:cubicBezTo>
                    <a:pt x="36" y="211"/>
                    <a:pt x="36" y="211"/>
                    <a:pt x="36" y="211"/>
                  </a:cubicBezTo>
                  <a:cubicBezTo>
                    <a:pt x="36" y="211"/>
                    <a:pt x="36" y="210"/>
                    <a:pt x="36" y="210"/>
                  </a:cubicBezTo>
                  <a:close/>
                  <a:moveTo>
                    <a:pt x="282" y="37"/>
                  </a:moveTo>
                  <a:cubicBezTo>
                    <a:pt x="283" y="38"/>
                    <a:pt x="283" y="38"/>
                    <a:pt x="284" y="38"/>
                  </a:cubicBezTo>
                  <a:cubicBezTo>
                    <a:pt x="284" y="38"/>
                    <a:pt x="284" y="38"/>
                    <a:pt x="284" y="38"/>
                  </a:cubicBezTo>
                  <a:cubicBezTo>
                    <a:pt x="284" y="37"/>
                    <a:pt x="284" y="37"/>
                    <a:pt x="284" y="37"/>
                  </a:cubicBezTo>
                  <a:cubicBezTo>
                    <a:pt x="283" y="37"/>
                    <a:pt x="283" y="37"/>
                    <a:pt x="282" y="37"/>
                  </a:cubicBezTo>
                  <a:cubicBezTo>
                    <a:pt x="282" y="37"/>
                    <a:pt x="282" y="37"/>
                    <a:pt x="282" y="37"/>
                  </a:cubicBezTo>
                  <a:close/>
                  <a:moveTo>
                    <a:pt x="284" y="36"/>
                  </a:moveTo>
                  <a:cubicBezTo>
                    <a:pt x="283" y="36"/>
                    <a:pt x="283" y="36"/>
                    <a:pt x="283" y="36"/>
                  </a:cubicBezTo>
                  <a:cubicBezTo>
                    <a:pt x="283" y="36"/>
                    <a:pt x="283" y="36"/>
                    <a:pt x="283" y="36"/>
                  </a:cubicBezTo>
                  <a:cubicBezTo>
                    <a:pt x="282" y="36"/>
                    <a:pt x="282" y="36"/>
                    <a:pt x="282" y="36"/>
                  </a:cubicBezTo>
                  <a:cubicBezTo>
                    <a:pt x="282" y="36"/>
                    <a:pt x="282" y="36"/>
                    <a:pt x="282" y="36"/>
                  </a:cubicBezTo>
                  <a:cubicBezTo>
                    <a:pt x="283" y="37"/>
                    <a:pt x="284" y="37"/>
                    <a:pt x="284" y="37"/>
                  </a:cubicBezTo>
                  <a:cubicBezTo>
                    <a:pt x="284" y="37"/>
                    <a:pt x="284" y="37"/>
                    <a:pt x="284" y="37"/>
                  </a:cubicBezTo>
                  <a:cubicBezTo>
                    <a:pt x="284" y="36"/>
                    <a:pt x="284" y="36"/>
                    <a:pt x="284" y="36"/>
                  </a:cubicBezTo>
                  <a:close/>
                  <a:moveTo>
                    <a:pt x="285" y="41"/>
                  </a:moveTo>
                  <a:cubicBezTo>
                    <a:pt x="285" y="41"/>
                    <a:pt x="285" y="41"/>
                    <a:pt x="285" y="41"/>
                  </a:cubicBezTo>
                  <a:cubicBezTo>
                    <a:pt x="285" y="41"/>
                    <a:pt x="284" y="41"/>
                    <a:pt x="284" y="42"/>
                  </a:cubicBezTo>
                  <a:cubicBezTo>
                    <a:pt x="284" y="42"/>
                    <a:pt x="284" y="42"/>
                    <a:pt x="284" y="42"/>
                  </a:cubicBezTo>
                  <a:cubicBezTo>
                    <a:pt x="284" y="42"/>
                    <a:pt x="284" y="42"/>
                    <a:pt x="284" y="42"/>
                  </a:cubicBezTo>
                  <a:cubicBezTo>
                    <a:pt x="287" y="43"/>
                    <a:pt x="291" y="43"/>
                    <a:pt x="292" y="42"/>
                  </a:cubicBezTo>
                  <a:cubicBezTo>
                    <a:pt x="292" y="42"/>
                    <a:pt x="292" y="42"/>
                    <a:pt x="292" y="42"/>
                  </a:cubicBezTo>
                  <a:cubicBezTo>
                    <a:pt x="292" y="41"/>
                    <a:pt x="292" y="41"/>
                    <a:pt x="292" y="41"/>
                  </a:cubicBezTo>
                  <a:cubicBezTo>
                    <a:pt x="292" y="41"/>
                    <a:pt x="292" y="41"/>
                    <a:pt x="292" y="41"/>
                  </a:cubicBezTo>
                  <a:cubicBezTo>
                    <a:pt x="287" y="41"/>
                    <a:pt x="286" y="41"/>
                    <a:pt x="285" y="41"/>
                  </a:cubicBezTo>
                  <a:close/>
                  <a:moveTo>
                    <a:pt x="307" y="42"/>
                  </a:moveTo>
                  <a:cubicBezTo>
                    <a:pt x="307" y="42"/>
                    <a:pt x="308" y="42"/>
                    <a:pt x="309" y="42"/>
                  </a:cubicBezTo>
                  <a:cubicBezTo>
                    <a:pt x="309" y="41"/>
                    <a:pt x="309" y="41"/>
                    <a:pt x="309" y="41"/>
                  </a:cubicBezTo>
                  <a:cubicBezTo>
                    <a:pt x="309" y="41"/>
                    <a:pt x="309" y="41"/>
                    <a:pt x="308" y="39"/>
                  </a:cubicBezTo>
                  <a:cubicBezTo>
                    <a:pt x="308" y="38"/>
                    <a:pt x="308" y="38"/>
                    <a:pt x="308" y="38"/>
                  </a:cubicBezTo>
                  <a:cubicBezTo>
                    <a:pt x="307" y="38"/>
                    <a:pt x="307" y="38"/>
                    <a:pt x="307" y="38"/>
                  </a:cubicBezTo>
                  <a:cubicBezTo>
                    <a:pt x="307" y="38"/>
                    <a:pt x="307" y="38"/>
                    <a:pt x="307" y="38"/>
                  </a:cubicBezTo>
                  <a:cubicBezTo>
                    <a:pt x="307" y="38"/>
                    <a:pt x="307" y="38"/>
                    <a:pt x="307" y="38"/>
                  </a:cubicBezTo>
                  <a:cubicBezTo>
                    <a:pt x="307" y="38"/>
                    <a:pt x="307" y="38"/>
                    <a:pt x="307" y="38"/>
                  </a:cubicBezTo>
                  <a:cubicBezTo>
                    <a:pt x="306" y="38"/>
                    <a:pt x="306" y="38"/>
                    <a:pt x="306" y="39"/>
                  </a:cubicBezTo>
                  <a:cubicBezTo>
                    <a:pt x="305" y="39"/>
                    <a:pt x="305" y="39"/>
                    <a:pt x="305" y="40"/>
                  </a:cubicBezTo>
                  <a:cubicBezTo>
                    <a:pt x="304" y="40"/>
                    <a:pt x="304" y="40"/>
                    <a:pt x="304" y="40"/>
                  </a:cubicBezTo>
                  <a:cubicBezTo>
                    <a:pt x="305" y="40"/>
                    <a:pt x="305" y="40"/>
                    <a:pt x="305" y="40"/>
                  </a:cubicBezTo>
                  <a:cubicBezTo>
                    <a:pt x="306" y="41"/>
                    <a:pt x="306" y="42"/>
                    <a:pt x="307" y="42"/>
                  </a:cubicBezTo>
                  <a:close/>
                  <a:moveTo>
                    <a:pt x="405" y="248"/>
                  </a:moveTo>
                  <a:cubicBezTo>
                    <a:pt x="405" y="248"/>
                    <a:pt x="405" y="248"/>
                    <a:pt x="405" y="248"/>
                  </a:cubicBezTo>
                  <a:cubicBezTo>
                    <a:pt x="404" y="250"/>
                    <a:pt x="404" y="252"/>
                    <a:pt x="403" y="254"/>
                  </a:cubicBezTo>
                  <a:cubicBezTo>
                    <a:pt x="402" y="255"/>
                    <a:pt x="402" y="257"/>
                    <a:pt x="401" y="259"/>
                  </a:cubicBezTo>
                  <a:cubicBezTo>
                    <a:pt x="399" y="264"/>
                    <a:pt x="397" y="265"/>
                    <a:pt x="396" y="265"/>
                  </a:cubicBezTo>
                  <a:cubicBezTo>
                    <a:pt x="395" y="266"/>
                    <a:pt x="395" y="266"/>
                    <a:pt x="393" y="271"/>
                  </a:cubicBezTo>
                  <a:cubicBezTo>
                    <a:pt x="392" y="273"/>
                    <a:pt x="392" y="275"/>
                    <a:pt x="391" y="277"/>
                  </a:cubicBezTo>
                  <a:cubicBezTo>
                    <a:pt x="391" y="278"/>
                    <a:pt x="390" y="279"/>
                    <a:pt x="390" y="281"/>
                  </a:cubicBezTo>
                  <a:cubicBezTo>
                    <a:pt x="389" y="283"/>
                    <a:pt x="389" y="283"/>
                    <a:pt x="385" y="290"/>
                  </a:cubicBezTo>
                  <a:cubicBezTo>
                    <a:pt x="385" y="291"/>
                    <a:pt x="383" y="293"/>
                    <a:pt x="379" y="305"/>
                  </a:cubicBezTo>
                  <a:cubicBezTo>
                    <a:pt x="379" y="305"/>
                    <a:pt x="378" y="307"/>
                    <a:pt x="379" y="309"/>
                  </a:cubicBezTo>
                  <a:cubicBezTo>
                    <a:pt x="379" y="309"/>
                    <a:pt x="379" y="309"/>
                    <a:pt x="379" y="309"/>
                  </a:cubicBezTo>
                  <a:cubicBezTo>
                    <a:pt x="379" y="309"/>
                    <a:pt x="379" y="309"/>
                    <a:pt x="379" y="309"/>
                  </a:cubicBezTo>
                  <a:cubicBezTo>
                    <a:pt x="385" y="307"/>
                    <a:pt x="401" y="270"/>
                    <a:pt x="401" y="270"/>
                  </a:cubicBezTo>
                  <a:cubicBezTo>
                    <a:pt x="402" y="266"/>
                    <a:pt x="402" y="266"/>
                    <a:pt x="402" y="266"/>
                  </a:cubicBezTo>
                  <a:cubicBezTo>
                    <a:pt x="402" y="266"/>
                    <a:pt x="402" y="266"/>
                    <a:pt x="403" y="265"/>
                  </a:cubicBezTo>
                  <a:cubicBezTo>
                    <a:pt x="403" y="265"/>
                    <a:pt x="406" y="256"/>
                    <a:pt x="406" y="248"/>
                  </a:cubicBezTo>
                  <a:cubicBezTo>
                    <a:pt x="406" y="248"/>
                    <a:pt x="406" y="248"/>
                    <a:pt x="406" y="248"/>
                  </a:cubicBezTo>
                  <a:cubicBezTo>
                    <a:pt x="405" y="248"/>
                    <a:pt x="405" y="248"/>
                    <a:pt x="405" y="248"/>
                  </a:cubicBezTo>
                  <a:close/>
                  <a:moveTo>
                    <a:pt x="284" y="37"/>
                  </a:moveTo>
                  <a:cubicBezTo>
                    <a:pt x="284" y="37"/>
                    <a:pt x="284" y="37"/>
                    <a:pt x="284" y="37"/>
                  </a:cubicBezTo>
                  <a:cubicBezTo>
                    <a:pt x="284" y="37"/>
                    <a:pt x="284" y="37"/>
                    <a:pt x="284" y="37"/>
                  </a:cubicBezTo>
                  <a:cubicBezTo>
                    <a:pt x="284" y="37"/>
                    <a:pt x="284" y="37"/>
                    <a:pt x="284" y="37"/>
                  </a:cubicBezTo>
                  <a:cubicBezTo>
                    <a:pt x="285" y="38"/>
                    <a:pt x="285" y="38"/>
                    <a:pt x="285" y="38"/>
                  </a:cubicBezTo>
                  <a:cubicBezTo>
                    <a:pt x="285" y="38"/>
                    <a:pt x="285" y="38"/>
                    <a:pt x="286" y="38"/>
                  </a:cubicBezTo>
                  <a:cubicBezTo>
                    <a:pt x="286" y="38"/>
                    <a:pt x="286" y="38"/>
                    <a:pt x="286" y="38"/>
                  </a:cubicBezTo>
                  <a:cubicBezTo>
                    <a:pt x="286" y="38"/>
                    <a:pt x="286" y="38"/>
                    <a:pt x="286" y="38"/>
                  </a:cubicBezTo>
                  <a:cubicBezTo>
                    <a:pt x="285" y="37"/>
                    <a:pt x="285" y="37"/>
                    <a:pt x="285" y="37"/>
                  </a:cubicBezTo>
                  <a:cubicBezTo>
                    <a:pt x="285" y="37"/>
                    <a:pt x="285" y="37"/>
                    <a:pt x="285" y="37"/>
                  </a:cubicBezTo>
                  <a:cubicBezTo>
                    <a:pt x="286" y="37"/>
                    <a:pt x="286" y="37"/>
                    <a:pt x="286" y="37"/>
                  </a:cubicBezTo>
                  <a:cubicBezTo>
                    <a:pt x="287" y="38"/>
                    <a:pt x="287" y="38"/>
                    <a:pt x="287" y="38"/>
                  </a:cubicBezTo>
                  <a:cubicBezTo>
                    <a:pt x="288" y="38"/>
                    <a:pt x="288" y="38"/>
                    <a:pt x="288" y="38"/>
                  </a:cubicBezTo>
                  <a:cubicBezTo>
                    <a:pt x="288" y="38"/>
                    <a:pt x="288" y="38"/>
                    <a:pt x="288" y="38"/>
                  </a:cubicBezTo>
                  <a:cubicBezTo>
                    <a:pt x="288" y="38"/>
                    <a:pt x="288" y="38"/>
                    <a:pt x="288" y="38"/>
                  </a:cubicBezTo>
                  <a:cubicBezTo>
                    <a:pt x="288" y="37"/>
                    <a:pt x="288" y="37"/>
                    <a:pt x="288" y="37"/>
                  </a:cubicBezTo>
                  <a:cubicBezTo>
                    <a:pt x="287" y="37"/>
                    <a:pt x="287" y="37"/>
                    <a:pt x="287" y="37"/>
                  </a:cubicBezTo>
                  <a:cubicBezTo>
                    <a:pt x="287" y="37"/>
                    <a:pt x="287" y="37"/>
                    <a:pt x="287" y="37"/>
                  </a:cubicBezTo>
                  <a:cubicBezTo>
                    <a:pt x="286" y="37"/>
                    <a:pt x="286" y="37"/>
                    <a:pt x="286" y="37"/>
                  </a:cubicBezTo>
                  <a:cubicBezTo>
                    <a:pt x="286" y="36"/>
                    <a:pt x="286" y="36"/>
                    <a:pt x="286" y="36"/>
                  </a:cubicBezTo>
                  <a:cubicBezTo>
                    <a:pt x="286" y="37"/>
                    <a:pt x="286" y="37"/>
                    <a:pt x="286" y="37"/>
                  </a:cubicBezTo>
                  <a:cubicBezTo>
                    <a:pt x="286" y="37"/>
                    <a:pt x="286" y="37"/>
                    <a:pt x="286" y="37"/>
                  </a:cubicBezTo>
                  <a:cubicBezTo>
                    <a:pt x="285" y="36"/>
                    <a:pt x="285" y="36"/>
                    <a:pt x="285" y="36"/>
                  </a:cubicBezTo>
                  <a:cubicBezTo>
                    <a:pt x="285" y="36"/>
                    <a:pt x="285" y="36"/>
                    <a:pt x="285" y="36"/>
                  </a:cubicBezTo>
                  <a:cubicBezTo>
                    <a:pt x="285" y="36"/>
                    <a:pt x="285" y="36"/>
                    <a:pt x="285" y="36"/>
                  </a:cubicBezTo>
                  <a:cubicBezTo>
                    <a:pt x="285" y="36"/>
                    <a:pt x="285" y="36"/>
                    <a:pt x="285" y="36"/>
                  </a:cubicBezTo>
                  <a:cubicBezTo>
                    <a:pt x="285" y="37"/>
                    <a:pt x="285" y="37"/>
                    <a:pt x="285" y="37"/>
                  </a:cubicBezTo>
                  <a:cubicBezTo>
                    <a:pt x="285" y="37"/>
                    <a:pt x="285" y="37"/>
                    <a:pt x="285" y="37"/>
                  </a:cubicBezTo>
                  <a:cubicBezTo>
                    <a:pt x="285" y="37"/>
                    <a:pt x="285" y="37"/>
                    <a:pt x="285" y="37"/>
                  </a:cubicBezTo>
                  <a:cubicBezTo>
                    <a:pt x="285" y="37"/>
                    <a:pt x="285" y="37"/>
                    <a:pt x="284" y="37"/>
                  </a:cubicBezTo>
                  <a:close/>
                  <a:moveTo>
                    <a:pt x="390" y="266"/>
                  </a:moveTo>
                  <a:cubicBezTo>
                    <a:pt x="391" y="265"/>
                    <a:pt x="392" y="263"/>
                    <a:pt x="392" y="261"/>
                  </a:cubicBezTo>
                  <a:cubicBezTo>
                    <a:pt x="394" y="256"/>
                    <a:pt x="397" y="240"/>
                    <a:pt x="397" y="239"/>
                  </a:cubicBezTo>
                  <a:cubicBezTo>
                    <a:pt x="397" y="239"/>
                    <a:pt x="397" y="239"/>
                    <a:pt x="397" y="239"/>
                  </a:cubicBezTo>
                  <a:cubicBezTo>
                    <a:pt x="396" y="238"/>
                    <a:pt x="396" y="237"/>
                    <a:pt x="396" y="235"/>
                  </a:cubicBezTo>
                  <a:cubicBezTo>
                    <a:pt x="396" y="233"/>
                    <a:pt x="397" y="231"/>
                    <a:pt x="397" y="230"/>
                  </a:cubicBezTo>
                  <a:cubicBezTo>
                    <a:pt x="397" y="228"/>
                    <a:pt x="397" y="226"/>
                    <a:pt x="397" y="224"/>
                  </a:cubicBezTo>
                  <a:cubicBezTo>
                    <a:pt x="397" y="222"/>
                    <a:pt x="397" y="220"/>
                    <a:pt x="396" y="218"/>
                  </a:cubicBezTo>
                  <a:cubicBezTo>
                    <a:pt x="396" y="217"/>
                    <a:pt x="396" y="216"/>
                    <a:pt x="396" y="215"/>
                  </a:cubicBezTo>
                  <a:cubicBezTo>
                    <a:pt x="396" y="214"/>
                    <a:pt x="396" y="214"/>
                    <a:pt x="396" y="214"/>
                  </a:cubicBezTo>
                  <a:cubicBezTo>
                    <a:pt x="396" y="214"/>
                    <a:pt x="396" y="214"/>
                    <a:pt x="396" y="214"/>
                  </a:cubicBezTo>
                  <a:cubicBezTo>
                    <a:pt x="403" y="193"/>
                    <a:pt x="406" y="176"/>
                    <a:pt x="406" y="161"/>
                  </a:cubicBezTo>
                  <a:cubicBezTo>
                    <a:pt x="406" y="149"/>
                    <a:pt x="404" y="139"/>
                    <a:pt x="399" y="131"/>
                  </a:cubicBezTo>
                  <a:cubicBezTo>
                    <a:pt x="399" y="131"/>
                    <a:pt x="399" y="131"/>
                    <a:pt x="399" y="131"/>
                  </a:cubicBezTo>
                  <a:cubicBezTo>
                    <a:pt x="399" y="131"/>
                    <a:pt x="399" y="131"/>
                    <a:pt x="399" y="131"/>
                  </a:cubicBezTo>
                  <a:cubicBezTo>
                    <a:pt x="399" y="132"/>
                    <a:pt x="398" y="133"/>
                    <a:pt x="398" y="133"/>
                  </a:cubicBezTo>
                  <a:cubicBezTo>
                    <a:pt x="397" y="133"/>
                    <a:pt x="397" y="133"/>
                    <a:pt x="397" y="133"/>
                  </a:cubicBezTo>
                  <a:cubicBezTo>
                    <a:pt x="397" y="134"/>
                    <a:pt x="397" y="134"/>
                    <a:pt x="397" y="134"/>
                  </a:cubicBezTo>
                  <a:cubicBezTo>
                    <a:pt x="396" y="134"/>
                    <a:pt x="396" y="135"/>
                    <a:pt x="396" y="135"/>
                  </a:cubicBezTo>
                  <a:cubicBezTo>
                    <a:pt x="395" y="134"/>
                    <a:pt x="395" y="134"/>
                    <a:pt x="395" y="134"/>
                  </a:cubicBezTo>
                  <a:cubicBezTo>
                    <a:pt x="394" y="135"/>
                    <a:pt x="394" y="135"/>
                    <a:pt x="394" y="135"/>
                  </a:cubicBezTo>
                  <a:cubicBezTo>
                    <a:pt x="391" y="133"/>
                    <a:pt x="373" y="108"/>
                    <a:pt x="373" y="107"/>
                  </a:cubicBezTo>
                  <a:cubicBezTo>
                    <a:pt x="360" y="86"/>
                    <a:pt x="340" y="69"/>
                    <a:pt x="330" y="62"/>
                  </a:cubicBezTo>
                  <a:cubicBezTo>
                    <a:pt x="332" y="63"/>
                    <a:pt x="332" y="63"/>
                    <a:pt x="333" y="63"/>
                  </a:cubicBezTo>
                  <a:cubicBezTo>
                    <a:pt x="334" y="63"/>
                    <a:pt x="334" y="63"/>
                    <a:pt x="334" y="63"/>
                  </a:cubicBezTo>
                  <a:cubicBezTo>
                    <a:pt x="333" y="62"/>
                    <a:pt x="333" y="62"/>
                    <a:pt x="333" y="62"/>
                  </a:cubicBezTo>
                  <a:cubicBezTo>
                    <a:pt x="335" y="64"/>
                    <a:pt x="366" y="93"/>
                    <a:pt x="366" y="93"/>
                  </a:cubicBezTo>
                  <a:cubicBezTo>
                    <a:pt x="371" y="97"/>
                    <a:pt x="374" y="103"/>
                    <a:pt x="377" y="109"/>
                  </a:cubicBezTo>
                  <a:cubicBezTo>
                    <a:pt x="380" y="116"/>
                    <a:pt x="383" y="122"/>
                    <a:pt x="389" y="127"/>
                  </a:cubicBezTo>
                  <a:cubicBezTo>
                    <a:pt x="389" y="127"/>
                    <a:pt x="389" y="127"/>
                    <a:pt x="389" y="127"/>
                  </a:cubicBezTo>
                  <a:cubicBezTo>
                    <a:pt x="391" y="126"/>
                    <a:pt x="391" y="126"/>
                    <a:pt x="391" y="126"/>
                  </a:cubicBezTo>
                  <a:cubicBezTo>
                    <a:pt x="391" y="126"/>
                    <a:pt x="391" y="126"/>
                    <a:pt x="391" y="126"/>
                  </a:cubicBezTo>
                  <a:cubicBezTo>
                    <a:pt x="391" y="126"/>
                    <a:pt x="391" y="126"/>
                    <a:pt x="391" y="126"/>
                  </a:cubicBezTo>
                  <a:cubicBezTo>
                    <a:pt x="391" y="125"/>
                    <a:pt x="391" y="125"/>
                    <a:pt x="391" y="124"/>
                  </a:cubicBezTo>
                  <a:cubicBezTo>
                    <a:pt x="392" y="124"/>
                    <a:pt x="392" y="124"/>
                    <a:pt x="392" y="124"/>
                  </a:cubicBezTo>
                  <a:cubicBezTo>
                    <a:pt x="392" y="124"/>
                    <a:pt x="392" y="124"/>
                    <a:pt x="392" y="124"/>
                  </a:cubicBezTo>
                  <a:cubicBezTo>
                    <a:pt x="392" y="123"/>
                    <a:pt x="393" y="122"/>
                    <a:pt x="393" y="122"/>
                  </a:cubicBezTo>
                  <a:cubicBezTo>
                    <a:pt x="393" y="122"/>
                    <a:pt x="393" y="122"/>
                    <a:pt x="393" y="122"/>
                  </a:cubicBezTo>
                  <a:cubicBezTo>
                    <a:pt x="393" y="119"/>
                    <a:pt x="393" y="119"/>
                    <a:pt x="393" y="119"/>
                  </a:cubicBezTo>
                  <a:cubicBezTo>
                    <a:pt x="394" y="118"/>
                    <a:pt x="394" y="118"/>
                    <a:pt x="394" y="118"/>
                  </a:cubicBezTo>
                  <a:cubicBezTo>
                    <a:pt x="394" y="118"/>
                    <a:pt x="394" y="118"/>
                    <a:pt x="394" y="118"/>
                  </a:cubicBezTo>
                  <a:cubicBezTo>
                    <a:pt x="394" y="117"/>
                    <a:pt x="394" y="117"/>
                    <a:pt x="394" y="117"/>
                  </a:cubicBezTo>
                  <a:cubicBezTo>
                    <a:pt x="394" y="117"/>
                    <a:pt x="394" y="116"/>
                    <a:pt x="394" y="116"/>
                  </a:cubicBezTo>
                  <a:cubicBezTo>
                    <a:pt x="394" y="116"/>
                    <a:pt x="394" y="116"/>
                    <a:pt x="392" y="112"/>
                  </a:cubicBezTo>
                  <a:cubicBezTo>
                    <a:pt x="392" y="112"/>
                    <a:pt x="392" y="112"/>
                    <a:pt x="392" y="112"/>
                  </a:cubicBezTo>
                  <a:cubicBezTo>
                    <a:pt x="392" y="112"/>
                    <a:pt x="392" y="112"/>
                    <a:pt x="392" y="111"/>
                  </a:cubicBezTo>
                  <a:cubicBezTo>
                    <a:pt x="392" y="109"/>
                    <a:pt x="391" y="105"/>
                    <a:pt x="384" y="94"/>
                  </a:cubicBezTo>
                  <a:cubicBezTo>
                    <a:pt x="383" y="93"/>
                    <a:pt x="382" y="90"/>
                    <a:pt x="380" y="89"/>
                  </a:cubicBezTo>
                  <a:cubicBezTo>
                    <a:pt x="379" y="87"/>
                    <a:pt x="379" y="87"/>
                    <a:pt x="379" y="87"/>
                  </a:cubicBezTo>
                  <a:cubicBezTo>
                    <a:pt x="379" y="87"/>
                    <a:pt x="379" y="87"/>
                    <a:pt x="379" y="87"/>
                  </a:cubicBezTo>
                  <a:cubicBezTo>
                    <a:pt x="378" y="85"/>
                    <a:pt x="376" y="83"/>
                    <a:pt x="371" y="77"/>
                  </a:cubicBezTo>
                  <a:cubicBezTo>
                    <a:pt x="371" y="77"/>
                    <a:pt x="371" y="77"/>
                    <a:pt x="371" y="77"/>
                  </a:cubicBezTo>
                  <a:cubicBezTo>
                    <a:pt x="371" y="77"/>
                    <a:pt x="371" y="77"/>
                    <a:pt x="371" y="77"/>
                  </a:cubicBezTo>
                  <a:cubicBezTo>
                    <a:pt x="365" y="70"/>
                    <a:pt x="357" y="61"/>
                    <a:pt x="350" y="55"/>
                  </a:cubicBezTo>
                  <a:cubicBezTo>
                    <a:pt x="342" y="47"/>
                    <a:pt x="342" y="47"/>
                    <a:pt x="342" y="47"/>
                  </a:cubicBezTo>
                  <a:cubicBezTo>
                    <a:pt x="341" y="47"/>
                    <a:pt x="341" y="47"/>
                    <a:pt x="341" y="47"/>
                  </a:cubicBezTo>
                  <a:cubicBezTo>
                    <a:pt x="341" y="47"/>
                    <a:pt x="341" y="47"/>
                    <a:pt x="341" y="47"/>
                  </a:cubicBezTo>
                  <a:cubicBezTo>
                    <a:pt x="341" y="47"/>
                    <a:pt x="341" y="47"/>
                    <a:pt x="341" y="47"/>
                  </a:cubicBezTo>
                  <a:cubicBezTo>
                    <a:pt x="341" y="47"/>
                    <a:pt x="341" y="47"/>
                    <a:pt x="340" y="46"/>
                  </a:cubicBezTo>
                  <a:cubicBezTo>
                    <a:pt x="335" y="42"/>
                    <a:pt x="329" y="38"/>
                    <a:pt x="324" y="34"/>
                  </a:cubicBezTo>
                  <a:cubicBezTo>
                    <a:pt x="307" y="24"/>
                    <a:pt x="306" y="23"/>
                    <a:pt x="295" y="18"/>
                  </a:cubicBezTo>
                  <a:cubicBezTo>
                    <a:pt x="277" y="11"/>
                    <a:pt x="276" y="11"/>
                    <a:pt x="264" y="7"/>
                  </a:cubicBezTo>
                  <a:cubicBezTo>
                    <a:pt x="246" y="3"/>
                    <a:pt x="244" y="3"/>
                    <a:pt x="230" y="1"/>
                  </a:cubicBezTo>
                  <a:cubicBezTo>
                    <a:pt x="218" y="0"/>
                    <a:pt x="211" y="0"/>
                    <a:pt x="195" y="0"/>
                  </a:cubicBezTo>
                  <a:cubicBezTo>
                    <a:pt x="195" y="0"/>
                    <a:pt x="195" y="0"/>
                    <a:pt x="195" y="0"/>
                  </a:cubicBezTo>
                  <a:cubicBezTo>
                    <a:pt x="195" y="1"/>
                    <a:pt x="195" y="1"/>
                    <a:pt x="195" y="1"/>
                  </a:cubicBezTo>
                  <a:cubicBezTo>
                    <a:pt x="189" y="1"/>
                    <a:pt x="186" y="1"/>
                    <a:pt x="180" y="2"/>
                  </a:cubicBezTo>
                  <a:cubicBezTo>
                    <a:pt x="177" y="2"/>
                    <a:pt x="173" y="3"/>
                    <a:pt x="170" y="4"/>
                  </a:cubicBezTo>
                  <a:cubicBezTo>
                    <a:pt x="169" y="4"/>
                    <a:pt x="169" y="4"/>
                    <a:pt x="169" y="4"/>
                  </a:cubicBezTo>
                  <a:cubicBezTo>
                    <a:pt x="169" y="4"/>
                    <a:pt x="169" y="4"/>
                    <a:pt x="169" y="4"/>
                  </a:cubicBezTo>
                  <a:cubicBezTo>
                    <a:pt x="169" y="4"/>
                    <a:pt x="169" y="4"/>
                    <a:pt x="169" y="4"/>
                  </a:cubicBezTo>
                  <a:cubicBezTo>
                    <a:pt x="172" y="4"/>
                    <a:pt x="173" y="4"/>
                    <a:pt x="174" y="4"/>
                  </a:cubicBezTo>
                  <a:cubicBezTo>
                    <a:pt x="175" y="4"/>
                    <a:pt x="175" y="4"/>
                    <a:pt x="176" y="4"/>
                  </a:cubicBezTo>
                  <a:cubicBezTo>
                    <a:pt x="176" y="4"/>
                    <a:pt x="176" y="4"/>
                    <a:pt x="176" y="4"/>
                  </a:cubicBezTo>
                  <a:cubicBezTo>
                    <a:pt x="176" y="6"/>
                    <a:pt x="176" y="6"/>
                    <a:pt x="176" y="6"/>
                  </a:cubicBezTo>
                  <a:cubicBezTo>
                    <a:pt x="176" y="6"/>
                    <a:pt x="176" y="6"/>
                    <a:pt x="176" y="6"/>
                  </a:cubicBezTo>
                  <a:cubicBezTo>
                    <a:pt x="177" y="7"/>
                    <a:pt x="184" y="9"/>
                    <a:pt x="187" y="8"/>
                  </a:cubicBezTo>
                  <a:cubicBezTo>
                    <a:pt x="188" y="8"/>
                    <a:pt x="189" y="7"/>
                    <a:pt x="189" y="6"/>
                  </a:cubicBezTo>
                  <a:cubicBezTo>
                    <a:pt x="190" y="6"/>
                    <a:pt x="191" y="7"/>
                    <a:pt x="194" y="7"/>
                  </a:cubicBezTo>
                  <a:cubicBezTo>
                    <a:pt x="193" y="7"/>
                    <a:pt x="193" y="7"/>
                    <a:pt x="192" y="7"/>
                  </a:cubicBezTo>
                  <a:cubicBezTo>
                    <a:pt x="192" y="7"/>
                    <a:pt x="192" y="7"/>
                    <a:pt x="192" y="7"/>
                  </a:cubicBezTo>
                  <a:cubicBezTo>
                    <a:pt x="191" y="8"/>
                    <a:pt x="191" y="8"/>
                    <a:pt x="191" y="8"/>
                  </a:cubicBezTo>
                  <a:cubicBezTo>
                    <a:pt x="191" y="8"/>
                    <a:pt x="191" y="8"/>
                    <a:pt x="191" y="8"/>
                  </a:cubicBezTo>
                  <a:cubicBezTo>
                    <a:pt x="192" y="9"/>
                    <a:pt x="192" y="9"/>
                    <a:pt x="198" y="11"/>
                  </a:cubicBezTo>
                  <a:cubicBezTo>
                    <a:pt x="197" y="12"/>
                    <a:pt x="197" y="12"/>
                    <a:pt x="196" y="13"/>
                  </a:cubicBezTo>
                  <a:cubicBezTo>
                    <a:pt x="196" y="13"/>
                    <a:pt x="195" y="13"/>
                    <a:pt x="195" y="14"/>
                  </a:cubicBezTo>
                  <a:cubicBezTo>
                    <a:pt x="194" y="14"/>
                    <a:pt x="194" y="14"/>
                    <a:pt x="194" y="14"/>
                  </a:cubicBezTo>
                  <a:cubicBezTo>
                    <a:pt x="194" y="14"/>
                    <a:pt x="194" y="14"/>
                    <a:pt x="194" y="14"/>
                  </a:cubicBezTo>
                  <a:cubicBezTo>
                    <a:pt x="195" y="15"/>
                    <a:pt x="195" y="15"/>
                    <a:pt x="195" y="16"/>
                  </a:cubicBezTo>
                  <a:cubicBezTo>
                    <a:pt x="195" y="17"/>
                    <a:pt x="194" y="17"/>
                    <a:pt x="193" y="19"/>
                  </a:cubicBezTo>
                  <a:cubicBezTo>
                    <a:pt x="193" y="19"/>
                    <a:pt x="193" y="19"/>
                    <a:pt x="193" y="19"/>
                  </a:cubicBezTo>
                  <a:cubicBezTo>
                    <a:pt x="192" y="18"/>
                    <a:pt x="192" y="18"/>
                    <a:pt x="192" y="18"/>
                  </a:cubicBezTo>
                  <a:cubicBezTo>
                    <a:pt x="192" y="18"/>
                    <a:pt x="191" y="18"/>
                    <a:pt x="191" y="18"/>
                  </a:cubicBezTo>
                  <a:cubicBezTo>
                    <a:pt x="191" y="18"/>
                    <a:pt x="191" y="18"/>
                    <a:pt x="191" y="18"/>
                  </a:cubicBezTo>
                  <a:cubicBezTo>
                    <a:pt x="191" y="17"/>
                    <a:pt x="191" y="17"/>
                    <a:pt x="191" y="17"/>
                  </a:cubicBezTo>
                  <a:cubicBezTo>
                    <a:pt x="191" y="17"/>
                    <a:pt x="191" y="17"/>
                    <a:pt x="191" y="17"/>
                  </a:cubicBezTo>
                  <a:cubicBezTo>
                    <a:pt x="190" y="16"/>
                    <a:pt x="189" y="16"/>
                    <a:pt x="188" y="16"/>
                  </a:cubicBezTo>
                  <a:cubicBezTo>
                    <a:pt x="187" y="16"/>
                    <a:pt x="187" y="16"/>
                    <a:pt x="186" y="16"/>
                  </a:cubicBezTo>
                  <a:cubicBezTo>
                    <a:pt x="185" y="15"/>
                    <a:pt x="185" y="15"/>
                    <a:pt x="185" y="15"/>
                  </a:cubicBezTo>
                  <a:cubicBezTo>
                    <a:pt x="185" y="15"/>
                    <a:pt x="184" y="15"/>
                    <a:pt x="184" y="15"/>
                  </a:cubicBezTo>
                  <a:cubicBezTo>
                    <a:pt x="184" y="15"/>
                    <a:pt x="183" y="14"/>
                    <a:pt x="182" y="14"/>
                  </a:cubicBezTo>
                  <a:cubicBezTo>
                    <a:pt x="181" y="14"/>
                    <a:pt x="181" y="14"/>
                    <a:pt x="181" y="14"/>
                  </a:cubicBezTo>
                  <a:cubicBezTo>
                    <a:pt x="181" y="14"/>
                    <a:pt x="177" y="13"/>
                    <a:pt x="176" y="13"/>
                  </a:cubicBezTo>
                  <a:cubicBezTo>
                    <a:pt x="177" y="13"/>
                    <a:pt x="177" y="13"/>
                    <a:pt x="177" y="13"/>
                  </a:cubicBezTo>
                  <a:cubicBezTo>
                    <a:pt x="177" y="12"/>
                    <a:pt x="177" y="12"/>
                    <a:pt x="177" y="12"/>
                  </a:cubicBezTo>
                  <a:cubicBezTo>
                    <a:pt x="177" y="12"/>
                    <a:pt x="177" y="12"/>
                    <a:pt x="177" y="12"/>
                  </a:cubicBezTo>
                  <a:cubicBezTo>
                    <a:pt x="175" y="12"/>
                    <a:pt x="175" y="12"/>
                    <a:pt x="175" y="12"/>
                  </a:cubicBezTo>
                  <a:cubicBezTo>
                    <a:pt x="174" y="12"/>
                    <a:pt x="174" y="12"/>
                    <a:pt x="173" y="12"/>
                  </a:cubicBezTo>
                  <a:cubicBezTo>
                    <a:pt x="173" y="12"/>
                    <a:pt x="173" y="12"/>
                    <a:pt x="173" y="12"/>
                  </a:cubicBezTo>
                  <a:cubicBezTo>
                    <a:pt x="173" y="12"/>
                    <a:pt x="173" y="12"/>
                    <a:pt x="173" y="12"/>
                  </a:cubicBezTo>
                  <a:cubicBezTo>
                    <a:pt x="173" y="12"/>
                    <a:pt x="173" y="12"/>
                    <a:pt x="173" y="12"/>
                  </a:cubicBezTo>
                  <a:cubicBezTo>
                    <a:pt x="172" y="11"/>
                    <a:pt x="172" y="11"/>
                    <a:pt x="172" y="11"/>
                  </a:cubicBezTo>
                  <a:cubicBezTo>
                    <a:pt x="172" y="11"/>
                    <a:pt x="172" y="11"/>
                    <a:pt x="172" y="11"/>
                  </a:cubicBezTo>
                  <a:cubicBezTo>
                    <a:pt x="172" y="11"/>
                    <a:pt x="172" y="11"/>
                    <a:pt x="172" y="11"/>
                  </a:cubicBezTo>
                  <a:cubicBezTo>
                    <a:pt x="172" y="11"/>
                    <a:pt x="171" y="11"/>
                    <a:pt x="170" y="12"/>
                  </a:cubicBezTo>
                  <a:cubicBezTo>
                    <a:pt x="169" y="12"/>
                    <a:pt x="169" y="12"/>
                    <a:pt x="169" y="12"/>
                  </a:cubicBezTo>
                  <a:cubicBezTo>
                    <a:pt x="169" y="12"/>
                    <a:pt x="169" y="12"/>
                    <a:pt x="169" y="12"/>
                  </a:cubicBezTo>
                  <a:cubicBezTo>
                    <a:pt x="169" y="12"/>
                    <a:pt x="169" y="12"/>
                    <a:pt x="169" y="12"/>
                  </a:cubicBezTo>
                  <a:cubicBezTo>
                    <a:pt x="169" y="13"/>
                    <a:pt x="169" y="13"/>
                    <a:pt x="169" y="13"/>
                  </a:cubicBezTo>
                  <a:cubicBezTo>
                    <a:pt x="168" y="13"/>
                    <a:pt x="168" y="13"/>
                    <a:pt x="168" y="13"/>
                  </a:cubicBezTo>
                  <a:cubicBezTo>
                    <a:pt x="168" y="13"/>
                    <a:pt x="168" y="13"/>
                    <a:pt x="168" y="13"/>
                  </a:cubicBezTo>
                  <a:cubicBezTo>
                    <a:pt x="168" y="13"/>
                    <a:pt x="168" y="13"/>
                    <a:pt x="168" y="13"/>
                  </a:cubicBezTo>
                  <a:cubicBezTo>
                    <a:pt x="169" y="14"/>
                    <a:pt x="169" y="14"/>
                    <a:pt x="169" y="14"/>
                  </a:cubicBezTo>
                  <a:cubicBezTo>
                    <a:pt x="168" y="14"/>
                    <a:pt x="168" y="14"/>
                    <a:pt x="168" y="14"/>
                  </a:cubicBezTo>
                  <a:cubicBezTo>
                    <a:pt x="168" y="14"/>
                    <a:pt x="168" y="14"/>
                    <a:pt x="168" y="14"/>
                  </a:cubicBezTo>
                  <a:cubicBezTo>
                    <a:pt x="169" y="15"/>
                    <a:pt x="169" y="15"/>
                    <a:pt x="169" y="15"/>
                  </a:cubicBezTo>
                  <a:cubicBezTo>
                    <a:pt x="170" y="15"/>
                    <a:pt x="170" y="15"/>
                    <a:pt x="171" y="15"/>
                  </a:cubicBezTo>
                  <a:cubicBezTo>
                    <a:pt x="171" y="16"/>
                    <a:pt x="171" y="16"/>
                    <a:pt x="171" y="16"/>
                  </a:cubicBezTo>
                  <a:cubicBezTo>
                    <a:pt x="172" y="16"/>
                    <a:pt x="172" y="16"/>
                    <a:pt x="172" y="16"/>
                  </a:cubicBezTo>
                  <a:cubicBezTo>
                    <a:pt x="173" y="16"/>
                    <a:pt x="173" y="16"/>
                    <a:pt x="173" y="16"/>
                  </a:cubicBezTo>
                  <a:cubicBezTo>
                    <a:pt x="173" y="17"/>
                    <a:pt x="173" y="17"/>
                    <a:pt x="173" y="17"/>
                  </a:cubicBezTo>
                  <a:cubicBezTo>
                    <a:pt x="172" y="16"/>
                    <a:pt x="170" y="16"/>
                    <a:pt x="169" y="17"/>
                  </a:cubicBezTo>
                  <a:cubicBezTo>
                    <a:pt x="169" y="17"/>
                    <a:pt x="169" y="17"/>
                    <a:pt x="169" y="17"/>
                  </a:cubicBezTo>
                  <a:cubicBezTo>
                    <a:pt x="168" y="17"/>
                    <a:pt x="168" y="18"/>
                    <a:pt x="168" y="18"/>
                  </a:cubicBezTo>
                  <a:cubicBezTo>
                    <a:pt x="168" y="18"/>
                    <a:pt x="168" y="18"/>
                    <a:pt x="168" y="18"/>
                  </a:cubicBezTo>
                  <a:cubicBezTo>
                    <a:pt x="168" y="19"/>
                    <a:pt x="168" y="19"/>
                    <a:pt x="168" y="19"/>
                  </a:cubicBezTo>
                  <a:cubicBezTo>
                    <a:pt x="167" y="19"/>
                    <a:pt x="167" y="19"/>
                    <a:pt x="167" y="19"/>
                  </a:cubicBezTo>
                  <a:cubicBezTo>
                    <a:pt x="167" y="19"/>
                    <a:pt x="166" y="19"/>
                    <a:pt x="166" y="20"/>
                  </a:cubicBezTo>
                  <a:cubicBezTo>
                    <a:pt x="166" y="20"/>
                    <a:pt x="166" y="20"/>
                    <a:pt x="166" y="20"/>
                  </a:cubicBezTo>
                  <a:cubicBezTo>
                    <a:pt x="166" y="20"/>
                    <a:pt x="166" y="20"/>
                    <a:pt x="166" y="20"/>
                  </a:cubicBezTo>
                  <a:cubicBezTo>
                    <a:pt x="166" y="21"/>
                    <a:pt x="167" y="21"/>
                    <a:pt x="168" y="22"/>
                  </a:cubicBezTo>
                  <a:cubicBezTo>
                    <a:pt x="168" y="22"/>
                    <a:pt x="168" y="22"/>
                    <a:pt x="168" y="22"/>
                  </a:cubicBezTo>
                  <a:cubicBezTo>
                    <a:pt x="168" y="22"/>
                    <a:pt x="167" y="23"/>
                    <a:pt x="167" y="23"/>
                  </a:cubicBezTo>
                  <a:cubicBezTo>
                    <a:pt x="167" y="23"/>
                    <a:pt x="167" y="23"/>
                    <a:pt x="167" y="23"/>
                  </a:cubicBezTo>
                  <a:cubicBezTo>
                    <a:pt x="167" y="24"/>
                    <a:pt x="167" y="24"/>
                    <a:pt x="167" y="24"/>
                  </a:cubicBezTo>
                  <a:cubicBezTo>
                    <a:pt x="168" y="24"/>
                    <a:pt x="168" y="24"/>
                    <a:pt x="168" y="24"/>
                  </a:cubicBezTo>
                  <a:cubicBezTo>
                    <a:pt x="169" y="24"/>
                    <a:pt x="170" y="25"/>
                    <a:pt x="171" y="25"/>
                  </a:cubicBezTo>
                  <a:cubicBezTo>
                    <a:pt x="171" y="25"/>
                    <a:pt x="171" y="24"/>
                    <a:pt x="173" y="23"/>
                  </a:cubicBezTo>
                  <a:cubicBezTo>
                    <a:pt x="173" y="23"/>
                    <a:pt x="174" y="22"/>
                    <a:pt x="175" y="22"/>
                  </a:cubicBezTo>
                  <a:cubicBezTo>
                    <a:pt x="176" y="21"/>
                    <a:pt x="176" y="21"/>
                    <a:pt x="176" y="21"/>
                  </a:cubicBezTo>
                  <a:cubicBezTo>
                    <a:pt x="176" y="21"/>
                    <a:pt x="176" y="21"/>
                    <a:pt x="176" y="21"/>
                  </a:cubicBezTo>
                  <a:cubicBezTo>
                    <a:pt x="176" y="21"/>
                    <a:pt x="176" y="21"/>
                    <a:pt x="176" y="21"/>
                  </a:cubicBezTo>
                  <a:cubicBezTo>
                    <a:pt x="176" y="20"/>
                    <a:pt x="175" y="19"/>
                    <a:pt x="174" y="19"/>
                  </a:cubicBezTo>
                  <a:cubicBezTo>
                    <a:pt x="175" y="18"/>
                    <a:pt x="175" y="18"/>
                    <a:pt x="175" y="18"/>
                  </a:cubicBezTo>
                  <a:cubicBezTo>
                    <a:pt x="175" y="17"/>
                    <a:pt x="175" y="17"/>
                    <a:pt x="175" y="17"/>
                  </a:cubicBezTo>
                  <a:cubicBezTo>
                    <a:pt x="175" y="17"/>
                    <a:pt x="174" y="17"/>
                    <a:pt x="174" y="17"/>
                  </a:cubicBezTo>
                  <a:cubicBezTo>
                    <a:pt x="175" y="17"/>
                    <a:pt x="176" y="16"/>
                    <a:pt x="177" y="16"/>
                  </a:cubicBezTo>
                  <a:cubicBezTo>
                    <a:pt x="177" y="17"/>
                    <a:pt x="178" y="17"/>
                    <a:pt x="178" y="17"/>
                  </a:cubicBezTo>
                  <a:cubicBezTo>
                    <a:pt x="179" y="17"/>
                    <a:pt x="179" y="17"/>
                    <a:pt x="179" y="17"/>
                  </a:cubicBezTo>
                  <a:cubicBezTo>
                    <a:pt x="179" y="18"/>
                    <a:pt x="179" y="18"/>
                    <a:pt x="179" y="18"/>
                  </a:cubicBezTo>
                  <a:cubicBezTo>
                    <a:pt x="178" y="18"/>
                    <a:pt x="178" y="18"/>
                    <a:pt x="177" y="19"/>
                  </a:cubicBezTo>
                  <a:cubicBezTo>
                    <a:pt x="177" y="19"/>
                    <a:pt x="177" y="19"/>
                    <a:pt x="177" y="19"/>
                  </a:cubicBezTo>
                  <a:cubicBezTo>
                    <a:pt x="178" y="19"/>
                    <a:pt x="178" y="19"/>
                    <a:pt x="178" y="19"/>
                  </a:cubicBezTo>
                  <a:cubicBezTo>
                    <a:pt x="178" y="20"/>
                    <a:pt x="178" y="20"/>
                    <a:pt x="179" y="20"/>
                  </a:cubicBezTo>
                  <a:cubicBezTo>
                    <a:pt x="179" y="20"/>
                    <a:pt x="179" y="20"/>
                    <a:pt x="179" y="20"/>
                  </a:cubicBezTo>
                  <a:cubicBezTo>
                    <a:pt x="179" y="20"/>
                    <a:pt x="178" y="20"/>
                    <a:pt x="178" y="21"/>
                  </a:cubicBezTo>
                  <a:cubicBezTo>
                    <a:pt x="178" y="21"/>
                    <a:pt x="178" y="21"/>
                    <a:pt x="178" y="21"/>
                  </a:cubicBezTo>
                  <a:cubicBezTo>
                    <a:pt x="178" y="21"/>
                    <a:pt x="178" y="21"/>
                    <a:pt x="178" y="21"/>
                  </a:cubicBezTo>
                  <a:cubicBezTo>
                    <a:pt x="179" y="22"/>
                    <a:pt x="180" y="21"/>
                    <a:pt x="181" y="21"/>
                  </a:cubicBezTo>
                  <a:cubicBezTo>
                    <a:pt x="181" y="21"/>
                    <a:pt x="181" y="21"/>
                    <a:pt x="181" y="21"/>
                  </a:cubicBezTo>
                  <a:cubicBezTo>
                    <a:pt x="180" y="22"/>
                    <a:pt x="180" y="23"/>
                    <a:pt x="180" y="23"/>
                  </a:cubicBezTo>
                  <a:cubicBezTo>
                    <a:pt x="180" y="24"/>
                    <a:pt x="180" y="24"/>
                    <a:pt x="180" y="24"/>
                  </a:cubicBezTo>
                  <a:cubicBezTo>
                    <a:pt x="180" y="24"/>
                    <a:pt x="180" y="24"/>
                    <a:pt x="180" y="24"/>
                  </a:cubicBezTo>
                  <a:cubicBezTo>
                    <a:pt x="180" y="24"/>
                    <a:pt x="180" y="24"/>
                    <a:pt x="180" y="24"/>
                  </a:cubicBezTo>
                  <a:cubicBezTo>
                    <a:pt x="181" y="24"/>
                    <a:pt x="182" y="24"/>
                    <a:pt x="182" y="24"/>
                  </a:cubicBezTo>
                  <a:cubicBezTo>
                    <a:pt x="183" y="24"/>
                    <a:pt x="183" y="24"/>
                    <a:pt x="184" y="23"/>
                  </a:cubicBezTo>
                  <a:cubicBezTo>
                    <a:pt x="184" y="23"/>
                    <a:pt x="184" y="23"/>
                    <a:pt x="185" y="22"/>
                  </a:cubicBezTo>
                  <a:cubicBezTo>
                    <a:pt x="185" y="22"/>
                    <a:pt x="187" y="22"/>
                    <a:pt x="188" y="21"/>
                  </a:cubicBezTo>
                  <a:cubicBezTo>
                    <a:pt x="188" y="21"/>
                    <a:pt x="191" y="20"/>
                    <a:pt x="192" y="19"/>
                  </a:cubicBezTo>
                  <a:cubicBezTo>
                    <a:pt x="192" y="20"/>
                    <a:pt x="190" y="21"/>
                    <a:pt x="188" y="23"/>
                  </a:cubicBezTo>
                  <a:cubicBezTo>
                    <a:pt x="188" y="23"/>
                    <a:pt x="188" y="23"/>
                    <a:pt x="188" y="23"/>
                  </a:cubicBezTo>
                  <a:cubicBezTo>
                    <a:pt x="189" y="24"/>
                    <a:pt x="189" y="24"/>
                    <a:pt x="189" y="24"/>
                  </a:cubicBezTo>
                  <a:cubicBezTo>
                    <a:pt x="188" y="25"/>
                    <a:pt x="187" y="25"/>
                    <a:pt x="186" y="25"/>
                  </a:cubicBezTo>
                  <a:cubicBezTo>
                    <a:pt x="185" y="25"/>
                    <a:pt x="184" y="25"/>
                    <a:pt x="184" y="26"/>
                  </a:cubicBezTo>
                  <a:cubicBezTo>
                    <a:pt x="183" y="26"/>
                    <a:pt x="183" y="26"/>
                    <a:pt x="183" y="26"/>
                  </a:cubicBezTo>
                  <a:cubicBezTo>
                    <a:pt x="184" y="26"/>
                    <a:pt x="184" y="26"/>
                    <a:pt x="184" y="26"/>
                  </a:cubicBezTo>
                  <a:cubicBezTo>
                    <a:pt x="184" y="28"/>
                    <a:pt x="185" y="28"/>
                    <a:pt x="189" y="28"/>
                  </a:cubicBezTo>
                  <a:cubicBezTo>
                    <a:pt x="196" y="28"/>
                    <a:pt x="198" y="32"/>
                    <a:pt x="199" y="36"/>
                  </a:cubicBezTo>
                  <a:cubicBezTo>
                    <a:pt x="197" y="36"/>
                    <a:pt x="195" y="37"/>
                    <a:pt x="192" y="37"/>
                  </a:cubicBezTo>
                  <a:cubicBezTo>
                    <a:pt x="190" y="38"/>
                    <a:pt x="187" y="39"/>
                    <a:pt x="184" y="39"/>
                  </a:cubicBezTo>
                  <a:cubicBezTo>
                    <a:pt x="184" y="39"/>
                    <a:pt x="184" y="39"/>
                    <a:pt x="184" y="39"/>
                  </a:cubicBezTo>
                  <a:cubicBezTo>
                    <a:pt x="183" y="39"/>
                    <a:pt x="183" y="39"/>
                    <a:pt x="183" y="39"/>
                  </a:cubicBezTo>
                  <a:cubicBezTo>
                    <a:pt x="183" y="40"/>
                    <a:pt x="183" y="40"/>
                    <a:pt x="183" y="40"/>
                  </a:cubicBezTo>
                  <a:cubicBezTo>
                    <a:pt x="182" y="41"/>
                    <a:pt x="182" y="42"/>
                    <a:pt x="181" y="42"/>
                  </a:cubicBezTo>
                  <a:cubicBezTo>
                    <a:pt x="181" y="42"/>
                    <a:pt x="181" y="42"/>
                    <a:pt x="181" y="42"/>
                  </a:cubicBezTo>
                  <a:cubicBezTo>
                    <a:pt x="181" y="43"/>
                    <a:pt x="181" y="43"/>
                    <a:pt x="181" y="43"/>
                  </a:cubicBezTo>
                  <a:cubicBezTo>
                    <a:pt x="184" y="46"/>
                    <a:pt x="186" y="50"/>
                    <a:pt x="186" y="53"/>
                  </a:cubicBezTo>
                  <a:cubicBezTo>
                    <a:pt x="186" y="54"/>
                    <a:pt x="186" y="54"/>
                    <a:pt x="186" y="54"/>
                  </a:cubicBezTo>
                  <a:cubicBezTo>
                    <a:pt x="185" y="55"/>
                    <a:pt x="185" y="55"/>
                    <a:pt x="185" y="55"/>
                  </a:cubicBezTo>
                  <a:cubicBezTo>
                    <a:pt x="186" y="55"/>
                    <a:pt x="186" y="55"/>
                    <a:pt x="186" y="55"/>
                  </a:cubicBezTo>
                  <a:cubicBezTo>
                    <a:pt x="187" y="55"/>
                    <a:pt x="188" y="56"/>
                    <a:pt x="190" y="59"/>
                  </a:cubicBezTo>
                  <a:cubicBezTo>
                    <a:pt x="190" y="59"/>
                    <a:pt x="190" y="59"/>
                    <a:pt x="190" y="59"/>
                  </a:cubicBezTo>
                  <a:cubicBezTo>
                    <a:pt x="190" y="59"/>
                    <a:pt x="190" y="59"/>
                    <a:pt x="190" y="59"/>
                  </a:cubicBezTo>
                  <a:cubicBezTo>
                    <a:pt x="203" y="60"/>
                    <a:pt x="208" y="60"/>
                    <a:pt x="214" y="51"/>
                  </a:cubicBezTo>
                  <a:cubicBezTo>
                    <a:pt x="214" y="51"/>
                    <a:pt x="214" y="51"/>
                    <a:pt x="214" y="51"/>
                  </a:cubicBezTo>
                  <a:cubicBezTo>
                    <a:pt x="214" y="51"/>
                    <a:pt x="214" y="51"/>
                    <a:pt x="214" y="51"/>
                  </a:cubicBezTo>
                  <a:cubicBezTo>
                    <a:pt x="214" y="50"/>
                    <a:pt x="213" y="50"/>
                    <a:pt x="213" y="49"/>
                  </a:cubicBezTo>
                  <a:cubicBezTo>
                    <a:pt x="213" y="49"/>
                    <a:pt x="214" y="48"/>
                    <a:pt x="214" y="47"/>
                  </a:cubicBezTo>
                  <a:cubicBezTo>
                    <a:pt x="214" y="47"/>
                    <a:pt x="214" y="47"/>
                    <a:pt x="214" y="47"/>
                  </a:cubicBezTo>
                  <a:cubicBezTo>
                    <a:pt x="214" y="47"/>
                    <a:pt x="214" y="47"/>
                    <a:pt x="214" y="47"/>
                  </a:cubicBezTo>
                  <a:cubicBezTo>
                    <a:pt x="213" y="46"/>
                    <a:pt x="213" y="45"/>
                    <a:pt x="213" y="44"/>
                  </a:cubicBezTo>
                  <a:cubicBezTo>
                    <a:pt x="213" y="43"/>
                    <a:pt x="213" y="42"/>
                    <a:pt x="214" y="40"/>
                  </a:cubicBezTo>
                  <a:cubicBezTo>
                    <a:pt x="214" y="39"/>
                    <a:pt x="215" y="38"/>
                    <a:pt x="215" y="36"/>
                  </a:cubicBezTo>
                  <a:cubicBezTo>
                    <a:pt x="215" y="35"/>
                    <a:pt x="214" y="34"/>
                    <a:pt x="214" y="34"/>
                  </a:cubicBezTo>
                  <a:cubicBezTo>
                    <a:pt x="214" y="31"/>
                    <a:pt x="216" y="31"/>
                    <a:pt x="218" y="31"/>
                  </a:cubicBezTo>
                  <a:cubicBezTo>
                    <a:pt x="219" y="31"/>
                    <a:pt x="221" y="31"/>
                    <a:pt x="222" y="31"/>
                  </a:cubicBezTo>
                  <a:cubicBezTo>
                    <a:pt x="222" y="31"/>
                    <a:pt x="222" y="31"/>
                    <a:pt x="222" y="31"/>
                  </a:cubicBezTo>
                  <a:cubicBezTo>
                    <a:pt x="222" y="30"/>
                    <a:pt x="222" y="30"/>
                    <a:pt x="222" y="30"/>
                  </a:cubicBezTo>
                  <a:cubicBezTo>
                    <a:pt x="223" y="29"/>
                    <a:pt x="223" y="29"/>
                    <a:pt x="224" y="27"/>
                  </a:cubicBezTo>
                  <a:cubicBezTo>
                    <a:pt x="225" y="28"/>
                    <a:pt x="250" y="31"/>
                    <a:pt x="255" y="37"/>
                  </a:cubicBezTo>
                  <a:cubicBezTo>
                    <a:pt x="254" y="38"/>
                    <a:pt x="252" y="38"/>
                    <a:pt x="251" y="38"/>
                  </a:cubicBezTo>
                  <a:cubicBezTo>
                    <a:pt x="250" y="39"/>
                    <a:pt x="249" y="39"/>
                    <a:pt x="248" y="39"/>
                  </a:cubicBezTo>
                  <a:cubicBezTo>
                    <a:pt x="248" y="39"/>
                    <a:pt x="248" y="39"/>
                    <a:pt x="248" y="39"/>
                  </a:cubicBezTo>
                  <a:cubicBezTo>
                    <a:pt x="248" y="41"/>
                    <a:pt x="248" y="41"/>
                    <a:pt x="248" y="41"/>
                  </a:cubicBezTo>
                  <a:cubicBezTo>
                    <a:pt x="249" y="41"/>
                    <a:pt x="249" y="41"/>
                    <a:pt x="249" y="41"/>
                  </a:cubicBezTo>
                  <a:cubicBezTo>
                    <a:pt x="251" y="42"/>
                    <a:pt x="258" y="42"/>
                    <a:pt x="258" y="42"/>
                  </a:cubicBezTo>
                  <a:cubicBezTo>
                    <a:pt x="259" y="42"/>
                    <a:pt x="259" y="42"/>
                    <a:pt x="259" y="42"/>
                  </a:cubicBezTo>
                  <a:cubicBezTo>
                    <a:pt x="259" y="41"/>
                    <a:pt x="259" y="41"/>
                    <a:pt x="259" y="41"/>
                  </a:cubicBezTo>
                  <a:cubicBezTo>
                    <a:pt x="257" y="39"/>
                    <a:pt x="257" y="39"/>
                    <a:pt x="257" y="39"/>
                  </a:cubicBezTo>
                  <a:cubicBezTo>
                    <a:pt x="257" y="39"/>
                    <a:pt x="257" y="39"/>
                    <a:pt x="257" y="39"/>
                  </a:cubicBezTo>
                  <a:cubicBezTo>
                    <a:pt x="257" y="38"/>
                    <a:pt x="257" y="37"/>
                    <a:pt x="254" y="32"/>
                  </a:cubicBezTo>
                  <a:cubicBezTo>
                    <a:pt x="255" y="32"/>
                    <a:pt x="256" y="32"/>
                    <a:pt x="256" y="32"/>
                  </a:cubicBezTo>
                  <a:cubicBezTo>
                    <a:pt x="259" y="33"/>
                    <a:pt x="259" y="33"/>
                    <a:pt x="259" y="33"/>
                  </a:cubicBezTo>
                  <a:cubicBezTo>
                    <a:pt x="258" y="32"/>
                    <a:pt x="258" y="32"/>
                    <a:pt x="258" y="32"/>
                  </a:cubicBezTo>
                  <a:cubicBezTo>
                    <a:pt x="256" y="29"/>
                    <a:pt x="249" y="28"/>
                    <a:pt x="244" y="28"/>
                  </a:cubicBezTo>
                  <a:cubicBezTo>
                    <a:pt x="239" y="28"/>
                    <a:pt x="231" y="24"/>
                    <a:pt x="230" y="23"/>
                  </a:cubicBezTo>
                  <a:cubicBezTo>
                    <a:pt x="230" y="23"/>
                    <a:pt x="231" y="23"/>
                    <a:pt x="231" y="22"/>
                  </a:cubicBezTo>
                  <a:cubicBezTo>
                    <a:pt x="231" y="22"/>
                    <a:pt x="231" y="22"/>
                    <a:pt x="231" y="22"/>
                  </a:cubicBezTo>
                  <a:cubicBezTo>
                    <a:pt x="235" y="24"/>
                    <a:pt x="239" y="24"/>
                    <a:pt x="242" y="25"/>
                  </a:cubicBezTo>
                  <a:cubicBezTo>
                    <a:pt x="246" y="25"/>
                    <a:pt x="250" y="26"/>
                    <a:pt x="253" y="27"/>
                  </a:cubicBezTo>
                  <a:cubicBezTo>
                    <a:pt x="257" y="29"/>
                    <a:pt x="261" y="31"/>
                    <a:pt x="264" y="33"/>
                  </a:cubicBezTo>
                  <a:cubicBezTo>
                    <a:pt x="268" y="35"/>
                    <a:pt x="272" y="38"/>
                    <a:pt x="276" y="39"/>
                  </a:cubicBezTo>
                  <a:cubicBezTo>
                    <a:pt x="277" y="39"/>
                    <a:pt x="278" y="39"/>
                    <a:pt x="279" y="39"/>
                  </a:cubicBezTo>
                  <a:cubicBezTo>
                    <a:pt x="279" y="39"/>
                    <a:pt x="279" y="39"/>
                    <a:pt x="280" y="39"/>
                  </a:cubicBezTo>
                  <a:cubicBezTo>
                    <a:pt x="280" y="39"/>
                    <a:pt x="280" y="39"/>
                    <a:pt x="280" y="39"/>
                  </a:cubicBezTo>
                  <a:cubicBezTo>
                    <a:pt x="280" y="39"/>
                    <a:pt x="280" y="39"/>
                    <a:pt x="280" y="39"/>
                  </a:cubicBezTo>
                  <a:cubicBezTo>
                    <a:pt x="280" y="38"/>
                    <a:pt x="278" y="37"/>
                    <a:pt x="276" y="35"/>
                  </a:cubicBezTo>
                  <a:cubicBezTo>
                    <a:pt x="276" y="35"/>
                    <a:pt x="276" y="35"/>
                    <a:pt x="277" y="35"/>
                  </a:cubicBezTo>
                  <a:cubicBezTo>
                    <a:pt x="277" y="35"/>
                    <a:pt x="277" y="35"/>
                    <a:pt x="277" y="35"/>
                  </a:cubicBezTo>
                  <a:cubicBezTo>
                    <a:pt x="277" y="35"/>
                    <a:pt x="277" y="35"/>
                    <a:pt x="277" y="35"/>
                  </a:cubicBezTo>
                  <a:cubicBezTo>
                    <a:pt x="277" y="35"/>
                    <a:pt x="277" y="35"/>
                    <a:pt x="269" y="29"/>
                  </a:cubicBezTo>
                  <a:cubicBezTo>
                    <a:pt x="269" y="29"/>
                    <a:pt x="269" y="28"/>
                    <a:pt x="269" y="28"/>
                  </a:cubicBezTo>
                  <a:cubicBezTo>
                    <a:pt x="270" y="28"/>
                    <a:pt x="271" y="28"/>
                    <a:pt x="272" y="28"/>
                  </a:cubicBezTo>
                  <a:cubicBezTo>
                    <a:pt x="273" y="28"/>
                    <a:pt x="274" y="28"/>
                    <a:pt x="274" y="28"/>
                  </a:cubicBezTo>
                  <a:cubicBezTo>
                    <a:pt x="275" y="29"/>
                    <a:pt x="275" y="30"/>
                    <a:pt x="281" y="32"/>
                  </a:cubicBezTo>
                  <a:cubicBezTo>
                    <a:pt x="281" y="33"/>
                    <a:pt x="281" y="33"/>
                    <a:pt x="281" y="33"/>
                  </a:cubicBezTo>
                  <a:cubicBezTo>
                    <a:pt x="281" y="33"/>
                    <a:pt x="281" y="33"/>
                    <a:pt x="281" y="33"/>
                  </a:cubicBezTo>
                  <a:cubicBezTo>
                    <a:pt x="292" y="38"/>
                    <a:pt x="292" y="38"/>
                    <a:pt x="296" y="37"/>
                  </a:cubicBezTo>
                  <a:cubicBezTo>
                    <a:pt x="297" y="37"/>
                    <a:pt x="297" y="37"/>
                    <a:pt x="297" y="37"/>
                  </a:cubicBezTo>
                  <a:cubicBezTo>
                    <a:pt x="297" y="36"/>
                    <a:pt x="297" y="36"/>
                    <a:pt x="297" y="36"/>
                  </a:cubicBezTo>
                  <a:cubicBezTo>
                    <a:pt x="298" y="36"/>
                    <a:pt x="300" y="37"/>
                    <a:pt x="301" y="37"/>
                  </a:cubicBezTo>
                  <a:cubicBezTo>
                    <a:pt x="302" y="38"/>
                    <a:pt x="303" y="38"/>
                    <a:pt x="304" y="38"/>
                  </a:cubicBezTo>
                  <a:cubicBezTo>
                    <a:pt x="304" y="38"/>
                    <a:pt x="304" y="38"/>
                    <a:pt x="304" y="38"/>
                  </a:cubicBezTo>
                  <a:cubicBezTo>
                    <a:pt x="304" y="37"/>
                    <a:pt x="304" y="37"/>
                    <a:pt x="304" y="37"/>
                  </a:cubicBezTo>
                  <a:cubicBezTo>
                    <a:pt x="304" y="36"/>
                    <a:pt x="304" y="36"/>
                    <a:pt x="304" y="36"/>
                  </a:cubicBezTo>
                  <a:cubicBezTo>
                    <a:pt x="308" y="36"/>
                    <a:pt x="312" y="40"/>
                    <a:pt x="314" y="43"/>
                  </a:cubicBezTo>
                  <a:cubicBezTo>
                    <a:pt x="314" y="43"/>
                    <a:pt x="314" y="43"/>
                    <a:pt x="314" y="43"/>
                  </a:cubicBezTo>
                  <a:cubicBezTo>
                    <a:pt x="314" y="43"/>
                    <a:pt x="314" y="43"/>
                    <a:pt x="314" y="43"/>
                  </a:cubicBezTo>
                  <a:cubicBezTo>
                    <a:pt x="315" y="43"/>
                    <a:pt x="315" y="43"/>
                    <a:pt x="315" y="43"/>
                  </a:cubicBezTo>
                  <a:cubicBezTo>
                    <a:pt x="315" y="44"/>
                    <a:pt x="316" y="45"/>
                    <a:pt x="317" y="47"/>
                  </a:cubicBezTo>
                  <a:cubicBezTo>
                    <a:pt x="318" y="48"/>
                    <a:pt x="320" y="49"/>
                    <a:pt x="321" y="51"/>
                  </a:cubicBezTo>
                  <a:cubicBezTo>
                    <a:pt x="320" y="51"/>
                    <a:pt x="320" y="51"/>
                    <a:pt x="320" y="51"/>
                  </a:cubicBezTo>
                  <a:cubicBezTo>
                    <a:pt x="319" y="51"/>
                    <a:pt x="318" y="51"/>
                    <a:pt x="317" y="51"/>
                  </a:cubicBezTo>
                  <a:cubicBezTo>
                    <a:pt x="315" y="50"/>
                    <a:pt x="314" y="50"/>
                    <a:pt x="313" y="50"/>
                  </a:cubicBezTo>
                  <a:cubicBezTo>
                    <a:pt x="312" y="50"/>
                    <a:pt x="312" y="50"/>
                    <a:pt x="312" y="50"/>
                  </a:cubicBezTo>
                  <a:cubicBezTo>
                    <a:pt x="312" y="50"/>
                    <a:pt x="312" y="50"/>
                    <a:pt x="312" y="50"/>
                  </a:cubicBezTo>
                  <a:cubicBezTo>
                    <a:pt x="312" y="51"/>
                    <a:pt x="312" y="52"/>
                    <a:pt x="312" y="53"/>
                  </a:cubicBezTo>
                  <a:cubicBezTo>
                    <a:pt x="311" y="53"/>
                    <a:pt x="311" y="53"/>
                    <a:pt x="311" y="53"/>
                  </a:cubicBezTo>
                  <a:cubicBezTo>
                    <a:pt x="290" y="48"/>
                    <a:pt x="286" y="49"/>
                    <a:pt x="284" y="50"/>
                  </a:cubicBezTo>
                  <a:cubicBezTo>
                    <a:pt x="284" y="50"/>
                    <a:pt x="284" y="51"/>
                    <a:pt x="284" y="51"/>
                  </a:cubicBezTo>
                  <a:cubicBezTo>
                    <a:pt x="284" y="52"/>
                    <a:pt x="284" y="53"/>
                    <a:pt x="284" y="53"/>
                  </a:cubicBezTo>
                  <a:cubicBezTo>
                    <a:pt x="285" y="54"/>
                    <a:pt x="286" y="55"/>
                    <a:pt x="286" y="56"/>
                  </a:cubicBezTo>
                  <a:cubicBezTo>
                    <a:pt x="287" y="56"/>
                    <a:pt x="287" y="56"/>
                    <a:pt x="288" y="57"/>
                  </a:cubicBezTo>
                  <a:cubicBezTo>
                    <a:pt x="287" y="58"/>
                    <a:pt x="287" y="58"/>
                    <a:pt x="287" y="58"/>
                  </a:cubicBezTo>
                  <a:cubicBezTo>
                    <a:pt x="285" y="58"/>
                    <a:pt x="255" y="53"/>
                    <a:pt x="254" y="53"/>
                  </a:cubicBezTo>
                  <a:cubicBezTo>
                    <a:pt x="254" y="53"/>
                    <a:pt x="254" y="53"/>
                    <a:pt x="254" y="53"/>
                  </a:cubicBezTo>
                  <a:cubicBezTo>
                    <a:pt x="252" y="52"/>
                    <a:pt x="252" y="51"/>
                    <a:pt x="252" y="50"/>
                  </a:cubicBezTo>
                  <a:cubicBezTo>
                    <a:pt x="252" y="49"/>
                    <a:pt x="252" y="49"/>
                    <a:pt x="252" y="48"/>
                  </a:cubicBezTo>
                  <a:cubicBezTo>
                    <a:pt x="252" y="47"/>
                    <a:pt x="250" y="47"/>
                    <a:pt x="249" y="46"/>
                  </a:cubicBezTo>
                  <a:cubicBezTo>
                    <a:pt x="249" y="46"/>
                    <a:pt x="249" y="46"/>
                    <a:pt x="249" y="46"/>
                  </a:cubicBezTo>
                  <a:cubicBezTo>
                    <a:pt x="249" y="44"/>
                    <a:pt x="248" y="44"/>
                    <a:pt x="247" y="43"/>
                  </a:cubicBezTo>
                  <a:cubicBezTo>
                    <a:pt x="247" y="43"/>
                    <a:pt x="247" y="43"/>
                    <a:pt x="247" y="43"/>
                  </a:cubicBezTo>
                  <a:cubicBezTo>
                    <a:pt x="247" y="43"/>
                    <a:pt x="247" y="43"/>
                    <a:pt x="247" y="43"/>
                  </a:cubicBezTo>
                  <a:cubicBezTo>
                    <a:pt x="246" y="44"/>
                    <a:pt x="245" y="44"/>
                    <a:pt x="244" y="43"/>
                  </a:cubicBezTo>
                  <a:cubicBezTo>
                    <a:pt x="244" y="43"/>
                    <a:pt x="243" y="43"/>
                    <a:pt x="242" y="43"/>
                  </a:cubicBezTo>
                  <a:cubicBezTo>
                    <a:pt x="242" y="43"/>
                    <a:pt x="242" y="43"/>
                    <a:pt x="242" y="43"/>
                  </a:cubicBezTo>
                  <a:cubicBezTo>
                    <a:pt x="242" y="43"/>
                    <a:pt x="242" y="43"/>
                    <a:pt x="242" y="43"/>
                  </a:cubicBezTo>
                  <a:cubicBezTo>
                    <a:pt x="242" y="43"/>
                    <a:pt x="242" y="43"/>
                    <a:pt x="242" y="43"/>
                  </a:cubicBezTo>
                  <a:cubicBezTo>
                    <a:pt x="240" y="45"/>
                    <a:pt x="240" y="45"/>
                    <a:pt x="238" y="45"/>
                  </a:cubicBezTo>
                  <a:cubicBezTo>
                    <a:pt x="234" y="46"/>
                    <a:pt x="233" y="46"/>
                    <a:pt x="232" y="47"/>
                  </a:cubicBezTo>
                  <a:cubicBezTo>
                    <a:pt x="230" y="47"/>
                    <a:pt x="223" y="49"/>
                    <a:pt x="219" y="52"/>
                  </a:cubicBezTo>
                  <a:cubicBezTo>
                    <a:pt x="218" y="53"/>
                    <a:pt x="217" y="54"/>
                    <a:pt x="217" y="55"/>
                  </a:cubicBezTo>
                  <a:cubicBezTo>
                    <a:pt x="216" y="55"/>
                    <a:pt x="216" y="56"/>
                    <a:pt x="215" y="57"/>
                  </a:cubicBezTo>
                  <a:cubicBezTo>
                    <a:pt x="214" y="57"/>
                    <a:pt x="214" y="58"/>
                    <a:pt x="213" y="59"/>
                  </a:cubicBezTo>
                  <a:cubicBezTo>
                    <a:pt x="212" y="59"/>
                    <a:pt x="211" y="59"/>
                    <a:pt x="210" y="59"/>
                  </a:cubicBezTo>
                  <a:cubicBezTo>
                    <a:pt x="209" y="60"/>
                    <a:pt x="207" y="61"/>
                    <a:pt x="206" y="61"/>
                  </a:cubicBezTo>
                  <a:cubicBezTo>
                    <a:pt x="205" y="61"/>
                    <a:pt x="204" y="60"/>
                    <a:pt x="203" y="60"/>
                  </a:cubicBezTo>
                  <a:cubicBezTo>
                    <a:pt x="203" y="60"/>
                    <a:pt x="202" y="59"/>
                    <a:pt x="201" y="59"/>
                  </a:cubicBezTo>
                  <a:cubicBezTo>
                    <a:pt x="201" y="59"/>
                    <a:pt x="201" y="59"/>
                    <a:pt x="201" y="59"/>
                  </a:cubicBezTo>
                  <a:cubicBezTo>
                    <a:pt x="201" y="60"/>
                    <a:pt x="201" y="60"/>
                    <a:pt x="201" y="60"/>
                  </a:cubicBezTo>
                  <a:cubicBezTo>
                    <a:pt x="200" y="61"/>
                    <a:pt x="200" y="61"/>
                    <a:pt x="200" y="67"/>
                  </a:cubicBezTo>
                  <a:cubicBezTo>
                    <a:pt x="200" y="68"/>
                    <a:pt x="200" y="68"/>
                    <a:pt x="200" y="68"/>
                  </a:cubicBezTo>
                  <a:cubicBezTo>
                    <a:pt x="200" y="68"/>
                    <a:pt x="200" y="68"/>
                    <a:pt x="200" y="68"/>
                  </a:cubicBezTo>
                  <a:cubicBezTo>
                    <a:pt x="200" y="68"/>
                    <a:pt x="200" y="68"/>
                    <a:pt x="200" y="68"/>
                  </a:cubicBezTo>
                  <a:cubicBezTo>
                    <a:pt x="199" y="68"/>
                    <a:pt x="199" y="68"/>
                    <a:pt x="199" y="68"/>
                  </a:cubicBezTo>
                  <a:cubicBezTo>
                    <a:pt x="196" y="71"/>
                    <a:pt x="194" y="75"/>
                    <a:pt x="194" y="78"/>
                  </a:cubicBezTo>
                  <a:cubicBezTo>
                    <a:pt x="194" y="79"/>
                    <a:pt x="195" y="81"/>
                    <a:pt x="195" y="81"/>
                  </a:cubicBezTo>
                  <a:cubicBezTo>
                    <a:pt x="196" y="82"/>
                    <a:pt x="197" y="84"/>
                    <a:pt x="197" y="85"/>
                  </a:cubicBezTo>
                  <a:cubicBezTo>
                    <a:pt x="197" y="89"/>
                    <a:pt x="192" y="93"/>
                    <a:pt x="188" y="96"/>
                  </a:cubicBezTo>
                  <a:cubicBezTo>
                    <a:pt x="188" y="96"/>
                    <a:pt x="188" y="96"/>
                    <a:pt x="188" y="96"/>
                  </a:cubicBezTo>
                  <a:cubicBezTo>
                    <a:pt x="188" y="96"/>
                    <a:pt x="188" y="96"/>
                    <a:pt x="188" y="96"/>
                  </a:cubicBezTo>
                  <a:cubicBezTo>
                    <a:pt x="189" y="98"/>
                    <a:pt x="189" y="98"/>
                    <a:pt x="189" y="98"/>
                  </a:cubicBezTo>
                  <a:cubicBezTo>
                    <a:pt x="189" y="99"/>
                    <a:pt x="189" y="99"/>
                    <a:pt x="189" y="99"/>
                  </a:cubicBezTo>
                  <a:cubicBezTo>
                    <a:pt x="187" y="103"/>
                    <a:pt x="185" y="105"/>
                    <a:pt x="185" y="107"/>
                  </a:cubicBezTo>
                  <a:cubicBezTo>
                    <a:pt x="185" y="108"/>
                    <a:pt x="186" y="109"/>
                    <a:pt x="187" y="111"/>
                  </a:cubicBezTo>
                  <a:cubicBezTo>
                    <a:pt x="184" y="115"/>
                    <a:pt x="183" y="119"/>
                    <a:pt x="183" y="123"/>
                  </a:cubicBezTo>
                  <a:cubicBezTo>
                    <a:pt x="183" y="126"/>
                    <a:pt x="183" y="128"/>
                    <a:pt x="184" y="131"/>
                  </a:cubicBezTo>
                  <a:cubicBezTo>
                    <a:pt x="184" y="131"/>
                    <a:pt x="184" y="131"/>
                    <a:pt x="184" y="131"/>
                  </a:cubicBezTo>
                  <a:cubicBezTo>
                    <a:pt x="185" y="131"/>
                    <a:pt x="185" y="131"/>
                    <a:pt x="185" y="131"/>
                  </a:cubicBezTo>
                  <a:cubicBezTo>
                    <a:pt x="185" y="131"/>
                    <a:pt x="185" y="131"/>
                    <a:pt x="186" y="131"/>
                  </a:cubicBezTo>
                  <a:cubicBezTo>
                    <a:pt x="188" y="133"/>
                    <a:pt x="190" y="137"/>
                    <a:pt x="191" y="141"/>
                  </a:cubicBezTo>
                  <a:cubicBezTo>
                    <a:pt x="192" y="145"/>
                    <a:pt x="193" y="151"/>
                    <a:pt x="192" y="159"/>
                  </a:cubicBezTo>
                  <a:cubicBezTo>
                    <a:pt x="192" y="159"/>
                    <a:pt x="192" y="159"/>
                    <a:pt x="192" y="159"/>
                  </a:cubicBezTo>
                  <a:cubicBezTo>
                    <a:pt x="192" y="159"/>
                    <a:pt x="192" y="159"/>
                    <a:pt x="192" y="159"/>
                  </a:cubicBezTo>
                  <a:cubicBezTo>
                    <a:pt x="194" y="160"/>
                    <a:pt x="196" y="163"/>
                    <a:pt x="197" y="165"/>
                  </a:cubicBezTo>
                  <a:cubicBezTo>
                    <a:pt x="198" y="168"/>
                    <a:pt x="200" y="170"/>
                    <a:pt x="202" y="172"/>
                  </a:cubicBezTo>
                  <a:cubicBezTo>
                    <a:pt x="202" y="172"/>
                    <a:pt x="202" y="172"/>
                    <a:pt x="202" y="172"/>
                  </a:cubicBezTo>
                  <a:cubicBezTo>
                    <a:pt x="204" y="172"/>
                    <a:pt x="204" y="172"/>
                    <a:pt x="204" y="172"/>
                  </a:cubicBezTo>
                  <a:cubicBezTo>
                    <a:pt x="220" y="186"/>
                    <a:pt x="220" y="186"/>
                    <a:pt x="221" y="187"/>
                  </a:cubicBezTo>
                  <a:cubicBezTo>
                    <a:pt x="222" y="187"/>
                    <a:pt x="222" y="187"/>
                    <a:pt x="222" y="187"/>
                  </a:cubicBezTo>
                  <a:cubicBezTo>
                    <a:pt x="222" y="187"/>
                    <a:pt x="222" y="187"/>
                    <a:pt x="222" y="187"/>
                  </a:cubicBezTo>
                  <a:cubicBezTo>
                    <a:pt x="226" y="187"/>
                    <a:pt x="228" y="188"/>
                    <a:pt x="230" y="191"/>
                  </a:cubicBezTo>
                  <a:cubicBezTo>
                    <a:pt x="230" y="191"/>
                    <a:pt x="230" y="191"/>
                    <a:pt x="230" y="191"/>
                  </a:cubicBezTo>
                  <a:cubicBezTo>
                    <a:pt x="231" y="191"/>
                    <a:pt x="231" y="191"/>
                    <a:pt x="231" y="191"/>
                  </a:cubicBezTo>
                  <a:cubicBezTo>
                    <a:pt x="233" y="191"/>
                    <a:pt x="235" y="192"/>
                    <a:pt x="238" y="193"/>
                  </a:cubicBezTo>
                  <a:cubicBezTo>
                    <a:pt x="242" y="195"/>
                    <a:pt x="247" y="197"/>
                    <a:pt x="251" y="193"/>
                  </a:cubicBezTo>
                  <a:cubicBezTo>
                    <a:pt x="255" y="189"/>
                    <a:pt x="258" y="186"/>
                    <a:pt x="267" y="188"/>
                  </a:cubicBezTo>
                  <a:cubicBezTo>
                    <a:pt x="267" y="188"/>
                    <a:pt x="267" y="188"/>
                    <a:pt x="267" y="188"/>
                  </a:cubicBezTo>
                  <a:cubicBezTo>
                    <a:pt x="267" y="188"/>
                    <a:pt x="267" y="188"/>
                    <a:pt x="267" y="188"/>
                  </a:cubicBezTo>
                  <a:cubicBezTo>
                    <a:pt x="286" y="173"/>
                    <a:pt x="286" y="173"/>
                    <a:pt x="288" y="174"/>
                  </a:cubicBezTo>
                  <a:cubicBezTo>
                    <a:pt x="290" y="175"/>
                    <a:pt x="291" y="176"/>
                    <a:pt x="292" y="178"/>
                  </a:cubicBezTo>
                  <a:cubicBezTo>
                    <a:pt x="293" y="179"/>
                    <a:pt x="294" y="181"/>
                    <a:pt x="297" y="182"/>
                  </a:cubicBezTo>
                  <a:cubicBezTo>
                    <a:pt x="298" y="182"/>
                    <a:pt x="300" y="181"/>
                    <a:pt x="301" y="180"/>
                  </a:cubicBezTo>
                  <a:cubicBezTo>
                    <a:pt x="303" y="179"/>
                    <a:pt x="304" y="178"/>
                    <a:pt x="306" y="179"/>
                  </a:cubicBezTo>
                  <a:cubicBezTo>
                    <a:pt x="310" y="182"/>
                    <a:pt x="310" y="182"/>
                    <a:pt x="310" y="182"/>
                  </a:cubicBezTo>
                  <a:cubicBezTo>
                    <a:pt x="313" y="200"/>
                    <a:pt x="313" y="200"/>
                    <a:pt x="313" y="200"/>
                  </a:cubicBezTo>
                  <a:cubicBezTo>
                    <a:pt x="313" y="202"/>
                    <a:pt x="313" y="203"/>
                    <a:pt x="313" y="204"/>
                  </a:cubicBezTo>
                  <a:cubicBezTo>
                    <a:pt x="313" y="205"/>
                    <a:pt x="313" y="206"/>
                    <a:pt x="314" y="208"/>
                  </a:cubicBezTo>
                  <a:cubicBezTo>
                    <a:pt x="315" y="210"/>
                    <a:pt x="318" y="212"/>
                    <a:pt x="320" y="214"/>
                  </a:cubicBezTo>
                  <a:cubicBezTo>
                    <a:pt x="321" y="216"/>
                    <a:pt x="323" y="218"/>
                    <a:pt x="325" y="220"/>
                  </a:cubicBezTo>
                  <a:cubicBezTo>
                    <a:pt x="331" y="239"/>
                    <a:pt x="331" y="239"/>
                    <a:pt x="331" y="239"/>
                  </a:cubicBezTo>
                  <a:cubicBezTo>
                    <a:pt x="331" y="239"/>
                    <a:pt x="331" y="239"/>
                    <a:pt x="331" y="240"/>
                  </a:cubicBezTo>
                  <a:cubicBezTo>
                    <a:pt x="331" y="242"/>
                    <a:pt x="332" y="244"/>
                    <a:pt x="333" y="245"/>
                  </a:cubicBezTo>
                  <a:cubicBezTo>
                    <a:pt x="333" y="245"/>
                    <a:pt x="333" y="245"/>
                    <a:pt x="333" y="245"/>
                  </a:cubicBezTo>
                  <a:cubicBezTo>
                    <a:pt x="333" y="246"/>
                    <a:pt x="333" y="246"/>
                    <a:pt x="333" y="246"/>
                  </a:cubicBezTo>
                  <a:cubicBezTo>
                    <a:pt x="333" y="246"/>
                    <a:pt x="333" y="246"/>
                    <a:pt x="333" y="246"/>
                  </a:cubicBezTo>
                  <a:cubicBezTo>
                    <a:pt x="334" y="248"/>
                    <a:pt x="334" y="249"/>
                    <a:pt x="334" y="250"/>
                  </a:cubicBezTo>
                  <a:cubicBezTo>
                    <a:pt x="334" y="251"/>
                    <a:pt x="334" y="251"/>
                    <a:pt x="334" y="251"/>
                  </a:cubicBezTo>
                  <a:cubicBezTo>
                    <a:pt x="334" y="253"/>
                    <a:pt x="333" y="254"/>
                    <a:pt x="332" y="256"/>
                  </a:cubicBezTo>
                  <a:cubicBezTo>
                    <a:pt x="329" y="262"/>
                    <a:pt x="327" y="278"/>
                    <a:pt x="327" y="278"/>
                  </a:cubicBezTo>
                  <a:cubicBezTo>
                    <a:pt x="327" y="278"/>
                    <a:pt x="327" y="278"/>
                    <a:pt x="327" y="278"/>
                  </a:cubicBezTo>
                  <a:cubicBezTo>
                    <a:pt x="327" y="279"/>
                    <a:pt x="328" y="281"/>
                    <a:pt x="330" y="292"/>
                  </a:cubicBezTo>
                  <a:cubicBezTo>
                    <a:pt x="331" y="297"/>
                    <a:pt x="331" y="299"/>
                    <a:pt x="331" y="301"/>
                  </a:cubicBezTo>
                  <a:cubicBezTo>
                    <a:pt x="331" y="302"/>
                    <a:pt x="331" y="304"/>
                    <a:pt x="331" y="306"/>
                  </a:cubicBezTo>
                  <a:cubicBezTo>
                    <a:pt x="330" y="316"/>
                    <a:pt x="330" y="320"/>
                    <a:pt x="330" y="322"/>
                  </a:cubicBezTo>
                  <a:cubicBezTo>
                    <a:pt x="330" y="324"/>
                    <a:pt x="330" y="324"/>
                    <a:pt x="330" y="325"/>
                  </a:cubicBezTo>
                  <a:cubicBezTo>
                    <a:pt x="331" y="326"/>
                    <a:pt x="331" y="326"/>
                    <a:pt x="331" y="326"/>
                  </a:cubicBezTo>
                  <a:cubicBezTo>
                    <a:pt x="331" y="327"/>
                    <a:pt x="331" y="327"/>
                    <a:pt x="331" y="327"/>
                  </a:cubicBezTo>
                  <a:cubicBezTo>
                    <a:pt x="329" y="337"/>
                    <a:pt x="329" y="339"/>
                    <a:pt x="326" y="345"/>
                  </a:cubicBezTo>
                  <a:cubicBezTo>
                    <a:pt x="325" y="345"/>
                    <a:pt x="325" y="345"/>
                    <a:pt x="325" y="345"/>
                  </a:cubicBezTo>
                  <a:cubicBezTo>
                    <a:pt x="326" y="346"/>
                    <a:pt x="326" y="346"/>
                    <a:pt x="326" y="346"/>
                  </a:cubicBezTo>
                  <a:cubicBezTo>
                    <a:pt x="327" y="347"/>
                    <a:pt x="327" y="347"/>
                    <a:pt x="330" y="346"/>
                  </a:cubicBezTo>
                  <a:cubicBezTo>
                    <a:pt x="330" y="346"/>
                    <a:pt x="330" y="346"/>
                    <a:pt x="330" y="346"/>
                  </a:cubicBezTo>
                  <a:cubicBezTo>
                    <a:pt x="330" y="346"/>
                    <a:pt x="330" y="346"/>
                    <a:pt x="330" y="346"/>
                  </a:cubicBezTo>
                  <a:cubicBezTo>
                    <a:pt x="331" y="345"/>
                    <a:pt x="331" y="345"/>
                    <a:pt x="332" y="345"/>
                  </a:cubicBezTo>
                  <a:cubicBezTo>
                    <a:pt x="334" y="345"/>
                    <a:pt x="340" y="344"/>
                    <a:pt x="352" y="328"/>
                  </a:cubicBezTo>
                  <a:cubicBezTo>
                    <a:pt x="353" y="327"/>
                    <a:pt x="354" y="326"/>
                    <a:pt x="355" y="324"/>
                  </a:cubicBezTo>
                  <a:cubicBezTo>
                    <a:pt x="357" y="322"/>
                    <a:pt x="359" y="319"/>
                    <a:pt x="360" y="317"/>
                  </a:cubicBezTo>
                  <a:cubicBezTo>
                    <a:pt x="361" y="316"/>
                    <a:pt x="361" y="314"/>
                    <a:pt x="362" y="313"/>
                  </a:cubicBezTo>
                  <a:cubicBezTo>
                    <a:pt x="363" y="311"/>
                    <a:pt x="364" y="309"/>
                    <a:pt x="366" y="307"/>
                  </a:cubicBezTo>
                  <a:cubicBezTo>
                    <a:pt x="368" y="305"/>
                    <a:pt x="369" y="305"/>
                    <a:pt x="371" y="302"/>
                  </a:cubicBezTo>
                  <a:cubicBezTo>
                    <a:pt x="372" y="299"/>
                    <a:pt x="373" y="296"/>
                    <a:pt x="374" y="292"/>
                  </a:cubicBezTo>
                  <a:cubicBezTo>
                    <a:pt x="375" y="289"/>
                    <a:pt x="375" y="287"/>
                    <a:pt x="377" y="284"/>
                  </a:cubicBezTo>
                  <a:cubicBezTo>
                    <a:pt x="378" y="280"/>
                    <a:pt x="381" y="278"/>
                    <a:pt x="383" y="275"/>
                  </a:cubicBezTo>
                  <a:cubicBezTo>
                    <a:pt x="386" y="272"/>
                    <a:pt x="388" y="269"/>
                    <a:pt x="390" y="266"/>
                  </a:cubicBezTo>
                  <a:close/>
                  <a:moveTo>
                    <a:pt x="368" y="74"/>
                  </a:moveTo>
                  <a:cubicBezTo>
                    <a:pt x="368" y="73"/>
                    <a:pt x="368" y="73"/>
                    <a:pt x="368" y="73"/>
                  </a:cubicBezTo>
                  <a:cubicBezTo>
                    <a:pt x="368" y="74"/>
                    <a:pt x="368" y="74"/>
                    <a:pt x="369" y="75"/>
                  </a:cubicBezTo>
                  <a:cubicBezTo>
                    <a:pt x="370" y="76"/>
                    <a:pt x="370" y="77"/>
                    <a:pt x="371" y="78"/>
                  </a:cubicBezTo>
                  <a:cubicBezTo>
                    <a:pt x="370" y="78"/>
                    <a:pt x="370" y="78"/>
                    <a:pt x="369" y="77"/>
                  </a:cubicBezTo>
                  <a:cubicBezTo>
                    <a:pt x="368" y="76"/>
                    <a:pt x="367" y="74"/>
                    <a:pt x="364" y="71"/>
                  </a:cubicBezTo>
                  <a:cubicBezTo>
                    <a:pt x="364" y="71"/>
                    <a:pt x="364" y="71"/>
                    <a:pt x="364" y="71"/>
                  </a:cubicBezTo>
                  <a:cubicBezTo>
                    <a:pt x="364" y="71"/>
                    <a:pt x="364" y="71"/>
                    <a:pt x="364" y="71"/>
                  </a:cubicBezTo>
                  <a:cubicBezTo>
                    <a:pt x="363" y="71"/>
                    <a:pt x="363" y="70"/>
                    <a:pt x="363" y="70"/>
                  </a:cubicBezTo>
                  <a:cubicBezTo>
                    <a:pt x="362" y="69"/>
                    <a:pt x="362" y="69"/>
                    <a:pt x="362" y="69"/>
                  </a:cubicBezTo>
                  <a:cubicBezTo>
                    <a:pt x="362" y="69"/>
                    <a:pt x="362" y="69"/>
                    <a:pt x="362" y="69"/>
                  </a:cubicBezTo>
                  <a:cubicBezTo>
                    <a:pt x="361" y="69"/>
                    <a:pt x="361" y="69"/>
                    <a:pt x="361" y="69"/>
                  </a:cubicBezTo>
                  <a:cubicBezTo>
                    <a:pt x="359" y="67"/>
                    <a:pt x="352" y="60"/>
                    <a:pt x="351" y="59"/>
                  </a:cubicBezTo>
                  <a:cubicBezTo>
                    <a:pt x="355" y="62"/>
                    <a:pt x="362" y="68"/>
                    <a:pt x="368" y="74"/>
                  </a:cubicBezTo>
                  <a:close/>
                  <a:moveTo>
                    <a:pt x="193" y="19"/>
                  </a:moveTo>
                  <a:cubicBezTo>
                    <a:pt x="193" y="19"/>
                    <a:pt x="193" y="19"/>
                    <a:pt x="193" y="19"/>
                  </a:cubicBezTo>
                  <a:cubicBezTo>
                    <a:pt x="193" y="19"/>
                    <a:pt x="193" y="19"/>
                    <a:pt x="193" y="19"/>
                  </a:cubicBezTo>
                  <a:close/>
                  <a:moveTo>
                    <a:pt x="199" y="8"/>
                  </a:moveTo>
                  <a:cubicBezTo>
                    <a:pt x="199" y="8"/>
                    <a:pt x="199" y="8"/>
                    <a:pt x="199" y="8"/>
                  </a:cubicBezTo>
                  <a:cubicBezTo>
                    <a:pt x="199" y="8"/>
                    <a:pt x="198" y="8"/>
                    <a:pt x="198" y="8"/>
                  </a:cubicBezTo>
                  <a:cubicBezTo>
                    <a:pt x="197" y="8"/>
                    <a:pt x="197" y="8"/>
                    <a:pt x="197" y="8"/>
                  </a:cubicBezTo>
                  <a:cubicBezTo>
                    <a:pt x="197" y="8"/>
                    <a:pt x="196" y="7"/>
                    <a:pt x="195" y="7"/>
                  </a:cubicBezTo>
                  <a:cubicBezTo>
                    <a:pt x="196" y="7"/>
                    <a:pt x="198" y="8"/>
                    <a:pt x="199" y="8"/>
                  </a:cubicBezTo>
                  <a:close/>
                  <a:moveTo>
                    <a:pt x="210" y="7"/>
                  </a:moveTo>
                  <a:cubicBezTo>
                    <a:pt x="207" y="7"/>
                    <a:pt x="205" y="8"/>
                    <a:pt x="203" y="9"/>
                  </a:cubicBezTo>
                  <a:cubicBezTo>
                    <a:pt x="203" y="9"/>
                    <a:pt x="202" y="8"/>
                    <a:pt x="201" y="8"/>
                  </a:cubicBezTo>
                  <a:cubicBezTo>
                    <a:pt x="201" y="8"/>
                    <a:pt x="201" y="8"/>
                    <a:pt x="201" y="8"/>
                  </a:cubicBezTo>
                  <a:cubicBezTo>
                    <a:pt x="203" y="8"/>
                    <a:pt x="204" y="8"/>
                    <a:pt x="204" y="8"/>
                  </a:cubicBezTo>
                  <a:cubicBezTo>
                    <a:pt x="204" y="8"/>
                    <a:pt x="204" y="8"/>
                    <a:pt x="204" y="8"/>
                  </a:cubicBezTo>
                  <a:cubicBezTo>
                    <a:pt x="204" y="7"/>
                    <a:pt x="204" y="7"/>
                    <a:pt x="204" y="7"/>
                  </a:cubicBezTo>
                  <a:cubicBezTo>
                    <a:pt x="205" y="7"/>
                    <a:pt x="205" y="7"/>
                    <a:pt x="205" y="7"/>
                  </a:cubicBezTo>
                  <a:cubicBezTo>
                    <a:pt x="205" y="7"/>
                    <a:pt x="205" y="7"/>
                    <a:pt x="205" y="7"/>
                  </a:cubicBezTo>
                  <a:cubicBezTo>
                    <a:pt x="203" y="6"/>
                    <a:pt x="203" y="5"/>
                    <a:pt x="199" y="5"/>
                  </a:cubicBezTo>
                  <a:cubicBezTo>
                    <a:pt x="199" y="4"/>
                    <a:pt x="198" y="3"/>
                    <a:pt x="190" y="2"/>
                  </a:cubicBezTo>
                  <a:cubicBezTo>
                    <a:pt x="194" y="2"/>
                    <a:pt x="202" y="2"/>
                    <a:pt x="207" y="2"/>
                  </a:cubicBezTo>
                  <a:cubicBezTo>
                    <a:pt x="205" y="2"/>
                    <a:pt x="205" y="2"/>
                    <a:pt x="205" y="2"/>
                  </a:cubicBezTo>
                  <a:cubicBezTo>
                    <a:pt x="204" y="2"/>
                    <a:pt x="204" y="2"/>
                    <a:pt x="204" y="2"/>
                  </a:cubicBezTo>
                  <a:cubicBezTo>
                    <a:pt x="205" y="3"/>
                    <a:pt x="205" y="3"/>
                    <a:pt x="205" y="3"/>
                  </a:cubicBezTo>
                  <a:cubicBezTo>
                    <a:pt x="206" y="3"/>
                    <a:pt x="207" y="3"/>
                    <a:pt x="208" y="4"/>
                  </a:cubicBezTo>
                  <a:cubicBezTo>
                    <a:pt x="208" y="4"/>
                    <a:pt x="208" y="4"/>
                    <a:pt x="208" y="4"/>
                  </a:cubicBezTo>
                  <a:cubicBezTo>
                    <a:pt x="207" y="4"/>
                    <a:pt x="207" y="4"/>
                    <a:pt x="207" y="4"/>
                  </a:cubicBezTo>
                  <a:cubicBezTo>
                    <a:pt x="208" y="4"/>
                    <a:pt x="208" y="4"/>
                    <a:pt x="208" y="4"/>
                  </a:cubicBezTo>
                  <a:cubicBezTo>
                    <a:pt x="209" y="5"/>
                    <a:pt x="209" y="5"/>
                    <a:pt x="214" y="6"/>
                  </a:cubicBezTo>
                  <a:cubicBezTo>
                    <a:pt x="214" y="7"/>
                    <a:pt x="214" y="7"/>
                    <a:pt x="214" y="7"/>
                  </a:cubicBezTo>
                  <a:cubicBezTo>
                    <a:pt x="213" y="7"/>
                    <a:pt x="211" y="7"/>
                    <a:pt x="210" y="7"/>
                  </a:cubicBezTo>
                  <a:close/>
                  <a:moveTo>
                    <a:pt x="269" y="13"/>
                  </a:moveTo>
                  <a:cubicBezTo>
                    <a:pt x="269" y="13"/>
                    <a:pt x="269" y="13"/>
                    <a:pt x="269" y="13"/>
                  </a:cubicBezTo>
                  <a:close/>
                  <a:moveTo>
                    <a:pt x="269" y="14"/>
                  </a:moveTo>
                  <a:cubicBezTo>
                    <a:pt x="269" y="14"/>
                    <a:pt x="269" y="14"/>
                    <a:pt x="269" y="14"/>
                  </a:cubicBezTo>
                  <a:cubicBezTo>
                    <a:pt x="270" y="14"/>
                    <a:pt x="270" y="14"/>
                    <a:pt x="270" y="14"/>
                  </a:cubicBezTo>
                  <a:cubicBezTo>
                    <a:pt x="270" y="14"/>
                    <a:pt x="270" y="14"/>
                    <a:pt x="270" y="14"/>
                  </a:cubicBezTo>
                  <a:cubicBezTo>
                    <a:pt x="272" y="14"/>
                    <a:pt x="272" y="14"/>
                    <a:pt x="272" y="14"/>
                  </a:cubicBezTo>
                  <a:cubicBezTo>
                    <a:pt x="272" y="14"/>
                    <a:pt x="272" y="14"/>
                    <a:pt x="272" y="14"/>
                  </a:cubicBezTo>
                  <a:cubicBezTo>
                    <a:pt x="272" y="15"/>
                    <a:pt x="273" y="15"/>
                    <a:pt x="273" y="15"/>
                  </a:cubicBezTo>
                  <a:cubicBezTo>
                    <a:pt x="274" y="15"/>
                    <a:pt x="274" y="15"/>
                    <a:pt x="274" y="15"/>
                  </a:cubicBezTo>
                  <a:cubicBezTo>
                    <a:pt x="273" y="15"/>
                    <a:pt x="273" y="15"/>
                    <a:pt x="273" y="15"/>
                  </a:cubicBezTo>
                  <a:cubicBezTo>
                    <a:pt x="273" y="15"/>
                    <a:pt x="273" y="15"/>
                    <a:pt x="273" y="15"/>
                  </a:cubicBezTo>
                  <a:cubicBezTo>
                    <a:pt x="273" y="16"/>
                    <a:pt x="273" y="16"/>
                    <a:pt x="273" y="16"/>
                  </a:cubicBezTo>
                  <a:cubicBezTo>
                    <a:pt x="273" y="15"/>
                    <a:pt x="273" y="15"/>
                    <a:pt x="272" y="15"/>
                  </a:cubicBezTo>
                  <a:cubicBezTo>
                    <a:pt x="271" y="15"/>
                    <a:pt x="271" y="15"/>
                    <a:pt x="270" y="15"/>
                  </a:cubicBezTo>
                  <a:cubicBezTo>
                    <a:pt x="269" y="15"/>
                    <a:pt x="269" y="15"/>
                    <a:pt x="269" y="15"/>
                  </a:cubicBezTo>
                  <a:cubicBezTo>
                    <a:pt x="269" y="15"/>
                    <a:pt x="269" y="15"/>
                    <a:pt x="269" y="15"/>
                  </a:cubicBezTo>
                  <a:cubicBezTo>
                    <a:pt x="269" y="15"/>
                    <a:pt x="269" y="15"/>
                    <a:pt x="269" y="15"/>
                  </a:cubicBezTo>
                  <a:lnTo>
                    <a:pt x="269" y="14"/>
                  </a:lnTo>
                  <a:close/>
                  <a:moveTo>
                    <a:pt x="278" y="27"/>
                  </a:moveTo>
                  <a:cubicBezTo>
                    <a:pt x="278" y="27"/>
                    <a:pt x="277" y="27"/>
                    <a:pt x="276" y="27"/>
                  </a:cubicBezTo>
                  <a:cubicBezTo>
                    <a:pt x="276" y="27"/>
                    <a:pt x="276" y="27"/>
                    <a:pt x="276" y="27"/>
                  </a:cubicBezTo>
                  <a:cubicBezTo>
                    <a:pt x="277" y="27"/>
                    <a:pt x="277" y="27"/>
                    <a:pt x="277" y="27"/>
                  </a:cubicBezTo>
                  <a:cubicBezTo>
                    <a:pt x="277" y="27"/>
                    <a:pt x="278" y="27"/>
                    <a:pt x="278" y="26"/>
                  </a:cubicBezTo>
                  <a:lnTo>
                    <a:pt x="278" y="27"/>
                  </a:lnTo>
                  <a:close/>
                  <a:moveTo>
                    <a:pt x="295" y="24"/>
                  </a:moveTo>
                  <a:cubicBezTo>
                    <a:pt x="295" y="24"/>
                    <a:pt x="295" y="24"/>
                    <a:pt x="291" y="24"/>
                  </a:cubicBezTo>
                  <a:cubicBezTo>
                    <a:pt x="290" y="23"/>
                    <a:pt x="289" y="23"/>
                    <a:pt x="288" y="23"/>
                  </a:cubicBezTo>
                  <a:cubicBezTo>
                    <a:pt x="287" y="22"/>
                    <a:pt x="285" y="22"/>
                    <a:pt x="284" y="22"/>
                  </a:cubicBezTo>
                  <a:cubicBezTo>
                    <a:pt x="283" y="22"/>
                    <a:pt x="282" y="22"/>
                    <a:pt x="281" y="23"/>
                  </a:cubicBezTo>
                  <a:cubicBezTo>
                    <a:pt x="281" y="24"/>
                    <a:pt x="280" y="24"/>
                    <a:pt x="280" y="24"/>
                  </a:cubicBezTo>
                  <a:cubicBezTo>
                    <a:pt x="280" y="25"/>
                    <a:pt x="280" y="25"/>
                    <a:pt x="280" y="25"/>
                  </a:cubicBezTo>
                  <a:cubicBezTo>
                    <a:pt x="278" y="25"/>
                    <a:pt x="278" y="25"/>
                    <a:pt x="278" y="25"/>
                  </a:cubicBezTo>
                  <a:cubicBezTo>
                    <a:pt x="278" y="25"/>
                    <a:pt x="278" y="25"/>
                    <a:pt x="278" y="25"/>
                  </a:cubicBezTo>
                  <a:cubicBezTo>
                    <a:pt x="278" y="25"/>
                    <a:pt x="278" y="25"/>
                    <a:pt x="278" y="25"/>
                  </a:cubicBezTo>
                  <a:cubicBezTo>
                    <a:pt x="277" y="25"/>
                    <a:pt x="277" y="25"/>
                    <a:pt x="277" y="25"/>
                  </a:cubicBezTo>
                  <a:cubicBezTo>
                    <a:pt x="276" y="25"/>
                    <a:pt x="275" y="24"/>
                    <a:pt x="275" y="24"/>
                  </a:cubicBezTo>
                  <a:cubicBezTo>
                    <a:pt x="274" y="24"/>
                    <a:pt x="273" y="24"/>
                    <a:pt x="272" y="23"/>
                  </a:cubicBezTo>
                  <a:cubicBezTo>
                    <a:pt x="271" y="23"/>
                    <a:pt x="271" y="23"/>
                    <a:pt x="271" y="23"/>
                  </a:cubicBezTo>
                  <a:cubicBezTo>
                    <a:pt x="270" y="23"/>
                    <a:pt x="270" y="23"/>
                    <a:pt x="270" y="23"/>
                  </a:cubicBezTo>
                  <a:cubicBezTo>
                    <a:pt x="269" y="22"/>
                    <a:pt x="268" y="21"/>
                    <a:pt x="268" y="21"/>
                  </a:cubicBezTo>
                  <a:cubicBezTo>
                    <a:pt x="267" y="20"/>
                    <a:pt x="266" y="19"/>
                    <a:pt x="265" y="18"/>
                  </a:cubicBezTo>
                  <a:cubicBezTo>
                    <a:pt x="265" y="18"/>
                    <a:pt x="265" y="18"/>
                    <a:pt x="265" y="18"/>
                  </a:cubicBezTo>
                  <a:cubicBezTo>
                    <a:pt x="266" y="18"/>
                    <a:pt x="266" y="18"/>
                    <a:pt x="266" y="18"/>
                  </a:cubicBezTo>
                  <a:cubicBezTo>
                    <a:pt x="265" y="18"/>
                    <a:pt x="265" y="18"/>
                    <a:pt x="265" y="18"/>
                  </a:cubicBezTo>
                  <a:cubicBezTo>
                    <a:pt x="264" y="17"/>
                    <a:pt x="264" y="17"/>
                    <a:pt x="263" y="16"/>
                  </a:cubicBezTo>
                  <a:cubicBezTo>
                    <a:pt x="263" y="16"/>
                    <a:pt x="262" y="15"/>
                    <a:pt x="262" y="15"/>
                  </a:cubicBezTo>
                  <a:cubicBezTo>
                    <a:pt x="262" y="15"/>
                    <a:pt x="262" y="15"/>
                    <a:pt x="262" y="15"/>
                  </a:cubicBezTo>
                  <a:cubicBezTo>
                    <a:pt x="262" y="15"/>
                    <a:pt x="262" y="15"/>
                    <a:pt x="262" y="15"/>
                  </a:cubicBezTo>
                  <a:cubicBezTo>
                    <a:pt x="262" y="15"/>
                    <a:pt x="266" y="15"/>
                    <a:pt x="266" y="16"/>
                  </a:cubicBezTo>
                  <a:cubicBezTo>
                    <a:pt x="266" y="16"/>
                    <a:pt x="266" y="16"/>
                    <a:pt x="266" y="16"/>
                  </a:cubicBezTo>
                  <a:cubicBezTo>
                    <a:pt x="267" y="16"/>
                    <a:pt x="267" y="16"/>
                    <a:pt x="267" y="16"/>
                  </a:cubicBezTo>
                  <a:cubicBezTo>
                    <a:pt x="267" y="16"/>
                    <a:pt x="272" y="18"/>
                    <a:pt x="273" y="18"/>
                  </a:cubicBezTo>
                  <a:cubicBezTo>
                    <a:pt x="274" y="18"/>
                    <a:pt x="274" y="18"/>
                    <a:pt x="274" y="18"/>
                  </a:cubicBezTo>
                  <a:cubicBezTo>
                    <a:pt x="274" y="18"/>
                    <a:pt x="274" y="18"/>
                    <a:pt x="274" y="18"/>
                  </a:cubicBezTo>
                  <a:cubicBezTo>
                    <a:pt x="274" y="18"/>
                    <a:pt x="274" y="18"/>
                    <a:pt x="274" y="18"/>
                  </a:cubicBezTo>
                  <a:cubicBezTo>
                    <a:pt x="274" y="17"/>
                    <a:pt x="274" y="17"/>
                    <a:pt x="274" y="17"/>
                  </a:cubicBezTo>
                  <a:cubicBezTo>
                    <a:pt x="275" y="17"/>
                    <a:pt x="275" y="17"/>
                    <a:pt x="276" y="17"/>
                  </a:cubicBezTo>
                  <a:cubicBezTo>
                    <a:pt x="276" y="17"/>
                    <a:pt x="276" y="17"/>
                    <a:pt x="276" y="17"/>
                  </a:cubicBezTo>
                  <a:cubicBezTo>
                    <a:pt x="276" y="17"/>
                    <a:pt x="276" y="17"/>
                    <a:pt x="276" y="17"/>
                  </a:cubicBezTo>
                  <a:cubicBezTo>
                    <a:pt x="277" y="17"/>
                    <a:pt x="278" y="17"/>
                    <a:pt x="279" y="18"/>
                  </a:cubicBezTo>
                  <a:cubicBezTo>
                    <a:pt x="281" y="18"/>
                    <a:pt x="283" y="19"/>
                    <a:pt x="285" y="19"/>
                  </a:cubicBezTo>
                  <a:cubicBezTo>
                    <a:pt x="291" y="21"/>
                    <a:pt x="295" y="23"/>
                    <a:pt x="295" y="24"/>
                  </a:cubicBezTo>
                  <a:cubicBezTo>
                    <a:pt x="295" y="24"/>
                    <a:pt x="295" y="24"/>
                    <a:pt x="295" y="24"/>
                  </a:cubicBezTo>
                  <a:close/>
                  <a:moveTo>
                    <a:pt x="228" y="30"/>
                  </a:moveTo>
                  <a:cubicBezTo>
                    <a:pt x="227" y="30"/>
                    <a:pt x="227" y="31"/>
                    <a:pt x="227" y="31"/>
                  </a:cubicBezTo>
                  <a:cubicBezTo>
                    <a:pt x="227" y="31"/>
                    <a:pt x="227" y="31"/>
                    <a:pt x="227" y="31"/>
                  </a:cubicBezTo>
                  <a:cubicBezTo>
                    <a:pt x="227" y="32"/>
                    <a:pt x="228" y="32"/>
                    <a:pt x="231" y="34"/>
                  </a:cubicBezTo>
                  <a:cubicBezTo>
                    <a:pt x="231" y="34"/>
                    <a:pt x="231" y="34"/>
                    <a:pt x="230" y="35"/>
                  </a:cubicBezTo>
                  <a:cubicBezTo>
                    <a:pt x="230" y="35"/>
                    <a:pt x="230" y="35"/>
                    <a:pt x="230" y="35"/>
                  </a:cubicBezTo>
                  <a:cubicBezTo>
                    <a:pt x="230" y="35"/>
                    <a:pt x="230" y="35"/>
                    <a:pt x="230" y="35"/>
                  </a:cubicBezTo>
                  <a:cubicBezTo>
                    <a:pt x="231" y="36"/>
                    <a:pt x="232" y="36"/>
                    <a:pt x="232" y="37"/>
                  </a:cubicBezTo>
                  <a:cubicBezTo>
                    <a:pt x="233" y="38"/>
                    <a:pt x="235" y="40"/>
                    <a:pt x="236" y="40"/>
                  </a:cubicBezTo>
                  <a:cubicBezTo>
                    <a:pt x="236" y="40"/>
                    <a:pt x="237" y="40"/>
                    <a:pt x="238" y="40"/>
                  </a:cubicBezTo>
                  <a:cubicBezTo>
                    <a:pt x="238" y="39"/>
                    <a:pt x="238" y="39"/>
                    <a:pt x="238" y="38"/>
                  </a:cubicBezTo>
                  <a:cubicBezTo>
                    <a:pt x="238" y="38"/>
                    <a:pt x="238" y="37"/>
                    <a:pt x="237" y="37"/>
                  </a:cubicBezTo>
                  <a:cubicBezTo>
                    <a:pt x="237" y="36"/>
                    <a:pt x="237" y="36"/>
                    <a:pt x="237" y="36"/>
                  </a:cubicBezTo>
                  <a:cubicBezTo>
                    <a:pt x="235" y="34"/>
                    <a:pt x="234" y="34"/>
                    <a:pt x="232" y="33"/>
                  </a:cubicBezTo>
                  <a:cubicBezTo>
                    <a:pt x="231" y="33"/>
                    <a:pt x="231" y="33"/>
                    <a:pt x="231" y="33"/>
                  </a:cubicBezTo>
                  <a:cubicBezTo>
                    <a:pt x="231" y="32"/>
                    <a:pt x="231" y="31"/>
                    <a:pt x="230" y="30"/>
                  </a:cubicBezTo>
                  <a:cubicBezTo>
                    <a:pt x="229" y="29"/>
                    <a:pt x="228" y="29"/>
                    <a:pt x="228" y="29"/>
                  </a:cubicBezTo>
                  <a:cubicBezTo>
                    <a:pt x="228" y="29"/>
                    <a:pt x="228" y="29"/>
                    <a:pt x="228" y="29"/>
                  </a:cubicBezTo>
                  <a:lnTo>
                    <a:pt x="228" y="30"/>
                  </a:lnTo>
                  <a:close/>
                  <a:moveTo>
                    <a:pt x="278" y="35"/>
                  </a:moveTo>
                  <a:cubicBezTo>
                    <a:pt x="278" y="35"/>
                    <a:pt x="278" y="35"/>
                    <a:pt x="278" y="35"/>
                  </a:cubicBezTo>
                  <a:cubicBezTo>
                    <a:pt x="278" y="35"/>
                    <a:pt x="278" y="35"/>
                    <a:pt x="278" y="35"/>
                  </a:cubicBezTo>
                  <a:cubicBezTo>
                    <a:pt x="279" y="36"/>
                    <a:pt x="280" y="37"/>
                    <a:pt x="281" y="36"/>
                  </a:cubicBezTo>
                  <a:cubicBezTo>
                    <a:pt x="281" y="36"/>
                    <a:pt x="281" y="36"/>
                    <a:pt x="281" y="36"/>
                  </a:cubicBezTo>
                  <a:cubicBezTo>
                    <a:pt x="281" y="36"/>
                    <a:pt x="281" y="36"/>
                    <a:pt x="281" y="36"/>
                  </a:cubicBezTo>
                  <a:cubicBezTo>
                    <a:pt x="281" y="36"/>
                    <a:pt x="281" y="36"/>
                    <a:pt x="281" y="36"/>
                  </a:cubicBezTo>
                  <a:cubicBezTo>
                    <a:pt x="281" y="36"/>
                    <a:pt x="281" y="36"/>
                    <a:pt x="281" y="36"/>
                  </a:cubicBezTo>
                  <a:cubicBezTo>
                    <a:pt x="281" y="36"/>
                    <a:pt x="281" y="36"/>
                    <a:pt x="281" y="36"/>
                  </a:cubicBezTo>
                  <a:cubicBezTo>
                    <a:pt x="282" y="35"/>
                    <a:pt x="282" y="35"/>
                    <a:pt x="282" y="35"/>
                  </a:cubicBezTo>
                  <a:cubicBezTo>
                    <a:pt x="282" y="35"/>
                    <a:pt x="282" y="35"/>
                    <a:pt x="282" y="35"/>
                  </a:cubicBezTo>
                  <a:cubicBezTo>
                    <a:pt x="282" y="35"/>
                    <a:pt x="282" y="35"/>
                    <a:pt x="282" y="35"/>
                  </a:cubicBezTo>
                  <a:cubicBezTo>
                    <a:pt x="281" y="34"/>
                    <a:pt x="280" y="34"/>
                    <a:pt x="279" y="34"/>
                  </a:cubicBezTo>
                  <a:cubicBezTo>
                    <a:pt x="279" y="34"/>
                    <a:pt x="279" y="34"/>
                    <a:pt x="279" y="34"/>
                  </a:cubicBezTo>
                  <a:cubicBezTo>
                    <a:pt x="279" y="34"/>
                    <a:pt x="279" y="34"/>
                    <a:pt x="279" y="34"/>
                  </a:cubicBezTo>
                  <a:cubicBezTo>
                    <a:pt x="279" y="35"/>
                    <a:pt x="279" y="35"/>
                    <a:pt x="279" y="35"/>
                  </a:cubicBezTo>
                  <a:cubicBezTo>
                    <a:pt x="279" y="35"/>
                    <a:pt x="279" y="35"/>
                    <a:pt x="279" y="35"/>
                  </a:cubicBezTo>
                  <a:cubicBezTo>
                    <a:pt x="279" y="35"/>
                    <a:pt x="279" y="35"/>
                    <a:pt x="279" y="35"/>
                  </a:cubicBezTo>
                  <a:lnTo>
                    <a:pt x="278" y="35"/>
                  </a:lnTo>
                  <a:close/>
                </a:path>
              </a:pathLst>
            </a:custGeom>
            <a:solidFill>
              <a:srgbClr val="0070C0"/>
            </a:solidFill>
            <a:ln>
              <a:noFill/>
            </a:ln>
          </p:spPr>
          <p:txBody>
            <a:bodyPr lIns="68568" tIns="34284" rIns="68568" bIns="34284"/>
            <a:lstStyle/>
            <a:p>
              <a:pPr defTabSz="1218565">
                <a:defRPr/>
              </a:pPr>
              <a:endParaRPr lang="zh-CN" altLang="en-US" kern="0" dirty="0">
                <a:solidFill>
                  <a:sysClr val="windowText" lastClr="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2" name="文本框 1">
              <a:extLst>
                <a:ext uri="{FF2B5EF4-FFF2-40B4-BE49-F238E27FC236}">
                  <a16:creationId xmlns:a16="http://schemas.microsoft.com/office/drawing/2014/main" id="{035BCAC4-FB05-4587-27B7-73CC617ED92F}"/>
                </a:ext>
              </a:extLst>
            </p:cNvPr>
            <p:cNvSpPr txBox="1">
              <a:spLocks noChangeArrowheads="1"/>
            </p:cNvSpPr>
            <p:nvPr/>
          </p:nvSpPr>
          <p:spPr bwMode="auto">
            <a:xfrm>
              <a:off x="977092" y="2642025"/>
              <a:ext cx="497548" cy="500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8" tIns="34284" rIns="68568" bIns="34284">
              <a:spAutoFit/>
            </a:bodyPr>
            <a:lstStyle>
              <a:lvl1pPr>
                <a:defRPr>
                  <a:solidFill>
                    <a:schemeClr val="tx1"/>
                  </a:solidFill>
                  <a:latin typeface="Calibri" panose="020F0502020204030204" pitchFamily="34" charset="0"/>
                  <a:ea typeface="微软雅黑" panose="020B0503020204020204" charset="-122"/>
                </a:defRPr>
              </a:lvl1pPr>
              <a:lvl2pPr marL="742950" indent="-285750">
                <a:defRPr>
                  <a:solidFill>
                    <a:schemeClr val="tx1"/>
                  </a:solidFill>
                  <a:latin typeface="Calibri" panose="020F0502020204030204" pitchFamily="34" charset="0"/>
                  <a:ea typeface="微软雅黑" panose="020B0503020204020204" charset="-122"/>
                </a:defRPr>
              </a:lvl2pPr>
              <a:lvl3pPr marL="1143000" indent="-228600">
                <a:defRPr>
                  <a:solidFill>
                    <a:schemeClr val="tx1"/>
                  </a:solidFill>
                  <a:latin typeface="Calibri" panose="020F0502020204030204" pitchFamily="34" charset="0"/>
                  <a:ea typeface="微软雅黑" panose="020B0503020204020204" charset="-122"/>
                </a:defRPr>
              </a:lvl3pPr>
              <a:lvl4pPr marL="1600200" indent="-228600">
                <a:defRPr>
                  <a:solidFill>
                    <a:schemeClr val="tx1"/>
                  </a:solidFill>
                  <a:latin typeface="Calibri" panose="020F0502020204030204" pitchFamily="34" charset="0"/>
                  <a:ea typeface="微软雅黑" panose="020B0503020204020204" charset="-122"/>
                </a:defRPr>
              </a:lvl4pPr>
              <a:lvl5pPr marL="2057400" indent="-228600">
                <a:defRPr>
                  <a:solidFill>
                    <a:schemeClr val="tx1"/>
                  </a:solidFill>
                  <a:latin typeface="Calibri" panose="020F0502020204030204" pitchFamily="34" charset="0"/>
                  <a:ea typeface="微软雅黑" panose="020B050302020402020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9pPr>
            </a:lstStyle>
            <a:p>
              <a:pPr defTabSz="1218565">
                <a:defRPr/>
              </a:pPr>
              <a:r>
                <a:rPr lang="en-US" altLang="zh-CN"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rPr>
                <a:t>01</a:t>
              </a:r>
              <a:endParaRPr lang="zh-CN" altLang="en-US"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4" name="组合 53">
              <a:extLst>
                <a:ext uri="{FF2B5EF4-FFF2-40B4-BE49-F238E27FC236}">
                  <a16:creationId xmlns:a16="http://schemas.microsoft.com/office/drawing/2014/main" id="{11396F01-2E8D-1F49-8020-40A6B4F1A278}"/>
                </a:ext>
              </a:extLst>
            </p:cNvPr>
            <p:cNvGrpSpPr/>
            <p:nvPr/>
          </p:nvGrpSpPr>
          <p:grpSpPr bwMode="auto">
            <a:xfrm>
              <a:off x="668079" y="3794891"/>
              <a:ext cx="6583621" cy="1223659"/>
              <a:chOff x="2678519" y="2847139"/>
              <a:chExt cx="13001543" cy="2417231"/>
            </a:xfrm>
          </p:grpSpPr>
          <p:sp>
            <p:nvSpPr>
              <p:cNvPr id="30" name="Freeform 19">
                <a:extLst>
                  <a:ext uri="{FF2B5EF4-FFF2-40B4-BE49-F238E27FC236}">
                    <a16:creationId xmlns:a16="http://schemas.microsoft.com/office/drawing/2014/main" id="{1A8FEFEA-CA46-6842-305C-CCCB52BC252D}"/>
                  </a:ext>
                </a:extLst>
              </p:cNvPr>
              <p:cNvSpPr/>
              <p:nvPr/>
            </p:nvSpPr>
            <p:spPr bwMode="auto">
              <a:xfrm>
                <a:off x="2678519" y="2856133"/>
                <a:ext cx="13001543" cy="2408237"/>
              </a:xfrm>
              <a:custGeom>
                <a:avLst/>
                <a:gdLst>
                  <a:gd name="T0" fmla="*/ 3200 w 3200"/>
                  <a:gd name="T1" fmla="*/ 320 h 640"/>
                  <a:gd name="T2" fmla="*/ 2880 w 3200"/>
                  <a:gd name="T3" fmla="*/ 640 h 640"/>
                  <a:gd name="T4" fmla="*/ 320 w 3200"/>
                  <a:gd name="T5" fmla="*/ 640 h 640"/>
                  <a:gd name="T6" fmla="*/ 0 w 3200"/>
                  <a:gd name="T7" fmla="*/ 320 h 640"/>
                  <a:gd name="T8" fmla="*/ 320 w 3200"/>
                  <a:gd name="T9" fmla="*/ 0 h 640"/>
                  <a:gd name="T10" fmla="*/ 2880 w 3200"/>
                  <a:gd name="T11" fmla="*/ 0 h 640"/>
                  <a:gd name="T12" fmla="*/ 3200 w 320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0" h="640">
                    <a:moveTo>
                      <a:pt x="3200" y="320"/>
                    </a:moveTo>
                    <a:cubicBezTo>
                      <a:pt x="3200" y="496"/>
                      <a:pt x="3056" y="640"/>
                      <a:pt x="2880" y="640"/>
                    </a:cubicBezTo>
                    <a:cubicBezTo>
                      <a:pt x="320" y="640"/>
                      <a:pt x="320" y="640"/>
                      <a:pt x="320" y="640"/>
                    </a:cubicBezTo>
                    <a:cubicBezTo>
                      <a:pt x="144" y="640"/>
                      <a:pt x="0" y="496"/>
                      <a:pt x="0" y="320"/>
                    </a:cubicBezTo>
                    <a:cubicBezTo>
                      <a:pt x="0" y="144"/>
                      <a:pt x="144" y="0"/>
                      <a:pt x="320" y="0"/>
                    </a:cubicBezTo>
                    <a:cubicBezTo>
                      <a:pt x="2880" y="0"/>
                      <a:pt x="2880" y="0"/>
                      <a:pt x="2880" y="0"/>
                    </a:cubicBezTo>
                    <a:cubicBezTo>
                      <a:pt x="3056" y="0"/>
                      <a:pt x="3200" y="144"/>
                      <a:pt x="3200" y="320"/>
                    </a:cubicBezTo>
                    <a:close/>
                  </a:path>
                </a:pathLst>
              </a:custGeom>
              <a:solidFill>
                <a:schemeClr val="accent2">
                  <a:lumMod val="20000"/>
                  <a:lumOff val="80000"/>
                  <a:alpha val="57000"/>
                </a:schemeClr>
              </a:solidFill>
              <a:ln w="28575"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1" name="Freeform 20">
                <a:extLst>
                  <a:ext uri="{FF2B5EF4-FFF2-40B4-BE49-F238E27FC236}">
                    <a16:creationId xmlns:a16="http://schemas.microsoft.com/office/drawing/2014/main" id="{76AB514D-B7D2-591A-64ED-5CAD9A3745F9}"/>
                  </a:ext>
                </a:extLst>
              </p:cNvPr>
              <p:cNvSpPr>
                <a:spLocks noEditPoints="1"/>
              </p:cNvSpPr>
              <p:nvPr/>
            </p:nvSpPr>
            <p:spPr bwMode="auto">
              <a:xfrm>
                <a:off x="2678521" y="2847139"/>
                <a:ext cx="6005512" cy="2408237"/>
              </a:xfrm>
              <a:custGeom>
                <a:avLst/>
                <a:gdLst>
                  <a:gd name="T0" fmla="*/ 1280 w 1600"/>
                  <a:gd name="T1" fmla="*/ 0 h 640"/>
                  <a:gd name="T2" fmla="*/ 320 w 1600"/>
                  <a:gd name="T3" fmla="*/ 0 h 640"/>
                  <a:gd name="T4" fmla="*/ 0 w 1600"/>
                  <a:gd name="T5" fmla="*/ 320 h 640"/>
                  <a:gd name="T6" fmla="*/ 320 w 1600"/>
                  <a:gd name="T7" fmla="*/ 640 h 640"/>
                  <a:gd name="T8" fmla="*/ 1280 w 1600"/>
                  <a:gd name="T9" fmla="*/ 640 h 640"/>
                  <a:gd name="T10" fmla="*/ 1600 w 1600"/>
                  <a:gd name="T11" fmla="*/ 320 h 640"/>
                  <a:gd name="T12" fmla="*/ 1280 w 1600"/>
                  <a:gd name="T13" fmla="*/ 0 h 640"/>
                  <a:gd name="T14" fmla="*/ 1493 w 1600"/>
                  <a:gd name="T15" fmla="*/ 365 h 640"/>
                  <a:gd name="T16" fmla="*/ 1435 w 1600"/>
                  <a:gd name="T17" fmla="*/ 385 h 640"/>
                  <a:gd name="T18" fmla="*/ 1427 w 1600"/>
                  <a:gd name="T19" fmla="*/ 381 h 640"/>
                  <a:gd name="T20" fmla="*/ 1416 w 1600"/>
                  <a:gd name="T21" fmla="*/ 320 h 640"/>
                  <a:gd name="T22" fmla="*/ 1427 w 1600"/>
                  <a:gd name="T23" fmla="*/ 259 h 640"/>
                  <a:gd name="T24" fmla="*/ 1435 w 1600"/>
                  <a:gd name="T25" fmla="*/ 255 h 640"/>
                  <a:gd name="T26" fmla="*/ 1493 w 1600"/>
                  <a:gd name="T27" fmla="*/ 275 h 640"/>
                  <a:gd name="T28" fmla="*/ 1541 w 1600"/>
                  <a:gd name="T29" fmla="*/ 316 h 640"/>
                  <a:gd name="T30" fmla="*/ 1541 w 1600"/>
                  <a:gd name="T31" fmla="*/ 324 h 640"/>
                  <a:gd name="T32" fmla="*/ 1493 w 1600"/>
                  <a:gd name="T33" fmla="*/ 365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0" h="640">
                    <a:moveTo>
                      <a:pt x="1280" y="0"/>
                    </a:moveTo>
                    <a:cubicBezTo>
                      <a:pt x="320" y="0"/>
                      <a:pt x="320" y="0"/>
                      <a:pt x="320" y="0"/>
                    </a:cubicBezTo>
                    <a:cubicBezTo>
                      <a:pt x="144" y="0"/>
                      <a:pt x="0" y="144"/>
                      <a:pt x="0" y="320"/>
                    </a:cubicBezTo>
                    <a:cubicBezTo>
                      <a:pt x="0" y="496"/>
                      <a:pt x="144" y="640"/>
                      <a:pt x="320" y="640"/>
                    </a:cubicBezTo>
                    <a:cubicBezTo>
                      <a:pt x="1280" y="640"/>
                      <a:pt x="1280" y="640"/>
                      <a:pt x="1280" y="640"/>
                    </a:cubicBezTo>
                    <a:cubicBezTo>
                      <a:pt x="1456" y="640"/>
                      <a:pt x="1600" y="496"/>
                      <a:pt x="1600" y="320"/>
                    </a:cubicBezTo>
                    <a:cubicBezTo>
                      <a:pt x="1600" y="144"/>
                      <a:pt x="1456" y="0"/>
                      <a:pt x="1280" y="0"/>
                    </a:cubicBezTo>
                    <a:close/>
                    <a:moveTo>
                      <a:pt x="1493" y="365"/>
                    </a:moveTo>
                    <a:cubicBezTo>
                      <a:pt x="1455" y="387"/>
                      <a:pt x="1435" y="385"/>
                      <a:pt x="1435" y="385"/>
                    </a:cubicBezTo>
                    <a:cubicBezTo>
                      <a:pt x="1432" y="385"/>
                      <a:pt x="1429" y="383"/>
                      <a:pt x="1427" y="381"/>
                    </a:cubicBezTo>
                    <a:cubicBezTo>
                      <a:pt x="1427" y="381"/>
                      <a:pt x="1416" y="364"/>
                      <a:pt x="1416" y="320"/>
                    </a:cubicBezTo>
                    <a:cubicBezTo>
                      <a:pt x="1416" y="276"/>
                      <a:pt x="1427" y="259"/>
                      <a:pt x="1427" y="259"/>
                    </a:cubicBezTo>
                    <a:cubicBezTo>
                      <a:pt x="1429" y="257"/>
                      <a:pt x="1432" y="255"/>
                      <a:pt x="1435" y="255"/>
                    </a:cubicBezTo>
                    <a:cubicBezTo>
                      <a:pt x="1435" y="255"/>
                      <a:pt x="1455" y="253"/>
                      <a:pt x="1493" y="275"/>
                    </a:cubicBezTo>
                    <a:cubicBezTo>
                      <a:pt x="1532" y="297"/>
                      <a:pt x="1541" y="316"/>
                      <a:pt x="1541" y="316"/>
                    </a:cubicBezTo>
                    <a:cubicBezTo>
                      <a:pt x="1542" y="318"/>
                      <a:pt x="1542" y="322"/>
                      <a:pt x="1541" y="324"/>
                    </a:cubicBezTo>
                    <a:cubicBezTo>
                      <a:pt x="1541" y="324"/>
                      <a:pt x="1532" y="343"/>
                      <a:pt x="1493" y="365"/>
                    </a:cubicBezTo>
                    <a:close/>
                  </a:path>
                </a:pathLst>
              </a:custGeom>
              <a:gradFill>
                <a:gsLst>
                  <a:gs pos="0">
                    <a:srgbClr val="DEDEDE"/>
                  </a:gs>
                  <a:gs pos="100000">
                    <a:srgbClr val="FBFBFB"/>
                  </a:gs>
                </a:gsLst>
                <a:lin ang="5400000" scaled="1"/>
              </a:gradFill>
              <a:ln w="31750" cap="flat">
                <a:gradFill>
                  <a:gsLst>
                    <a:gs pos="0">
                      <a:sysClr val="window" lastClr="FFFFFF"/>
                    </a:gs>
                    <a:gs pos="100000">
                      <a:srgbClr val="DDDDDD"/>
                    </a:gs>
                  </a:gsLst>
                  <a:lin ang="5400000" scaled="1"/>
                </a:gradFill>
                <a:prstDash val="solid"/>
                <a:miter lim="800000"/>
              </a:ln>
              <a:effectLst>
                <a:outerShdw blurRad="228600" dist="101600" dir="5400000" algn="t" rotWithShape="0">
                  <a:sysClr val="windowText" lastClr="000000">
                    <a:lumMod val="85000"/>
                    <a:lumOff val="15000"/>
                    <a:alpha val="33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2" name="椭圆 31">
                <a:extLst>
                  <a:ext uri="{FF2B5EF4-FFF2-40B4-BE49-F238E27FC236}">
                    <a16:creationId xmlns:a16="http://schemas.microsoft.com/office/drawing/2014/main" id="{3B0E412D-92F7-74A3-142F-69CFA230A611}"/>
                  </a:ext>
                </a:extLst>
              </p:cNvPr>
              <p:cNvSpPr/>
              <p:nvPr/>
            </p:nvSpPr>
            <p:spPr>
              <a:xfrm>
                <a:off x="2834834" y="3000057"/>
                <a:ext cx="2102400" cy="2102400"/>
              </a:xfrm>
              <a:prstGeom prst="ellipse">
                <a:avLst/>
              </a:prstGeom>
              <a:gradFill>
                <a:gsLst>
                  <a:gs pos="0">
                    <a:srgbClr val="DDDDDD"/>
                  </a:gs>
                  <a:gs pos="100000">
                    <a:srgbClr val="FBFBFB"/>
                  </a:gs>
                </a:gsLst>
                <a:lin ang="5400000" scaled="1"/>
              </a:gradFill>
              <a:ln w="101600" cap="flat">
                <a:gradFill>
                  <a:gsLst>
                    <a:gs pos="0">
                      <a:srgbClr val="FDFDFD"/>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3" name="Freeform 23">
                <a:extLst>
                  <a:ext uri="{FF2B5EF4-FFF2-40B4-BE49-F238E27FC236}">
                    <a16:creationId xmlns:a16="http://schemas.microsoft.com/office/drawing/2014/main" id="{EC020CB0-2EBD-FA4D-7F98-92E4FC692AE2}"/>
                  </a:ext>
                </a:extLst>
              </p:cNvPr>
              <p:cNvSpPr/>
              <p:nvPr/>
            </p:nvSpPr>
            <p:spPr bwMode="auto">
              <a:xfrm>
                <a:off x="3298659" y="3423401"/>
                <a:ext cx="1174750" cy="1255712"/>
              </a:xfrm>
              <a:custGeom>
                <a:avLst/>
                <a:gdLst>
                  <a:gd name="T0" fmla="*/ 193 w 313"/>
                  <a:gd name="T1" fmla="*/ 279 h 334"/>
                  <a:gd name="T2" fmla="*/ 47 w 313"/>
                  <a:gd name="T3" fmla="*/ 330 h 334"/>
                  <a:gd name="T4" fmla="*/ 28 w 313"/>
                  <a:gd name="T5" fmla="*/ 319 h 334"/>
                  <a:gd name="T6" fmla="*/ 0 w 313"/>
                  <a:gd name="T7" fmla="*/ 167 h 334"/>
                  <a:gd name="T8" fmla="*/ 28 w 313"/>
                  <a:gd name="T9" fmla="*/ 15 h 334"/>
                  <a:gd name="T10" fmla="*/ 47 w 313"/>
                  <a:gd name="T11" fmla="*/ 4 h 334"/>
                  <a:gd name="T12" fmla="*/ 193 w 313"/>
                  <a:gd name="T13" fmla="*/ 55 h 334"/>
                  <a:gd name="T14" fmla="*/ 311 w 313"/>
                  <a:gd name="T15" fmla="*/ 156 h 334"/>
                  <a:gd name="T16" fmla="*/ 311 w 313"/>
                  <a:gd name="T17" fmla="*/ 178 h 334"/>
                  <a:gd name="T18" fmla="*/ 193 w 313"/>
                  <a:gd name="T19" fmla="*/ 27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3" h="334">
                    <a:moveTo>
                      <a:pt x="193" y="279"/>
                    </a:moveTo>
                    <a:cubicBezTo>
                      <a:pt x="98" y="334"/>
                      <a:pt x="47" y="330"/>
                      <a:pt x="47" y="330"/>
                    </a:cubicBezTo>
                    <a:cubicBezTo>
                      <a:pt x="40" y="329"/>
                      <a:pt x="32" y="325"/>
                      <a:pt x="28" y="319"/>
                    </a:cubicBezTo>
                    <a:cubicBezTo>
                      <a:pt x="28" y="319"/>
                      <a:pt x="0" y="277"/>
                      <a:pt x="0" y="167"/>
                    </a:cubicBezTo>
                    <a:cubicBezTo>
                      <a:pt x="0" y="57"/>
                      <a:pt x="28" y="15"/>
                      <a:pt x="28" y="15"/>
                    </a:cubicBezTo>
                    <a:cubicBezTo>
                      <a:pt x="32" y="9"/>
                      <a:pt x="40" y="5"/>
                      <a:pt x="47" y="4"/>
                    </a:cubicBezTo>
                    <a:cubicBezTo>
                      <a:pt x="47" y="4"/>
                      <a:pt x="98" y="0"/>
                      <a:pt x="193" y="55"/>
                    </a:cubicBezTo>
                    <a:cubicBezTo>
                      <a:pt x="289" y="110"/>
                      <a:pt x="311" y="156"/>
                      <a:pt x="311" y="156"/>
                    </a:cubicBezTo>
                    <a:cubicBezTo>
                      <a:pt x="313" y="162"/>
                      <a:pt x="313" y="172"/>
                      <a:pt x="311" y="178"/>
                    </a:cubicBezTo>
                    <a:cubicBezTo>
                      <a:pt x="311" y="178"/>
                      <a:pt x="289" y="224"/>
                      <a:pt x="193" y="279"/>
                    </a:cubicBezTo>
                    <a:close/>
                  </a:path>
                </a:pathLst>
              </a:custGeom>
              <a:solidFill>
                <a:srgbClr val="00B0F0"/>
              </a:solidFill>
              <a:ln w="12700" cap="flat" cmpd="sng" algn="ctr">
                <a:noFill/>
                <a:prstDash val="solid"/>
                <a:miter lim="800000"/>
              </a:ln>
              <a:effectLst>
                <a:innerShdw blurRad="215900" dist="50800" dir="16200000">
                  <a:prstClr val="black">
                    <a:alpha val="42000"/>
                  </a:prstClr>
                </a:innerShdw>
              </a:effectLst>
            </p:spPr>
            <p:txBody>
              <a:bodyPr anchor="ctr"/>
              <a:lstStyle/>
              <a:p>
                <a:pPr algn="ctr" defTabSz="1218565">
                  <a:defRPr/>
                </a:pPr>
                <a:endParaRPr lang="zh-CN" altLang="en-US" kern="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
          <p:nvSpPr>
            <p:cNvPr id="16" name="Freeform 12">
              <a:extLst>
                <a:ext uri="{FF2B5EF4-FFF2-40B4-BE49-F238E27FC236}">
                  <a16:creationId xmlns:a16="http://schemas.microsoft.com/office/drawing/2014/main" id="{982B0555-8E51-1142-0F22-F8037DD3651B}"/>
                </a:ext>
              </a:extLst>
            </p:cNvPr>
            <p:cNvSpPr>
              <a:spLocks noEditPoints="1"/>
            </p:cNvSpPr>
            <p:nvPr/>
          </p:nvSpPr>
          <p:spPr bwMode="auto">
            <a:xfrm>
              <a:off x="2125057" y="4150900"/>
              <a:ext cx="701775" cy="507089"/>
            </a:xfrm>
            <a:custGeom>
              <a:avLst/>
              <a:gdLst>
                <a:gd name="T0" fmla="*/ 57823 w 467"/>
                <a:gd name="T1" fmla="*/ 248018 h 337"/>
                <a:gd name="T2" fmla="*/ 77648 w 467"/>
                <a:gd name="T3" fmla="*/ 315809 h 337"/>
                <a:gd name="T4" fmla="*/ 120602 w 467"/>
                <a:gd name="T5" fmla="*/ 307542 h 337"/>
                <a:gd name="T6" fmla="*/ 185034 w 467"/>
                <a:gd name="T7" fmla="*/ 314156 h 337"/>
                <a:gd name="T8" fmla="*/ 247813 w 467"/>
                <a:gd name="T9" fmla="*/ 314156 h 337"/>
                <a:gd name="T10" fmla="*/ 272594 w 467"/>
                <a:gd name="T11" fmla="*/ 248018 h 337"/>
                <a:gd name="T12" fmla="*/ 330418 w 467"/>
                <a:gd name="T13" fmla="*/ 208335 h 337"/>
                <a:gd name="T14" fmla="*/ 297376 w 467"/>
                <a:gd name="T15" fmla="*/ 170305 h 337"/>
                <a:gd name="T16" fmla="*/ 315549 w 467"/>
                <a:gd name="T17" fmla="*/ 102514 h 337"/>
                <a:gd name="T18" fmla="*/ 264334 w 467"/>
                <a:gd name="T19" fmla="*/ 66138 h 337"/>
                <a:gd name="T20" fmla="*/ 209815 w 467"/>
                <a:gd name="T21" fmla="*/ 33069 h 337"/>
                <a:gd name="T22" fmla="*/ 180078 w 467"/>
                <a:gd name="T23" fmla="*/ 1653 h 337"/>
                <a:gd name="T24" fmla="*/ 123907 w 467"/>
                <a:gd name="T25" fmla="*/ 44643 h 337"/>
                <a:gd name="T26" fmla="*/ 52867 w 467"/>
                <a:gd name="T27" fmla="*/ 47950 h 337"/>
                <a:gd name="T28" fmla="*/ 34694 w 467"/>
                <a:gd name="T29" fmla="*/ 107474 h 337"/>
                <a:gd name="T30" fmla="*/ 21477 w 467"/>
                <a:gd name="T31" fmla="*/ 170305 h 337"/>
                <a:gd name="T32" fmla="*/ 3304 w 467"/>
                <a:gd name="T33" fmla="*/ 203374 h 337"/>
                <a:gd name="T34" fmla="*/ 69388 w 467"/>
                <a:gd name="T35" fmla="*/ 170305 h 337"/>
                <a:gd name="T36" fmla="*/ 297376 w 467"/>
                <a:gd name="T37" fmla="*/ 286047 h 337"/>
                <a:gd name="T38" fmla="*/ 328765 w 467"/>
                <a:gd name="T39" fmla="*/ 317463 h 337"/>
                <a:gd name="T40" fmla="*/ 297376 w 467"/>
                <a:gd name="T41" fmla="*/ 348878 h 337"/>
                <a:gd name="T42" fmla="*/ 327113 w 467"/>
                <a:gd name="T43" fmla="*/ 380294 h 337"/>
                <a:gd name="T44" fmla="*/ 335374 w 467"/>
                <a:gd name="T45" fmla="*/ 405096 h 337"/>
                <a:gd name="T46" fmla="*/ 328765 w 467"/>
                <a:gd name="T47" fmla="*/ 444778 h 337"/>
                <a:gd name="T48" fmla="*/ 388241 w 467"/>
                <a:gd name="T49" fmla="*/ 476194 h 337"/>
                <a:gd name="T50" fmla="*/ 388241 w 467"/>
                <a:gd name="T51" fmla="*/ 476194 h 337"/>
                <a:gd name="T52" fmla="*/ 399805 w 467"/>
                <a:gd name="T53" fmla="*/ 517530 h 337"/>
                <a:gd name="T54" fmla="*/ 464237 w 467"/>
                <a:gd name="T55" fmla="*/ 520837 h 337"/>
                <a:gd name="T56" fmla="*/ 465889 w 467"/>
                <a:gd name="T57" fmla="*/ 520837 h 337"/>
                <a:gd name="T58" fmla="*/ 520408 w 467"/>
                <a:gd name="T59" fmla="*/ 557213 h 337"/>
                <a:gd name="T60" fmla="*/ 553449 w 467"/>
                <a:gd name="T61" fmla="*/ 530758 h 337"/>
                <a:gd name="T62" fmla="*/ 553449 w 467"/>
                <a:gd name="T63" fmla="*/ 530758 h 337"/>
                <a:gd name="T64" fmla="*/ 621185 w 467"/>
                <a:gd name="T65" fmla="*/ 539025 h 337"/>
                <a:gd name="T66" fmla="*/ 637706 w 467"/>
                <a:gd name="T67" fmla="*/ 502649 h 337"/>
                <a:gd name="T68" fmla="*/ 660835 w 467"/>
                <a:gd name="T69" fmla="*/ 489422 h 337"/>
                <a:gd name="T70" fmla="*/ 703789 w 467"/>
                <a:gd name="T71" fmla="*/ 482808 h 337"/>
                <a:gd name="T72" fmla="*/ 705441 w 467"/>
                <a:gd name="T73" fmla="*/ 443125 h 337"/>
                <a:gd name="T74" fmla="*/ 718658 w 467"/>
                <a:gd name="T75" fmla="*/ 421630 h 337"/>
                <a:gd name="T76" fmla="*/ 756656 w 467"/>
                <a:gd name="T77" fmla="*/ 398482 h 337"/>
                <a:gd name="T78" fmla="*/ 730223 w 467"/>
                <a:gd name="T79" fmla="*/ 358799 h 337"/>
                <a:gd name="T80" fmla="*/ 766569 w 467"/>
                <a:gd name="T81" fmla="*/ 335651 h 337"/>
                <a:gd name="T82" fmla="*/ 766569 w 467"/>
                <a:gd name="T83" fmla="*/ 299275 h 337"/>
                <a:gd name="T84" fmla="*/ 730223 w 467"/>
                <a:gd name="T85" fmla="*/ 274473 h 337"/>
                <a:gd name="T86" fmla="*/ 753352 w 467"/>
                <a:gd name="T87" fmla="*/ 238097 h 337"/>
                <a:gd name="T88" fmla="*/ 738483 w 467"/>
                <a:gd name="T89" fmla="*/ 205028 h 337"/>
                <a:gd name="T90" fmla="*/ 695529 w 467"/>
                <a:gd name="T91" fmla="*/ 198414 h 337"/>
                <a:gd name="T92" fmla="*/ 702137 w 467"/>
                <a:gd name="T93" fmla="*/ 153771 h 337"/>
                <a:gd name="T94" fmla="*/ 675704 w 467"/>
                <a:gd name="T95" fmla="*/ 130623 h 337"/>
                <a:gd name="T96" fmla="*/ 637706 w 467"/>
                <a:gd name="T97" fmla="*/ 132276 h 337"/>
                <a:gd name="T98" fmla="*/ 621185 w 467"/>
                <a:gd name="T99" fmla="*/ 95900 h 337"/>
                <a:gd name="T100" fmla="*/ 579883 w 467"/>
                <a:gd name="T101" fmla="*/ 107474 h 337"/>
                <a:gd name="T102" fmla="*/ 553449 w 467"/>
                <a:gd name="T103" fmla="*/ 104167 h 337"/>
                <a:gd name="T104" fmla="*/ 523712 w 467"/>
                <a:gd name="T105" fmla="*/ 79366 h 337"/>
                <a:gd name="T106" fmla="*/ 490670 w 467"/>
                <a:gd name="T107" fmla="*/ 107474 h 337"/>
                <a:gd name="T108" fmla="*/ 465889 w 467"/>
                <a:gd name="T109" fmla="*/ 114088 h 337"/>
                <a:gd name="T110" fmla="*/ 424587 w 467"/>
                <a:gd name="T111" fmla="*/ 102514 h 337"/>
                <a:gd name="T112" fmla="*/ 388241 w 467"/>
                <a:gd name="T113" fmla="*/ 158731 h 337"/>
                <a:gd name="T114" fmla="*/ 388241 w 467"/>
                <a:gd name="T115" fmla="*/ 158731 h 337"/>
                <a:gd name="T116" fmla="*/ 328765 w 467"/>
                <a:gd name="T117" fmla="*/ 190147 h 337"/>
                <a:gd name="T118" fmla="*/ 335374 w 467"/>
                <a:gd name="T119" fmla="*/ 229830 h 337"/>
                <a:gd name="T120" fmla="*/ 303984 w 467"/>
                <a:gd name="T121" fmla="*/ 251325 h 337"/>
                <a:gd name="T122" fmla="*/ 531972 w 467"/>
                <a:gd name="T123" fmla="*/ 162038 h 3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67" h="337">
                  <a:moveTo>
                    <a:pt x="0" y="126"/>
                  </a:moveTo>
                  <a:cubicBezTo>
                    <a:pt x="1" y="132"/>
                    <a:pt x="3" y="138"/>
                    <a:pt x="6" y="143"/>
                  </a:cubicBezTo>
                  <a:cubicBezTo>
                    <a:pt x="6" y="145"/>
                    <a:pt x="8" y="145"/>
                    <a:pt x="9" y="145"/>
                  </a:cubicBezTo>
                  <a:cubicBezTo>
                    <a:pt x="13" y="143"/>
                    <a:pt x="17" y="142"/>
                    <a:pt x="21" y="141"/>
                  </a:cubicBezTo>
                  <a:cubicBezTo>
                    <a:pt x="24" y="146"/>
                    <a:pt x="26" y="150"/>
                    <a:pt x="30" y="154"/>
                  </a:cubicBezTo>
                  <a:cubicBezTo>
                    <a:pt x="35" y="150"/>
                    <a:pt x="35" y="150"/>
                    <a:pt x="35" y="150"/>
                  </a:cubicBezTo>
                  <a:cubicBezTo>
                    <a:pt x="35" y="150"/>
                    <a:pt x="35" y="150"/>
                    <a:pt x="35" y="150"/>
                  </a:cubicBezTo>
                  <a:cubicBezTo>
                    <a:pt x="30" y="154"/>
                    <a:pt x="30" y="154"/>
                    <a:pt x="30" y="154"/>
                  </a:cubicBezTo>
                  <a:cubicBezTo>
                    <a:pt x="33" y="159"/>
                    <a:pt x="36" y="163"/>
                    <a:pt x="40" y="166"/>
                  </a:cubicBezTo>
                  <a:cubicBezTo>
                    <a:pt x="37" y="170"/>
                    <a:pt x="35" y="173"/>
                    <a:pt x="32" y="177"/>
                  </a:cubicBezTo>
                  <a:cubicBezTo>
                    <a:pt x="32" y="178"/>
                    <a:pt x="32" y="180"/>
                    <a:pt x="33" y="180"/>
                  </a:cubicBezTo>
                  <a:cubicBezTo>
                    <a:pt x="37" y="184"/>
                    <a:pt x="42" y="188"/>
                    <a:pt x="47" y="191"/>
                  </a:cubicBezTo>
                  <a:cubicBezTo>
                    <a:pt x="49" y="192"/>
                    <a:pt x="50" y="191"/>
                    <a:pt x="51" y="190"/>
                  </a:cubicBezTo>
                  <a:cubicBezTo>
                    <a:pt x="53" y="187"/>
                    <a:pt x="56" y="183"/>
                    <a:pt x="59" y="180"/>
                  </a:cubicBezTo>
                  <a:cubicBezTo>
                    <a:pt x="63" y="182"/>
                    <a:pt x="68" y="184"/>
                    <a:pt x="73" y="186"/>
                  </a:cubicBezTo>
                  <a:cubicBezTo>
                    <a:pt x="75" y="179"/>
                    <a:pt x="75" y="179"/>
                    <a:pt x="75" y="179"/>
                  </a:cubicBezTo>
                  <a:cubicBezTo>
                    <a:pt x="75" y="179"/>
                    <a:pt x="75" y="179"/>
                    <a:pt x="75" y="179"/>
                  </a:cubicBezTo>
                  <a:cubicBezTo>
                    <a:pt x="73" y="186"/>
                    <a:pt x="73" y="186"/>
                    <a:pt x="73" y="186"/>
                  </a:cubicBezTo>
                  <a:cubicBezTo>
                    <a:pt x="78" y="188"/>
                    <a:pt x="83" y="189"/>
                    <a:pt x="89" y="190"/>
                  </a:cubicBezTo>
                  <a:cubicBezTo>
                    <a:pt x="89" y="194"/>
                    <a:pt x="89" y="198"/>
                    <a:pt x="89" y="203"/>
                  </a:cubicBezTo>
                  <a:cubicBezTo>
                    <a:pt x="89" y="204"/>
                    <a:pt x="90" y="205"/>
                    <a:pt x="91" y="205"/>
                  </a:cubicBezTo>
                  <a:cubicBezTo>
                    <a:pt x="97" y="206"/>
                    <a:pt x="103" y="206"/>
                    <a:pt x="109" y="205"/>
                  </a:cubicBezTo>
                  <a:cubicBezTo>
                    <a:pt x="110" y="205"/>
                    <a:pt x="111" y="204"/>
                    <a:pt x="111" y="203"/>
                  </a:cubicBezTo>
                  <a:cubicBezTo>
                    <a:pt x="111" y="198"/>
                    <a:pt x="112" y="194"/>
                    <a:pt x="112" y="190"/>
                  </a:cubicBezTo>
                  <a:cubicBezTo>
                    <a:pt x="117" y="189"/>
                    <a:pt x="122" y="188"/>
                    <a:pt x="127" y="186"/>
                  </a:cubicBezTo>
                  <a:cubicBezTo>
                    <a:pt x="125" y="179"/>
                    <a:pt x="125" y="179"/>
                    <a:pt x="125" y="179"/>
                  </a:cubicBezTo>
                  <a:cubicBezTo>
                    <a:pt x="125" y="179"/>
                    <a:pt x="125" y="179"/>
                    <a:pt x="125" y="179"/>
                  </a:cubicBezTo>
                  <a:cubicBezTo>
                    <a:pt x="127" y="186"/>
                    <a:pt x="127" y="186"/>
                    <a:pt x="127" y="186"/>
                  </a:cubicBezTo>
                  <a:cubicBezTo>
                    <a:pt x="132" y="184"/>
                    <a:pt x="137" y="182"/>
                    <a:pt x="142" y="180"/>
                  </a:cubicBezTo>
                  <a:cubicBezTo>
                    <a:pt x="144" y="183"/>
                    <a:pt x="147" y="187"/>
                    <a:pt x="150" y="190"/>
                  </a:cubicBezTo>
                  <a:cubicBezTo>
                    <a:pt x="150" y="191"/>
                    <a:pt x="152" y="192"/>
                    <a:pt x="153" y="191"/>
                  </a:cubicBezTo>
                  <a:cubicBezTo>
                    <a:pt x="158" y="188"/>
                    <a:pt x="163" y="184"/>
                    <a:pt x="168" y="180"/>
                  </a:cubicBezTo>
                  <a:cubicBezTo>
                    <a:pt x="168" y="180"/>
                    <a:pt x="169" y="178"/>
                    <a:pt x="168" y="177"/>
                  </a:cubicBezTo>
                  <a:cubicBezTo>
                    <a:pt x="165" y="173"/>
                    <a:pt x="163" y="170"/>
                    <a:pt x="160" y="166"/>
                  </a:cubicBezTo>
                  <a:cubicBezTo>
                    <a:pt x="164" y="163"/>
                    <a:pt x="167" y="159"/>
                    <a:pt x="171" y="154"/>
                  </a:cubicBezTo>
                  <a:cubicBezTo>
                    <a:pt x="165" y="150"/>
                    <a:pt x="165" y="150"/>
                    <a:pt x="165" y="150"/>
                  </a:cubicBezTo>
                  <a:cubicBezTo>
                    <a:pt x="165" y="150"/>
                    <a:pt x="165" y="150"/>
                    <a:pt x="165" y="150"/>
                  </a:cubicBezTo>
                  <a:cubicBezTo>
                    <a:pt x="171" y="154"/>
                    <a:pt x="171" y="154"/>
                    <a:pt x="171" y="154"/>
                  </a:cubicBezTo>
                  <a:cubicBezTo>
                    <a:pt x="174" y="150"/>
                    <a:pt x="176" y="146"/>
                    <a:pt x="179" y="141"/>
                  </a:cubicBezTo>
                  <a:cubicBezTo>
                    <a:pt x="183" y="142"/>
                    <a:pt x="187" y="143"/>
                    <a:pt x="191" y="145"/>
                  </a:cubicBezTo>
                  <a:cubicBezTo>
                    <a:pt x="193" y="145"/>
                    <a:pt x="194" y="145"/>
                    <a:pt x="194" y="143"/>
                  </a:cubicBezTo>
                  <a:cubicBezTo>
                    <a:pt x="197" y="138"/>
                    <a:pt x="199" y="132"/>
                    <a:pt x="200" y="126"/>
                  </a:cubicBezTo>
                  <a:cubicBezTo>
                    <a:pt x="200" y="125"/>
                    <a:pt x="200" y="124"/>
                    <a:pt x="198" y="123"/>
                  </a:cubicBezTo>
                  <a:cubicBezTo>
                    <a:pt x="194" y="122"/>
                    <a:pt x="190" y="120"/>
                    <a:pt x="186" y="119"/>
                  </a:cubicBezTo>
                  <a:cubicBezTo>
                    <a:pt x="187" y="114"/>
                    <a:pt x="187" y="108"/>
                    <a:pt x="187" y="103"/>
                  </a:cubicBezTo>
                  <a:cubicBezTo>
                    <a:pt x="180" y="103"/>
                    <a:pt x="180" y="103"/>
                    <a:pt x="180" y="103"/>
                  </a:cubicBezTo>
                  <a:cubicBezTo>
                    <a:pt x="180" y="103"/>
                    <a:pt x="180" y="103"/>
                    <a:pt x="180" y="103"/>
                  </a:cubicBezTo>
                  <a:cubicBezTo>
                    <a:pt x="180" y="103"/>
                    <a:pt x="180" y="103"/>
                    <a:pt x="180" y="103"/>
                  </a:cubicBezTo>
                  <a:cubicBezTo>
                    <a:pt x="187" y="103"/>
                    <a:pt x="187" y="103"/>
                    <a:pt x="187" y="103"/>
                  </a:cubicBezTo>
                  <a:cubicBezTo>
                    <a:pt x="187" y="98"/>
                    <a:pt x="187" y="93"/>
                    <a:pt x="186" y="87"/>
                  </a:cubicBezTo>
                  <a:cubicBezTo>
                    <a:pt x="190" y="86"/>
                    <a:pt x="194" y="85"/>
                    <a:pt x="198" y="83"/>
                  </a:cubicBezTo>
                  <a:cubicBezTo>
                    <a:pt x="200" y="83"/>
                    <a:pt x="200" y="82"/>
                    <a:pt x="200" y="80"/>
                  </a:cubicBezTo>
                  <a:cubicBezTo>
                    <a:pt x="199" y="74"/>
                    <a:pt x="197" y="68"/>
                    <a:pt x="194" y="63"/>
                  </a:cubicBezTo>
                  <a:cubicBezTo>
                    <a:pt x="194" y="62"/>
                    <a:pt x="193" y="61"/>
                    <a:pt x="191" y="62"/>
                  </a:cubicBezTo>
                  <a:cubicBezTo>
                    <a:pt x="187" y="63"/>
                    <a:pt x="183" y="64"/>
                    <a:pt x="179" y="65"/>
                  </a:cubicBezTo>
                  <a:cubicBezTo>
                    <a:pt x="176" y="61"/>
                    <a:pt x="174" y="56"/>
                    <a:pt x="171" y="52"/>
                  </a:cubicBezTo>
                  <a:cubicBezTo>
                    <a:pt x="165" y="56"/>
                    <a:pt x="165" y="56"/>
                    <a:pt x="165" y="56"/>
                  </a:cubicBezTo>
                  <a:cubicBezTo>
                    <a:pt x="165" y="56"/>
                    <a:pt x="165" y="56"/>
                    <a:pt x="165" y="56"/>
                  </a:cubicBezTo>
                  <a:cubicBezTo>
                    <a:pt x="171" y="52"/>
                    <a:pt x="171" y="52"/>
                    <a:pt x="171" y="52"/>
                  </a:cubicBezTo>
                  <a:cubicBezTo>
                    <a:pt x="167" y="48"/>
                    <a:pt x="164" y="44"/>
                    <a:pt x="160" y="40"/>
                  </a:cubicBezTo>
                  <a:cubicBezTo>
                    <a:pt x="163" y="36"/>
                    <a:pt x="165" y="33"/>
                    <a:pt x="168" y="29"/>
                  </a:cubicBezTo>
                  <a:cubicBezTo>
                    <a:pt x="169" y="28"/>
                    <a:pt x="168" y="27"/>
                    <a:pt x="168" y="26"/>
                  </a:cubicBezTo>
                  <a:cubicBezTo>
                    <a:pt x="163" y="22"/>
                    <a:pt x="158" y="18"/>
                    <a:pt x="153" y="15"/>
                  </a:cubicBezTo>
                  <a:cubicBezTo>
                    <a:pt x="152" y="14"/>
                    <a:pt x="150" y="15"/>
                    <a:pt x="150" y="16"/>
                  </a:cubicBezTo>
                  <a:cubicBezTo>
                    <a:pt x="147" y="19"/>
                    <a:pt x="144" y="23"/>
                    <a:pt x="142" y="26"/>
                  </a:cubicBezTo>
                  <a:cubicBezTo>
                    <a:pt x="137" y="24"/>
                    <a:pt x="132" y="22"/>
                    <a:pt x="127" y="20"/>
                  </a:cubicBezTo>
                  <a:cubicBezTo>
                    <a:pt x="125" y="27"/>
                    <a:pt x="125" y="27"/>
                    <a:pt x="125" y="27"/>
                  </a:cubicBezTo>
                  <a:cubicBezTo>
                    <a:pt x="125" y="27"/>
                    <a:pt x="125" y="27"/>
                    <a:pt x="125" y="27"/>
                  </a:cubicBezTo>
                  <a:cubicBezTo>
                    <a:pt x="127" y="20"/>
                    <a:pt x="127" y="20"/>
                    <a:pt x="127" y="20"/>
                  </a:cubicBezTo>
                  <a:cubicBezTo>
                    <a:pt x="122" y="19"/>
                    <a:pt x="117" y="17"/>
                    <a:pt x="112" y="17"/>
                  </a:cubicBezTo>
                  <a:cubicBezTo>
                    <a:pt x="112" y="12"/>
                    <a:pt x="111" y="8"/>
                    <a:pt x="111" y="3"/>
                  </a:cubicBezTo>
                  <a:cubicBezTo>
                    <a:pt x="111" y="2"/>
                    <a:pt x="110" y="1"/>
                    <a:pt x="109" y="1"/>
                  </a:cubicBezTo>
                  <a:cubicBezTo>
                    <a:pt x="103" y="0"/>
                    <a:pt x="97" y="0"/>
                    <a:pt x="91" y="1"/>
                  </a:cubicBezTo>
                  <a:cubicBezTo>
                    <a:pt x="90" y="1"/>
                    <a:pt x="89" y="2"/>
                    <a:pt x="89" y="3"/>
                  </a:cubicBezTo>
                  <a:cubicBezTo>
                    <a:pt x="89" y="8"/>
                    <a:pt x="89" y="12"/>
                    <a:pt x="89" y="17"/>
                  </a:cubicBezTo>
                  <a:cubicBezTo>
                    <a:pt x="83" y="17"/>
                    <a:pt x="78" y="19"/>
                    <a:pt x="73" y="20"/>
                  </a:cubicBezTo>
                  <a:cubicBezTo>
                    <a:pt x="75" y="27"/>
                    <a:pt x="75" y="27"/>
                    <a:pt x="75" y="27"/>
                  </a:cubicBezTo>
                  <a:cubicBezTo>
                    <a:pt x="75" y="27"/>
                    <a:pt x="75" y="27"/>
                    <a:pt x="75" y="27"/>
                  </a:cubicBezTo>
                  <a:cubicBezTo>
                    <a:pt x="73" y="20"/>
                    <a:pt x="73" y="20"/>
                    <a:pt x="73" y="20"/>
                  </a:cubicBezTo>
                  <a:cubicBezTo>
                    <a:pt x="68" y="22"/>
                    <a:pt x="63" y="24"/>
                    <a:pt x="59" y="26"/>
                  </a:cubicBezTo>
                  <a:cubicBezTo>
                    <a:pt x="56" y="23"/>
                    <a:pt x="53" y="19"/>
                    <a:pt x="51" y="16"/>
                  </a:cubicBezTo>
                  <a:cubicBezTo>
                    <a:pt x="50" y="15"/>
                    <a:pt x="49" y="14"/>
                    <a:pt x="47" y="15"/>
                  </a:cubicBezTo>
                  <a:cubicBezTo>
                    <a:pt x="42" y="18"/>
                    <a:pt x="37" y="22"/>
                    <a:pt x="33" y="26"/>
                  </a:cubicBezTo>
                  <a:cubicBezTo>
                    <a:pt x="32" y="27"/>
                    <a:pt x="32" y="28"/>
                    <a:pt x="32" y="29"/>
                  </a:cubicBezTo>
                  <a:cubicBezTo>
                    <a:pt x="35" y="33"/>
                    <a:pt x="37" y="36"/>
                    <a:pt x="40" y="40"/>
                  </a:cubicBezTo>
                  <a:cubicBezTo>
                    <a:pt x="36" y="44"/>
                    <a:pt x="33" y="48"/>
                    <a:pt x="30" y="52"/>
                  </a:cubicBezTo>
                  <a:cubicBezTo>
                    <a:pt x="35" y="56"/>
                    <a:pt x="35" y="56"/>
                    <a:pt x="35" y="56"/>
                  </a:cubicBezTo>
                  <a:cubicBezTo>
                    <a:pt x="35" y="56"/>
                    <a:pt x="35" y="56"/>
                    <a:pt x="35" y="56"/>
                  </a:cubicBezTo>
                  <a:cubicBezTo>
                    <a:pt x="30" y="52"/>
                    <a:pt x="30" y="52"/>
                    <a:pt x="30" y="52"/>
                  </a:cubicBezTo>
                  <a:cubicBezTo>
                    <a:pt x="26" y="56"/>
                    <a:pt x="24" y="61"/>
                    <a:pt x="21" y="65"/>
                  </a:cubicBezTo>
                  <a:cubicBezTo>
                    <a:pt x="17" y="64"/>
                    <a:pt x="13" y="63"/>
                    <a:pt x="9" y="62"/>
                  </a:cubicBezTo>
                  <a:cubicBezTo>
                    <a:pt x="8" y="61"/>
                    <a:pt x="6" y="62"/>
                    <a:pt x="6" y="63"/>
                  </a:cubicBezTo>
                  <a:cubicBezTo>
                    <a:pt x="3" y="68"/>
                    <a:pt x="1" y="74"/>
                    <a:pt x="0" y="80"/>
                  </a:cubicBezTo>
                  <a:cubicBezTo>
                    <a:pt x="0" y="82"/>
                    <a:pt x="0" y="83"/>
                    <a:pt x="2" y="83"/>
                  </a:cubicBezTo>
                  <a:cubicBezTo>
                    <a:pt x="6" y="85"/>
                    <a:pt x="10" y="86"/>
                    <a:pt x="14" y="87"/>
                  </a:cubicBezTo>
                  <a:cubicBezTo>
                    <a:pt x="13" y="93"/>
                    <a:pt x="13" y="98"/>
                    <a:pt x="13" y="103"/>
                  </a:cubicBezTo>
                  <a:cubicBezTo>
                    <a:pt x="20" y="103"/>
                    <a:pt x="20" y="103"/>
                    <a:pt x="20" y="103"/>
                  </a:cubicBezTo>
                  <a:cubicBezTo>
                    <a:pt x="20" y="103"/>
                    <a:pt x="20" y="103"/>
                    <a:pt x="20" y="103"/>
                  </a:cubicBezTo>
                  <a:cubicBezTo>
                    <a:pt x="20" y="103"/>
                    <a:pt x="20" y="103"/>
                    <a:pt x="20" y="103"/>
                  </a:cubicBezTo>
                  <a:cubicBezTo>
                    <a:pt x="13" y="103"/>
                    <a:pt x="13" y="103"/>
                    <a:pt x="13" y="103"/>
                  </a:cubicBezTo>
                  <a:cubicBezTo>
                    <a:pt x="13" y="108"/>
                    <a:pt x="13" y="114"/>
                    <a:pt x="14" y="119"/>
                  </a:cubicBezTo>
                  <a:cubicBezTo>
                    <a:pt x="10" y="120"/>
                    <a:pt x="6" y="122"/>
                    <a:pt x="2" y="123"/>
                  </a:cubicBezTo>
                  <a:cubicBezTo>
                    <a:pt x="0" y="124"/>
                    <a:pt x="0" y="125"/>
                    <a:pt x="0" y="126"/>
                  </a:cubicBezTo>
                  <a:close/>
                  <a:moveTo>
                    <a:pt x="42" y="103"/>
                  </a:moveTo>
                  <a:cubicBezTo>
                    <a:pt x="42" y="71"/>
                    <a:pt x="68" y="45"/>
                    <a:pt x="100" y="45"/>
                  </a:cubicBezTo>
                  <a:cubicBezTo>
                    <a:pt x="132" y="45"/>
                    <a:pt x="159" y="71"/>
                    <a:pt x="159" y="103"/>
                  </a:cubicBezTo>
                  <a:cubicBezTo>
                    <a:pt x="159" y="135"/>
                    <a:pt x="132" y="162"/>
                    <a:pt x="100" y="162"/>
                  </a:cubicBezTo>
                  <a:cubicBezTo>
                    <a:pt x="68" y="162"/>
                    <a:pt x="42" y="135"/>
                    <a:pt x="42" y="103"/>
                  </a:cubicBezTo>
                  <a:close/>
                  <a:moveTo>
                    <a:pt x="213" y="284"/>
                  </a:moveTo>
                  <a:cubicBezTo>
                    <a:pt x="213" y="284"/>
                    <a:pt x="213" y="284"/>
                    <a:pt x="213" y="284"/>
                  </a:cubicBezTo>
                  <a:cubicBezTo>
                    <a:pt x="213" y="284"/>
                    <a:pt x="213" y="284"/>
                    <a:pt x="213" y="284"/>
                  </a:cubicBezTo>
                  <a:close/>
                  <a:moveTo>
                    <a:pt x="180" y="173"/>
                  </a:moveTo>
                  <a:cubicBezTo>
                    <a:pt x="180" y="173"/>
                    <a:pt x="180" y="173"/>
                    <a:pt x="180" y="173"/>
                  </a:cubicBezTo>
                  <a:close/>
                  <a:moveTo>
                    <a:pt x="180" y="173"/>
                  </a:moveTo>
                  <a:cubicBezTo>
                    <a:pt x="184" y="174"/>
                    <a:pt x="189" y="175"/>
                    <a:pt x="193" y="176"/>
                  </a:cubicBezTo>
                  <a:cubicBezTo>
                    <a:pt x="192" y="181"/>
                    <a:pt x="192" y="186"/>
                    <a:pt x="192" y="192"/>
                  </a:cubicBezTo>
                  <a:cubicBezTo>
                    <a:pt x="192" y="192"/>
                    <a:pt x="192" y="192"/>
                    <a:pt x="192" y="192"/>
                  </a:cubicBezTo>
                  <a:cubicBezTo>
                    <a:pt x="192" y="192"/>
                    <a:pt x="192" y="192"/>
                    <a:pt x="192" y="192"/>
                  </a:cubicBezTo>
                  <a:cubicBezTo>
                    <a:pt x="199" y="192"/>
                    <a:pt x="199" y="192"/>
                    <a:pt x="199" y="192"/>
                  </a:cubicBezTo>
                  <a:cubicBezTo>
                    <a:pt x="199" y="192"/>
                    <a:pt x="199" y="192"/>
                    <a:pt x="199" y="192"/>
                  </a:cubicBezTo>
                  <a:cubicBezTo>
                    <a:pt x="192" y="192"/>
                    <a:pt x="192" y="192"/>
                    <a:pt x="192" y="192"/>
                  </a:cubicBezTo>
                  <a:cubicBezTo>
                    <a:pt x="192" y="192"/>
                    <a:pt x="192" y="192"/>
                    <a:pt x="192" y="192"/>
                  </a:cubicBezTo>
                  <a:cubicBezTo>
                    <a:pt x="192" y="192"/>
                    <a:pt x="192" y="192"/>
                    <a:pt x="192" y="192"/>
                  </a:cubicBezTo>
                  <a:cubicBezTo>
                    <a:pt x="192" y="198"/>
                    <a:pt x="192" y="203"/>
                    <a:pt x="193" y="208"/>
                  </a:cubicBezTo>
                  <a:cubicBezTo>
                    <a:pt x="188" y="209"/>
                    <a:pt x="184" y="210"/>
                    <a:pt x="180" y="211"/>
                  </a:cubicBezTo>
                  <a:cubicBezTo>
                    <a:pt x="180" y="211"/>
                    <a:pt x="180" y="211"/>
                    <a:pt x="180" y="211"/>
                  </a:cubicBezTo>
                  <a:cubicBezTo>
                    <a:pt x="179" y="211"/>
                    <a:pt x="178" y="212"/>
                    <a:pt x="178" y="214"/>
                  </a:cubicBezTo>
                  <a:cubicBezTo>
                    <a:pt x="179" y="220"/>
                    <a:pt x="180" y="226"/>
                    <a:pt x="182" y="231"/>
                  </a:cubicBezTo>
                  <a:cubicBezTo>
                    <a:pt x="182" y="231"/>
                    <a:pt x="182" y="232"/>
                    <a:pt x="183" y="232"/>
                  </a:cubicBezTo>
                  <a:cubicBezTo>
                    <a:pt x="183" y="232"/>
                    <a:pt x="184" y="232"/>
                    <a:pt x="184" y="232"/>
                  </a:cubicBezTo>
                  <a:cubicBezTo>
                    <a:pt x="184" y="232"/>
                    <a:pt x="184" y="232"/>
                    <a:pt x="184" y="232"/>
                  </a:cubicBezTo>
                  <a:cubicBezTo>
                    <a:pt x="189" y="232"/>
                    <a:pt x="193" y="231"/>
                    <a:pt x="198" y="230"/>
                  </a:cubicBezTo>
                  <a:cubicBezTo>
                    <a:pt x="199" y="236"/>
                    <a:pt x="201" y="240"/>
                    <a:pt x="203" y="245"/>
                  </a:cubicBezTo>
                  <a:cubicBezTo>
                    <a:pt x="203" y="245"/>
                    <a:pt x="203" y="245"/>
                    <a:pt x="203" y="245"/>
                  </a:cubicBezTo>
                  <a:cubicBezTo>
                    <a:pt x="203" y="245"/>
                    <a:pt x="203" y="245"/>
                    <a:pt x="203" y="245"/>
                  </a:cubicBezTo>
                  <a:cubicBezTo>
                    <a:pt x="210" y="242"/>
                    <a:pt x="210" y="242"/>
                    <a:pt x="210" y="242"/>
                  </a:cubicBezTo>
                  <a:cubicBezTo>
                    <a:pt x="210" y="242"/>
                    <a:pt x="210" y="242"/>
                    <a:pt x="210" y="242"/>
                  </a:cubicBezTo>
                  <a:cubicBezTo>
                    <a:pt x="203" y="245"/>
                    <a:pt x="203" y="245"/>
                    <a:pt x="203" y="245"/>
                  </a:cubicBezTo>
                  <a:cubicBezTo>
                    <a:pt x="203" y="245"/>
                    <a:pt x="203" y="245"/>
                    <a:pt x="203" y="245"/>
                  </a:cubicBezTo>
                  <a:cubicBezTo>
                    <a:pt x="203" y="245"/>
                    <a:pt x="203" y="245"/>
                    <a:pt x="203" y="245"/>
                  </a:cubicBezTo>
                  <a:cubicBezTo>
                    <a:pt x="205" y="250"/>
                    <a:pt x="208" y="255"/>
                    <a:pt x="210" y="259"/>
                  </a:cubicBezTo>
                  <a:cubicBezTo>
                    <a:pt x="207" y="261"/>
                    <a:pt x="203" y="264"/>
                    <a:pt x="200" y="267"/>
                  </a:cubicBezTo>
                  <a:cubicBezTo>
                    <a:pt x="200" y="267"/>
                    <a:pt x="200" y="267"/>
                    <a:pt x="200" y="267"/>
                  </a:cubicBezTo>
                  <a:cubicBezTo>
                    <a:pt x="199" y="267"/>
                    <a:pt x="199" y="268"/>
                    <a:pt x="199" y="269"/>
                  </a:cubicBezTo>
                  <a:cubicBezTo>
                    <a:pt x="199" y="269"/>
                    <a:pt x="199" y="270"/>
                    <a:pt x="199" y="270"/>
                  </a:cubicBezTo>
                  <a:cubicBezTo>
                    <a:pt x="203" y="276"/>
                    <a:pt x="206" y="280"/>
                    <a:pt x="209" y="284"/>
                  </a:cubicBezTo>
                  <a:cubicBezTo>
                    <a:pt x="210" y="285"/>
                    <a:pt x="210" y="285"/>
                    <a:pt x="211" y="285"/>
                  </a:cubicBezTo>
                  <a:cubicBezTo>
                    <a:pt x="212" y="285"/>
                    <a:pt x="212" y="285"/>
                    <a:pt x="213" y="284"/>
                  </a:cubicBezTo>
                  <a:cubicBezTo>
                    <a:pt x="216" y="282"/>
                    <a:pt x="220" y="280"/>
                    <a:pt x="224" y="277"/>
                  </a:cubicBezTo>
                  <a:cubicBezTo>
                    <a:pt x="227" y="281"/>
                    <a:pt x="230" y="284"/>
                    <a:pt x="235" y="288"/>
                  </a:cubicBezTo>
                  <a:cubicBezTo>
                    <a:pt x="235" y="288"/>
                    <a:pt x="235" y="288"/>
                    <a:pt x="235" y="288"/>
                  </a:cubicBezTo>
                  <a:cubicBezTo>
                    <a:pt x="235" y="288"/>
                    <a:pt x="235" y="288"/>
                    <a:pt x="235" y="288"/>
                  </a:cubicBezTo>
                  <a:cubicBezTo>
                    <a:pt x="240" y="283"/>
                    <a:pt x="240" y="283"/>
                    <a:pt x="240" y="283"/>
                  </a:cubicBezTo>
                  <a:cubicBezTo>
                    <a:pt x="240" y="283"/>
                    <a:pt x="240" y="283"/>
                    <a:pt x="240" y="283"/>
                  </a:cubicBezTo>
                  <a:cubicBezTo>
                    <a:pt x="235" y="288"/>
                    <a:pt x="235" y="288"/>
                    <a:pt x="235" y="288"/>
                  </a:cubicBezTo>
                  <a:cubicBezTo>
                    <a:pt x="235" y="288"/>
                    <a:pt x="235" y="288"/>
                    <a:pt x="235" y="288"/>
                  </a:cubicBezTo>
                  <a:cubicBezTo>
                    <a:pt x="235" y="289"/>
                    <a:pt x="235" y="289"/>
                    <a:pt x="235" y="289"/>
                  </a:cubicBezTo>
                  <a:cubicBezTo>
                    <a:pt x="238" y="292"/>
                    <a:pt x="242" y="295"/>
                    <a:pt x="247" y="298"/>
                  </a:cubicBezTo>
                  <a:cubicBezTo>
                    <a:pt x="245" y="302"/>
                    <a:pt x="243" y="306"/>
                    <a:pt x="241" y="310"/>
                  </a:cubicBezTo>
                  <a:cubicBezTo>
                    <a:pt x="241" y="310"/>
                    <a:pt x="241" y="310"/>
                    <a:pt x="241" y="310"/>
                  </a:cubicBezTo>
                  <a:cubicBezTo>
                    <a:pt x="241" y="311"/>
                    <a:pt x="241" y="311"/>
                    <a:pt x="241" y="312"/>
                  </a:cubicBezTo>
                  <a:cubicBezTo>
                    <a:pt x="241" y="312"/>
                    <a:pt x="241" y="313"/>
                    <a:pt x="242" y="313"/>
                  </a:cubicBezTo>
                  <a:cubicBezTo>
                    <a:pt x="247" y="317"/>
                    <a:pt x="252" y="319"/>
                    <a:pt x="257" y="322"/>
                  </a:cubicBezTo>
                  <a:cubicBezTo>
                    <a:pt x="257" y="322"/>
                    <a:pt x="258" y="322"/>
                    <a:pt x="258" y="322"/>
                  </a:cubicBezTo>
                  <a:cubicBezTo>
                    <a:pt x="259" y="322"/>
                    <a:pt x="259" y="321"/>
                    <a:pt x="260" y="321"/>
                  </a:cubicBezTo>
                  <a:cubicBezTo>
                    <a:pt x="260" y="321"/>
                    <a:pt x="260" y="321"/>
                    <a:pt x="260" y="321"/>
                  </a:cubicBezTo>
                  <a:cubicBezTo>
                    <a:pt x="262" y="317"/>
                    <a:pt x="265" y="313"/>
                    <a:pt x="267" y="310"/>
                  </a:cubicBezTo>
                  <a:cubicBezTo>
                    <a:pt x="272" y="312"/>
                    <a:pt x="276" y="314"/>
                    <a:pt x="281" y="315"/>
                  </a:cubicBezTo>
                  <a:cubicBezTo>
                    <a:pt x="281" y="315"/>
                    <a:pt x="281" y="315"/>
                    <a:pt x="281" y="315"/>
                  </a:cubicBezTo>
                  <a:cubicBezTo>
                    <a:pt x="282" y="315"/>
                    <a:pt x="282" y="315"/>
                    <a:pt x="282" y="315"/>
                  </a:cubicBezTo>
                  <a:cubicBezTo>
                    <a:pt x="284" y="309"/>
                    <a:pt x="284" y="309"/>
                    <a:pt x="284" y="309"/>
                  </a:cubicBezTo>
                  <a:cubicBezTo>
                    <a:pt x="282" y="315"/>
                    <a:pt x="282" y="315"/>
                    <a:pt x="282" y="315"/>
                  </a:cubicBezTo>
                  <a:cubicBezTo>
                    <a:pt x="282" y="315"/>
                    <a:pt x="282" y="315"/>
                    <a:pt x="282" y="315"/>
                  </a:cubicBezTo>
                  <a:cubicBezTo>
                    <a:pt x="282" y="315"/>
                    <a:pt x="282" y="315"/>
                    <a:pt x="282" y="315"/>
                  </a:cubicBezTo>
                  <a:cubicBezTo>
                    <a:pt x="286" y="317"/>
                    <a:pt x="291" y="318"/>
                    <a:pt x="297" y="319"/>
                  </a:cubicBezTo>
                  <a:cubicBezTo>
                    <a:pt x="296" y="324"/>
                    <a:pt x="296" y="328"/>
                    <a:pt x="296" y="333"/>
                  </a:cubicBezTo>
                  <a:cubicBezTo>
                    <a:pt x="296" y="333"/>
                    <a:pt x="296" y="333"/>
                    <a:pt x="296" y="333"/>
                  </a:cubicBezTo>
                  <a:cubicBezTo>
                    <a:pt x="296" y="333"/>
                    <a:pt x="296" y="334"/>
                    <a:pt x="296" y="334"/>
                  </a:cubicBezTo>
                  <a:cubicBezTo>
                    <a:pt x="297" y="335"/>
                    <a:pt x="297" y="335"/>
                    <a:pt x="298" y="335"/>
                  </a:cubicBezTo>
                  <a:cubicBezTo>
                    <a:pt x="303" y="336"/>
                    <a:pt x="309" y="337"/>
                    <a:pt x="315" y="337"/>
                  </a:cubicBezTo>
                  <a:cubicBezTo>
                    <a:pt x="316" y="337"/>
                    <a:pt x="316" y="337"/>
                    <a:pt x="317" y="336"/>
                  </a:cubicBezTo>
                  <a:cubicBezTo>
                    <a:pt x="317" y="336"/>
                    <a:pt x="317" y="335"/>
                    <a:pt x="317" y="335"/>
                  </a:cubicBezTo>
                  <a:cubicBezTo>
                    <a:pt x="317" y="335"/>
                    <a:pt x="317" y="335"/>
                    <a:pt x="317" y="335"/>
                  </a:cubicBezTo>
                  <a:cubicBezTo>
                    <a:pt x="318" y="330"/>
                    <a:pt x="319" y="326"/>
                    <a:pt x="320" y="322"/>
                  </a:cubicBezTo>
                  <a:cubicBezTo>
                    <a:pt x="324" y="322"/>
                    <a:pt x="329" y="322"/>
                    <a:pt x="335" y="321"/>
                  </a:cubicBezTo>
                  <a:cubicBezTo>
                    <a:pt x="335" y="321"/>
                    <a:pt x="335" y="321"/>
                    <a:pt x="335" y="321"/>
                  </a:cubicBezTo>
                  <a:cubicBezTo>
                    <a:pt x="335" y="321"/>
                    <a:pt x="335" y="321"/>
                    <a:pt x="335" y="321"/>
                  </a:cubicBezTo>
                  <a:cubicBezTo>
                    <a:pt x="334" y="314"/>
                    <a:pt x="334" y="314"/>
                    <a:pt x="334" y="314"/>
                  </a:cubicBezTo>
                  <a:cubicBezTo>
                    <a:pt x="334" y="314"/>
                    <a:pt x="334" y="314"/>
                    <a:pt x="334" y="314"/>
                  </a:cubicBezTo>
                  <a:cubicBezTo>
                    <a:pt x="335" y="321"/>
                    <a:pt x="335" y="321"/>
                    <a:pt x="335" y="321"/>
                  </a:cubicBezTo>
                  <a:cubicBezTo>
                    <a:pt x="335" y="321"/>
                    <a:pt x="335" y="321"/>
                    <a:pt x="335" y="321"/>
                  </a:cubicBezTo>
                  <a:cubicBezTo>
                    <a:pt x="335" y="321"/>
                    <a:pt x="335" y="321"/>
                    <a:pt x="335" y="321"/>
                  </a:cubicBezTo>
                  <a:cubicBezTo>
                    <a:pt x="340" y="321"/>
                    <a:pt x="345" y="320"/>
                    <a:pt x="351" y="319"/>
                  </a:cubicBezTo>
                  <a:cubicBezTo>
                    <a:pt x="352" y="323"/>
                    <a:pt x="354" y="327"/>
                    <a:pt x="355" y="331"/>
                  </a:cubicBezTo>
                  <a:cubicBezTo>
                    <a:pt x="356" y="331"/>
                    <a:pt x="356" y="332"/>
                    <a:pt x="357" y="332"/>
                  </a:cubicBezTo>
                  <a:cubicBezTo>
                    <a:pt x="357" y="333"/>
                    <a:pt x="358" y="333"/>
                    <a:pt x="358" y="333"/>
                  </a:cubicBezTo>
                  <a:cubicBezTo>
                    <a:pt x="365" y="331"/>
                    <a:pt x="370" y="329"/>
                    <a:pt x="375" y="327"/>
                  </a:cubicBezTo>
                  <a:cubicBezTo>
                    <a:pt x="375" y="327"/>
                    <a:pt x="376" y="327"/>
                    <a:pt x="376" y="326"/>
                  </a:cubicBezTo>
                  <a:cubicBezTo>
                    <a:pt x="376" y="325"/>
                    <a:pt x="376" y="325"/>
                    <a:pt x="376" y="324"/>
                  </a:cubicBezTo>
                  <a:cubicBezTo>
                    <a:pt x="376" y="324"/>
                    <a:pt x="376" y="324"/>
                    <a:pt x="376" y="324"/>
                  </a:cubicBezTo>
                  <a:cubicBezTo>
                    <a:pt x="375" y="320"/>
                    <a:pt x="374" y="316"/>
                    <a:pt x="373" y="311"/>
                  </a:cubicBezTo>
                  <a:cubicBezTo>
                    <a:pt x="377" y="310"/>
                    <a:pt x="382" y="307"/>
                    <a:pt x="386" y="304"/>
                  </a:cubicBezTo>
                  <a:cubicBezTo>
                    <a:pt x="387" y="304"/>
                    <a:pt x="387" y="304"/>
                    <a:pt x="387" y="304"/>
                  </a:cubicBezTo>
                  <a:cubicBezTo>
                    <a:pt x="386" y="304"/>
                    <a:pt x="386" y="304"/>
                    <a:pt x="386" y="304"/>
                  </a:cubicBezTo>
                  <a:cubicBezTo>
                    <a:pt x="383" y="298"/>
                    <a:pt x="383" y="298"/>
                    <a:pt x="383" y="298"/>
                  </a:cubicBezTo>
                  <a:cubicBezTo>
                    <a:pt x="383" y="298"/>
                    <a:pt x="383" y="298"/>
                    <a:pt x="383" y="298"/>
                  </a:cubicBezTo>
                  <a:cubicBezTo>
                    <a:pt x="386" y="304"/>
                    <a:pt x="386" y="304"/>
                    <a:pt x="386" y="304"/>
                  </a:cubicBezTo>
                  <a:cubicBezTo>
                    <a:pt x="387" y="304"/>
                    <a:pt x="387" y="304"/>
                    <a:pt x="387" y="304"/>
                  </a:cubicBezTo>
                  <a:cubicBezTo>
                    <a:pt x="387" y="304"/>
                    <a:pt x="387" y="304"/>
                    <a:pt x="387" y="304"/>
                  </a:cubicBezTo>
                  <a:cubicBezTo>
                    <a:pt x="391" y="302"/>
                    <a:pt x="395" y="299"/>
                    <a:pt x="400" y="296"/>
                  </a:cubicBezTo>
                  <a:cubicBezTo>
                    <a:pt x="403" y="299"/>
                    <a:pt x="406" y="302"/>
                    <a:pt x="409" y="305"/>
                  </a:cubicBezTo>
                  <a:cubicBezTo>
                    <a:pt x="409" y="305"/>
                    <a:pt x="409" y="305"/>
                    <a:pt x="409" y="305"/>
                  </a:cubicBezTo>
                  <a:cubicBezTo>
                    <a:pt x="409" y="306"/>
                    <a:pt x="410" y="306"/>
                    <a:pt x="411" y="306"/>
                  </a:cubicBezTo>
                  <a:cubicBezTo>
                    <a:pt x="411" y="306"/>
                    <a:pt x="412" y="306"/>
                    <a:pt x="412" y="305"/>
                  </a:cubicBezTo>
                  <a:cubicBezTo>
                    <a:pt x="416" y="302"/>
                    <a:pt x="421" y="298"/>
                    <a:pt x="425" y="294"/>
                  </a:cubicBezTo>
                  <a:cubicBezTo>
                    <a:pt x="425" y="293"/>
                    <a:pt x="426" y="293"/>
                    <a:pt x="426" y="292"/>
                  </a:cubicBezTo>
                  <a:cubicBezTo>
                    <a:pt x="426" y="292"/>
                    <a:pt x="425" y="291"/>
                    <a:pt x="425" y="291"/>
                  </a:cubicBezTo>
                  <a:cubicBezTo>
                    <a:pt x="425" y="291"/>
                    <a:pt x="425" y="291"/>
                    <a:pt x="425" y="291"/>
                  </a:cubicBezTo>
                  <a:cubicBezTo>
                    <a:pt x="422" y="287"/>
                    <a:pt x="419" y="284"/>
                    <a:pt x="417" y="280"/>
                  </a:cubicBezTo>
                  <a:cubicBezTo>
                    <a:pt x="420" y="277"/>
                    <a:pt x="424" y="273"/>
                    <a:pt x="427" y="268"/>
                  </a:cubicBezTo>
                  <a:cubicBezTo>
                    <a:pt x="427" y="268"/>
                    <a:pt x="427" y="268"/>
                    <a:pt x="427" y="268"/>
                  </a:cubicBezTo>
                  <a:cubicBezTo>
                    <a:pt x="427" y="268"/>
                    <a:pt x="427" y="268"/>
                    <a:pt x="427" y="268"/>
                  </a:cubicBezTo>
                  <a:cubicBezTo>
                    <a:pt x="421" y="264"/>
                    <a:pt x="421" y="264"/>
                    <a:pt x="421" y="264"/>
                  </a:cubicBezTo>
                  <a:cubicBezTo>
                    <a:pt x="421" y="264"/>
                    <a:pt x="421" y="264"/>
                    <a:pt x="421" y="264"/>
                  </a:cubicBezTo>
                  <a:cubicBezTo>
                    <a:pt x="427" y="268"/>
                    <a:pt x="427" y="268"/>
                    <a:pt x="427" y="268"/>
                  </a:cubicBezTo>
                  <a:cubicBezTo>
                    <a:pt x="427" y="268"/>
                    <a:pt x="427" y="268"/>
                    <a:pt x="427" y="268"/>
                  </a:cubicBezTo>
                  <a:cubicBezTo>
                    <a:pt x="427" y="268"/>
                    <a:pt x="427" y="268"/>
                    <a:pt x="427" y="268"/>
                  </a:cubicBezTo>
                  <a:cubicBezTo>
                    <a:pt x="430" y="264"/>
                    <a:pt x="432" y="260"/>
                    <a:pt x="435" y="255"/>
                  </a:cubicBezTo>
                  <a:cubicBezTo>
                    <a:pt x="439" y="257"/>
                    <a:pt x="444" y="258"/>
                    <a:pt x="447" y="260"/>
                  </a:cubicBezTo>
                  <a:cubicBezTo>
                    <a:pt x="447" y="260"/>
                    <a:pt x="447" y="260"/>
                    <a:pt x="447" y="260"/>
                  </a:cubicBezTo>
                  <a:cubicBezTo>
                    <a:pt x="448" y="260"/>
                    <a:pt x="449" y="260"/>
                    <a:pt x="449" y="260"/>
                  </a:cubicBezTo>
                  <a:cubicBezTo>
                    <a:pt x="450" y="260"/>
                    <a:pt x="450" y="259"/>
                    <a:pt x="451" y="259"/>
                  </a:cubicBezTo>
                  <a:cubicBezTo>
                    <a:pt x="453" y="254"/>
                    <a:pt x="455" y="249"/>
                    <a:pt x="458" y="243"/>
                  </a:cubicBezTo>
                  <a:cubicBezTo>
                    <a:pt x="458" y="243"/>
                    <a:pt x="458" y="242"/>
                    <a:pt x="458" y="241"/>
                  </a:cubicBezTo>
                  <a:cubicBezTo>
                    <a:pt x="457" y="241"/>
                    <a:pt x="457" y="240"/>
                    <a:pt x="456" y="240"/>
                  </a:cubicBezTo>
                  <a:cubicBezTo>
                    <a:pt x="452" y="238"/>
                    <a:pt x="448" y="236"/>
                    <a:pt x="444" y="234"/>
                  </a:cubicBezTo>
                  <a:cubicBezTo>
                    <a:pt x="446" y="229"/>
                    <a:pt x="448" y="223"/>
                    <a:pt x="449" y="219"/>
                  </a:cubicBezTo>
                  <a:cubicBezTo>
                    <a:pt x="449" y="219"/>
                    <a:pt x="449" y="219"/>
                    <a:pt x="449" y="219"/>
                  </a:cubicBezTo>
                  <a:cubicBezTo>
                    <a:pt x="449" y="219"/>
                    <a:pt x="449" y="219"/>
                    <a:pt x="449" y="219"/>
                  </a:cubicBezTo>
                  <a:cubicBezTo>
                    <a:pt x="442" y="217"/>
                    <a:pt x="442" y="217"/>
                    <a:pt x="442" y="217"/>
                  </a:cubicBezTo>
                  <a:cubicBezTo>
                    <a:pt x="442" y="217"/>
                    <a:pt x="442" y="217"/>
                    <a:pt x="442" y="217"/>
                  </a:cubicBezTo>
                  <a:cubicBezTo>
                    <a:pt x="449" y="219"/>
                    <a:pt x="449" y="219"/>
                    <a:pt x="449" y="219"/>
                  </a:cubicBezTo>
                  <a:cubicBezTo>
                    <a:pt x="449" y="219"/>
                    <a:pt x="449" y="219"/>
                    <a:pt x="449" y="219"/>
                  </a:cubicBezTo>
                  <a:cubicBezTo>
                    <a:pt x="449" y="219"/>
                    <a:pt x="449" y="219"/>
                    <a:pt x="449" y="219"/>
                  </a:cubicBezTo>
                  <a:cubicBezTo>
                    <a:pt x="450" y="213"/>
                    <a:pt x="451" y="208"/>
                    <a:pt x="451" y="204"/>
                  </a:cubicBezTo>
                  <a:cubicBezTo>
                    <a:pt x="455" y="203"/>
                    <a:pt x="460" y="203"/>
                    <a:pt x="464" y="203"/>
                  </a:cubicBezTo>
                  <a:cubicBezTo>
                    <a:pt x="464" y="203"/>
                    <a:pt x="464" y="203"/>
                    <a:pt x="464" y="203"/>
                  </a:cubicBezTo>
                  <a:cubicBezTo>
                    <a:pt x="465" y="203"/>
                    <a:pt x="465" y="203"/>
                    <a:pt x="466" y="202"/>
                  </a:cubicBezTo>
                  <a:cubicBezTo>
                    <a:pt x="466" y="202"/>
                    <a:pt x="467" y="201"/>
                    <a:pt x="467" y="201"/>
                  </a:cubicBezTo>
                  <a:cubicBezTo>
                    <a:pt x="467" y="195"/>
                    <a:pt x="467" y="189"/>
                    <a:pt x="467" y="183"/>
                  </a:cubicBezTo>
                  <a:cubicBezTo>
                    <a:pt x="467" y="183"/>
                    <a:pt x="466" y="182"/>
                    <a:pt x="466" y="182"/>
                  </a:cubicBezTo>
                  <a:cubicBezTo>
                    <a:pt x="465" y="181"/>
                    <a:pt x="465" y="181"/>
                    <a:pt x="464" y="181"/>
                  </a:cubicBezTo>
                  <a:cubicBezTo>
                    <a:pt x="464" y="181"/>
                    <a:pt x="464" y="181"/>
                    <a:pt x="464" y="181"/>
                  </a:cubicBezTo>
                  <a:cubicBezTo>
                    <a:pt x="460" y="181"/>
                    <a:pt x="455" y="181"/>
                    <a:pt x="451" y="180"/>
                  </a:cubicBezTo>
                  <a:cubicBezTo>
                    <a:pt x="451" y="176"/>
                    <a:pt x="450" y="171"/>
                    <a:pt x="449" y="165"/>
                  </a:cubicBezTo>
                  <a:cubicBezTo>
                    <a:pt x="449" y="165"/>
                    <a:pt x="449" y="165"/>
                    <a:pt x="449" y="165"/>
                  </a:cubicBezTo>
                  <a:cubicBezTo>
                    <a:pt x="449" y="165"/>
                    <a:pt x="449" y="165"/>
                    <a:pt x="449" y="165"/>
                  </a:cubicBezTo>
                  <a:cubicBezTo>
                    <a:pt x="442" y="166"/>
                    <a:pt x="442" y="166"/>
                    <a:pt x="442" y="166"/>
                  </a:cubicBezTo>
                  <a:cubicBezTo>
                    <a:pt x="442" y="166"/>
                    <a:pt x="442" y="166"/>
                    <a:pt x="442" y="166"/>
                  </a:cubicBezTo>
                  <a:cubicBezTo>
                    <a:pt x="449" y="165"/>
                    <a:pt x="449" y="165"/>
                    <a:pt x="449" y="165"/>
                  </a:cubicBezTo>
                  <a:cubicBezTo>
                    <a:pt x="449" y="165"/>
                    <a:pt x="449" y="165"/>
                    <a:pt x="449" y="165"/>
                  </a:cubicBezTo>
                  <a:cubicBezTo>
                    <a:pt x="449" y="165"/>
                    <a:pt x="449" y="165"/>
                    <a:pt x="449" y="165"/>
                  </a:cubicBezTo>
                  <a:cubicBezTo>
                    <a:pt x="448" y="161"/>
                    <a:pt x="446" y="155"/>
                    <a:pt x="444" y="150"/>
                  </a:cubicBezTo>
                  <a:cubicBezTo>
                    <a:pt x="448" y="148"/>
                    <a:pt x="452" y="146"/>
                    <a:pt x="456" y="144"/>
                  </a:cubicBezTo>
                  <a:cubicBezTo>
                    <a:pt x="457" y="144"/>
                    <a:pt x="457" y="143"/>
                    <a:pt x="458" y="143"/>
                  </a:cubicBezTo>
                  <a:cubicBezTo>
                    <a:pt x="458" y="142"/>
                    <a:pt x="458" y="141"/>
                    <a:pt x="458" y="141"/>
                  </a:cubicBezTo>
                  <a:cubicBezTo>
                    <a:pt x="455" y="135"/>
                    <a:pt x="453" y="130"/>
                    <a:pt x="451" y="125"/>
                  </a:cubicBezTo>
                  <a:cubicBezTo>
                    <a:pt x="450" y="125"/>
                    <a:pt x="450" y="124"/>
                    <a:pt x="449" y="124"/>
                  </a:cubicBezTo>
                  <a:cubicBezTo>
                    <a:pt x="449" y="124"/>
                    <a:pt x="448" y="124"/>
                    <a:pt x="447" y="124"/>
                  </a:cubicBezTo>
                  <a:cubicBezTo>
                    <a:pt x="447" y="124"/>
                    <a:pt x="447" y="124"/>
                    <a:pt x="447" y="124"/>
                  </a:cubicBezTo>
                  <a:cubicBezTo>
                    <a:pt x="443" y="126"/>
                    <a:pt x="439" y="127"/>
                    <a:pt x="435" y="129"/>
                  </a:cubicBezTo>
                  <a:cubicBezTo>
                    <a:pt x="432" y="124"/>
                    <a:pt x="430" y="120"/>
                    <a:pt x="427" y="116"/>
                  </a:cubicBezTo>
                  <a:cubicBezTo>
                    <a:pt x="427" y="116"/>
                    <a:pt x="427" y="116"/>
                    <a:pt x="427" y="116"/>
                  </a:cubicBezTo>
                  <a:cubicBezTo>
                    <a:pt x="427" y="116"/>
                    <a:pt x="427" y="116"/>
                    <a:pt x="427" y="116"/>
                  </a:cubicBezTo>
                  <a:cubicBezTo>
                    <a:pt x="421" y="120"/>
                    <a:pt x="421" y="120"/>
                    <a:pt x="421" y="120"/>
                  </a:cubicBezTo>
                  <a:cubicBezTo>
                    <a:pt x="421" y="120"/>
                    <a:pt x="421" y="120"/>
                    <a:pt x="421" y="120"/>
                  </a:cubicBezTo>
                  <a:cubicBezTo>
                    <a:pt x="427" y="116"/>
                    <a:pt x="427" y="116"/>
                    <a:pt x="427" y="116"/>
                  </a:cubicBezTo>
                  <a:cubicBezTo>
                    <a:pt x="427" y="116"/>
                    <a:pt x="427" y="116"/>
                    <a:pt x="427" y="116"/>
                  </a:cubicBezTo>
                  <a:cubicBezTo>
                    <a:pt x="427" y="116"/>
                    <a:pt x="427" y="116"/>
                    <a:pt x="427" y="116"/>
                  </a:cubicBezTo>
                  <a:cubicBezTo>
                    <a:pt x="424" y="111"/>
                    <a:pt x="420" y="107"/>
                    <a:pt x="417" y="104"/>
                  </a:cubicBezTo>
                  <a:cubicBezTo>
                    <a:pt x="419" y="100"/>
                    <a:pt x="422" y="97"/>
                    <a:pt x="425" y="93"/>
                  </a:cubicBezTo>
                  <a:cubicBezTo>
                    <a:pt x="425" y="93"/>
                    <a:pt x="425" y="93"/>
                    <a:pt x="425" y="93"/>
                  </a:cubicBezTo>
                  <a:cubicBezTo>
                    <a:pt x="425" y="93"/>
                    <a:pt x="426" y="92"/>
                    <a:pt x="426" y="92"/>
                  </a:cubicBezTo>
                  <a:cubicBezTo>
                    <a:pt x="426" y="91"/>
                    <a:pt x="425" y="90"/>
                    <a:pt x="425" y="90"/>
                  </a:cubicBezTo>
                  <a:cubicBezTo>
                    <a:pt x="421" y="86"/>
                    <a:pt x="416" y="82"/>
                    <a:pt x="412" y="78"/>
                  </a:cubicBezTo>
                  <a:cubicBezTo>
                    <a:pt x="412" y="78"/>
                    <a:pt x="411" y="78"/>
                    <a:pt x="411" y="78"/>
                  </a:cubicBezTo>
                  <a:cubicBezTo>
                    <a:pt x="410" y="78"/>
                    <a:pt x="409" y="78"/>
                    <a:pt x="409" y="79"/>
                  </a:cubicBezTo>
                  <a:cubicBezTo>
                    <a:pt x="409" y="79"/>
                    <a:pt x="409" y="79"/>
                    <a:pt x="409" y="79"/>
                  </a:cubicBezTo>
                  <a:cubicBezTo>
                    <a:pt x="406" y="82"/>
                    <a:pt x="403" y="85"/>
                    <a:pt x="400" y="88"/>
                  </a:cubicBezTo>
                  <a:cubicBezTo>
                    <a:pt x="395" y="85"/>
                    <a:pt x="391" y="82"/>
                    <a:pt x="387" y="80"/>
                  </a:cubicBezTo>
                  <a:cubicBezTo>
                    <a:pt x="387" y="80"/>
                    <a:pt x="387" y="80"/>
                    <a:pt x="387" y="80"/>
                  </a:cubicBezTo>
                  <a:cubicBezTo>
                    <a:pt x="386" y="80"/>
                    <a:pt x="386" y="80"/>
                    <a:pt x="386" y="80"/>
                  </a:cubicBezTo>
                  <a:cubicBezTo>
                    <a:pt x="383" y="86"/>
                    <a:pt x="383" y="86"/>
                    <a:pt x="383" y="86"/>
                  </a:cubicBezTo>
                  <a:cubicBezTo>
                    <a:pt x="386" y="80"/>
                    <a:pt x="386" y="80"/>
                    <a:pt x="386" y="80"/>
                  </a:cubicBezTo>
                  <a:cubicBezTo>
                    <a:pt x="387" y="80"/>
                    <a:pt x="387" y="80"/>
                    <a:pt x="387" y="80"/>
                  </a:cubicBezTo>
                  <a:cubicBezTo>
                    <a:pt x="386" y="80"/>
                    <a:pt x="386" y="80"/>
                    <a:pt x="386" y="80"/>
                  </a:cubicBezTo>
                  <a:cubicBezTo>
                    <a:pt x="382" y="77"/>
                    <a:pt x="377" y="74"/>
                    <a:pt x="373" y="73"/>
                  </a:cubicBezTo>
                  <a:cubicBezTo>
                    <a:pt x="374" y="68"/>
                    <a:pt x="375" y="64"/>
                    <a:pt x="376" y="60"/>
                  </a:cubicBezTo>
                  <a:cubicBezTo>
                    <a:pt x="376" y="60"/>
                    <a:pt x="376" y="60"/>
                    <a:pt x="376" y="60"/>
                  </a:cubicBezTo>
                  <a:cubicBezTo>
                    <a:pt x="376" y="59"/>
                    <a:pt x="376" y="59"/>
                    <a:pt x="376" y="58"/>
                  </a:cubicBezTo>
                  <a:cubicBezTo>
                    <a:pt x="376" y="57"/>
                    <a:pt x="375" y="57"/>
                    <a:pt x="375" y="57"/>
                  </a:cubicBezTo>
                  <a:cubicBezTo>
                    <a:pt x="370" y="55"/>
                    <a:pt x="365" y="53"/>
                    <a:pt x="358" y="51"/>
                  </a:cubicBezTo>
                  <a:cubicBezTo>
                    <a:pt x="358" y="51"/>
                    <a:pt x="357" y="51"/>
                    <a:pt x="357" y="52"/>
                  </a:cubicBezTo>
                  <a:cubicBezTo>
                    <a:pt x="356" y="52"/>
                    <a:pt x="356" y="53"/>
                    <a:pt x="355" y="53"/>
                  </a:cubicBezTo>
                  <a:cubicBezTo>
                    <a:pt x="355" y="53"/>
                    <a:pt x="355" y="53"/>
                    <a:pt x="355" y="53"/>
                  </a:cubicBezTo>
                  <a:cubicBezTo>
                    <a:pt x="354" y="57"/>
                    <a:pt x="352" y="61"/>
                    <a:pt x="351" y="65"/>
                  </a:cubicBezTo>
                  <a:cubicBezTo>
                    <a:pt x="345" y="64"/>
                    <a:pt x="340" y="63"/>
                    <a:pt x="335" y="63"/>
                  </a:cubicBezTo>
                  <a:cubicBezTo>
                    <a:pt x="335" y="63"/>
                    <a:pt x="335" y="63"/>
                    <a:pt x="335" y="63"/>
                  </a:cubicBezTo>
                  <a:cubicBezTo>
                    <a:pt x="335" y="63"/>
                    <a:pt x="335" y="63"/>
                    <a:pt x="335" y="63"/>
                  </a:cubicBezTo>
                  <a:cubicBezTo>
                    <a:pt x="334" y="70"/>
                    <a:pt x="334" y="70"/>
                    <a:pt x="334" y="70"/>
                  </a:cubicBezTo>
                  <a:cubicBezTo>
                    <a:pt x="334" y="70"/>
                    <a:pt x="334" y="70"/>
                    <a:pt x="334" y="70"/>
                  </a:cubicBezTo>
                  <a:cubicBezTo>
                    <a:pt x="335" y="63"/>
                    <a:pt x="335" y="63"/>
                    <a:pt x="335" y="63"/>
                  </a:cubicBezTo>
                  <a:cubicBezTo>
                    <a:pt x="335" y="63"/>
                    <a:pt x="335" y="63"/>
                    <a:pt x="335" y="63"/>
                  </a:cubicBezTo>
                  <a:cubicBezTo>
                    <a:pt x="335" y="63"/>
                    <a:pt x="335" y="63"/>
                    <a:pt x="335" y="63"/>
                  </a:cubicBezTo>
                  <a:cubicBezTo>
                    <a:pt x="329" y="62"/>
                    <a:pt x="324" y="62"/>
                    <a:pt x="320" y="62"/>
                  </a:cubicBezTo>
                  <a:cubicBezTo>
                    <a:pt x="319" y="58"/>
                    <a:pt x="318" y="53"/>
                    <a:pt x="317" y="49"/>
                  </a:cubicBezTo>
                  <a:cubicBezTo>
                    <a:pt x="317" y="49"/>
                    <a:pt x="317" y="49"/>
                    <a:pt x="317" y="49"/>
                  </a:cubicBezTo>
                  <a:cubicBezTo>
                    <a:pt x="317" y="49"/>
                    <a:pt x="317" y="48"/>
                    <a:pt x="317" y="48"/>
                  </a:cubicBezTo>
                  <a:cubicBezTo>
                    <a:pt x="316" y="47"/>
                    <a:pt x="316" y="47"/>
                    <a:pt x="315" y="47"/>
                  </a:cubicBezTo>
                  <a:cubicBezTo>
                    <a:pt x="309" y="47"/>
                    <a:pt x="303" y="48"/>
                    <a:pt x="298" y="49"/>
                  </a:cubicBezTo>
                  <a:cubicBezTo>
                    <a:pt x="297" y="49"/>
                    <a:pt x="297" y="49"/>
                    <a:pt x="296" y="50"/>
                  </a:cubicBezTo>
                  <a:cubicBezTo>
                    <a:pt x="296" y="50"/>
                    <a:pt x="296" y="51"/>
                    <a:pt x="296" y="51"/>
                  </a:cubicBezTo>
                  <a:cubicBezTo>
                    <a:pt x="296" y="51"/>
                    <a:pt x="296" y="51"/>
                    <a:pt x="296" y="51"/>
                  </a:cubicBezTo>
                  <a:cubicBezTo>
                    <a:pt x="296" y="56"/>
                    <a:pt x="296" y="60"/>
                    <a:pt x="297" y="65"/>
                  </a:cubicBezTo>
                  <a:cubicBezTo>
                    <a:pt x="291" y="66"/>
                    <a:pt x="286" y="67"/>
                    <a:pt x="282" y="68"/>
                  </a:cubicBezTo>
                  <a:cubicBezTo>
                    <a:pt x="282" y="68"/>
                    <a:pt x="282" y="68"/>
                    <a:pt x="282" y="68"/>
                  </a:cubicBezTo>
                  <a:cubicBezTo>
                    <a:pt x="282" y="69"/>
                    <a:pt x="282" y="69"/>
                    <a:pt x="282" y="69"/>
                  </a:cubicBezTo>
                  <a:cubicBezTo>
                    <a:pt x="284" y="75"/>
                    <a:pt x="284" y="75"/>
                    <a:pt x="284" y="75"/>
                  </a:cubicBezTo>
                  <a:cubicBezTo>
                    <a:pt x="284" y="75"/>
                    <a:pt x="284" y="75"/>
                    <a:pt x="284" y="75"/>
                  </a:cubicBezTo>
                  <a:cubicBezTo>
                    <a:pt x="282" y="69"/>
                    <a:pt x="282" y="69"/>
                    <a:pt x="282" y="69"/>
                  </a:cubicBezTo>
                  <a:cubicBezTo>
                    <a:pt x="281" y="69"/>
                    <a:pt x="281" y="69"/>
                    <a:pt x="281" y="69"/>
                  </a:cubicBezTo>
                  <a:cubicBezTo>
                    <a:pt x="281" y="69"/>
                    <a:pt x="281" y="69"/>
                    <a:pt x="281" y="69"/>
                  </a:cubicBezTo>
                  <a:cubicBezTo>
                    <a:pt x="276" y="70"/>
                    <a:pt x="272" y="72"/>
                    <a:pt x="267" y="74"/>
                  </a:cubicBezTo>
                  <a:cubicBezTo>
                    <a:pt x="265" y="70"/>
                    <a:pt x="262" y="67"/>
                    <a:pt x="260" y="63"/>
                  </a:cubicBezTo>
                  <a:cubicBezTo>
                    <a:pt x="259" y="63"/>
                    <a:pt x="259" y="62"/>
                    <a:pt x="258" y="62"/>
                  </a:cubicBezTo>
                  <a:cubicBezTo>
                    <a:pt x="258" y="62"/>
                    <a:pt x="257" y="62"/>
                    <a:pt x="257" y="62"/>
                  </a:cubicBezTo>
                  <a:cubicBezTo>
                    <a:pt x="252" y="64"/>
                    <a:pt x="247" y="67"/>
                    <a:pt x="242" y="71"/>
                  </a:cubicBezTo>
                  <a:cubicBezTo>
                    <a:pt x="241" y="71"/>
                    <a:pt x="241" y="72"/>
                    <a:pt x="241" y="72"/>
                  </a:cubicBezTo>
                  <a:cubicBezTo>
                    <a:pt x="241" y="73"/>
                    <a:pt x="241" y="73"/>
                    <a:pt x="241" y="74"/>
                  </a:cubicBezTo>
                  <a:cubicBezTo>
                    <a:pt x="243" y="78"/>
                    <a:pt x="245" y="82"/>
                    <a:pt x="247" y="86"/>
                  </a:cubicBezTo>
                  <a:cubicBezTo>
                    <a:pt x="242" y="89"/>
                    <a:pt x="238" y="92"/>
                    <a:pt x="235" y="95"/>
                  </a:cubicBezTo>
                  <a:cubicBezTo>
                    <a:pt x="235" y="96"/>
                    <a:pt x="235" y="96"/>
                    <a:pt x="235" y="96"/>
                  </a:cubicBezTo>
                  <a:cubicBezTo>
                    <a:pt x="235" y="96"/>
                    <a:pt x="235" y="96"/>
                    <a:pt x="235" y="96"/>
                  </a:cubicBezTo>
                  <a:cubicBezTo>
                    <a:pt x="240" y="101"/>
                    <a:pt x="240" y="101"/>
                    <a:pt x="240" y="101"/>
                  </a:cubicBezTo>
                  <a:cubicBezTo>
                    <a:pt x="240" y="101"/>
                    <a:pt x="240" y="101"/>
                    <a:pt x="240" y="101"/>
                  </a:cubicBezTo>
                  <a:cubicBezTo>
                    <a:pt x="235" y="96"/>
                    <a:pt x="235" y="96"/>
                    <a:pt x="235" y="96"/>
                  </a:cubicBezTo>
                  <a:cubicBezTo>
                    <a:pt x="235" y="96"/>
                    <a:pt x="235" y="96"/>
                    <a:pt x="235" y="96"/>
                  </a:cubicBezTo>
                  <a:cubicBezTo>
                    <a:pt x="235" y="96"/>
                    <a:pt x="235" y="96"/>
                    <a:pt x="235" y="96"/>
                  </a:cubicBezTo>
                  <a:cubicBezTo>
                    <a:pt x="230" y="100"/>
                    <a:pt x="227" y="103"/>
                    <a:pt x="224" y="107"/>
                  </a:cubicBezTo>
                  <a:cubicBezTo>
                    <a:pt x="220" y="104"/>
                    <a:pt x="216" y="102"/>
                    <a:pt x="213" y="100"/>
                  </a:cubicBezTo>
                  <a:cubicBezTo>
                    <a:pt x="212" y="99"/>
                    <a:pt x="212" y="99"/>
                    <a:pt x="211" y="99"/>
                  </a:cubicBezTo>
                  <a:cubicBezTo>
                    <a:pt x="210" y="99"/>
                    <a:pt x="210" y="99"/>
                    <a:pt x="209" y="100"/>
                  </a:cubicBezTo>
                  <a:cubicBezTo>
                    <a:pt x="206" y="103"/>
                    <a:pt x="203" y="108"/>
                    <a:pt x="199" y="114"/>
                  </a:cubicBezTo>
                  <a:cubicBezTo>
                    <a:pt x="199" y="114"/>
                    <a:pt x="199" y="115"/>
                    <a:pt x="199" y="115"/>
                  </a:cubicBezTo>
                  <a:cubicBezTo>
                    <a:pt x="199" y="116"/>
                    <a:pt x="199" y="117"/>
                    <a:pt x="200" y="117"/>
                  </a:cubicBezTo>
                  <a:cubicBezTo>
                    <a:pt x="200" y="117"/>
                    <a:pt x="200" y="117"/>
                    <a:pt x="200" y="117"/>
                  </a:cubicBezTo>
                  <a:cubicBezTo>
                    <a:pt x="203" y="120"/>
                    <a:pt x="207" y="123"/>
                    <a:pt x="210" y="125"/>
                  </a:cubicBezTo>
                  <a:cubicBezTo>
                    <a:pt x="208" y="129"/>
                    <a:pt x="205" y="134"/>
                    <a:pt x="203" y="139"/>
                  </a:cubicBezTo>
                  <a:cubicBezTo>
                    <a:pt x="203" y="139"/>
                    <a:pt x="203" y="139"/>
                    <a:pt x="203" y="139"/>
                  </a:cubicBezTo>
                  <a:cubicBezTo>
                    <a:pt x="203" y="139"/>
                    <a:pt x="203" y="139"/>
                    <a:pt x="203" y="139"/>
                  </a:cubicBezTo>
                  <a:cubicBezTo>
                    <a:pt x="210" y="142"/>
                    <a:pt x="210" y="142"/>
                    <a:pt x="210" y="142"/>
                  </a:cubicBezTo>
                  <a:cubicBezTo>
                    <a:pt x="203" y="139"/>
                    <a:pt x="203" y="139"/>
                    <a:pt x="203" y="139"/>
                  </a:cubicBezTo>
                  <a:cubicBezTo>
                    <a:pt x="203" y="139"/>
                    <a:pt x="203" y="139"/>
                    <a:pt x="203" y="139"/>
                  </a:cubicBezTo>
                  <a:cubicBezTo>
                    <a:pt x="203" y="139"/>
                    <a:pt x="203" y="139"/>
                    <a:pt x="203" y="139"/>
                  </a:cubicBezTo>
                  <a:cubicBezTo>
                    <a:pt x="201" y="143"/>
                    <a:pt x="199" y="148"/>
                    <a:pt x="198" y="154"/>
                  </a:cubicBezTo>
                  <a:cubicBezTo>
                    <a:pt x="193" y="153"/>
                    <a:pt x="189" y="152"/>
                    <a:pt x="184" y="152"/>
                  </a:cubicBezTo>
                  <a:cubicBezTo>
                    <a:pt x="184" y="152"/>
                    <a:pt x="183" y="152"/>
                    <a:pt x="183" y="152"/>
                  </a:cubicBezTo>
                  <a:cubicBezTo>
                    <a:pt x="182" y="152"/>
                    <a:pt x="182" y="153"/>
                    <a:pt x="182" y="153"/>
                  </a:cubicBezTo>
                  <a:cubicBezTo>
                    <a:pt x="180" y="158"/>
                    <a:pt x="179" y="164"/>
                    <a:pt x="178" y="170"/>
                  </a:cubicBezTo>
                  <a:cubicBezTo>
                    <a:pt x="178" y="172"/>
                    <a:pt x="179" y="173"/>
                    <a:pt x="180" y="173"/>
                  </a:cubicBezTo>
                  <a:close/>
                  <a:moveTo>
                    <a:pt x="228" y="192"/>
                  </a:moveTo>
                  <a:cubicBezTo>
                    <a:pt x="228" y="140"/>
                    <a:pt x="271" y="98"/>
                    <a:pt x="322" y="98"/>
                  </a:cubicBezTo>
                  <a:cubicBezTo>
                    <a:pt x="374" y="98"/>
                    <a:pt x="416" y="140"/>
                    <a:pt x="416" y="192"/>
                  </a:cubicBezTo>
                  <a:cubicBezTo>
                    <a:pt x="416" y="244"/>
                    <a:pt x="374" y="286"/>
                    <a:pt x="322" y="286"/>
                  </a:cubicBezTo>
                  <a:cubicBezTo>
                    <a:pt x="271" y="286"/>
                    <a:pt x="228" y="244"/>
                    <a:pt x="228" y="192"/>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14:hiddenLine>
              </a:ext>
            </a:extLst>
          </p:spPr>
          <p:txBody>
            <a:bodyPr lIns="68568" tIns="34284" rIns="68568" bIns="34284"/>
            <a:lstStyle/>
            <a:p>
              <a:pPr defTabSz="1218565">
                <a:defRPr/>
              </a:pPr>
              <a:endParaRPr lang="zh-CN" altLang="en-US" kern="0">
                <a:solidFill>
                  <a:sysClr val="windowText" lastClr="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7" name="文本框 104">
              <a:extLst>
                <a:ext uri="{FF2B5EF4-FFF2-40B4-BE49-F238E27FC236}">
                  <a16:creationId xmlns:a16="http://schemas.microsoft.com/office/drawing/2014/main" id="{81AFE9FD-BACB-D564-E800-D53A07FB3F5C}"/>
                </a:ext>
              </a:extLst>
            </p:cNvPr>
            <p:cNvSpPr txBox="1">
              <a:spLocks noChangeArrowheads="1"/>
            </p:cNvSpPr>
            <p:nvPr/>
          </p:nvSpPr>
          <p:spPr bwMode="auto">
            <a:xfrm>
              <a:off x="982868" y="4151733"/>
              <a:ext cx="497548" cy="5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8" tIns="34284" rIns="68568" bIns="34284">
              <a:spAutoFit/>
            </a:bodyPr>
            <a:lstStyle>
              <a:lvl1pPr>
                <a:defRPr>
                  <a:solidFill>
                    <a:schemeClr val="tx1"/>
                  </a:solidFill>
                  <a:latin typeface="Calibri" panose="020F0502020204030204" pitchFamily="34" charset="0"/>
                  <a:ea typeface="微软雅黑" panose="020B0503020204020204" charset="-122"/>
                </a:defRPr>
              </a:lvl1pPr>
              <a:lvl2pPr marL="742950" indent="-285750">
                <a:defRPr>
                  <a:solidFill>
                    <a:schemeClr val="tx1"/>
                  </a:solidFill>
                  <a:latin typeface="Calibri" panose="020F0502020204030204" pitchFamily="34" charset="0"/>
                  <a:ea typeface="微软雅黑" panose="020B0503020204020204" charset="-122"/>
                </a:defRPr>
              </a:lvl2pPr>
              <a:lvl3pPr marL="1143000" indent="-228600">
                <a:defRPr>
                  <a:solidFill>
                    <a:schemeClr val="tx1"/>
                  </a:solidFill>
                  <a:latin typeface="Calibri" panose="020F0502020204030204" pitchFamily="34" charset="0"/>
                  <a:ea typeface="微软雅黑" panose="020B0503020204020204" charset="-122"/>
                </a:defRPr>
              </a:lvl3pPr>
              <a:lvl4pPr marL="1600200" indent="-228600">
                <a:defRPr>
                  <a:solidFill>
                    <a:schemeClr val="tx1"/>
                  </a:solidFill>
                  <a:latin typeface="Calibri" panose="020F0502020204030204" pitchFamily="34" charset="0"/>
                  <a:ea typeface="微软雅黑" panose="020B0503020204020204" charset="-122"/>
                </a:defRPr>
              </a:lvl4pPr>
              <a:lvl5pPr marL="2057400" indent="-228600">
                <a:defRPr>
                  <a:solidFill>
                    <a:schemeClr val="tx1"/>
                  </a:solidFill>
                  <a:latin typeface="Calibri" panose="020F0502020204030204" pitchFamily="34" charset="0"/>
                  <a:ea typeface="微软雅黑" panose="020B050302020402020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9pPr>
            </a:lstStyle>
            <a:p>
              <a:pPr defTabSz="1218565">
                <a:defRPr/>
              </a:pPr>
              <a:r>
                <a:rPr lang="en-US" altLang="zh-CN"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rPr>
                <a:t>02</a:t>
              </a:r>
              <a:endParaRPr lang="zh-CN" altLang="en-US"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9" name="组合 58">
              <a:extLst>
                <a:ext uri="{FF2B5EF4-FFF2-40B4-BE49-F238E27FC236}">
                  <a16:creationId xmlns:a16="http://schemas.microsoft.com/office/drawing/2014/main" id="{11850FB2-5EE1-87BB-175E-57C32F56A328}"/>
                </a:ext>
              </a:extLst>
            </p:cNvPr>
            <p:cNvGrpSpPr/>
            <p:nvPr/>
          </p:nvGrpSpPr>
          <p:grpSpPr bwMode="auto">
            <a:xfrm>
              <a:off x="668080" y="5307487"/>
              <a:ext cx="6583620" cy="1223657"/>
              <a:chOff x="2678521" y="2847139"/>
              <a:chExt cx="12011025" cy="2417231"/>
            </a:xfrm>
          </p:grpSpPr>
          <p:sp>
            <p:nvSpPr>
              <p:cNvPr id="26" name="Freeform 19">
                <a:extLst>
                  <a:ext uri="{FF2B5EF4-FFF2-40B4-BE49-F238E27FC236}">
                    <a16:creationId xmlns:a16="http://schemas.microsoft.com/office/drawing/2014/main" id="{C94D449F-EA60-77B0-625D-C5AA96E90233}"/>
                  </a:ext>
                </a:extLst>
              </p:cNvPr>
              <p:cNvSpPr/>
              <p:nvPr/>
            </p:nvSpPr>
            <p:spPr bwMode="auto">
              <a:xfrm>
                <a:off x="2678521" y="2856133"/>
                <a:ext cx="12011025" cy="2408237"/>
              </a:xfrm>
              <a:custGeom>
                <a:avLst/>
                <a:gdLst>
                  <a:gd name="T0" fmla="*/ 3200 w 3200"/>
                  <a:gd name="T1" fmla="*/ 320 h 640"/>
                  <a:gd name="T2" fmla="*/ 2880 w 3200"/>
                  <a:gd name="T3" fmla="*/ 640 h 640"/>
                  <a:gd name="T4" fmla="*/ 320 w 3200"/>
                  <a:gd name="T5" fmla="*/ 640 h 640"/>
                  <a:gd name="T6" fmla="*/ 0 w 3200"/>
                  <a:gd name="T7" fmla="*/ 320 h 640"/>
                  <a:gd name="T8" fmla="*/ 320 w 3200"/>
                  <a:gd name="T9" fmla="*/ 0 h 640"/>
                  <a:gd name="T10" fmla="*/ 2880 w 3200"/>
                  <a:gd name="T11" fmla="*/ 0 h 640"/>
                  <a:gd name="T12" fmla="*/ 3200 w 3200"/>
                  <a:gd name="T13" fmla="*/ 320 h 640"/>
                </a:gdLst>
                <a:ahLst/>
                <a:cxnLst>
                  <a:cxn ang="0">
                    <a:pos x="T0" y="T1"/>
                  </a:cxn>
                  <a:cxn ang="0">
                    <a:pos x="T2" y="T3"/>
                  </a:cxn>
                  <a:cxn ang="0">
                    <a:pos x="T4" y="T5"/>
                  </a:cxn>
                  <a:cxn ang="0">
                    <a:pos x="T6" y="T7"/>
                  </a:cxn>
                  <a:cxn ang="0">
                    <a:pos x="T8" y="T9"/>
                  </a:cxn>
                  <a:cxn ang="0">
                    <a:pos x="T10" y="T11"/>
                  </a:cxn>
                  <a:cxn ang="0">
                    <a:pos x="T12" y="T13"/>
                  </a:cxn>
                </a:cxnLst>
                <a:rect l="0" t="0" r="r" b="b"/>
                <a:pathLst>
                  <a:path w="3200" h="640">
                    <a:moveTo>
                      <a:pt x="3200" y="320"/>
                    </a:moveTo>
                    <a:cubicBezTo>
                      <a:pt x="3200" y="496"/>
                      <a:pt x="3056" y="640"/>
                      <a:pt x="2880" y="640"/>
                    </a:cubicBezTo>
                    <a:cubicBezTo>
                      <a:pt x="320" y="640"/>
                      <a:pt x="320" y="640"/>
                      <a:pt x="320" y="640"/>
                    </a:cubicBezTo>
                    <a:cubicBezTo>
                      <a:pt x="144" y="640"/>
                      <a:pt x="0" y="496"/>
                      <a:pt x="0" y="320"/>
                    </a:cubicBezTo>
                    <a:cubicBezTo>
                      <a:pt x="0" y="144"/>
                      <a:pt x="144" y="0"/>
                      <a:pt x="320" y="0"/>
                    </a:cubicBezTo>
                    <a:cubicBezTo>
                      <a:pt x="2880" y="0"/>
                      <a:pt x="2880" y="0"/>
                      <a:pt x="2880" y="0"/>
                    </a:cubicBezTo>
                    <a:cubicBezTo>
                      <a:pt x="3056" y="0"/>
                      <a:pt x="3200" y="144"/>
                      <a:pt x="3200" y="320"/>
                    </a:cubicBezTo>
                    <a:close/>
                  </a:path>
                </a:pathLst>
              </a:custGeom>
              <a:solidFill>
                <a:schemeClr val="accent3">
                  <a:lumMod val="20000"/>
                  <a:lumOff val="80000"/>
                </a:schemeClr>
              </a:solidFill>
              <a:ln w="28575" cap="flat">
                <a:gradFill>
                  <a:gsLst>
                    <a:gs pos="0">
                      <a:sysClr val="window" lastClr="FFFFFF"/>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7" name="Freeform 20">
                <a:extLst>
                  <a:ext uri="{FF2B5EF4-FFF2-40B4-BE49-F238E27FC236}">
                    <a16:creationId xmlns:a16="http://schemas.microsoft.com/office/drawing/2014/main" id="{DC06571E-2193-D0E9-9B9C-1473D98E898E}"/>
                  </a:ext>
                </a:extLst>
              </p:cNvPr>
              <p:cNvSpPr>
                <a:spLocks noEditPoints="1"/>
              </p:cNvSpPr>
              <p:nvPr/>
            </p:nvSpPr>
            <p:spPr bwMode="auto">
              <a:xfrm>
                <a:off x="2678521" y="2847139"/>
                <a:ext cx="5783923" cy="2408237"/>
              </a:xfrm>
              <a:custGeom>
                <a:avLst/>
                <a:gdLst>
                  <a:gd name="T0" fmla="*/ 1280 w 1600"/>
                  <a:gd name="T1" fmla="*/ 0 h 640"/>
                  <a:gd name="T2" fmla="*/ 320 w 1600"/>
                  <a:gd name="T3" fmla="*/ 0 h 640"/>
                  <a:gd name="T4" fmla="*/ 0 w 1600"/>
                  <a:gd name="T5" fmla="*/ 320 h 640"/>
                  <a:gd name="T6" fmla="*/ 320 w 1600"/>
                  <a:gd name="T7" fmla="*/ 640 h 640"/>
                  <a:gd name="T8" fmla="*/ 1280 w 1600"/>
                  <a:gd name="T9" fmla="*/ 640 h 640"/>
                  <a:gd name="T10" fmla="*/ 1600 w 1600"/>
                  <a:gd name="T11" fmla="*/ 320 h 640"/>
                  <a:gd name="T12" fmla="*/ 1280 w 1600"/>
                  <a:gd name="T13" fmla="*/ 0 h 640"/>
                  <a:gd name="T14" fmla="*/ 1493 w 1600"/>
                  <a:gd name="T15" fmla="*/ 365 h 640"/>
                  <a:gd name="T16" fmla="*/ 1435 w 1600"/>
                  <a:gd name="T17" fmla="*/ 385 h 640"/>
                  <a:gd name="T18" fmla="*/ 1427 w 1600"/>
                  <a:gd name="T19" fmla="*/ 381 h 640"/>
                  <a:gd name="T20" fmla="*/ 1416 w 1600"/>
                  <a:gd name="T21" fmla="*/ 320 h 640"/>
                  <a:gd name="T22" fmla="*/ 1427 w 1600"/>
                  <a:gd name="T23" fmla="*/ 259 h 640"/>
                  <a:gd name="T24" fmla="*/ 1435 w 1600"/>
                  <a:gd name="T25" fmla="*/ 255 h 640"/>
                  <a:gd name="T26" fmla="*/ 1493 w 1600"/>
                  <a:gd name="T27" fmla="*/ 275 h 640"/>
                  <a:gd name="T28" fmla="*/ 1541 w 1600"/>
                  <a:gd name="T29" fmla="*/ 316 h 640"/>
                  <a:gd name="T30" fmla="*/ 1541 w 1600"/>
                  <a:gd name="T31" fmla="*/ 324 h 640"/>
                  <a:gd name="T32" fmla="*/ 1493 w 1600"/>
                  <a:gd name="T33" fmla="*/ 365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0" h="640">
                    <a:moveTo>
                      <a:pt x="1280" y="0"/>
                    </a:moveTo>
                    <a:cubicBezTo>
                      <a:pt x="320" y="0"/>
                      <a:pt x="320" y="0"/>
                      <a:pt x="320" y="0"/>
                    </a:cubicBezTo>
                    <a:cubicBezTo>
                      <a:pt x="144" y="0"/>
                      <a:pt x="0" y="144"/>
                      <a:pt x="0" y="320"/>
                    </a:cubicBezTo>
                    <a:cubicBezTo>
                      <a:pt x="0" y="496"/>
                      <a:pt x="144" y="640"/>
                      <a:pt x="320" y="640"/>
                    </a:cubicBezTo>
                    <a:cubicBezTo>
                      <a:pt x="1280" y="640"/>
                      <a:pt x="1280" y="640"/>
                      <a:pt x="1280" y="640"/>
                    </a:cubicBezTo>
                    <a:cubicBezTo>
                      <a:pt x="1456" y="640"/>
                      <a:pt x="1600" y="496"/>
                      <a:pt x="1600" y="320"/>
                    </a:cubicBezTo>
                    <a:cubicBezTo>
                      <a:pt x="1600" y="144"/>
                      <a:pt x="1456" y="0"/>
                      <a:pt x="1280" y="0"/>
                    </a:cubicBezTo>
                    <a:close/>
                    <a:moveTo>
                      <a:pt x="1493" y="365"/>
                    </a:moveTo>
                    <a:cubicBezTo>
                      <a:pt x="1455" y="387"/>
                      <a:pt x="1435" y="385"/>
                      <a:pt x="1435" y="385"/>
                    </a:cubicBezTo>
                    <a:cubicBezTo>
                      <a:pt x="1432" y="385"/>
                      <a:pt x="1429" y="383"/>
                      <a:pt x="1427" y="381"/>
                    </a:cubicBezTo>
                    <a:cubicBezTo>
                      <a:pt x="1427" y="381"/>
                      <a:pt x="1416" y="364"/>
                      <a:pt x="1416" y="320"/>
                    </a:cubicBezTo>
                    <a:cubicBezTo>
                      <a:pt x="1416" y="276"/>
                      <a:pt x="1427" y="259"/>
                      <a:pt x="1427" y="259"/>
                    </a:cubicBezTo>
                    <a:cubicBezTo>
                      <a:pt x="1429" y="257"/>
                      <a:pt x="1432" y="255"/>
                      <a:pt x="1435" y="255"/>
                    </a:cubicBezTo>
                    <a:cubicBezTo>
                      <a:pt x="1435" y="255"/>
                      <a:pt x="1455" y="253"/>
                      <a:pt x="1493" y="275"/>
                    </a:cubicBezTo>
                    <a:cubicBezTo>
                      <a:pt x="1532" y="297"/>
                      <a:pt x="1541" y="316"/>
                      <a:pt x="1541" y="316"/>
                    </a:cubicBezTo>
                    <a:cubicBezTo>
                      <a:pt x="1542" y="318"/>
                      <a:pt x="1542" y="322"/>
                      <a:pt x="1541" y="324"/>
                    </a:cubicBezTo>
                    <a:cubicBezTo>
                      <a:pt x="1541" y="324"/>
                      <a:pt x="1532" y="343"/>
                      <a:pt x="1493" y="365"/>
                    </a:cubicBezTo>
                    <a:close/>
                  </a:path>
                </a:pathLst>
              </a:custGeom>
              <a:gradFill>
                <a:gsLst>
                  <a:gs pos="0">
                    <a:srgbClr val="DEDEDE"/>
                  </a:gs>
                  <a:gs pos="100000">
                    <a:srgbClr val="FBFBFB"/>
                  </a:gs>
                </a:gsLst>
                <a:lin ang="5400000" scaled="1"/>
              </a:gradFill>
              <a:ln w="31750" cap="flat">
                <a:gradFill>
                  <a:gsLst>
                    <a:gs pos="0">
                      <a:sysClr val="window" lastClr="FFFFFF"/>
                    </a:gs>
                    <a:gs pos="100000">
                      <a:srgbClr val="DDDDDD"/>
                    </a:gs>
                  </a:gsLst>
                  <a:lin ang="5400000" scaled="1"/>
                </a:gradFill>
                <a:prstDash val="solid"/>
                <a:miter lim="800000"/>
              </a:ln>
              <a:effectLst>
                <a:outerShdw blurRad="228600" dist="101600" dir="5400000" algn="t" rotWithShape="0">
                  <a:sysClr val="windowText" lastClr="000000">
                    <a:lumMod val="85000"/>
                    <a:lumOff val="15000"/>
                    <a:alpha val="33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8" name="椭圆 27">
                <a:extLst>
                  <a:ext uri="{FF2B5EF4-FFF2-40B4-BE49-F238E27FC236}">
                    <a16:creationId xmlns:a16="http://schemas.microsoft.com/office/drawing/2014/main" id="{97441371-5A43-BA13-A209-0384D563B543}"/>
                  </a:ext>
                </a:extLst>
              </p:cNvPr>
              <p:cNvSpPr/>
              <p:nvPr/>
            </p:nvSpPr>
            <p:spPr>
              <a:xfrm>
                <a:off x="2834834" y="3000057"/>
                <a:ext cx="2102400" cy="2102400"/>
              </a:xfrm>
              <a:prstGeom prst="ellipse">
                <a:avLst/>
              </a:prstGeom>
              <a:gradFill>
                <a:gsLst>
                  <a:gs pos="0">
                    <a:srgbClr val="DDDDDD"/>
                  </a:gs>
                  <a:gs pos="100000">
                    <a:srgbClr val="FBFBFB"/>
                  </a:gs>
                </a:gsLst>
                <a:lin ang="5400000" scaled="1"/>
              </a:gradFill>
              <a:ln w="101600" cap="flat">
                <a:gradFill>
                  <a:gsLst>
                    <a:gs pos="0">
                      <a:srgbClr val="FDFDFD"/>
                    </a:gs>
                    <a:gs pos="100000">
                      <a:srgbClr val="DDDDDD"/>
                    </a:gs>
                  </a:gsLst>
                  <a:lin ang="5400000" scaled="1"/>
                </a:gradFill>
                <a:prstDash val="solid"/>
                <a:miter lim="800000"/>
              </a:ln>
              <a:effectLst>
                <a:outerShdw blurRad="228600" dist="228600" dir="5400000" algn="t" rotWithShape="0">
                  <a:sysClr val="windowText" lastClr="000000">
                    <a:lumMod val="85000"/>
                    <a:lumOff val="15000"/>
                    <a:alpha val="28000"/>
                  </a:sysClr>
                </a:outerShdw>
              </a:effectLst>
            </p:spPr>
            <p:txBody>
              <a:bodyPr/>
              <a:lstStyle/>
              <a:p>
                <a:pPr defTabSz="1218565">
                  <a:defRPr/>
                </a:pPr>
                <a:endParaRPr lang="zh-CN" altLang="en-US" kern="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9" name="Freeform 23">
                <a:extLst>
                  <a:ext uri="{FF2B5EF4-FFF2-40B4-BE49-F238E27FC236}">
                    <a16:creationId xmlns:a16="http://schemas.microsoft.com/office/drawing/2014/main" id="{8BAEF69D-FAF0-6796-7BB3-AF0A8B3BB5B0}"/>
                  </a:ext>
                </a:extLst>
              </p:cNvPr>
              <p:cNvSpPr/>
              <p:nvPr/>
            </p:nvSpPr>
            <p:spPr bwMode="auto">
              <a:xfrm>
                <a:off x="3298659" y="3423401"/>
                <a:ext cx="1174750" cy="1255712"/>
              </a:xfrm>
              <a:custGeom>
                <a:avLst/>
                <a:gdLst>
                  <a:gd name="T0" fmla="*/ 193 w 313"/>
                  <a:gd name="T1" fmla="*/ 279 h 334"/>
                  <a:gd name="T2" fmla="*/ 47 w 313"/>
                  <a:gd name="T3" fmla="*/ 330 h 334"/>
                  <a:gd name="T4" fmla="*/ 28 w 313"/>
                  <a:gd name="T5" fmla="*/ 319 h 334"/>
                  <a:gd name="T6" fmla="*/ 0 w 313"/>
                  <a:gd name="T7" fmla="*/ 167 h 334"/>
                  <a:gd name="T8" fmla="*/ 28 w 313"/>
                  <a:gd name="T9" fmla="*/ 15 h 334"/>
                  <a:gd name="T10" fmla="*/ 47 w 313"/>
                  <a:gd name="T11" fmla="*/ 4 h 334"/>
                  <a:gd name="T12" fmla="*/ 193 w 313"/>
                  <a:gd name="T13" fmla="*/ 55 h 334"/>
                  <a:gd name="T14" fmla="*/ 311 w 313"/>
                  <a:gd name="T15" fmla="*/ 156 h 334"/>
                  <a:gd name="T16" fmla="*/ 311 w 313"/>
                  <a:gd name="T17" fmla="*/ 178 h 334"/>
                  <a:gd name="T18" fmla="*/ 193 w 313"/>
                  <a:gd name="T19" fmla="*/ 279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3" h="334">
                    <a:moveTo>
                      <a:pt x="193" y="279"/>
                    </a:moveTo>
                    <a:cubicBezTo>
                      <a:pt x="98" y="334"/>
                      <a:pt x="47" y="330"/>
                      <a:pt x="47" y="330"/>
                    </a:cubicBezTo>
                    <a:cubicBezTo>
                      <a:pt x="40" y="329"/>
                      <a:pt x="32" y="325"/>
                      <a:pt x="28" y="319"/>
                    </a:cubicBezTo>
                    <a:cubicBezTo>
                      <a:pt x="28" y="319"/>
                      <a:pt x="0" y="277"/>
                      <a:pt x="0" y="167"/>
                    </a:cubicBezTo>
                    <a:cubicBezTo>
                      <a:pt x="0" y="57"/>
                      <a:pt x="28" y="15"/>
                      <a:pt x="28" y="15"/>
                    </a:cubicBezTo>
                    <a:cubicBezTo>
                      <a:pt x="32" y="9"/>
                      <a:pt x="40" y="5"/>
                      <a:pt x="47" y="4"/>
                    </a:cubicBezTo>
                    <a:cubicBezTo>
                      <a:pt x="47" y="4"/>
                      <a:pt x="98" y="0"/>
                      <a:pt x="193" y="55"/>
                    </a:cubicBezTo>
                    <a:cubicBezTo>
                      <a:pt x="289" y="110"/>
                      <a:pt x="311" y="156"/>
                      <a:pt x="311" y="156"/>
                    </a:cubicBezTo>
                    <a:cubicBezTo>
                      <a:pt x="313" y="162"/>
                      <a:pt x="313" y="172"/>
                      <a:pt x="311" y="178"/>
                    </a:cubicBezTo>
                    <a:cubicBezTo>
                      <a:pt x="311" y="178"/>
                      <a:pt x="289" y="224"/>
                      <a:pt x="193" y="279"/>
                    </a:cubicBezTo>
                    <a:close/>
                  </a:path>
                </a:pathLst>
              </a:custGeom>
              <a:solidFill>
                <a:srgbClr val="0070C0"/>
              </a:solidFill>
              <a:ln w="12700" cap="flat" cmpd="sng" algn="ctr">
                <a:noFill/>
                <a:prstDash val="solid"/>
                <a:miter lim="800000"/>
              </a:ln>
              <a:effectLst>
                <a:innerShdw blurRad="215900" dist="50800" dir="16200000">
                  <a:prstClr val="black">
                    <a:alpha val="42000"/>
                  </a:prstClr>
                </a:innerShdw>
              </a:effectLst>
            </p:spPr>
            <p:txBody>
              <a:bodyPr anchor="ctr"/>
              <a:lstStyle/>
              <a:p>
                <a:pPr algn="ctr" defTabSz="1218565">
                  <a:defRPr/>
                </a:pPr>
                <a:endParaRPr lang="zh-CN" altLang="en-US" kern="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
          <p:nvSpPr>
            <p:cNvPr id="21" name="Freeform 10">
              <a:extLst>
                <a:ext uri="{FF2B5EF4-FFF2-40B4-BE49-F238E27FC236}">
                  <a16:creationId xmlns:a16="http://schemas.microsoft.com/office/drawing/2014/main" id="{FD1967A8-6C99-C85E-01CD-8CC6AE2C2EB5}"/>
                </a:ext>
              </a:extLst>
            </p:cNvPr>
            <p:cNvSpPr>
              <a:spLocks noEditPoints="1"/>
            </p:cNvSpPr>
            <p:nvPr/>
          </p:nvSpPr>
          <p:spPr bwMode="auto">
            <a:xfrm>
              <a:off x="2354625" y="5762565"/>
              <a:ext cx="672118" cy="472417"/>
            </a:xfrm>
            <a:custGeom>
              <a:avLst/>
              <a:gdLst>
                <a:gd name="T0" fmla="*/ 342000 w 500"/>
                <a:gd name="T1" fmla="*/ 0 h 327"/>
                <a:gd name="T2" fmla="*/ 192888 w 500"/>
                <a:gd name="T3" fmla="*/ 92075 h 327"/>
                <a:gd name="T4" fmla="*/ 192888 w 500"/>
                <a:gd name="T5" fmla="*/ 30163 h 327"/>
                <a:gd name="T6" fmla="*/ 124488 w 500"/>
                <a:gd name="T7" fmla="*/ 30163 h 327"/>
                <a:gd name="T8" fmla="*/ 124488 w 500"/>
                <a:gd name="T9" fmla="*/ 133350 h 327"/>
                <a:gd name="T10" fmla="*/ 0 w 500"/>
                <a:gd name="T11" fmla="*/ 209550 h 327"/>
                <a:gd name="T12" fmla="*/ 0 w 500"/>
                <a:gd name="T13" fmla="*/ 212725 h 327"/>
                <a:gd name="T14" fmla="*/ 73872 w 500"/>
                <a:gd name="T15" fmla="*/ 212725 h 327"/>
                <a:gd name="T16" fmla="*/ 342000 w 500"/>
                <a:gd name="T17" fmla="*/ 49213 h 327"/>
                <a:gd name="T18" fmla="*/ 610128 w 500"/>
                <a:gd name="T19" fmla="*/ 212725 h 327"/>
                <a:gd name="T20" fmla="*/ 684000 w 500"/>
                <a:gd name="T21" fmla="*/ 212725 h 327"/>
                <a:gd name="T22" fmla="*/ 684000 w 500"/>
                <a:gd name="T23" fmla="*/ 207963 h 327"/>
                <a:gd name="T24" fmla="*/ 342000 w 500"/>
                <a:gd name="T25" fmla="*/ 0 h 327"/>
                <a:gd name="T26" fmla="*/ 101232 w 500"/>
                <a:gd name="T27" fmla="*/ 242888 h 327"/>
                <a:gd name="T28" fmla="*/ 101232 w 500"/>
                <a:gd name="T29" fmla="*/ 519113 h 327"/>
                <a:gd name="T30" fmla="*/ 238032 w 500"/>
                <a:gd name="T31" fmla="*/ 519113 h 327"/>
                <a:gd name="T32" fmla="*/ 238032 w 500"/>
                <a:gd name="T33" fmla="*/ 355600 h 327"/>
                <a:gd name="T34" fmla="*/ 445968 w 500"/>
                <a:gd name="T35" fmla="*/ 355600 h 327"/>
                <a:gd name="T36" fmla="*/ 445968 w 500"/>
                <a:gd name="T37" fmla="*/ 519113 h 327"/>
                <a:gd name="T38" fmla="*/ 582768 w 500"/>
                <a:gd name="T39" fmla="*/ 519113 h 327"/>
                <a:gd name="T40" fmla="*/ 582768 w 500"/>
                <a:gd name="T41" fmla="*/ 242888 h 327"/>
                <a:gd name="T42" fmla="*/ 342000 w 500"/>
                <a:gd name="T43" fmla="*/ 98425 h 327"/>
                <a:gd name="T44" fmla="*/ 101232 w 500"/>
                <a:gd name="T45" fmla="*/ 242888 h 32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00" h="327">
                  <a:moveTo>
                    <a:pt x="250" y="0"/>
                  </a:moveTo>
                  <a:lnTo>
                    <a:pt x="141" y="58"/>
                  </a:lnTo>
                  <a:lnTo>
                    <a:pt x="141" y="19"/>
                  </a:lnTo>
                  <a:lnTo>
                    <a:pt x="91" y="19"/>
                  </a:lnTo>
                  <a:lnTo>
                    <a:pt x="91" y="84"/>
                  </a:lnTo>
                  <a:lnTo>
                    <a:pt x="0" y="132"/>
                  </a:lnTo>
                  <a:lnTo>
                    <a:pt x="0" y="134"/>
                  </a:lnTo>
                  <a:lnTo>
                    <a:pt x="54" y="134"/>
                  </a:lnTo>
                  <a:lnTo>
                    <a:pt x="250" y="31"/>
                  </a:lnTo>
                  <a:lnTo>
                    <a:pt x="446" y="134"/>
                  </a:lnTo>
                  <a:lnTo>
                    <a:pt x="500" y="134"/>
                  </a:lnTo>
                  <a:lnTo>
                    <a:pt x="500" y="131"/>
                  </a:lnTo>
                  <a:lnTo>
                    <a:pt x="250" y="0"/>
                  </a:lnTo>
                  <a:close/>
                  <a:moveTo>
                    <a:pt x="74" y="153"/>
                  </a:moveTo>
                  <a:lnTo>
                    <a:pt x="74" y="327"/>
                  </a:lnTo>
                  <a:lnTo>
                    <a:pt x="174" y="327"/>
                  </a:lnTo>
                  <a:lnTo>
                    <a:pt x="174" y="224"/>
                  </a:lnTo>
                  <a:lnTo>
                    <a:pt x="326" y="224"/>
                  </a:lnTo>
                  <a:lnTo>
                    <a:pt x="326" y="327"/>
                  </a:lnTo>
                  <a:lnTo>
                    <a:pt x="426" y="327"/>
                  </a:lnTo>
                  <a:lnTo>
                    <a:pt x="426" y="153"/>
                  </a:lnTo>
                  <a:lnTo>
                    <a:pt x="250" y="62"/>
                  </a:lnTo>
                  <a:lnTo>
                    <a:pt x="74" y="153"/>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lIns="68568" tIns="34284" rIns="68568" bIns="34284"/>
            <a:lstStyle/>
            <a:p>
              <a:pPr defTabSz="1218565">
                <a:defRPr/>
              </a:pPr>
              <a:endParaRPr lang="zh-CN" altLang="en-US" kern="0">
                <a:solidFill>
                  <a:sysClr val="windowText" lastClr="00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2" name="文本框 105">
              <a:extLst>
                <a:ext uri="{FF2B5EF4-FFF2-40B4-BE49-F238E27FC236}">
                  <a16:creationId xmlns:a16="http://schemas.microsoft.com/office/drawing/2014/main" id="{0864F1A4-DE89-56C3-7204-6159948592B0}"/>
                </a:ext>
              </a:extLst>
            </p:cNvPr>
            <p:cNvSpPr txBox="1">
              <a:spLocks noChangeArrowheads="1"/>
            </p:cNvSpPr>
            <p:nvPr/>
          </p:nvSpPr>
          <p:spPr bwMode="auto">
            <a:xfrm>
              <a:off x="1015079" y="5661437"/>
              <a:ext cx="538580" cy="5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8" tIns="34284" rIns="68568" bIns="34284">
              <a:spAutoFit/>
            </a:bodyPr>
            <a:lstStyle>
              <a:lvl1pPr>
                <a:defRPr>
                  <a:solidFill>
                    <a:schemeClr val="tx1"/>
                  </a:solidFill>
                  <a:latin typeface="Calibri" panose="020F0502020204030204" pitchFamily="34" charset="0"/>
                  <a:ea typeface="微软雅黑" panose="020B0503020204020204" charset="-122"/>
                </a:defRPr>
              </a:lvl1pPr>
              <a:lvl2pPr marL="742950" indent="-285750">
                <a:defRPr>
                  <a:solidFill>
                    <a:schemeClr val="tx1"/>
                  </a:solidFill>
                  <a:latin typeface="Calibri" panose="020F0502020204030204" pitchFamily="34" charset="0"/>
                  <a:ea typeface="微软雅黑" panose="020B0503020204020204" charset="-122"/>
                </a:defRPr>
              </a:lvl2pPr>
              <a:lvl3pPr marL="1143000" indent="-228600">
                <a:defRPr>
                  <a:solidFill>
                    <a:schemeClr val="tx1"/>
                  </a:solidFill>
                  <a:latin typeface="Calibri" panose="020F0502020204030204" pitchFamily="34" charset="0"/>
                  <a:ea typeface="微软雅黑" panose="020B0503020204020204" charset="-122"/>
                </a:defRPr>
              </a:lvl3pPr>
              <a:lvl4pPr marL="1600200" indent="-228600">
                <a:defRPr>
                  <a:solidFill>
                    <a:schemeClr val="tx1"/>
                  </a:solidFill>
                  <a:latin typeface="Calibri" panose="020F0502020204030204" pitchFamily="34" charset="0"/>
                  <a:ea typeface="微软雅黑" panose="020B0503020204020204" charset="-122"/>
                </a:defRPr>
              </a:lvl4pPr>
              <a:lvl5pPr marL="2057400" indent="-228600">
                <a:defRPr>
                  <a:solidFill>
                    <a:schemeClr val="tx1"/>
                  </a:solidFill>
                  <a:latin typeface="Calibri" panose="020F0502020204030204" pitchFamily="34" charset="0"/>
                  <a:ea typeface="微软雅黑" panose="020B050302020402020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9pPr>
            </a:lstStyle>
            <a:p>
              <a:pPr defTabSz="1218565">
                <a:defRPr/>
              </a:pPr>
              <a:r>
                <a:rPr lang="en-US" altLang="zh-CN"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rPr>
                <a:t>03</a:t>
              </a:r>
              <a:endParaRPr lang="zh-CN" altLang="en-US" sz="2800" kern="0" dirty="0">
                <a:solidFill>
                  <a:sysClr val="window" lastClr="FFFFFF"/>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24" name="TextBox 59">
              <a:extLst>
                <a:ext uri="{FF2B5EF4-FFF2-40B4-BE49-F238E27FC236}">
                  <a16:creationId xmlns:a16="http://schemas.microsoft.com/office/drawing/2014/main" id="{A3D61FD3-AD25-ABAC-6153-AD4B5887A98A}"/>
                </a:ext>
              </a:extLst>
            </p:cNvPr>
            <p:cNvSpPr txBox="1">
              <a:spLocks/>
            </p:cNvSpPr>
            <p:nvPr/>
          </p:nvSpPr>
          <p:spPr>
            <a:xfrm>
              <a:off x="8577798" y="3466363"/>
              <a:ext cx="2037801" cy="381122"/>
            </a:xfrm>
            <a:prstGeom prst="rect">
              <a:avLst/>
            </a:prstGeom>
            <a:solidFill>
              <a:schemeClr val="accent4">
                <a:lumMod val="20000"/>
                <a:lumOff val="80000"/>
                <a:alpha val="30000"/>
              </a:schemeClr>
            </a:solidFill>
            <a:ln w="19050">
              <a:solidFill>
                <a:schemeClr val="bg1"/>
              </a:solidFill>
            </a:ln>
          </p:spPr>
          <p:txBody>
            <a:bodyPr wrap="square" lIns="91434" tIns="45716" rIns="91434" bIns="45716" rtlCol="0">
              <a:spAutoFit/>
            </a:bodyPr>
            <a:lstStyle/>
            <a:p>
              <a:pPr marL="285750" indent="-285750" defTabSz="1218565">
                <a:lnSpc>
                  <a:spcPct val="130000"/>
                </a:lnSpc>
                <a:buFont typeface="Wingdings" panose="05000000000000000000" pitchFamily="2" charset="2"/>
                <a:buChar char="Ø"/>
                <a:defRPr/>
              </a:pPr>
              <a:r>
                <a:rPr lang="en-US" altLang="zh-CN" sz="1600" b="1" kern="0" dirty="0">
                  <a:latin typeface="Times New Roman" panose="02020603050405020304" pitchFamily="18" charset="0"/>
                  <a:ea typeface="微软雅黑" panose="020B0503020204020204" pitchFamily="34" charset="-122"/>
                  <a:cs typeface="+mn-ea"/>
                  <a:sym typeface="Times New Roman" panose="02020603050405020304" pitchFamily="18" charset="0"/>
                </a:rPr>
                <a:t>1</a:t>
              </a:r>
              <a:r>
                <a:rPr lang="zh-CN" altLang="en-US" sz="1600" b="1" kern="0" dirty="0">
                  <a:latin typeface="Times New Roman" panose="02020603050405020304" pitchFamily="18" charset="0"/>
                  <a:ea typeface="微软雅黑" panose="020B0503020204020204" pitchFamily="34" charset="-122"/>
                  <a:cs typeface="+mn-ea"/>
                  <a:sym typeface="Times New Roman" panose="02020603050405020304" pitchFamily="18" charset="0"/>
                </a:rPr>
                <a:t>表示完全正相关</a:t>
              </a:r>
            </a:p>
          </p:txBody>
        </p:sp>
        <p:sp>
          <p:nvSpPr>
            <p:cNvPr id="25" name="TextBox 63">
              <a:extLst>
                <a:ext uri="{FF2B5EF4-FFF2-40B4-BE49-F238E27FC236}">
                  <a16:creationId xmlns:a16="http://schemas.microsoft.com/office/drawing/2014/main" id="{C7DEFC80-F45C-716F-EB5B-D2F017ACB9B0}"/>
                </a:ext>
              </a:extLst>
            </p:cNvPr>
            <p:cNvSpPr txBox="1">
              <a:spLocks/>
            </p:cNvSpPr>
            <p:nvPr/>
          </p:nvSpPr>
          <p:spPr>
            <a:xfrm>
              <a:off x="8370113" y="5753008"/>
              <a:ext cx="2453170" cy="381122"/>
            </a:xfrm>
            <a:prstGeom prst="rect">
              <a:avLst/>
            </a:prstGeom>
            <a:solidFill>
              <a:schemeClr val="accent4">
                <a:lumMod val="20000"/>
                <a:lumOff val="80000"/>
                <a:alpha val="30000"/>
              </a:schemeClr>
            </a:solidFill>
            <a:ln w="19050">
              <a:solidFill>
                <a:schemeClr val="bg1"/>
              </a:solidFill>
            </a:ln>
          </p:spPr>
          <p:txBody>
            <a:bodyPr wrap="square" lIns="91434" tIns="45716" rIns="91434" bIns="45716" rtlCol="0">
              <a:spAutoFit/>
            </a:bodyPr>
            <a:lstStyle>
              <a:defPPr>
                <a:defRPr lang="zh-CN"/>
              </a:defPPr>
              <a:lvl1pPr marL="285750" indent="-285750" defTabSz="1218565">
                <a:lnSpc>
                  <a:spcPct val="130000"/>
                </a:lnSpc>
                <a:buFont typeface="Wingdings" panose="05000000000000000000" pitchFamily="2" charset="2"/>
                <a:buChar char="Ø"/>
                <a:defRPr sz="1400" b="1" kern="0">
                  <a:solidFill>
                    <a:srgbClr val="7F7F7F">
                      <a:lumMod val="75000"/>
                    </a:srgbClr>
                  </a:solidFill>
                  <a:latin typeface="Times New Roman" panose="02020603050405020304" pitchFamily="18" charset="0"/>
                  <a:ea typeface="微软雅黑" panose="020B0503020204020204" pitchFamily="34" charset="-122"/>
                  <a:cs typeface="+mn-ea"/>
                </a:defRPr>
              </a:lvl1pPr>
            </a:lstStyle>
            <a:p>
              <a:r>
                <a:rPr lang="en-US" altLang="zh-CN" sz="1600" dirty="0">
                  <a:solidFill>
                    <a:schemeClr val="tx1"/>
                  </a:solidFill>
                  <a:sym typeface="Times New Roman" panose="02020603050405020304" pitchFamily="18" charset="0"/>
                </a:rPr>
                <a:t>0</a:t>
              </a:r>
              <a:r>
                <a:rPr lang="zh-CN" altLang="en-US" sz="1600" dirty="0">
                  <a:solidFill>
                    <a:schemeClr val="tx1"/>
                  </a:solidFill>
                  <a:sym typeface="Times New Roman" panose="02020603050405020304" pitchFamily="18" charset="0"/>
                </a:rPr>
                <a:t>表示无线性相关关系</a:t>
              </a:r>
            </a:p>
          </p:txBody>
        </p:sp>
        <p:sp>
          <p:nvSpPr>
            <p:cNvPr id="40" name="TextBox 59">
              <a:extLst>
                <a:ext uri="{FF2B5EF4-FFF2-40B4-BE49-F238E27FC236}">
                  <a16:creationId xmlns:a16="http://schemas.microsoft.com/office/drawing/2014/main" id="{308D021A-FDEA-72FF-8B27-61CC0558AC90}"/>
                </a:ext>
              </a:extLst>
            </p:cNvPr>
            <p:cNvSpPr txBox="1">
              <a:spLocks/>
            </p:cNvSpPr>
            <p:nvPr/>
          </p:nvSpPr>
          <p:spPr>
            <a:xfrm>
              <a:off x="8534611" y="4609686"/>
              <a:ext cx="2124174" cy="381122"/>
            </a:xfrm>
            <a:prstGeom prst="rect">
              <a:avLst/>
            </a:prstGeom>
            <a:solidFill>
              <a:schemeClr val="accent4">
                <a:lumMod val="20000"/>
                <a:lumOff val="80000"/>
                <a:alpha val="30000"/>
              </a:schemeClr>
            </a:solidFill>
            <a:ln w="19050">
              <a:solidFill>
                <a:schemeClr val="bg1"/>
              </a:solidFill>
            </a:ln>
          </p:spPr>
          <p:txBody>
            <a:bodyPr wrap="square" lIns="91434" tIns="45716" rIns="91434" bIns="45716" rtlCol="0">
              <a:spAutoFit/>
            </a:bodyPr>
            <a:lstStyle/>
            <a:p>
              <a:pPr marL="285750" indent="-285750" defTabSz="1218565">
                <a:lnSpc>
                  <a:spcPct val="130000"/>
                </a:lnSpc>
                <a:buFont typeface="Wingdings" panose="05000000000000000000" pitchFamily="2" charset="2"/>
                <a:buChar char="Ø"/>
                <a:defRPr/>
              </a:pPr>
              <a:r>
                <a:rPr lang="en-US" altLang="zh-CN" sz="1600" b="1" kern="0" dirty="0">
                  <a:latin typeface="Times New Roman" panose="02020603050405020304" pitchFamily="18" charset="0"/>
                  <a:ea typeface="微软雅黑" panose="020B0503020204020204" pitchFamily="34" charset="-122"/>
                  <a:cs typeface="+mn-ea"/>
                  <a:sym typeface="Times New Roman" panose="02020603050405020304" pitchFamily="18" charset="0"/>
                </a:rPr>
                <a:t>-1</a:t>
              </a:r>
              <a:r>
                <a:rPr lang="zh-CN" altLang="en-US" sz="1600" b="1" kern="0" dirty="0">
                  <a:latin typeface="Times New Roman" panose="02020603050405020304" pitchFamily="18" charset="0"/>
                  <a:ea typeface="微软雅黑" panose="020B0503020204020204" pitchFamily="34" charset="-122"/>
                  <a:cs typeface="+mn-ea"/>
                  <a:sym typeface="Times New Roman" panose="02020603050405020304" pitchFamily="18" charset="0"/>
                </a:rPr>
                <a:t>表示完全负相关</a:t>
              </a:r>
            </a:p>
          </p:txBody>
        </p:sp>
        <p:sp>
          <p:nvSpPr>
            <p:cNvPr id="41" name="文本框 64">
              <a:extLst>
                <a:ext uri="{FF2B5EF4-FFF2-40B4-BE49-F238E27FC236}">
                  <a16:creationId xmlns:a16="http://schemas.microsoft.com/office/drawing/2014/main" id="{D625ADC4-A52C-B5F7-2F71-2B31E8A54BD9}"/>
                </a:ext>
              </a:extLst>
            </p:cNvPr>
            <p:cNvSpPr txBox="1">
              <a:spLocks noChangeArrowheads="1"/>
            </p:cNvSpPr>
            <p:nvPr/>
          </p:nvSpPr>
          <p:spPr bwMode="auto">
            <a:xfrm>
              <a:off x="3788258" y="4121040"/>
              <a:ext cx="3463442" cy="684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8" tIns="34284" rIns="68568" bIns="34284">
              <a:spAutoFit/>
            </a:bodyPr>
            <a:lstStyle>
              <a:lvl1pPr>
                <a:defRPr>
                  <a:solidFill>
                    <a:schemeClr val="tx1"/>
                  </a:solidFill>
                  <a:latin typeface="Calibri" panose="020F0502020204030204" pitchFamily="34" charset="0"/>
                  <a:ea typeface="微软雅黑" panose="020B0503020204020204" charset="-122"/>
                </a:defRPr>
              </a:lvl1pPr>
              <a:lvl2pPr marL="742950" indent="-285750">
                <a:defRPr>
                  <a:solidFill>
                    <a:schemeClr val="tx1"/>
                  </a:solidFill>
                  <a:latin typeface="Calibri" panose="020F0502020204030204" pitchFamily="34" charset="0"/>
                  <a:ea typeface="微软雅黑" panose="020B0503020204020204" charset="-122"/>
                </a:defRPr>
              </a:lvl2pPr>
              <a:lvl3pPr marL="1143000" indent="-228600">
                <a:defRPr>
                  <a:solidFill>
                    <a:schemeClr val="tx1"/>
                  </a:solidFill>
                  <a:latin typeface="Calibri" panose="020F0502020204030204" pitchFamily="34" charset="0"/>
                  <a:ea typeface="微软雅黑" panose="020B0503020204020204" charset="-122"/>
                </a:defRPr>
              </a:lvl3pPr>
              <a:lvl4pPr marL="1600200" indent="-228600">
                <a:defRPr>
                  <a:solidFill>
                    <a:schemeClr val="tx1"/>
                  </a:solidFill>
                  <a:latin typeface="Calibri" panose="020F0502020204030204" pitchFamily="34" charset="0"/>
                  <a:ea typeface="微软雅黑" panose="020B0503020204020204" charset="-122"/>
                </a:defRPr>
              </a:lvl4pPr>
              <a:lvl5pPr marL="2057400" indent="-228600">
                <a:defRPr>
                  <a:solidFill>
                    <a:schemeClr val="tx1"/>
                  </a:solidFill>
                  <a:latin typeface="Calibri" panose="020F0502020204030204" pitchFamily="34" charset="0"/>
                  <a:ea typeface="微软雅黑" panose="020B050302020402020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9pPr>
            </a:lstStyle>
            <a:p>
              <a:pPr defTabSz="1218565">
                <a:defRPr/>
              </a:pPr>
              <a:r>
                <a:rPr lang="zh-CN" altLang="en-US" sz="2000" b="1" kern="0" dirty="0">
                  <a:solidFill>
                    <a:srgbClr val="C00000"/>
                  </a:solidFill>
                  <a:latin typeface="Times New Roman" panose="02020603050405020304" pitchFamily="18" charset="0"/>
                  <a:ea typeface="微软雅黑" panose="020B0503020204020204" pitchFamily="34" charset="-122"/>
                  <a:cs typeface="+mn-ea"/>
                </a:rPr>
                <a:t>负相关：</a:t>
              </a:r>
              <a:r>
                <a:rPr lang="zh-CN" altLang="en-US" sz="2000" b="1" kern="0" dirty="0">
                  <a:solidFill>
                    <a:schemeClr val="bg1"/>
                  </a:solidFill>
                  <a:latin typeface="Times New Roman" panose="02020603050405020304" pitchFamily="18" charset="0"/>
                  <a:ea typeface="微软雅黑" panose="020B0503020204020204" pitchFamily="34" charset="-122"/>
                  <a:cs typeface="+mn-ea"/>
                </a:rPr>
                <a:t>一个变量增加，另一个变量倾向于减少。</a:t>
              </a:r>
              <a:endParaRPr lang="zh-CN" altLang="en-US" sz="2000" b="1" kern="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2" name="文本框 64">
              <a:extLst>
                <a:ext uri="{FF2B5EF4-FFF2-40B4-BE49-F238E27FC236}">
                  <a16:creationId xmlns:a16="http://schemas.microsoft.com/office/drawing/2014/main" id="{3634E11A-8349-5997-F228-87DB8D1FF3B8}"/>
                </a:ext>
              </a:extLst>
            </p:cNvPr>
            <p:cNvSpPr txBox="1">
              <a:spLocks noChangeArrowheads="1"/>
            </p:cNvSpPr>
            <p:nvPr/>
          </p:nvSpPr>
          <p:spPr bwMode="auto">
            <a:xfrm>
              <a:off x="3788258" y="5420756"/>
              <a:ext cx="3398074" cy="992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8" tIns="34284" rIns="68568" bIns="34284">
              <a:spAutoFit/>
            </a:bodyPr>
            <a:lstStyle>
              <a:lvl1pPr>
                <a:defRPr>
                  <a:solidFill>
                    <a:schemeClr val="tx1"/>
                  </a:solidFill>
                  <a:latin typeface="Calibri" panose="020F0502020204030204" pitchFamily="34" charset="0"/>
                  <a:ea typeface="微软雅黑" panose="020B0503020204020204" charset="-122"/>
                </a:defRPr>
              </a:lvl1pPr>
              <a:lvl2pPr marL="742950" indent="-285750">
                <a:defRPr>
                  <a:solidFill>
                    <a:schemeClr val="tx1"/>
                  </a:solidFill>
                  <a:latin typeface="Calibri" panose="020F0502020204030204" pitchFamily="34" charset="0"/>
                  <a:ea typeface="微软雅黑" panose="020B0503020204020204" charset="-122"/>
                </a:defRPr>
              </a:lvl2pPr>
              <a:lvl3pPr marL="1143000" indent="-228600">
                <a:defRPr>
                  <a:solidFill>
                    <a:schemeClr val="tx1"/>
                  </a:solidFill>
                  <a:latin typeface="Calibri" panose="020F0502020204030204" pitchFamily="34" charset="0"/>
                  <a:ea typeface="微软雅黑" panose="020B0503020204020204" charset="-122"/>
                </a:defRPr>
              </a:lvl3pPr>
              <a:lvl4pPr marL="1600200" indent="-228600">
                <a:defRPr>
                  <a:solidFill>
                    <a:schemeClr val="tx1"/>
                  </a:solidFill>
                  <a:latin typeface="Calibri" panose="020F0502020204030204" pitchFamily="34" charset="0"/>
                  <a:ea typeface="微软雅黑" panose="020B0503020204020204" charset="-122"/>
                </a:defRPr>
              </a:lvl4pPr>
              <a:lvl5pPr marL="2057400" indent="-228600">
                <a:defRPr>
                  <a:solidFill>
                    <a:schemeClr val="tx1"/>
                  </a:solidFill>
                  <a:latin typeface="Calibri" panose="020F0502020204030204" pitchFamily="34" charset="0"/>
                  <a:ea typeface="微软雅黑" panose="020B050302020402020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charset="-122"/>
                </a:defRPr>
              </a:lvl9pPr>
            </a:lstStyle>
            <a:p>
              <a:pPr defTabSz="1218565">
                <a:defRPr/>
              </a:pPr>
              <a:r>
                <a:rPr lang="zh-CN" altLang="en-US" sz="2000" b="1" kern="0" dirty="0">
                  <a:solidFill>
                    <a:srgbClr val="C00000"/>
                  </a:solidFill>
                  <a:latin typeface="Times New Roman" panose="02020603050405020304" pitchFamily="18" charset="0"/>
                  <a:ea typeface="微软雅黑" panose="020B0503020204020204" pitchFamily="34" charset="-122"/>
                  <a:cs typeface="+mn-ea"/>
                </a:rPr>
                <a:t>无线性相关：</a:t>
              </a:r>
              <a:r>
                <a:rPr lang="zh-CN" altLang="en-US" sz="2000" b="1" kern="0" dirty="0">
                  <a:solidFill>
                    <a:schemeClr val="bg1"/>
                  </a:solidFill>
                  <a:latin typeface="Times New Roman" panose="02020603050405020304" pitchFamily="18" charset="0"/>
                  <a:ea typeface="微软雅黑" panose="020B0503020204020204" pitchFamily="34" charset="-122"/>
                  <a:cs typeface="+mn-ea"/>
                </a:rPr>
                <a:t>两个变量间无直线关系，可能存在其他非线性关系或无明显关系。</a:t>
              </a:r>
              <a:endParaRPr lang="zh-CN" altLang="en-US" sz="2000" b="1" kern="0" dirty="0">
                <a:solidFill>
                  <a:schemeClr val="bg1"/>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47" name="TextBox 59">
              <a:extLst>
                <a:ext uri="{FF2B5EF4-FFF2-40B4-BE49-F238E27FC236}">
                  <a16:creationId xmlns:a16="http://schemas.microsoft.com/office/drawing/2014/main" id="{6A1E015D-1E34-DD7F-3003-9FDD7DF610E8}"/>
                </a:ext>
              </a:extLst>
            </p:cNvPr>
            <p:cNvSpPr txBox="1">
              <a:spLocks/>
            </p:cNvSpPr>
            <p:nvPr/>
          </p:nvSpPr>
          <p:spPr>
            <a:xfrm>
              <a:off x="7611135" y="2323040"/>
              <a:ext cx="3971126" cy="381122"/>
            </a:xfrm>
            <a:prstGeom prst="rect">
              <a:avLst/>
            </a:prstGeom>
            <a:solidFill>
              <a:schemeClr val="accent4">
                <a:lumMod val="20000"/>
                <a:lumOff val="80000"/>
                <a:alpha val="30000"/>
              </a:schemeClr>
            </a:solidFill>
            <a:ln w="19050">
              <a:solidFill>
                <a:schemeClr val="bg1"/>
              </a:solidFill>
            </a:ln>
          </p:spPr>
          <p:txBody>
            <a:bodyPr wrap="square" lIns="91434" tIns="45716" rIns="91434" bIns="45716" rtlCol="0">
              <a:spAutoFit/>
            </a:bodyPr>
            <a:lstStyle/>
            <a:p>
              <a:pPr algn="ctr" defTabSz="1218565">
                <a:lnSpc>
                  <a:spcPct val="130000"/>
                </a:lnSpc>
                <a:defRPr/>
              </a:pPr>
              <a:r>
                <a:rPr lang="zh-CN" altLang="en-US" sz="1600" b="1" kern="0" dirty="0">
                  <a:latin typeface="Times New Roman" panose="02020603050405020304" pitchFamily="18" charset="0"/>
                  <a:ea typeface="微软雅黑" panose="020B0503020204020204" pitchFamily="34" charset="-122"/>
                  <a:cs typeface="+mn-ea"/>
                  <a:sym typeface="Times New Roman" panose="02020603050405020304" pitchFamily="18" charset="0"/>
                </a:rPr>
                <a:t>皮尔逊相关系数，取值范围为</a:t>
              </a:r>
              <a:r>
                <a:rPr lang="en-US" altLang="zh-CN" sz="1600" b="1" kern="0" dirty="0">
                  <a:latin typeface="Times New Roman" panose="02020603050405020304" pitchFamily="18" charset="0"/>
                  <a:ea typeface="微软雅黑" panose="020B0503020204020204" pitchFamily="34" charset="-122"/>
                  <a:cs typeface="+mn-ea"/>
                  <a:sym typeface="Times New Roman" panose="02020603050405020304" pitchFamily="18" charset="0"/>
                </a:rPr>
                <a:t>[-1,1]</a:t>
              </a:r>
              <a:endParaRPr lang="zh-CN" altLang="en-US" sz="1600" b="1" kern="0" dirty="0">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spTree>
    <p:extLst>
      <p:ext uri="{BB962C8B-B14F-4D97-AF65-F5344CB8AC3E}">
        <p14:creationId xmlns:p14="http://schemas.microsoft.com/office/powerpoint/2010/main" val="4035491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E1571-F4D2-D5FC-B375-0EA87CCAF43D}"/>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B14A41B9-7A23-F924-7CA4-760F83062AFD}"/>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8FB380E3-AE44-FC93-4560-52EB8BF623FA}"/>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56F15C8E-A8D1-62FF-B119-3F1480FDE37D}"/>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3580D8BB-E327-CBEF-B9FD-2A76FA57CACC}"/>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相关性分析基本概念</a:t>
            </a:r>
          </a:p>
        </p:txBody>
      </p:sp>
      <p:sp>
        <p:nvSpPr>
          <p:cNvPr id="27" name="矩形 26">
            <a:extLst>
              <a:ext uri="{FF2B5EF4-FFF2-40B4-BE49-F238E27FC236}">
                <a16:creationId xmlns:a16="http://schemas.microsoft.com/office/drawing/2014/main" id="{933ED0AA-B41F-2975-63C2-9E10B150CAD1}"/>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881B76AB-8D9C-EE4C-DD34-DC399C145A8B}"/>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6598E2C5-AD72-02DD-96C3-70945194BF1A}"/>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107B83A6-B51C-0207-7CA7-3F4A2258CBA0}"/>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相关性分析应用背景</a:t>
            </a:r>
          </a:p>
        </p:txBody>
      </p:sp>
      <p:sp>
        <p:nvSpPr>
          <p:cNvPr id="31" name="矩形 30">
            <a:extLst>
              <a:ext uri="{FF2B5EF4-FFF2-40B4-BE49-F238E27FC236}">
                <a16:creationId xmlns:a16="http://schemas.microsoft.com/office/drawing/2014/main" id="{CD05B2FA-A4AD-6279-30CA-CB9D1E9C4016}"/>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DC2F3F0C-09AC-37CB-87DC-7CA46AA52A68}"/>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2F9B1023-067B-7406-1B9C-DB44B4434A7A}"/>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8F034EF1-A471-CC43-521E-8FE6908AFCAE}"/>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5CC75A92-D208-B221-B5B7-8FBC5A3F445E}"/>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7B2407C5-D6C5-0819-4993-F69322377617}"/>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8019140C-4B7C-C6F8-89FF-8885904B2D5A}"/>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4C07CC70-4430-0176-D9D8-B90B31DC45A3}"/>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相关性分析应用方式</a:t>
            </a:r>
          </a:p>
        </p:txBody>
      </p:sp>
      <p:sp>
        <p:nvSpPr>
          <p:cNvPr id="39" name="矩形 38">
            <a:extLst>
              <a:ext uri="{FF2B5EF4-FFF2-40B4-BE49-F238E27FC236}">
                <a16:creationId xmlns:a16="http://schemas.microsoft.com/office/drawing/2014/main" id="{DF3BAD49-CA39-6772-7258-0346624FC002}"/>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7D39A622-7DA9-9DFE-5405-4E949A5BBB57}"/>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F37C1184-29DB-A95D-2584-54CC549253DC}"/>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E123BF1C-E523-495B-7990-73915A255EE3}"/>
              </a:ext>
            </a:extLst>
          </p:cNvPr>
          <p:cNvSpPr/>
          <p:nvPr/>
        </p:nvSpPr>
        <p:spPr>
          <a:xfrm>
            <a:off x="3161214" y="3429000"/>
            <a:ext cx="8274761" cy="2940252"/>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a:extLst>
              <a:ext uri="{FF2B5EF4-FFF2-40B4-BE49-F238E27FC236}">
                <a16:creationId xmlns:a16="http://schemas.microsoft.com/office/drawing/2014/main" id="{83995DAD-FAE8-F4FA-5172-C416DAE3219E}"/>
              </a:ext>
            </a:extLst>
          </p:cNvPr>
          <p:cNvSpPr/>
          <p:nvPr/>
        </p:nvSpPr>
        <p:spPr>
          <a:xfrm>
            <a:off x="2960247" y="381837"/>
            <a:ext cx="8274761" cy="1678732"/>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307651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66E385C0-46B6-47D9-AA11-521F386398EE}"/>
              </a:ext>
            </a:extLst>
          </p:cNvPr>
          <p:cNvSpPr txBox="1"/>
          <p:nvPr/>
        </p:nvSpPr>
        <p:spPr>
          <a:xfrm>
            <a:off x="308748" y="944284"/>
            <a:ext cx="11595769" cy="1081643"/>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dirty="0">
                <a:latin typeface="Times New Roman" panose="02020603050405020304" pitchFamily="18" charset="0"/>
                <a:sym typeface="Times New Roman" panose="02020603050405020304" pitchFamily="18" charset="0"/>
              </a:rPr>
              <a:t>甘肃省位于中国西北部，总面积约为 </a:t>
            </a:r>
            <a:r>
              <a:rPr lang="en-US" altLang="zh-CN" dirty="0">
                <a:latin typeface="Times New Roman" panose="02020603050405020304" pitchFamily="18" charset="0"/>
                <a:sym typeface="Times New Roman" panose="02020603050405020304" pitchFamily="18" charset="0"/>
              </a:rPr>
              <a:t>454000km</a:t>
            </a:r>
            <a:r>
              <a:rPr lang="en-US" altLang="zh-CN" baseline="30000" dirty="0">
                <a:latin typeface="Times New Roman" panose="02020603050405020304" pitchFamily="18" charset="0"/>
                <a:sym typeface="Times New Roman" panose="02020603050405020304" pitchFamily="18" charset="0"/>
              </a:rPr>
              <a:t>2</a:t>
            </a:r>
            <a:r>
              <a:rPr lang="zh-CN" altLang="en-US" dirty="0">
                <a:latin typeface="Times New Roman" panose="02020603050405020304" pitchFamily="18" charset="0"/>
                <a:sym typeface="Times New Roman" panose="02020603050405020304" pitchFamily="18" charset="0"/>
              </a:rPr>
              <a:t>，占全国总面积的 </a:t>
            </a:r>
            <a:r>
              <a:rPr lang="en-US" altLang="zh-CN" dirty="0">
                <a:latin typeface="Times New Roman" panose="02020603050405020304" pitchFamily="18" charset="0"/>
                <a:sym typeface="Times New Roman" panose="02020603050405020304" pitchFamily="18" charset="0"/>
              </a:rPr>
              <a:t>4.7%</a:t>
            </a:r>
            <a:r>
              <a:rPr lang="zh-CN" altLang="en-US" dirty="0">
                <a:latin typeface="Times New Roman" panose="02020603050405020304" pitchFamily="18" charset="0"/>
                <a:sym typeface="Times New Roman" panose="02020603050405020304" pitchFamily="18" charset="0"/>
              </a:rPr>
              <a:t>。</a:t>
            </a:r>
          </a:p>
          <a:p>
            <a:pPr lvl="0">
              <a:defRPr/>
            </a:pPr>
            <a:r>
              <a:rPr lang="zh-CN" altLang="en-US" dirty="0">
                <a:latin typeface="Times New Roman" panose="02020603050405020304" pitchFamily="18" charset="0"/>
                <a:sym typeface="Times New Roman" panose="02020603050405020304" pitchFamily="18" charset="0"/>
              </a:rPr>
              <a:t>总面积约为 </a:t>
            </a:r>
            <a:r>
              <a:rPr lang="en-US" altLang="zh-CN" dirty="0">
                <a:latin typeface="Times New Roman" panose="02020603050405020304" pitchFamily="18" charset="0"/>
                <a:sym typeface="Times New Roman" panose="02020603050405020304" pitchFamily="18" charset="0"/>
              </a:rPr>
              <a:t>454000km2</a:t>
            </a:r>
            <a:r>
              <a:rPr lang="zh-CN" altLang="en-US" dirty="0">
                <a:latin typeface="Times New Roman" panose="02020603050405020304" pitchFamily="18" charset="0"/>
                <a:sym typeface="Times New Roman" panose="02020603050405020304" pitchFamily="18" charset="0"/>
              </a:rPr>
              <a:t>，占全国总面积的 </a:t>
            </a:r>
            <a:r>
              <a:rPr lang="en-US" altLang="zh-CN" dirty="0">
                <a:latin typeface="Times New Roman" panose="02020603050405020304" pitchFamily="18" charset="0"/>
                <a:sym typeface="Times New Roman" panose="02020603050405020304" pitchFamily="18" charset="0"/>
              </a:rPr>
              <a:t>4.7%</a:t>
            </a:r>
            <a:r>
              <a:rPr lang="zh-CN" altLang="en-US" dirty="0">
                <a:latin typeface="Times New Roman" panose="02020603050405020304" pitchFamily="18" charset="0"/>
                <a:sym typeface="Times New Roman" panose="02020603050405020304" pitchFamily="18" charset="0"/>
              </a:rPr>
              <a:t>。</a:t>
            </a:r>
            <a:endParaRPr lang="en-US" altLang="zh-CN" dirty="0">
              <a:solidFill>
                <a:srgbClr val="C00000"/>
              </a:solidFill>
              <a:latin typeface="Times New Roman" panose="02020603050405020304" pitchFamily="18" charset="0"/>
              <a:sym typeface="Times New Roman" panose="02020603050405020304" pitchFamily="18" charset="0"/>
            </a:endParaRPr>
          </a:p>
        </p:txBody>
      </p:sp>
      <p:sp>
        <p:nvSpPr>
          <p:cNvPr id="59" name="灯片编号占位符 3">
            <a:extLst>
              <a:ext uri="{FF2B5EF4-FFF2-40B4-BE49-F238E27FC236}">
                <a16:creationId xmlns:a16="http://schemas.microsoft.com/office/drawing/2014/main" id="{65FB6339-72B3-4D19-B15A-3549C38402FE}"/>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62" name="平行四边形 61">
            <a:extLst>
              <a:ext uri="{FF2B5EF4-FFF2-40B4-BE49-F238E27FC236}">
                <a16:creationId xmlns:a16="http://schemas.microsoft.com/office/drawing/2014/main" id="{BC26353B-BA58-428C-B648-8E0401A63A99}"/>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3" name="组合 62">
            <a:extLst>
              <a:ext uri="{FF2B5EF4-FFF2-40B4-BE49-F238E27FC236}">
                <a16:creationId xmlns:a16="http://schemas.microsoft.com/office/drawing/2014/main" id="{9165285A-6DDA-4204-8FD4-2BCD23EC3978}"/>
              </a:ext>
            </a:extLst>
          </p:cNvPr>
          <p:cNvGrpSpPr/>
          <p:nvPr/>
        </p:nvGrpSpPr>
        <p:grpSpPr>
          <a:xfrm>
            <a:off x="-53106" y="0"/>
            <a:ext cx="963271" cy="1033814"/>
            <a:chOff x="-51603" y="0"/>
            <a:chExt cx="1084083" cy="1219009"/>
          </a:xfrm>
        </p:grpSpPr>
        <p:sp>
          <p:nvSpPr>
            <p:cNvPr id="64" name="Freeform 7">
              <a:extLst>
                <a:ext uri="{FF2B5EF4-FFF2-40B4-BE49-F238E27FC236}">
                  <a16:creationId xmlns:a16="http://schemas.microsoft.com/office/drawing/2014/main" id="{ECC5B651-37DC-4C4D-8C15-9BDBC38A7ED1}"/>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 name="Freeform 8">
              <a:extLst>
                <a:ext uri="{FF2B5EF4-FFF2-40B4-BE49-F238E27FC236}">
                  <a16:creationId xmlns:a16="http://schemas.microsoft.com/office/drawing/2014/main" id="{DB5B96F3-1690-4433-94B9-F8E5727054E2}"/>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文本框 73">
              <a:extLst>
                <a:ext uri="{FF2B5EF4-FFF2-40B4-BE49-F238E27FC236}">
                  <a16:creationId xmlns:a16="http://schemas.microsoft.com/office/drawing/2014/main" id="{75619FC7-1EFC-40A2-9453-1A2035FC7DAB}"/>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2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二</a:t>
              </a:r>
              <a:endPar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75" name="平行四边形 74">
            <a:extLst>
              <a:ext uri="{FF2B5EF4-FFF2-40B4-BE49-F238E27FC236}">
                <a16:creationId xmlns:a16="http://schemas.microsoft.com/office/drawing/2014/main" id="{D007D02F-9988-4DD1-BCDE-62FC3ACDE0E3}"/>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3" name="矩形 52">
            <a:extLst>
              <a:ext uri="{FF2B5EF4-FFF2-40B4-BE49-F238E27FC236}">
                <a16:creationId xmlns:a16="http://schemas.microsoft.com/office/drawing/2014/main" id="{FED7DDB8-61E6-44F0-86FE-D245F1B54072}"/>
              </a:ext>
            </a:extLst>
          </p:cNvPr>
          <p:cNvSpPr/>
          <p:nvPr/>
        </p:nvSpPr>
        <p:spPr>
          <a:xfrm>
            <a:off x="566665" y="1629979"/>
            <a:ext cx="10959028" cy="3541876"/>
          </a:xfrm>
          <a:prstGeom prst="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5" name="文本框 54">
            <a:extLst>
              <a:ext uri="{FF2B5EF4-FFF2-40B4-BE49-F238E27FC236}">
                <a16:creationId xmlns:a16="http://schemas.microsoft.com/office/drawing/2014/main" id="{4BDB87B8-B2E5-4281-BFEB-5AC32A45AD9B}"/>
              </a:ext>
            </a:extLst>
          </p:cNvPr>
          <p:cNvSpPr txBox="1"/>
          <p:nvPr/>
        </p:nvSpPr>
        <p:spPr>
          <a:xfrm>
            <a:off x="188247" y="1496811"/>
            <a:ext cx="11765878" cy="605137"/>
          </a:xfrm>
          <a:prstGeom prst="roundRect">
            <a:avLst/>
          </a:prstGeom>
          <a:solidFill>
            <a:srgbClr val="0066CC"/>
          </a:solidFill>
          <a:ln w="15875" cap="flat" cmpd="sng" algn="ctr">
            <a:solidFill>
              <a:sysClr val="window" lastClr="FFFFFF"/>
            </a:solidFill>
            <a:prstDash val="solid"/>
            <a:miter lim="800000"/>
          </a:ln>
          <a:effectLst>
            <a:outerShdw blurRad="127000" dir="5400000" algn="ctr" rotWithShape="0">
              <a:srgbClr val="0575E6">
                <a:alpha val="30000"/>
              </a:srgbClr>
            </a:outerShdw>
          </a:effectLst>
        </p:spPr>
        <p:txBody>
          <a:bodyPr lIns="0" tIns="45720" rIns="0" bIns="45720" rtlCol="0" anchor="ctr"/>
          <a:lstStyle>
            <a:defPPr>
              <a:defRPr lang="zh-CN"/>
            </a:defPPr>
            <a:lvl1pPr marR="0" lvl="0" indent="0" algn="ctr" fontAlgn="auto">
              <a:lnSpc>
                <a:spcPct val="100000"/>
              </a:lnSpc>
              <a:spcBef>
                <a:spcPts val="0"/>
              </a:spcBef>
              <a:spcAft>
                <a:spcPts val="0"/>
              </a:spcAft>
              <a:buClrTx/>
              <a:buSzTx/>
              <a:buFontTx/>
              <a:buNone/>
              <a:tabLst/>
              <a:defRPr kumimoji="0" sz="2000" b="1" i="0" u="none" strike="noStrike" kern="0"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研究区域示意图 </a:t>
            </a:r>
          </a:p>
        </p:txBody>
      </p:sp>
      <p:grpSp>
        <p:nvGrpSpPr>
          <p:cNvPr id="8" name="组合 7">
            <a:extLst>
              <a:ext uri="{FF2B5EF4-FFF2-40B4-BE49-F238E27FC236}">
                <a16:creationId xmlns:a16="http://schemas.microsoft.com/office/drawing/2014/main" id="{F9D3851D-DB51-4E71-ABC5-FAC6F2DC1B76}"/>
              </a:ext>
            </a:extLst>
          </p:cNvPr>
          <p:cNvGrpSpPr/>
          <p:nvPr/>
        </p:nvGrpSpPr>
        <p:grpSpPr>
          <a:xfrm>
            <a:off x="188247" y="4880344"/>
            <a:ext cx="11815507" cy="1891444"/>
            <a:chOff x="78377" y="1509295"/>
            <a:chExt cx="11815507" cy="2752756"/>
          </a:xfrm>
        </p:grpSpPr>
        <p:sp>
          <p:nvSpPr>
            <p:cNvPr id="65" name="矩形 64">
              <a:extLst>
                <a:ext uri="{FF2B5EF4-FFF2-40B4-BE49-F238E27FC236}">
                  <a16:creationId xmlns:a16="http://schemas.microsoft.com/office/drawing/2014/main" id="{4AC2C102-69C0-47E5-A76D-3F90327F28A4}"/>
                </a:ext>
              </a:extLst>
            </p:cNvPr>
            <p:cNvSpPr/>
            <p:nvPr/>
          </p:nvSpPr>
          <p:spPr>
            <a:xfrm>
              <a:off x="78377" y="1509295"/>
              <a:ext cx="11815507" cy="2752756"/>
            </a:xfrm>
            <a:prstGeom prst="rect">
              <a:avLst/>
            </a:prstGeom>
            <a:solidFill>
              <a:schemeClr val="bg1"/>
            </a:solidFill>
            <a:ln>
              <a:noFill/>
            </a:ln>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F536895E-3CB2-49C6-BB19-53C957123677}"/>
                </a:ext>
              </a:extLst>
            </p:cNvPr>
            <p:cNvSpPr txBox="1"/>
            <p:nvPr/>
          </p:nvSpPr>
          <p:spPr>
            <a:xfrm>
              <a:off x="1022809" y="1568088"/>
              <a:ext cx="10708747" cy="2639799"/>
            </a:xfrm>
            <a:prstGeom prst="rect">
              <a:avLst/>
            </a:prstGeom>
            <a:noFill/>
          </p:spPr>
          <p:txBody>
            <a:bodyPr wrap="square">
              <a:spAutoFit/>
            </a:bodyPr>
            <a:lstStyle/>
            <a:p>
              <a:pPr marL="0" marR="0" lvl="0" indent="0" algn="l" defTabSz="914400" rtl="0" eaLnBrk="1" fontAlgn="base"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甘肃省的特殊情况</a:t>
              </a:r>
              <a:endParaRPr kumimoji="0"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3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甘肃省的气候特征为大陆性季风气候，冬季寒冷漫长，夏季温暖短暂</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3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土地利用类型</a:t>
              </a:r>
              <a:endParaRPr kumimoji="0"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3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拥有多样的土地利用类型，包括裸地、草地、林地和农田。</a:t>
              </a:r>
            </a:p>
          </p:txBody>
        </p:sp>
        <p:sp>
          <p:nvSpPr>
            <p:cNvPr id="73" name="箭头: 五边形 72">
              <a:extLst>
                <a:ext uri="{FF2B5EF4-FFF2-40B4-BE49-F238E27FC236}">
                  <a16:creationId xmlns:a16="http://schemas.microsoft.com/office/drawing/2014/main" id="{B80713FD-FBD2-4A5D-BB6E-18E3D486484B}"/>
                </a:ext>
              </a:extLst>
            </p:cNvPr>
            <p:cNvSpPr/>
            <p:nvPr/>
          </p:nvSpPr>
          <p:spPr>
            <a:xfrm>
              <a:off x="177633" y="1771026"/>
              <a:ext cx="845178" cy="382462"/>
            </a:xfrm>
            <a:prstGeom prst="homePlate">
              <a:avLst/>
            </a:prstGeom>
            <a:gradFill flip="none" rotWithShape="1">
              <a:gsLst>
                <a:gs pos="0">
                  <a:schemeClr val="accent5">
                    <a:lumMod val="0"/>
                    <a:lumOff val="100000"/>
                  </a:schemeClr>
                </a:gs>
                <a:gs pos="29000">
                  <a:srgbClr val="D1E1EF"/>
                </a:gs>
                <a:gs pos="52000">
                  <a:srgbClr val="97BBDB"/>
                </a:gs>
                <a:gs pos="76000">
                  <a:schemeClr val="accent5">
                    <a:lumMod val="75000"/>
                  </a:schemeClr>
                </a:gs>
                <a:gs pos="100000">
                  <a:schemeClr val="accent5">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箭头: 五边形 75">
              <a:extLst>
                <a:ext uri="{FF2B5EF4-FFF2-40B4-BE49-F238E27FC236}">
                  <a16:creationId xmlns:a16="http://schemas.microsoft.com/office/drawing/2014/main" id="{73733B5D-D8CE-4B1F-8189-0A2D95CDC57C}"/>
                </a:ext>
              </a:extLst>
            </p:cNvPr>
            <p:cNvSpPr/>
            <p:nvPr/>
          </p:nvSpPr>
          <p:spPr>
            <a:xfrm>
              <a:off x="177633" y="3058068"/>
              <a:ext cx="845178" cy="382462"/>
            </a:xfrm>
            <a:prstGeom prst="homePlate">
              <a:avLst/>
            </a:prstGeom>
            <a:gradFill flip="none" rotWithShape="1">
              <a:gsLst>
                <a:gs pos="0">
                  <a:schemeClr val="accent5">
                    <a:lumMod val="0"/>
                    <a:lumOff val="100000"/>
                  </a:schemeClr>
                </a:gs>
                <a:gs pos="29000">
                  <a:srgbClr val="D1E1EF"/>
                </a:gs>
                <a:gs pos="52000">
                  <a:srgbClr val="97BBDB"/>
                </a:gs>
                <a:gs pos="76000">
                  <a:schemeClr val="accent5">
                    <a:lumMod val="75000"/>
                  </a:schemeClr>
                </a:gs>
                <a:gs pos="100000">
                  <a:schemeClr val="accent5">
                    <a:lumMod val="5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文本框 20">
            <a:extLst>
              <a:ext uri="{FF2B5EF4-FFF2-40B4-BE49-F238E27FC236}">
                <a16:creationId xmlns:a16="http://schemas.microsoft.com/office/drawing/2014/main" id="{4CE583F6-5ABE-48A1-9E71-2EE351DC02A1}"/>
              </a:ext>
            </a:extLst>
          </p:cNvPr>
          <p:cNvSpPr txBox="1"/>
          <p:nvPr/>
        </p:nvSpPr>
        <p:spPr>
          <a:xfrm>
            <a:off x="1061390" y="-67577"/>
            <a:ext cx="274320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lvl="0" indent="-571500" defTabSz="457200">
              <a:lnSpc>
                <a:spcPct val="150000"/>
              </a:lnSpc>
              <a:buFont typeface="Wingdings" panose="05000000000000000000" pitchFamily="2" charset="2"/>
              <a:buChar char="l"/>
              <a:defRPr/>
            </a:pPr>
            <a:r>
              <a:rPr lang="zh-CN" altLang="en-US" sz="3800" kern="0" dirty="0">
                <a:solidFill>
                  <a:srgbClr val="0066CC"/>
                </a:solidFill>
                <a:latin typeface="Times New Roman" panose="02020603050405020304" pitchFamily="18" charset="0"/>
                <a:ea typeface="微软雅黑" panose="020B0503020204020204" pitchFamily="34" charset="-122"/>
                <a:sym typeface="Times New Roman" panose="02020603050405020304" pitchFamily="18" charset="0"/>
              </a:rPr>
              <a:t>研究背景</a:t>
            </a:r>
          </a:p>
        </p:txBody>
      </p:sp>
      <p:pic>
        <p:nvPicPr>
          <p:cNvPr id="3" name="图片 2">
            <a:extLst>
              <a:ext uri="{FF2B5EF4-FFF2-40B4-BE49-F238E27FC236}">
                <a16:creationId xmlns:a16="http://schemas.microsoft.com/office/drawing/2014/main" id="{F72A049D-FA1C-5E55-5321-62A3D6C1409F}"/>
              </a:ext>
            </a:extLst>
          </p:cNvPr>
          <p:cNvPicPr>
            <a:picLocks noChangeAspect="1"/>
          </p:cNvPicPr>
          <p:nvPr/>
        </p:nvPicPr>
        <p:blipFill>
          <a:blip r:embed="rId3"/>
          <a:stretch>
            <a:fillRect/>
          </a:stretch>
        </p:blipFill>
        <p:spPr>
          <a:xfrm>
            <a:off x="1545800" y="2105250"/>
            <a:ext cx="9121664" cy="2815491"/>
          </a:xfrm>
          <a:prstGeom prst="rect">
            <a:avLst/>
          </a:prstGeom>
        </p:spPr>
      </p:pic>
    </p:spTree>
    <p:extLst>
      <p:ext uri="{BB962C8B-B14F-4D97-AF65-F5344CB8AC3E}">
        <p14:creationId xmlns:p14="http://schemas.microsoft.com/office/powerpoint/2010/main" val="3324892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66E385C0-46B6-47D9-AA11-521F386398EE}"/>
              </a:ext>
            </a:extLst>
          </p:cNvPr>
          <p:cNvSpPr txBox="1"/>
          <p:nvPr/>
        </p:nvSpPr>
        <p:spPr>
          <a:xfrm>
            <a:off x="298115" y="944284"/>
            <a:ext cx="11595769" cy="1081643"/>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dirty="0"/>
              <a:t>在研究植被覆盖度与气候因子之间的关系时，需要分析两个变量之间的线性关系。</a:t>
            </a:r>
          </a:p>
        </p:txBody>
      </p:sp>
      <p:sp>
        <p:nvSpPr>
          <p:cNvPr id="59" name="灯片编号占位符 3">
            <a:extLst>
              <a:ext uri="{FF2B5EF4-FFF2-40B4-BE49-F238E27FC236}">
                <a16:creationId xmlns:a16="http://schemas.microsoft.com/office/drawing/2014/main" id="{65FB6339-72B3-4D19-B15A-3549C38402FE}"/>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61" name="文本框 60">
            <a:extLst>
              <a:ext uri="{FF2B5EF4-FFF2-40B4-BE49-F238E27FC236}">
                <a16:creationId xmlns:a16="http://schemas.microsoft.com/office/drawing/2014/main" id="{8C32579A-9C75-4E3E-BBB6-F37DD3EF31D3}"/>
              </a:ext>
            </a:extLst>
          </p:cNvPr>
          <p:cNvSpPr txBox="1"/>
          <p:nvPr/>
        </p:nvSpPr>
        <p:spPr>
          <a:xfrm>
            <a:off x="1061389" y="-67577"/>
            <a:ext cx="5307273"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相关性分析应用背景</a:t>
            </a:r>
          </a:p>
        </p:txBody>
      </p:sp>
      <p:sp>
        <p:nvSpPr>
          <p:cNvPr id="62" name="平行四边形 61">
            <a:extLst>
              <a:ext uri="{FF2B5EF4-FFF2-40B4-BE49-F238E27FC236}">
                <a16:creationId xmlns:a16="http://schemas.microsoft.com/office/drawing/2014/main" id="{BC26353B-BA58-428C-B648-8E0401A63A99}"/>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3" name="组合 62">
            <a:extLst>
              <a:ext uri="{FF2B5EF4-FFF2-40B4-BE49-F238E27FC236}">
                <a16:creationId xmlns:a16="http://schemas.microsoft.com/office/drawing/2014/main" id="{9165285A-6DDA-4204-8FD4-2BCD23EC3978}"/>
              </a:ext>
            </a:extLst>
          </p:cNvPr>
          <p:cNvGrpSpPr/>
          <p:nvPr/>
        </p:nvGrpSpPr>
        <p:grpSpPr>
          <a:xfrm>
            <a:off x="-53106" y="0"/>
            <a:ext cx="963271" cy="1033814"/>
            <a:chOff x="-51603" y="0"/>
            <a:chExt cx="1084083" cy="1219009"/>
          </a:xfrm>
        </p:grpSpPr>
        <p:sp>
          <p:nvSpPr>
            <p:cNvPr id="64" name="Freeform 7">
              <a:extLst>
                <a:ext uri="{FF2B5EF4-FFF2-40B4-BE49-F238E27FC236}">
                  <a16:creationId xmlns:a16="http://schemas.microsoft.com/office/drawing/2014/main" id="{ECC5B651-37DC-4C4D-8C15-9BDBC38A7ED1}"/>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 name="Freeform 8">
              <a:extLst>
                <a:ext uri="{FF2B5EF4-FFF2-40B4-BE49-F238E27FC236}">
                  <a16:creationId xmlns:a16="http://schemas.microsoft.com/office/drawing/2014/main" id="{DB5B96F3-1690-4433-94B9-F8E5727054E2}"/>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 name="文本框 73">
              <a:extLst>
                <a:ext uri="{FF2B5EF4-FFF2-40B4-BE49-F238E27FC236}">
                  <a16:creationId xmlns:a16="http://schemas.microsoft.com/office/drawing/2014/main" id="{75619FC7-1EFC-40A2-9453-1A2035FC7DAB}"/>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二</a:t>
              </a:r>
            </a:p>
          </p:txBody>
        </p:sp>
      </p:grpSp>
      <p:sp>
        <p:nvSpPr>
          <p:cNvPr id="75" name="平行四边形 74">
            <a:extLst>
              <a:ext uri="{FF2B5EF4-FFF2-40B4-BE49-F238E27FC236}">
                <a16:creationId xmlns:a16="http://schemas.microsoft.com/office/drawing/2014/main" id="{D007D02F-9988-4DD1-BCDE-62FC3ACDE0E3}"/>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矩形 24">
            <a:extLst>
              <a:ext uri="{FF2B5EF4-FFF2-40B4-BE49-F238E27FC236}">
                <a16:creationId xmlns:a16="http://schemas.microsoft.com/office/drawing/2014/main" id="{4CCB2047-5968-4479-A1EC-0E37E8397790}"/>
              </a:ext>
            </a:extLst>
          </p:cNvPr>
          <p:cNvSpPr/>
          <p:nvPr/>
        </p:nvSpPr>
        <p:spPr>
          <a:xfrm>
            <a:off x="273627" y="2138549"/>
            <a:ext cx="11644746" cy="4594807"/>
          </a:xfrm>
          <a:prstGeom prst="rect">
            <a:avLst/>
          </a:prstGeom>
          <a:noFill/>
          <a:ln w="38100">
            <a:gradFill flip="none" rotWithShape="1">
              <a:gsLst>
                <a:gs pos="0">
                  <a:srgbClr val="0070C0">
                    <a:alpha val="19000"/>
                  </a:srgbClr>
                </a:gs>
                <a:gs pos="100000">
                  <a:schemeClr val="accent4">
                    <a:lumMod val="75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eaLnBrk="1" fontAlgn="auto" hangingPunct="1">
              <a:spcBef>
                <a:spcPts val="0"/>
              </a:spcBef>
              <a:spcAft>
                <a:spcPts val="0"/>
              </a:spcAft>
            </a:pPr>
            <a:endParaRPr lang="zh-CN" altLang="en-US" sz="1600">
              <a:solidFill>
                <a:prstClr val="white"/>
              </a:solidFill>
              <a:latin typeface="Calibri" panose="020F0502020204030204"/>
              <a:ea typeface="等线" panose="02010600030101010101" pitchFamily="2" charset="-122"/>
            </a:endParaRPr>
          </a:p>
        </p:txBody>
      </p:sp>
      <p:sp>
        <p:nvSpPr>
          <p:cNvPr id="32" name="文本框 31">
            <a:extLst>
              <a:ext uri="{FF2B5EF4-FFF2-40B4-BE49-F238E27FC236}">
                <a16:creationId xmlns:a16="http://schemas.microsoft.com/office/drawing/2014/main" id="{E0406104-2BA5-4D5C-8041-BF1E842B502D}"/>
              </a:ext>
            </a:extLst>
          </p:cNvPr>
          <p:cNvSpPr txBox="1">
            <a:spLocks/>
          </p:cNvSpPr>
          <p:nvPr/>
        </p:nvSpPr>
        <p:spPr>
          <a:xfrm>
            <a:off x="154004" y="1978655"/>
            <a:ext cx="11871742" cy="919401"/>
          </a:xfrm>
          <a:prstGeom prst="roundRect">
            <a:avLst/>
          </a:prstGeom>
          <a:gradFill flip="none" rotWithShape="1">
            <a:gsLst>
              <a:gs pos="71000">
                <a:sysClr val="window" lastClr="FFFFFF">
                  <a:lumMod val="95000"/>
                </a:sysClr>
              </a:gs>
              <a:gs pos="100000">
                <a:srgbClr val="5B9BD5">
                  <a:lumMod val="0"/>
                  <a:lumOff val="100000"/>
                </a:srgbClr>
              </a:gs>
              <a:gs pos="0">
                <a:srgbClr val="4472C4">
                  <a:lumMod val="20000"/>
                  <a:lumOff val="80000"/>
                </a:srgbClr>
              </a:gs>
            </a:gsLst>
            <a:path path="circle">
              <a:fillToRect l="50000" t="50000" r="50000" b="50000"/>
            </a:path>
            <a:tileRect/>
          </a:gradFill>
          <a:effectLst>
            <a:outerShdw blurRad="50800" dist="38100" dir="5400000" algn="t" rotWithShape="0">
              <a:prstClr val="black">
                <a:alpha val="40000"/>
              </a:prstClr>
            </a:outerShdw>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sym typeface="Times New Roman" panose="02020603050405020304" pitchFamily="18" charset="0"/>
              </a:rPr>
              <a:t>Pearson </a:t>
            </a:r>
            <a:r>
              <a:rPr kumimoji="0" lang="zh-CN" altLang="en-US" sz="2400" b="1" i="0" u="none" strike="noStrike" kern="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sym typeface="Times New Roman" panose="02020603050405020304" pitchFamily="18" charset="0"/>
              </a:rPr>
              <a:t>相关系数是衡量两个数据集之间相关性大小和方向的常用指标，在生态学、气象学等领域的相关性分析中广泛应用。</a:t>
            </a:r>
          </a:p>
        </p:txBody>
      </p:sp>
      <p:sp>
        <p:nvSpPr>
          <p:cNvPr id="33" name="AutoShape 3">
            <a:extLst>
              <a:ext uri="{FF2B5EF4-FFF2-40B4-BE49-F238E27FC236}">
                <a16:creationId xmlns:a16="http://schemas.microsoft.com/office/drawing/2014/main" id="{CA3502B5-FD97-40AA-9C29-22F2E142FA22}"/>
              </a:ext>
            </a:extLst>
          </p:cNvPr>
          <p:cNvSpPr>
            <a:spLocks noChangeArrowheads="1"/>
          </p:cNvSpPr>
          <p:nvPr/>
        </p:nvSpPr>
        <p:spPr bwMode="auto">
          <a:xfrm>
            <a:off x="6368663" y="2978319"/>
            <a:ext cx="5407459" cy="1991728"/>
          </a:xfrm>
          <a:prstGeom prst="roundRect">
            <a:avLst>
              <a:gd name="adj" fmla="val 16667"/>
            </a:avLst>
          </a:prstGeom>
          <a:solidFill>
            <a:srgbClr val="0070C0"/>
          </a:solidFill>
          <a:ln w="19050" algn="ctr">
            <a:solidFill>
              <a:sysClr val="window" lastClr="FFFFFF"/>
            </a:solidFill>
            <a:prstDash val="solid"/>
            <a:roun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
                <a:srgbClr val="C00000"/>
              </a:buClr>
              <a:buSzTx/>
              <a:buFontTx/>
              <a:buNone/>
              <a:tabLst/>
              <a:defRPr/>
            </a:pPr>
            <a:r>
              <a:rPr kumimoji="0" lang="zh-CN" altLang="en-US" sz="2000" b="1" i="0" u="none" strike="noStrike" kern="0" cap="none" spc="0" normalizeH="0" baseline="0" noProof="0" dirty="0">
                <a:ln>
                  <a:noFill/>
                </a:ln>
                <a:solidFill>
                  <a:prstClr val="white"/>
                </a:solidFill>
                <a:effectLst/>
                <a:uLnTx/>
                <a:uFillTx/>
                <a:latin typeface="Times New Roman" panose="02020603050405020304" pitchFamily="18" charset="0"/>
                <a:sym typeface="Times New Roman" panose="02020603050405020304" pitchFamily="18" charset="0"/>
              </a:rPr>
              <a:t>在植被覆盖度时空变化研究中，需要识别影响植被覆盖变化的关键因素，以便更好地理解其变化机制并为生态保护政策提供依据。相关性分析能够量化不同变量之间的线性关系强度和方向，适用于探讨植被覆盖度与气候因子等潜在影响因素之间的关系。</a:t>
            </a:r>
          </a:p>
        </p:txBody>
      </p:sp>
      <p:sp>
        <p:nvSpPr>
          <p:cNvPr id="34" name="文本框 33">
            <a:extLst>
              <a:ext uri="{FF2B5EF4-FFF2-40B4-BE49-F238E27FC236}">
                <a16:creationId xmlns:a16="http://schemas.microsoft.com/office/drawing/2014/main" id="{3ADF1FE8-21F5-4A6E-A292-2DC9B134CD25}"/>
              </a:ext>
            </a:extLst>
          </p:cNvPr>
          <p:cNvSpPr txBox="1">
            <a:spLocks/>
          </p:cNvSpPr>
          <p:nvPr/>
        </p:nvSpPr>
        <p:spPr>
          <a:xfrm>
            <a:off x="415877" y="3636138"/>
            <a:ext cx="4990493" cy="715089"/>
          </a:xfrm>
          <a:prstGeom prst="roundRect">
            <a:avLst/>
          </a:prstGeom>
          <a:solidFill>
            <a:sysClr val="window" lastClr="FFFFFF"/>
          </a:solidFill>
          <a:ln>
            <a:solidFill>
              <a:sysClr val="window" lastClr="FFFFFF"/>
            </a:solidFill>
          </a:ln>
          <a:effectLst>
            <a:outerShdw blurRad="50800" dist="38100" dir="2700000" algn="tl" rotWithShape="0">
              <a:prstClr val="black">
                <a:alpha val="40000"/>
              </a:prstClr>
            </a:outerShdw>
          </a:effectLst>
        </p:spPr>
        <p:txBody>
          <a:bodyPr wrap="square" rtlCol="0" anchor="ctr">
            <a:noAutofit/>
          </a:bodyPr>
          <a:lstStyle/>
          <a:p>
            <a:pPr marL="285750" marR="0" lvl="0" indent="-285750" algn="ctr" defTabSz="914400" eaLnBrk="1" fontAlgn="auto" latinLnBrk="0" hangingPunct="1">
              <a:lnSpc>
                <a:spcPct val="120000"/>
              </a:lnSpc>
              <a:spcBef>
                <a:spcPts val="0"/>
              </a:spcBef>
              <a:spcAft>
                <a:spcPts val="0"/>
              </a:spcAft>
              <a:buClrTx/>
              <a:buSzTx/>
              <a:buFont typeface="Wingdings" panose="05000000000000000000" pitchFamily="2" charset="2"/>
              <a:buChar char="l"/>
              <a:tabLst/>
              <a:defRPr/>
            </a:pPr>
            <a:r>
              <a:rPr kumimoji="0" lang="zh-CN" altLang="en-US" sz="2400" b="1" i="0" u="none" strike="noStrike" kern="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sym typeface="Times New Roman" panose="02020603050405020304" pitchFamily="18" charset="0"/>
              </a:rPr>
              <a:t>植被覆盖变化研究的需求 ：</a:t>
            </a:r>
          </a:p>
        </p:txBody>
      </p:sp>
      <p:sp>
        <p:nvSpPr>
          <p:cNvPr id="35" name="箭头: 右 34">
            <a:extLst>
              <a:ext uri="{FF2B5EF4-FFF2-40B4-BE49-F238E27FC236}">
                <a16:creationId xmlns:a16="http://schemas.microsoft.com/office/drawing/2014/main" id="{DB782A0E-D289-4A3B-85A8-1924B9E73716}"/>
              </a:ext>
            </a:extLst>
          </p:cNvPr>
          <p:cNvSpPr>
            <a:spLocks/>
          </p:cNvSpPr>
          <p:nvPr/>
        </p:nvSpPr>
        <p:spPr>
          <a:xfrm>
            <a:off x="5551200" y="3791473"/>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sp>
        <p:nvSpPr>
          <p:cNvPr id="36" name="AutoShape 3">
            <a:extLst>
              <a:ext uri="{FF2B5EF4-FFF2-40B4-BE49-F238E27FC236}">
                <a16:creationId xmlns:a16="http://schemas.microsoft.com/office/drawing/2014/main" id="{BB83D6B4-4C00-4D1F-99B5-5662A25D0678}"/>
              </a:ext>
            </a:extLst>
          </p:cNvPr>
          <p:cNvSpPr>
            <a:spLocks noChangeArrowheads="1"/>
          </p:cNvSpPr>
          <p:nvPr/>
        </p:nvSpPr>
        <p:spPr bwMode="auto">
          <a:xfrm>
            <a:off x="6368662" y="5036133"/>
            <a:ext cx="5407459" cy="1351212"/>
          </a:xfrm>
          <a:prstGeom prst="roundRect">
            <a:avLst>
              <a:gd name="adj" fmla="val 16667"/>
            </a:avLst>
          </a:prstGeom>
          <a:solidFill>
            <a:srgbClr val="0070C0"/>
          </a:solidFill>
          <a:ln w="19050" algn="ctr">
            <a:solidFill>
              <a:sysClr val="window" lastClr="FFFFFF"/>
            </a:solidFill>
            <a:prstDash val="solid"/>
            <a:round/>
          </a:ln>
          <a:effectLst>
            <a:outerShdw blurRad="50800" dist="38100" dir="2700000" algn="tl" rotWithShape="0">
              <a:prstClr val="black">
                <a:alpha val="40000"/>
              </a:prstClr>
            </a:outerShdw>
          </a:effectLst>
        </p:spPr>
        <p:txBody>
          <a:bodyPr anchor="ctr"/>
          <a:lstStyle/>
          <a:p>
            <a:pPr marL="0" marR="0" lvl="0" indent="0" algn="ctr" defTabSz="914400" eaLnBrk="1" fontAlgn="auto" latinLnBrk="0" hangingPunct="1">
              <a:lnSpc>
                <a:spcPct val="100000"/>
              </a:lnSpc>
              <a:spcBef>
                <a:spcPts val="0"/>
              </a:spcBef>
              <a:spcAft>
                <a:spcPts val="0"/>
              </a:spcAft>
              <a:buClr>
                <a:srgbClr val="C00000"/>
              </a:buClr>
              <a:buSzTx/>
              <a:buFontTx/>
              <a:buNone/>
              <a:tabLst/>
              <a:defRPr/>
            </a:pPr>
            <a:r>
              <a:rPr kumimoji="0" lang="zh-CN" altLang="en-US" sz="2000" b="1" i="0" u="none" strike="noStrike" kern="0" cap="none" spc="0" normalizeH="0" baseline="0" noProof="0" dirty="0">
                <a:ln>
                  <a:noFill/>
                </a:ln>
                <a:solidFill>
                  <a:prstClr val="white"/>
                </a:solidFill>
                <a:effectLst/>
                <a:uLnTx/>
                <a:uFillTx/>
                <a:latin typeface="Times New Roman" panose="02020603050405020304" pitchFamily="18" charset="0"/>
                <a:sym typeface="Times New Roman" panose="02020603050405020304" pitchFamily="18" charset="0"/>
              </a:rPr>
              <a:t>甘肃省长时间序列的植被覆盖度数据和气候数据为相关性分析提供了丰富的样本，使得能够通过该方法挖掘数据中隐藏的关联信息，揭示植被覆盖变化的主要驱动因素。</a:t>
            </a:r>
          </a:p>
        </p:txBody>
      </p:sp>
      <p:sp>
        <p:nvSpPr>
          <p:cNvPr id="38" name="箭头: 右 37">
            <a:extLst>
              <a:ext uri="{FF2B5EF4-FFF2-40B4-BE49-F238E27FC236}">
                <a16:creationId xmlns:a16="http://schemas.microsoft.com/office/drawing/2014/main" id="{C720A657-D9CD-459E-85FA-C35F9803ACB1}"/>
              </a:ext>
            </a:extLst>
          </p:cNvPr>
          <p:cNvSpPr>
            <a:spLocks/>
          </p:cNvSpPr>
          <p:nvPr/>
        </p:nvSpPr>
        <p:spPr>
          <a:xfrm>
            <a:off x="5551200" y="5529028"/>
            <a:ext cx="567315" cy="365420"/>
          </a:xfrm>
          <a:prstGeom prst="rightArrow">
            <a:avLst>
              <a:gd name="adj1" fmla="val 50000"/>
              <a:gd name="adj2" fmla="val 62225"/>
            </a:avLst>
          </a:prstGeom>
          <a:gradFill flip="none" rotWithShape="1">
            <a:gsLst>
              <a:gs pos="8426">
                <a:srgbClr val="DBE2EE"/>
              </a:gs>
              <a:gs pos="22000">
                <a:srgbClr val="A2B3D3"/>
              </a:gs>
              <a:gs pos="73000">
                <a:srgbClr val="385EA2"/>
              </a:gs>
              <a:gs pos="0">
                <a:sysClr val="window" lastClr="FFFFFF">
                  <a:alpha val="62000"/>
                </a:sysClr>
              </a:gs>
            </a:gsLst>
            <a:lin ang="0" scaled="1"/>
            <a:tileRect/>
          </a:gradFill>
          <a:ln w="25400" cap="flat" cmpd="sng" algn="ctr">
            <a:solidFill>
              <a:sysClr val="window" lastClr="FFFFFF"/>
            </a:solidFill>
            <a:prstDash val="solid"/>
            <a:miter lim="800000"/>
          </a:ln>
          <a:effectLst>
            <a:outerShdw blurRad="190500" dist="38100" dir="2700000" algn="tl" rotWithShape="0">
              <a:prstClr val="black">
                <a:alpha val="2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ysClr val="window" lastClr="FFFFFF"/>
              </a:solidFill>
              <a:effectLst/>
              <a:uLnTx/>
              <a:uFillTx/>
              <a:latin typeface="Times New Roman" panose="02020603050405020304" pitchFamily="18" charset="0"/>
              <a:sym typeface="Times New Roman" panose="02020603050405020304" pitchFamily="18" charset="0"/>
            </a:endParaRPr>
          </a:p>
        </p:txBody>
      </p:sp>
      <p:sp>
        <p:nvSpPr>
          <p:cNvPr id="40" name="文本框 39">
            <a:extLst>
              <a:ext uri="{FF2B5EF4-FFF2-40B4-BE49-F238E27FC236}">
                <a16:creationId xmlns:a16="http://schemas.microsoft.com/office/drawing/2014/main" id="{5FE21C11-1135-47AC-A4AA-45B70EF5C42A}"/>
              </a:ext>
            </a:extLst>
          </p:cNvPr>
          <p:cNvSpPr txBox="1">
            <a:spLocks/>
          </p:cNvSpPr>
          <p:nvPr/>
        </p:nvSpPr>
        <p:spPr>
          <a:xfrm>
            <a:off x="415877" y="5441611"/>
            <a:ext cx="4990493" cy="540255"/>
          </a:xfrm>
          <a:prstGeom prst="roundRect">
            <a:avLst/>
          </a:prstGeom>
          <a:solidFill>
            <a:sysClr val="window" lastClr="FFFFFF"/>
          </a:solidFill>
          <a:effectLst>
            <a:outerShdw blurRad="50800" dist="38100" dir="2700000" algn="tl" rotWithShape="0">
              <a:prstClr val="black">
                <a:alpha val="40000"/>
              </a:prstClr>
            </a:outerShdw>
          </a:effectLst>
        </p:spPr>
        <p:txBody>
          <a:bodyPr wrap="square" rtlCol="0" anchor="ctr">
            <a:noAutofit/>
          </a:bodyPr>
          <a:lstStyle/>
          <a:p>
            <a:pPr marL="285750" marR="0" lvl="0" indent="-285750" algn="ctr" defTabSz="914400" eaLnBrk="1" fontAlgn="auto" latinLnBrk="0" hangingPunct="1">
              <a:lnSpc>
                <a:spcPct val="120000"/>
              </a:lnSpc>
              <a:spcBef>
                <a:spcPts val="0"/>
              </a:spcBef>
              <a:spcAft>
                <a:spcPts val="0"/>
              </a:spcAft>
              <a:buClrTx/>
              <a:buSzTx/>
              <a:buFont typeface="Wingdings" panose="05000000000000000000" pitchFamily="2" charset="2"/>
              <a:buChar char="l"/>
              <a:tabLst/>
              <a:defRPr/>
            </a:pPr>
            <a:r>
              <a:rPr kumimoji="0" lang="zh-CN" altLang="en-US" sz="2400" b="1" i="0" u="none" strike="noStrike" kern="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sym typeface="Times New Roman" panose="02020603050405020304" pitchFamily="18" charset="0"/>
              </a:rPr>
              <a:t>数据特点与优势</a:t>
            </a:r>
            <a:r>
              <a:rPr kumimoji="0" lang="en-US" altLang="zh-CN" sz="2400" b="1" i="0" u="none" strike="noStrike" kern="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sym typeface="Times New Roman" panose="02020603050405020304" pitchFamily="18" charset="0"/>
              </a:rPr>
              <a:t>:</a:t>
            </a:r>
            <a:endParaRPr kumimoji="0" lang="zh-CN" altLang="en-US" sz="2400" b="1" i="0" u="none" strike="noStrike" kern="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819508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9F0F0-0964-F721-2318-F6907A00B447}"/>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7707D71F-79E9-A6AC-EFAF-4EC9247A613E}"/>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2E3F86B5-4FFA-DEF4-465F-127E7FD54517}"/>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0CDFD7A7-DC0F-A698-3C68-AADF7730D982}"/>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BA3ECFDD-49D1-5C72-B24E-A122E060C3C1}"/>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相关性分析基本概念</a:t>
            </a:r>
          </a:p>
        </p:txBody>
      </p:sp>
      <p:sp>
        <p:nvSpPr>
          <p:cNvPr id="27" name="矩形 26">
            <a:extLst>
              <a:ext uri="{FF2B5EF4-FFF2-40B4-BE49-F238E27FC236}">
                <a16:creationId xmlns:a16="http://schemas.microsoft.com/office/drawing/2014/main" id="{08BED7CB-B3A0-E2A2-75EC-4BBD611927FA}"/>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86D22011-C654-1794-A71B-2E8F65498647}"/>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55E1EE66-5924-CD39-A0DA-DD1C7B78FF34}"/>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0F1BA5F0-6A6D-A015-A2E9-E3F5C9A0C331}"/>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相关性分析应用背景</a:t>
            </a:r>
          </a:p>
        </p:txBody>
      </p:sp>
      <p:sp>
        <p:nvSpPr>
          <p:cNvPr id="31" name="矩形 30">
            <a:extLst>
              <a:ext uri="{FF2B5EF4-FFF2-40B4-BE49-F238E27FC236}">
                <a16:creationId xmlns:a16="http://schemas.microsoft.com/office/drawing/2014/main" id="{B437A854-1477-563D-8AA5-BEA88B1D6117}"/>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07AC65E3-751D-9ADE-1471-558E36D4A22E}"/>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97D35D64-1295-B7E8-FC6F-5969112CA5F6}"/>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C9D12A0A-0888-D996-11CB-4801308B3AE6}"/>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36D9F5CB-489B-C974-C3CA-7B1D9D7378AD}"/>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EC0F25D3-5843-79BE-F702-6D201B52C467}"/>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7EF28AD2-D3DB-FA34-B9E0-E33D4A7D7A25}"/>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CF8FF951-7CEA-A646-4D18-8175238FC991}"/>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相关性分析应用方式</a:t>
            </a:r>
          </a:p>
        </p:txBody>
      </p:sp>
      <p:sp>
        <p:nvSpPr>
          <p:cNvPr id="39" name="矩形 38">
            <a:extLst>
              <a:ext uri="{FF2B5EF4-FFF2-40B4-BE49-F238E27FC236}">
                <a16:creationId xmlns:a16="http://schemas.microsoft.com/office/drawing/2014/main" id="{3AB14E6F-B3A9-F67C-72E7-24A6E1575A03}"/>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A1D79DA4-80BA-DED9-FDAA-E5622F60308F}"/>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189E26B1-1A70-63A4-F162-3A6AB71F6CC5}"/>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42" name="矩形 41">
            <a:extLst>
              <a:ext uri="{FF2B5EF4-FFF2-40B4-BE49-F238E27FC236}">
                <a16:creationId xmlns:a16="http://schemas.microsoft.com/office/drawing/2014/main" id="{B21C2962-71CD-E23B-D2FF-0EB98AAD7AC8}"/>
              </a:ext>
            </a:extLst>
          </p:cNvPr>
          <p:cNvSpPr/>
          <p:nvPr/>
        </p:nvSpPr>
        <p:spPr>
          <a:xfrm>
            <a:off x="3161214" y="5021066"/>
            <a:ext cx="8274761" cy="134818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矩形 1">
            <a:extLst>
              <a:ext uri="{FF2B5EF4-FFF2-40B4-BE49-F238E27FC236}">
                <a16:creationId xmlns:a16="http://schemas.microsoft.com/office/drawing/2014/main" id="{C9B04630-5A65-97C6-34F3-CC7CB2AB6D6F}"/>
              </a:ext>
            </a:extLst>
          </p:cNvPr>
          <p:cNvSpPr/>
          <p:nvPr/>
        </p:nvSpPr>
        <p:spPr>
          <a:xfrm>
            <a:off x="2960247" y="381836"/>
            <a:ext cx="8274761" cy="294709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44532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1485920"/>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a:defRPr/>
            </a:pPr>
            <a:r>
              <a:rPr lang="zh-CN" altLang="en-US" sz="2400" dirty="0">
                <a:solidFill>
                  <a:schemeClr val="tx1"/>
                </a:solidFill>
              </a:rPr>
              <a:t>收集甘肃省 </a:t>
            </a:r>
            <a:r>
              <a:rPr lang="en-US" altLang="zh-CN" sz="2400" dirty="0">
                <a:solidFill>
                  <a:schemeClr val="tx1"/>
                </a:solidFill>
              </a:rPr>
              <a:t>1981-2020 </a:t>
            </a:r>
            <a:r>
              <a:rPr lang="zh-CN" altLang="en-US" sz="2400" dirty="0">
                <a:solidFill>
                  <a:schemeClr val="tx1"/>
                </a:solidFill>
              </a:rPr>
              <a:t>年的</a:t>
            </a:r>
            <a:r>
              <a:rPr lang="zh-CN" altLang="en-US" sz="2400" dirty="0">
                <a:solidFill>
                  <a:srgbClr val="C00000"/>
                </a:solidFill>
              </a:rPr>
              <a:t>植被覆盖度</a:t>
            </a:r>
            <a:r>
              <a:rPr lang="zh-CN" altLang="en-US" sz="2400" dirty="0">
                <a:solidFill>
                  <a:schemeClr val="tx1"/>
                </a:solidFill>
              </a:rPr>
              <a:t>（</a:t>
            </a:r>
            <a:r>
              <a:rPr lang="en-US" altLang="zh-CN" sz="2400" dirty="0">
                <a:solidFill>
                  <a:schemeClr val="tx1"/>
                </a:solidFill>
              </a:rPr>
              <a:t>FVC</a:t>
            </a:r>
            <a:r>
              <a:rPr lang="zh-CN" altLang="en-US" sz="2400" dirty="0">
                <a:solidFill>
                  <a:schemeClr val="tx1"/>
                </a:solidFill>
              </a:rPr>
              <a:t>）数据，包括逐年平均温度和逐年降水量数据，空间分辨率为 </a:t>
            </a:r>
            <a:r>
              <a:rPr lang="en-US" altLang="zh-CN" sz="2400" dirty="0">
                <a:solidFill>
                  <a:schemeClr val="tx1"/>
                </a:solidFill>
              </a:rPr>
              <a:t>5km</a:t>
            </a:r>
            <a:r>
              <a:rPr lang="zh-CN" altLang="en-US" sz="2400" dirty="0">
                <a:solidFill>
                  <a:schemeClr val="tx1"/>
                </a:solidFill>
              </a:rPr>
              <a:t>，这些数据同样经过了预处理和整合，以匹配植被覆盖度数据的空间和时间维度。</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90" y="-67577"/>
            <a:ext cx="5218112"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相关性分析应用方式</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三</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4" name="文本框 53">
            <a:extLst>
              <a:ext uri="{FF2B5EF4-FFF2-40B4-BE49-F238E27FC236}">
                <a16:creationId xmlns:a16="http://schemas.microsoft.com/office/drawing/2014/main" id="{D96DC672-F6D5-40D5-BB5D-F7337FEA40FE}"/>
              </a:ext>
            </a:extLst>
          </p:cNvPr>
          <p:cNvSpPr txBox="1"/>
          <p:nvPr/>
        </p:nvSpPr>
        <p:spPr>
          <a:xfrm>
            <a:off x="825395" y="2568421"/>
            <a:ext cx="10585944" cy="874214"/>
          </a:xfrm>
          <a:prstGeom prst="rect">
            <a:avLst/>
          </a:prstGeom>
          <a:gradFill>
            <a:gsLst>
              <a:gs pos="0">
                <a:srgbClr val="1A76DC">
                  <a:lumMod val="15000"/>
                  <a:lumOff val="85000"/>
                </a:srgbClr>
              </a:gs>
              <a:gs pos="100000">
                <a:sysClr val="window" lastClr="FFFFFF"/>
              </a:gs>
            </a:gsLst>
            <a:lin ang="5400000" scaled="0"/>
          </a:gradFill>
          <a:effectLst>
            <a:outerShdw blurRad="50800" dist="38100" dir="2700000" algn="tl" rotWithShape="0">
              <a:prstClr val="black">
                <a:alpha val="40000"/>
              </a:prstClr>
            </a:outerShdw>
          </a:effectLst>
        </p:spPr>
        <p:txBody>
          <a:bodyPr wrap="square" rtlCol="0" anchor="t">
            <a:spAutoFit/>
          </a:bodyPr>
          <a:lstStyle/>
          <a:p>
            <a:pPr algn="just" defTabSz="387350">
              <a:lnSpc>
                <a:spcPct val="150000"/>
              </a:lnSpc>
              <a:defRPr/>
            </a:pP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计算相关系数 ：利用统计软件或编程语言中的相关性分析函数，输入植被覆盖度数据和气候数据，按照 </a:t>
            </a:r>
            <a:r>
              <a:rPr kumimoji="0" lang="en-US" altLang="zh-CN" sz="1800" b="1" i="0" u="none" strike="noStrike" kern="1200" cap="none" spc="0" normalizeH="0" baseline="0" noProof="0" dirty="0">
                <a:ln>
                  <a:noFill/>
                </a:ln>
                <a:solidFill>
                  <a:prstClr val="black"/>
                </a:solidFill>
                <a:effectLst/>
                <a:uLnTx/>
                <a:uFillTx/>
                <a:latin typeface="微软雅黑"/>
                <a:ea typeface="微软雅黑"/>
                <a:cs typeface="+mn-cs"/>
              </a:rPr>
              <a:t>Pearson </a:t>
            </a: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相关系数的计算公式，计算得到 </a:t>
            </a:r>
            <a:r>
              <a:rPr kumimoji="0" lang="en-US" altLang="zh-CN" sz="1800" b="1" i="0" u="none" strike="noStrike" kern="1200" cap="none" spc="0" normalizeH="0" baseline="0" noProof="0" dirty="0">
                <a:ln>
                  <a:noFill/>
                </a:ln>
                <a:solidFill>
                  <a:prstClr val="black"/>
                </a:solidFill>
                <a:effectLst/>
                <a:uLnTx/>
                <a:uFillTx/>
                <a:latin typeface="微软雅黑"/>
                <a:ea typeface="微软雅黑"/>
                <a:cs typeface="+mn-cs"/>
              </a:rPr>
              <a:t>FVC </a:t>
            </a: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与气温、降水量之间的相关系数矩阵。</a:t>
            </a:r>
            <a:endParaRPr lang="zh-CN" altLang="en-US" sz="1800" b="1" kern="0" dirty="0">
              <a:solidFill>
                <a:prstClr val="black"/>
              </a:solidFill>
              <a:latin typeface="Times New Roman" panose="02020603050405020304" pitchFamily="18" charset="0"/>
              <a:ea typeface="微软雅黑" panose="020B0503020204020204" charset="-122"/>
            </a:endParaRPr>
          </a:p>
        </p:txBody>
      </p:sp>
      <p:sp>
        <p:nvSpPr>
          <p:cNvPr id="60" name="矩形 59">
            <a:extLst>
              <a:ext uri="{FF2B5EF4-FFF2-40B4-BE49-F238E27FC236}">
                <a16:creationId xmlns:a16="http://schemas.microsoft.com/office/drawing/2014/main" id="{839C5CA2-FA87-4A27-A1CD-3A57929A30F1}"/>
              </a:ext>
            </a:extLst>
          </p:cNvPr>
          <p:cNvSpPr/>
          <p:nvPr/>
        </p:nvSpPr>
        <p:spPr>
          <a:xfrm>
            <a:off x="566664" y="2390368"/>
            <a:ext cx="11155436" cy="4178487"/>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857F1447-D021-D591-CAAF-E8509CB4820B}"/>
              </a:ext>
            </a:extLst>
          </p:cNvPr>
          <p:cNvSpPr txBox="1"/>
          <p:nvPr/>
        </p:nvSpPr>
        <p:spPr>
          <a:xfrm>
            <a:off x="803027" y="3914340"/>
            <a:ext cx="10585944" cy="874214"/>
          </a:xfrm>
          <a:prstGeom prst="rect">
            <a:avLst/>
          </a:prstGeom>
          <a:gradFill>
            <a:gsLst>
              <a:gs pos="0">
                <a:srgbClr val="1A76DC">
                  <a:lumMod val="15000"/>
                  <a:lumOff val="85000"/>
                </a:srgbClr>
              </a:gs>
              <a:gs pos="100000">
                <a:sysClr val="window" lastClr="FFFFFF"/>
              </a:gs>
            </a:gsLst>
            <a:lin ang="5400000" scaled="0"/>
          </a:gradFill>
          <a:effectLst>
            <a:outerShdw blurRad="50800" dist="38100" dir="2700000" algn="tl" rotWithShape="0">
              <a:prstClr val="black">
                <a:alpha val="40000"/>
              </a:prstClr>
            </a:outerShdw>
          </a:effectLst>
        </p:spPr>
        <p:txBody>
          <a:bodyPr wrap="square" rtlCol="0" anchor="t">
            <a:spAutoFit/>
          </a:bodyPr>
          <a:lstStyle/>
          <a:p>
            <a:pPr algn="just" defTabSz="387350">
              <a:lnSpc>
                <a:spcPct val="150000"/>
              </a:lnSpc>
              <a:defRPr/>
            </a:pP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对计算得到的相关系数进行显著性检验，通常采用 </a:t>
            </a:r>
            <a:r>
              <a:rPr kumimoji="0" lang="en-US" altLang="zh-CN" sz="1800" b="1" i="0" u="none" strike="noStrike" kern="1200" cap="none" spc="0" normalizeH="0" baseline="0" noProof="0" dirty="0">
                <a:ln>
                  <a:noFill/>
                </a:ln>
                <a:solidFill>
                  <a:prstClr val="black"/>
                </a:solidFill>
                <a:effectLst/>
                <a:uLnTx/>
                <a:uFillTx/>
                <a:latin typeface="微软雅黑"/>
                <a:ea typeface="微软雅黑"/>
                <a:cs typeface="+mn-cs"/>
              </a:rPr>
              <a:t>t </a:t>
            </a: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检验来判断相关系数是否显著偏离零，从而确定相关性是否具有统计学意义。根据检验结果，结合显著性 </a:t>
            </a:r>
            <a:r>
              <a:rPr kumimoji="0" lang="en-US" altLang="zh-CN" sz="1800" b="1" i="0" u="none" strike="noStrike" kern="1200" cap="none" spc="0" normalizeH="0" baseline="0" noProof="0" dirty="0">
                <a:ln>
                  <a:noFill/>
                </a:ln>
                <a:solidFill>
                  <a:prstClr val="black"/>
                </a:solidFill>
                <a:effectLst/>
                <a:uLnTx/>
                <a:uFillTx/>
                <a:latin typeface="微软雅黑"/>
                <a:ea typeface="微软雅黑"/>
                <a:cs typeface="+mn-cs"/>
              </a:rPr>
              <a:t>P </a:t>
            </a: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值，将相关性分为不同的等级。</a:t>
            </a:r>
            <a:endParaRPr lang="zh-CN" altLang="en-US" sz="1800" b="1" kern="0" dirty="0">
              <a:solidFill>
                <a:prstClr val="black"/>
              </a:solidFill>
              <a:latin typeface="Times New Roman" panose="02020603050405020304" pitchFamily="18" charset="0"/>
              <a:ea typeface="微软雅黑" panose="020B0503020204020204" charset="-122"/>
            </a:endParaRPr>
          </a:p>
        </p:txBody>
      </p:sp>
      <p:sp>
        <p:nvSpPr>
          <p:cNvPr id="3" name="文本框 2">
            <a:extLst>
              <a:ext uri="{FF2B5EF4-FFF2-40B4-BE49-F238E27FC236}">
                <a16:creationId xmlns:a16="http://schemas.microsoft.com/office/drawing/2014/main" id="{B7D8FCEF-D71B-C484-3AD2-73E24ADD078A}"/>
              </a:ext>
            </a:extLst>
          </p:cNvPr>
          <p:cNvSpPr txBox="1"/>
          <p:nvPr/>
        </p:nvSpPr>
        <p:spPr>
          <a:xfrm>
            <a:off x="803027" y="5260258"/>
            <a:ext cx="10585944" cy="874214"/>
          </a:xfrm>
          <a:prstGeom prst="rect">
            <a:avLst/>
          </a:prstGeom>
          <a:gradFill>
            <a:gsLst>
              <a:gs pos="0">
                <a:srgbClr val="1A76DC">
                  <a:lumMod val="15000"/>
                  <a:lumOff val="85000"/>
                </a:srgbClr>
              </a:gs>
              <a:gs pos="100000">
                <a:sysClr val="window" lastClr="FFFFFF"/>
              </a:gs>
            </a:gsLst>
            <a:lin ang="5400000" scaled="0"/>
          </a:gradFill>
          <a:effectLst>
            <a:outerShdw blurRad="50800" dist="38100" dir="2700000" algn="tl" rotWithShape="0">
              <a:prstClr val="black">
                <a:alpha val="40000"/>
              </a:prstClr>
            </a:outerShdw>
          </a:effectLst>
        </p:spPr>
        <p:txBody>
          <a:bodyPr wrap="square" rtlCol="0" anchor="t">
            <a:spAutoFit/>
          </a:bodyPr>
          <a:lstStyle/>
          <a:p>
            <a:pPr algn="just" defTabSz="387350">
              <a:lnSpc>
                <a:spcPct val="150000"/>
              </a:lnSpc>
              <a:defRPr/>
            </a:pP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绘制散点图矩阵，横轴和纵轴分别表示不同的变量（</a:t>
            </a:r>
            <a:r>
              <a:rPr kumimoji="0" lang="en-US" altLang="zh-CN" sz="1800" b="1" i="0" u="none" strike="noStrike" kern="1200" cap="none" spc="0" normalizeH="0" baseline="0" noProof="0" dirty="0">
                <a:ln>
                  <a:noFill/>
                </a:ln>
                <a:solidFill>
                  <a:prstClr val="black"/>
                </a:solidFill>
                <a:effectLst/>
                <a:uLnTx/>
                <a:uFillTx/>
                <a:latin typeface="微软雅黑"/>
                <a:ea typeface="微软雅黑"/>
                <a:cs typeface="+mn-cs"/>
              </a:rPr>
              <a:t>FVC</a:t>
            </a: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、气温、降水量），每个散点图展示两个变量之间的关系，并在图旁标注相应的相关系数值和显著性水平。</a:t>
            </a:r>
            <a:endParaRPr lang="zh-CN" altLang="en-US" sz="1800" b="1" kern="0" dirty="0">
              <a:solidFill>
                <a:prstClr val="black"/>
              </a:solidFill>
              <a:latin typeface="Times New Roman" panose="02020603050405020304" pitchFamily="18" charset="0"/>
              <a:ea typeface="微软雅黑" panose="020B0503020204020204" charset="-122"/>
            </a:endParaRPr>
          </a:p>
        </p:txBody>
      </p:sp>
    </p:spTree>
    <p:extLst>
      <p:ext uri="{BB962C8B-B14F-4D97-AF65-F5344CB8AC3E}">
        <p14:creationId xmlns:p14="http://schemas.microsoft.com/office/powerpoint/2010/main" val="3415725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032BE-1FF7-1340-E605-BA7BA45F0D23}"/>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id="{D1A716FC-B672-BAB2-D9C1-C050053B3E12}"/>
              </a:ext>
            </a:extLst>
          </p:cNvPr>
          <p:cNvSpPr/>
          <p:nvPr/>
        </p:nvSpPr>
        <p:spPr>
          <a:xfrm>
            <a:off x="-2226" y="-1"/>
            <a:ext cx="2521894" cy="6857329"/>
          </a:xfrm>
          <a:prstGeom prst="rect">
            <a:avLst/>
          </a:pr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 name="圆角矩形 33">
            <a:extLst>
              <a:ext uri="{FF2B5EF4-FFF2-40B4-BE49-F238E27FC236}">
                <a16:creationId xmlns:a16="http://schemas.microsoft.com/office/drawing/2014/main" id="{118DDD6D-B703-BD2B-386F-C3833CE47966}"/>
              </a:ext>
            </a:extLst>
          </p:cNvPr>
          <p:cNvSpPr/>
          <p:nvPr/>
        </p:nvSpPr>
        <p:spPr>
          <a:xfrm>
            <a:off x="756025" y="1993900"/>
            <a:ext cx="1156306" cy="2870200"/>
          </a:xfrm>
          <a:prstGeom prst="roundRect">
            <a:avLst>
              <a:gd name="adj" fmla="val 0"/>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 name="文本框 24">
            <a:extLst>
              <a:ext uri="{FF2B5EF4-FFF2-40B4-BE49-F238E27FC236}">
                <a16:creationId xmlns:a16="http://schemas.microsoft.com/office/drawing/2014/main" id="{841FFFFC-010D-EAF1-1EB4-FEB50CF553D7}"/>
              </a:ext>
            </a:extLst>
          </p:cNvPr>
          <p:cNvSpPr txBox="1"/>
          <p:nvPr/>
        </p:nvSpPr>
        <p:spPr>
          <a:xfrm>
            <a:off x="964846" y="2286380"/>
            <a:ext cx="738664" cy="2285241"/>
          </a:xfrm>
          <a:prstGeom prst="rect">
            <a:avLst/>
          </a:prstGeom>
          <a:noFill/>
        </p:spPr>
        <p:txBody>
          <a:bodyPr vert="eaVert" wrap="none" rtlCol="0">
            <a:spAutoFit/>
          </a:bodyPr>
          <a:lstStyle/>
          <a:p>
            <a:pPr algn="ct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汇 报 内 容</a:t>
            </a:r>
          </a:p>
        </p:txBody>
      </p:sp>
      <p:sp>
        <p:nvSpPr>
          <p:cNvPr id="26" name="矩形 25">
            <a:extLst>
              <a:ext uri="{FF2B5EF4-FFF2-40B4-BE49-F238E27FC236}">
                <a16:creationId xmlns:a16="http://schemas.microsoft.com/office/drawing/2014/main" id="{E4FB23F8-78E3-7669-710E-21476195AEE4}"/>
              </a:ext>
            </a:extLst>
          </p:cNvPr>
          <p:cNvSpPr>
            <a:spLocks/>
          </p:cNvSpPr>
          <p:nvPr/>
        </p:nvSpPr>
        <p:spPr>
          <a:xfrm>
            <a:off x="4398346" y="835941"/>
            <a:ext cx="6647751" cy="646331"/>
          </a:xfrm>
          <a:prstGeom prst="rect">
            <a:avLst/>
          </a:prstGeom>
        </p:spPr>
        <p:txBody>
          <a:bodyPr wrap="square">
            <a:spAutoFit/>
          </a:bodyPr>
          <a:lstStyle/>
          <a:p>
            <a:pPr algn="ctr" defTabSz="257175">
              <a:defRPr/>
            </a:pPr>
            <a:r>
              <a:rPr kumimoji="1" lang="zh-CN" altLang="en-US" sz="3600" b="1" kern="0" dirty="0">
                <a:solidFill>
                  <a:srgbClr val="0F4995"/>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相关性分析基本概念</a:t>
            </a:r>
          </a:p>
        </p:txBody>
      </p:sp>
      <p:sp>
        <p:nvSpPr>
          <p:cNvPr id="27" name="矩形 26">
            <a:extLst>
              <a:ext uri="{FF2B5EF4-FFF2-40B4-BE49-F238E27FC236}">
                <a16:creationId xmlns:a16="http://schemas.microsoft.com/office/drawing/2014/main" id="{D57AE762-03BA-BC29-DEF8-3C225BA877AA}"/>
              </a:ext>
            </a:extLst>
          </p:cNvPr>
          <p:cNvSpPr/>
          <p:nvPr/>
        </p:nvSpPr>
        <p:spPr>
          <a:xfrm>
            <a:off x="4340479" y="714989"/>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a:extLst>
              <a:ext uri="{FF2B5EF4-FFF2-40B4-BE49-F238E27FC236}">
                <a16:creationId xmlns:a16="http://schemas.microsoft.com/office/drawing/2014/main" id="{ECE5E4FB-DC2B-1FB2-9163-7A3129E841BF}"/>
              </a:ext>
            </a:extLst>
          </p:cNvPr>
          <p:cNvSpPr/>
          <p:nvPr/>
        </p:nvSpPr>
        <p:spPr>
          <a:xfrm>
            <a:off x="3491889" y="716881"/>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 name="矩形 28">
            <a:extLst>
              <a:ext uri="{FF2B5EF4-FFF2-40B4-BE49-F238E27FC236}">
                <a16:creationId xmlns:a16="http://schemas.microsoft.com/office/drawing/2014/main" id="{7E5CF207-4B7E-F14F-FF7D-F5EDEE9D9743}"/>
              </a:ext>
            </a:extLst>
          </p:cNvPr>
          <p:cNvSpPr/>
          <p:nvPr/>
        </p:nvSpPr>
        <p:spPr>
          <a:xfrm>
            <a:off x="3606962" y="816941"/>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一</a:t>
            </a:r>
          </a:p>
        </p:txBody>
      </p:sp>
      <p:sp>
        <p:nvSpPr>
          <p:cNvPr id="30" name="矩形 29">
            <a:extLst>
              <a:ext uri="{FF2B5EF4-FFF2-40B4-BE49-F238E27FC236}">
                <a16:creationId xmlns:a16="http://schemas.microsoft.com/office/drawing/2014/main" id="{618AA297-38DA-027D-B23B-D28ACD34A10E}"/>
              </a:ext>
            </a:extLst>
          </p:cNvPr>
          <p:cNvSpPr>
            <a:spLocks/>
          </p:cNvSpPr>
          <p:nvPr/>
        </p:nvSpPr>
        <p:spPr>
          <a:xfrm>
            <a:off x="4417997" y="2380268"/>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相关性分析应用背景</a:t>
            </a:r>
          </a:p>
        </p:txBody>
      </p:sp>
      <p:sp>
        <p:nvSpPr>
          <p:cNvPr id="31" name="矩形 30">
            <a:extLst>
              <a:ext uri="{FF2B5EF4-FFF2-40B4-BE49-F238E27FC236}">
                <a16:creationId xmlns:a16="http://schemas.microsoft.com/office/drawing/2014/main" id="{EA4E947A-B871-250B-FC23-C02612DA2626}"/>
              </a:ext>
            </a:extLst>
          </p:cNvPr>
          <p:cNvSpPr/>
          <p:nvPr/>
        </p:nvSpPr>
        <p:spPr>
          <a:xfrm>
            <a:off x="4340479" y="2249440"/>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 name="矩形 31">
            <a:extLst>
              <a:ext uri="{FF2B5EF4-FFF2-40B4-BE49-F238E27FC236}">
                <a16:creationId xmlns:a16="http://schemas.microsoft.com/office/drawing/2014/main" id="{961D2C92-3CEE-AE3D-604E-C955339A6476}"/>
              </a:ext>
            </a:extLst>
          </p:cNvPr>
          <p:cNvSpPr/>
          <p:nvPr/>
        </p:nvSpPr>
        <p:spPr>
          <a:xfrm>
            <a:off x="3491889" y="2249440"/>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 name="矩形 32">
            <a:extLst>
              <a:ext uri="{FF2B5EF4-FFF2-40B4-BE49-F238E27FC236}">
                <a16:creationId xmlns:a16="http://schemas.microsoft.com/office/drawing/2014/main" id="{779FD556-1F16-8796-733F-8EBFEFC9E274}"/>
              </a:ext>
            </a:extLst>
          </p:cNvPr>
          <p:cNvSpPr/>
          <p:nvPr/>
        </p:nvSpPr>
        <p:spPr>
          <a:xfrm>
            <a:off x="3606962" y="2351392"/>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二</a:t>
            </a:r>
          </a:p>
        </p:txBody>
      </p:sp>
      <p:sp>
        <p:nvSpPr>
          <p:cNvPr id="34" name="矩形 33">
            <a:extLst>
              <a:ext uri="{FF2B5EF4-FFF2-40B4-BE49-F238E27FC236}">
                <a16:creationId xmlns:a16="http://schemas.microsoft.com/office/drawing/2014/main" id="{87FA5231-1017-8334-EE3E-465E1EFD19BA}"/>
              </a:ext>
            </a:extLst>
          </p:cNvPr>
          <p:cNvSpPr>
            <a:spLocks/>
          </p:cNvSpPr>
          <p:nvPr/>
        </p:nvSpPr>
        <p:spPr>
          <a:xfrm>
            <a:off x="4418353" y="5390281"/>
            <a:ext cx="6647751" cy="646331"/>
          </a:xfrm>
          <a:prstGeom prst="rect">
            <a:avLst/>
          </a:prstGeom>
        </p:spPr>
        <p:txBody>
          <a:bodyPr wrap="square">
            <a:spAutoFit/>
          </a:bodyPr>
          <a:lstStyle/>
          <a:p>
            <a:pPr algn="ctr"/>
            <a:r>
              <a:rPr lang="zh-CN" altLang="en-US" sz="36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结果与结论</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 name="矩形 34">
            <a:extLst>
              <a:ext uri="{FF2B5EF4-FFF2-40B4-BE49-F238E27FC236}">
                <a16:creationId xmlns:a16="http://schemas.microsoft.com/office/drawing/2014/main" id="{8BD77CCB-A0D3-5F46-444F-8A3FCD9A959A}"/>
              </a:ext>
            </a:extLst>
          </p:cNvPr>
          <p:cNvSpPr/>
          <p:nvPr/>
        </p:nvSpPr>
        <p:spPr>
          <a:xfrm>
            <a:off x="4340479" y="5269078"/>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 name="矩形 35">
            <a:extLst>
              <a:ext uri="{FF2B5EF4-FFF2-40B4-BE49-F238E27FC236}">
                <a16:creationId xmlns:a16="http://schemas.microsoft.com/office/drawing/2014/main" id="{E3D19380-370D-B18C-6EB3-B972F7A55515}"/>
              </a:ext>
            </a:extLst>
          </p:cNvPr>
          <p:cNvSpPr/>
          <p:nvPr/>
        </p:nvSpPr>
        <p:spPr>
          <a:xfrm>
            <a:off x="3491889" y="5270970"/>
            <a:ext cx="906457" cy="871365"/>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 name="矩形 36">
            <a:extLst>
              <a:ext uri="{FF2B5EF4-FFF2-40B4-BE49-F238E27FC236}">
                <a16:creationId xmlns:a16="http://schemas.microsoft.com/office/drawing/2014/main" id="{7D88560A-64F8-5555-5545-13FE9D67716C}"/>
              </a:ext>
            </a:extLst>
          </p:cNvPr>
          <p:cNvSpPr/>
          <p:nvPr/>
        </p:nvSpPr>
        <p:spPr>
          <a:xfrm>
            <a:off x="3606962" y="5371030"/>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四</a:t>
            </a:r>
          </a:p>
        </p:txBody>
      </p:sp>
      <p:sp>
        <p:nvSpPr>
          <p:cNvPr id="38" name="矩形 37">
            <a:extLst>
              <a:ext uri="{FF2B5EF4-FFF2-40B4-BE49-F238E27FC236}">
                <a16:creationId xmlns:a16="http://schemas.microsoft.com/office/drawing/2014/main" id="{6AAA7765-D791-9306-027C-5CC771D50FF8}"/>
              </a:ext>
            </a:extLst>
          </p:cNvPr>
          <p:cNvSpPr>
            <a:spLocks/>
          </p:cNvSpPr>
          <p:nvPr/>
        </p:nvSpPr>
        <p:spPr>
          <a:xfrm>
            <a:off x="4415507" y="3879517"/>
            <a:ext cx="6647751" cy="646331"/>
          </a:xfrm>
          <a:prstGeom prst="rect">
            <a:avLst/>
          </a:prstGeom>
        </p:spPr>
        <p:txBody>
          <a:bodyPr wrap="square">
            <a:spAutoFit/>
          </a:bodyPr>
          <a:lstStyle/>
          <a:p>
            <a:pPr algn="ctr">
              <a:buClrTx/>
              <a:buSzTx/>
              <a:buFontTx/>
            </a:pPr>
            <a:r>
              <a:rPr lang="zh-CN" altLang="en-US" sz="3600" b="1" dirty="0">
                <a:solidFill>
                  <a:srgbClr val="0F4995"/>
                </a:solidFill>
                <a:latin typeface="Times New Roman" panose="02020603050405020304" pitchFamily="18" charset="0"/>
                <a:ea typeface="微软雅黑" panose="020B0503020204020204" pitchFamily="34" charset="-122"/>
                <a:sym typeface="Times New Roman" panose="02020603050405020304" pitchFamily="18" charset="0"/>
              </a:rPr>
              <a:t>相关性分析应用方式</a:t>
            </a:r>
          </a:p>
        </p:txBody>
      </p:sp>
      <p:sp>
        <p:nvSpPr>
          <p:cNvPr id="39" name="矩形 38">
            <a:extLst>
              <a:ext uri="{FF2B5EF4-FFF2-40B4-BE49-F238E27FC236}">
                <a16:creationId xmlns:a16="http://schemas.microsoft.com/office/drawing/2014/main" id="{7DE34303-FA47-18E3-50B6-97AB366E4790}"/>
              </a:ext>
            </a:extLst>
          </p:cNvPr>
          <p:cNvSpPr/>
          <p:nvPr/>
        </p:nvSpPr>
        <p:spPr>
          <a:xfrm>
            <a:off x="4340479" y="3758314"/>
            <a:ext cx="6705619" cy="873258"/>
          </a:xfrm>
          <a:prstGeom prst="rect">
            <a:avLst/>
          </a:prstGeom>
          <a:no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0" name="矩形 39">
            <a:extLst>
              <a:ext uri="{FF2B5EF4-FFF2-40B4-BE49-F238E27FC236}">
                <a16:creationId xmlns:a16="http://schemas.microsoft.com/office/drawing/2014/main" id="{4394F36C-A243-DDA1-EA1E-0EFD9B219C50}"/>
              </a:ext>
            </a:extLst>
          </p:cNvPr>
          <p:cNvSpPr/>
          <p:nvPr/>
        </p:nvSpPr>
        <p:spPr>
          <a:xfrm>
            <a:off x="3491889" y="3758314"/>
            <a:ext cx="906457" cy="873258"/>
          </a:xfrm>
          <a:prstGeom prst="rect">
            <a:avLst/>
          </a:prstGeom>
          <a:solidFill>
            <a:srgbClr val="0F4995"/>
          </a:solidFill>
          <a:ln>
            <a:solidFill>
              <a:srgbClr val="0F49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矩形 40">
            <a:extLst>
              <a:ext uri="{FF2B5EF4-FFF2-40B4-BE49-F238E27FC236}">
                <a16:creationId xmlns:a16="http://schemas.microsoft.com/office/drawing/2014/main" id="{51AF7C40-5F61-CF4E-1CBB-004B305E9209}"/>
              </a:ext>
            </a:extLst>
          </p:cNvPr>
          <p:cNvSpPr/>
          <p:nvPr/>
        </p:nvSpPr>
        <p:spPr>
          <a:xfrm>
            <a:off x="3606962" y="3860266"/>
            <a:ext cx="690787" cy="671242"/>
          </a:xfrm>
          <a:prstGeom prst="rect">
            <a:avLst/>
          </a:prstGeom>
        </p:spPr>
        <p:txBody>
          <a:bodyPr wrap="square">
            <a:spAutoFit/>
          </a:bodyPr>
          <a:lstStyle/>
          <a:p>
            <a:pPr algn="ctr"/>
            <a:r>
              <a:rPr lang="zh-CN" altLang="en-US" sz="3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三</a:t>
            </a:r>
          </a:p>
        </p:txBody>
      </p:sp>
      <p:sp>
        <p:nvSpPr>
          <p:cNvPr id="2" name="矩形 1">
            <a:extLst>
              <a:ext uri="{FF2B5EF4-FFF2-40B4-BE49-F238E27FC236}">
                <a16:creationId xmlns:a16="http://schemas.microsoft.com/office/drawing/2014/main" id="{7B0249F4-EA90-745F-1AF2-710C8CA6D67E}"/>
              </a:ext>
            </a:extLst>
          </p:cNvPr>
          <p:cNvSpPr/>
          <p:nvPr/>
        </p:nvSpPr>
        <p:spPr>
          <a:xfrm>
            <a:off x="2960247" y="381836"/>
            <a:ext cx="8274761" cy="448226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Tree>
    <p:extLst>
      <p:ext uri="{BB962C8B-B14F-4D97-AF65-F5344CB8AC3E}">
        <p14:creationId xmlns:p14="http://schemas.microsoft.com/office/powerpoint/2010/main" val="1947522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a:extLst>
              <a:ext uri="{FF2B5EF4-FFF2-40B4-BE49-F238E27FC236}">
                <a16:creationId xmlns:a16="http://schemas.microsoft.com/office/drawing/2014/main" id="{EAC27C75-9878-4AF1-BD21-EDA5BAEF50FF}"/>
              </a:ext>
            </a:extLst>
          </p:cNvPr>
          <p:cNvSpPr txBox="1"/>
          <p:nvPr/>
        </p:nvSpPr>
        <p:spPr>
          <a:xfrm>
            <a:off x="298115" y="944284"/>
            <a:ext cx="11595769" cy="1081899"/>
          </a:xfrm>
          <a:prstGeom prst="rect">
            <a:avLst/>
          </a:prstGeom>
          <a:noFill/>
        </p:spPr>
        <p:txBody>
          <a:bodyPr wrap="square" rtlCol="0">
            <a:spAutoFit/>
          </a:bodyPr>
          <a:lstStyle>
            <a:defPPr>
              <a:defRPr lang="zh-CN"/>
            </a:defPPr>
            <a:lvl1pPr marL="457200" marR="0" lvl="0" indent="-457200" fontAlgn="auto">
              <a:lnSpc>
                <a:spcPct val="130000"/>
              </a:lnSpc>
              <a:spcBef>
                <a:spcPts val="0"/>
              </a:spcBef>
              <a:spcAft>
                <a:spcPts val="0"/>
              </a:spcAft>
              <a:buClrTx/>
              <a:buSzTx/>
              <a:buFont typeface="Wingdings" panose="05000000000000000000" pitchFamily="2" charset="2"/>
              <a:buChar char=""/>
              <a:tabLst/>
              <a:defRPr kumimoji="0" sz="2600" b="1" i="0" u="none" strike="noStrike" cap="none" spc="0" normalizeH="0" baseline="0">
                <a:ln>
                  <a:noFill/>
                </a:ln>
                <a:solidFill>
                  <a:prstClr val="black"/>
                </a:solidFill>
                <a:effectLst/>
                <a:uLnTx/>
                <a:uFillTx/>
                <a:latin typeface="微软雅黑" panose="020B0503020204020204" pitchFamily="34" charset="-122"/>
                <a:ea typeface="微软雅黑" panose="020B0503020204020204" pitchFamily="34" charset="-122"/>
              </a:defRPr>
            </a:lvl1pPr>
          </a:lstStyle>
          <a:p>
            <a:pPr lvl="0">
              <a:defRPr/>
            </a:pPr>
            <a:r>
              <a:rPr lang="zh-CN" altLang="en-US" dirty="0">
                <a:solidFill>
                  <a:schemeClr val="tx1"/>
                </a:solidFill>
              </a:rPr>
              <a:t>结合土地利用类型数据，进一步细化分析不同土地利用类型下植被覆盖度与气候因子的</a:t>
            </a:r>
            <a:r>
              <a:rPr lang="zh-CN" altLang="en-US" dirty="0">
                <a:solidFill>
                  <a:schemeClr val="tx2"/>
                </a:solidFill>
              </a:rPr>
              <a:t>相关性</a:t>
            </a:r>
            <a:r>
              <a:rPr lang="zh-CN" altLang="en-US" dirty="0">
                <a:solidFill>
                  <a:schemeClr val="tx1"/>
                </a:solidFill>
              </a:rPr>
              <a:t>。</a:t>
            </a:r>
          </a:p>
        </p:txBody>
      </p:sp>
      <p:sp>
        <p:nvSpPr>
          <p:cNvPr id="35" name="灯片编号占位符 3">
            <a:extLst>
              <a:ext uri="{FF2B5EF4-FFF2-40B4-BE49-F238E27FC236}">
                <a16:creationId xmlns:a16="http://schemas.microsoft.com/office/drawing/2014/main" id="{4E13C9AD-C81E-4EE3-B9EC-34FF68A841E2}"/>
              </a:ext>
            </a:extLst>
          </p:cNvPr>
          <p:cNvSpPr txBox="1">
            <a:spLocks/>
          </p:cNvSpPr>
          <p:nvPr/>
        </p:nvSpPr>
        <p:spPr>
          <a:xfrm>
            <a:off x="9282546" y="108066"/>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F24612B-083E-42A1-A722-547198ACFF6B}" type="slidenum">
              <a:rPr kumimoji="0" lang="zh-CN" altLang="en-US" sz="2400" b="1" i="0" u="none" strike="noStrike" kern="1200" cap="none" spc="0" normalizeH="0" baseline="0" noProof="0" smtClean="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24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endParaRPr>
          </a:p>
        </p:txBody>
      </p:sp>
      <p:sp>
        <p:nvSpPr>
          <p:cNvPr id="37" name="文本框 36">
            <a:extLst>
              <a:ext uri="{FF2B5EF4-FFF2-40B4-BE49-F238E27FC236}">
                <a16:creationId xmlns:a16="http://schemas.microsoft.com/office/drawing/2014/main" id="{C118B07D-E2F7-41D4-BCBE-7D670F4A3580}"/>
              </a:ext>
            </a:extLst>
          </p:cNvPr>
          <p:cNvSpPr txBox="1"/>
          <p:nvPr/>
        </p:nvSpPr>
        <p:spPr>
          <a:xfrm>
            <a:off x="1061390" y="-67577"/>
            <a:ext cx="3876370" cy="76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defPPr>
              <a:defRPr lang="en-US"/>
            </a:defPPr>
            <a:lvl1pPr fontAlgn="base">
              <a:spcBef>
                <a:spcPct val="0"/>
              </a:spcBef>
              <a:spcAft>
                <a:spcPct val="0"/>
              </a:spcAft>
              <a:defRPr sz="4800" b="1">
                <a:gradFill>
                  <a:gsLst>
                    <a:gs pos="100000">
                      <a:srgbClr val="026EBB"/>
                    </a:gs>
                    <a:gs pos="0">
                      <a:srgbClr val="038EDB"/>
                    </a:gs>
                  </a:gsLst>
                  <a:lin ang="0" scaled="1"/>
                </a:gradFill>
                <a:latin typeface="Eras Bold ITC" panose="020B0907030504020204" pitchFamily="34" charset="0"/>
                <a:ea typeface="思源黑体 CN Medium" panose="020B0600000000000000" pitchFamily="34" charset="-122"/>
                <a:cs typeface="+mj-cs"/>
              </a:defRPr>
            </a:lvl1pPr>
            <a:lvl2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marL="571500" marR="0" lvl="0" indent="-571500" algn="l" defTabSz="457200" rtl="0" eaLnBrk="1" fontAlgn="base" latinLnBrk="0" hangingPunct="1">
              <a:lnSpc>
                <a:spcPct val="150000"/>
              </a:lnSpc>
              <a:spcBef>
                <a:spcPct val="0"/>
              </a:spcBef>
              <a:spcAft>
                <a:spcPct val="0"/>
              </a:spcAft>
              <a:buClrTx/>
              <a:buSzTx/>
              <a:buFont typeface="Wingdings" panose="05000000000000000000" pitchFamily="2" charset="2"/>
              <a:buChar char="l"/>
              <a:tabLst/>
              <a:defRPr/>
            </a:pPr>
            <a:r>
              <a:rPr kumimoji="0" lang="zh-CN" altLang="en-US" sz="3800" b="1" i="0" u="none" strike="noStrike" kern="0" cap="none" spc="0" normalizeH="0" baseline="0" noProof="0" dirty="0">
                <a:ln>
                  <a:noFill/>
                </a:ln>
                <a:solidFill>
                  <a:srgbClr val="0066CC"/>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结果与结论</a:t>
            </a:r>
          </a:p>
        </p:txBody>
      </p:sp>
      <p:sp>
        <p:nvSpPr>
          <p:cNvPr id="38" name="平行四边形 37">
            <a:extLst>
              <a:ext uri="{FF2B5EF4-FFF2-40B4-BE49-F238E27FC236}">
                <a16:creationId xmlns:a16="http://schemas.microsoft.com/office/drawing/2014/main" id="{9237FECA-4EA3-4697-B699-84730BAE8B10}"/>
              </a:ext>
            </a:extLst>
          </p:cNvPr>
          <p:cNvSpPr/>
          <p:nvPr/>
        </p:nvSpPr>
        <p:spPr>
          <a:xfrm rot="10800000">
            <a:off x="566665" y="775626"/>
            <a:ext cx="2787949" cy="95817"/>
          </a:xfrm>
          <a:prstGeom prst="parallelogram">
            <a:avLst>
              <a:gd name="adj" fmla="val 196700"/>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9" name="组合 38">
            <a:extLst>
              <a:ext uri="{FF2B5EF4-FFF2-40B4-BE49-F238E27FC236}">
                <a16:creationId xmlns:a16="http://schemas.microsoft.com/office/drawing/2014/main" id="{4845614F-7241-4DB3-9BE0-9960246D59D7}"/>
              </a:ext>
            </a:extLst>
          </p:cNvPr>
          <p:cNvGrpSpPr/>
          <p:nvPr/>
        </p:nvGrpSpPr>
        <p:grpSpPr>
          <a:xfrm>
            <a:off x="-53106" y="0"/>
            <a:ext cx="963271" cy="1033814"/>
            <a:chOff x="-51603" y="0"/>
            <a:chExt cx="1084083" cy="1219009"/>
          </a:xfrm>
        </p:grpSpPr>
        <p:sp>
          <p:nvSpPr>
            <p:cNvPr id="40" name="Freeform 7">
              <a:extLst>
                <a:ext uri="{FF2B5EF4-FFF2-40B4-BE49-F238E27FC236}">
                  <a16:creationId xmlns:a16="http://schemas.microsoft.com/office/drawing/2014/main" id="{A1BDF8D0-A1CC-4209-B8DF-D36E34D6C3AC}"/>
                </a:ext>
              </a:extLst>
            </p:cNvPr>
            <p:cNvSpPr/>
            <p:nvPr/>
          </p:nvSpPr>
          <p:spPr bwMode="auto">
            <a:xfrm>
              <a:off x="3290" y="132030"/>
              <a:ext cx="974299" cy="1086979"/>
            </a:xfrm>
            <a:custGeom>
              <a:avLst/>
              <a:gdLst>
                <a:gd name="T0" fmla="*/ 0 w 529"/>
                <a:gd name="T1" fmla="*/ 0 h 915"/>
                <a:gd name="T2" fmla="*/ 490 w 529"/>
                <a:gd name="T3" fmla="*/ 399 h 915"/>
                <a:gd name="T4" fmla="*/ 490 w 529"/>
                <a:gd name="T5" fmla="*/ 516 h 915"/>
                <a:gd name="T6" fmla="*/ 0 w 529"/>
                <a:gd name="T7" fmla="*/ 915 h 915"/>
                <a:gd name="T8" fmla="*/ 0 w 529"/>
                <a:gd name="T9" fmla="*/ 0 h 915"/>
              </a:gdLst>
              <a:ahLst/>
              <a:cxnLst>
                <a:cxn ang="0">
                  <a:pos x="T0" y="T1"/>
                </a:cxn>
                <a:cxn ang="0">
                  <a:pos x="T2" y="T3"/>
                </a:cxn>
                <a:cxn ang="0">
                  <a:pos x="T4" y="T5"/>
                </a:cxn>
                <a:cxn ang="0">
                  <a:pos x="T6" y="T7"/>
                </a:cxn>
                <a:cxn ang="0">
                  <a:pos x="T8" y="T9"/>
                </a:cxn>
              </a:cxnLst>
              <a:rect l="0" t="0" r="r" b="b"/>
              <a:pathLst>
                <a:path w="529" h="915">
                  <a:moveTo>
                    <a:pt x="0" y="0"/>
                  </a:moveTo>
                  <a:lnTo>
                    <a:pt x="490" y="399"/>
                  </a:lnTo>
                  <a:cubicBezTo>
                    <a:pt x="529" y="431"/>
                    <a:pt x="529" y="484"/>
                    <a:pt x="490" y="516"/>
                  </a:cubicBezTo>
                  <a:lnTo>
                    <a:pt x="0" y="915"/>
                  </a:lnTo>
                  <a:lnTo>
                    <a:pt x="0" y="0"/>
                  </a:lnTo>
                  <a:close/>
                </a:path>
              </a:pathLst>
            </a:custGeom>
            <a:solidFill>
              <a:srgbClr val="69B8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 name="Freeform 8">
              <a:extLst>
                <a:ext uri="{FF2B5EF4-FFF2-40B4-BE49-F238E27FC236}">
                  <a16:creationId xmlns:a16="http://schemas.microsoft.com/office/drawing/2014/main" id="{DE0E586D-84DD-4F85-8A67-93CFE0890111}"/>
                </a:ext>
              </a:extLst>
            </p:cNvPr>
            <p:cNvSpPr/>
            <p:nvPr/>
          </p:nvSpPr>
          <p:spPr bwMode="auto">
            <a:xfrm>
              <a:off x="3290" y="0"/>
              <a:ext cx="974299" cy="1086979"/>
            </a:xfrm>
            <a:custGeom>
              <a:avLst/>
              <a:gdLst>
                <a:gd name="T0" fmla="*/ 0 w 560"/>
                <a:gd name="T1" fmla="*/ 0 h 973"/>
                <a:gd name="T2" fmla="*/ 516 w 560"/>
                <a:gd name="T3" fmla="*/ 420 h 973"/>
                <a:gd name="T4" fmla="*/ 516 w 560"/>
                <a:gd name="T5" fmla="*/ 552 h 973"/>
                <a:gd name="T6" fmla="*/ 0 w 560"/>
                <a:gd name="T7" fmla="*/ 973 h 973"/>
                <a:gd name="T8" fmla="*/ 0 w 560"/>
                <a:gd name="T9" fmla="*/ 0 h 973"/>
              </a:gdLst>
              <a:ahLst/>
              <a:cxnLst>
                <a:cxn ang="0">
                  <a:pos x="T0" y="T1"/>
                </a:cxn>
                <a:cxn ang="0">
                  <a:pos x="T2" y="T3"/>
                </a:cxn>
                <a:cxn ang="0">
                  <a:pos x="T4" y="T5"/>
                </a:cxn>
                <a:cxn ang="0">
                  <a:pos x="T6" y="T7"/>
                </a:cxn>
                <a:cxn ang="0">
                  <a:pos x="T8" y="T9"/>
                </a:cxn>
              </a:cxnLst>
              <a:rect l="0" t="0" r="r" b="b"/>
              <a:pathLst>
                <a:path w="560" h="973">
                  <a:moveTo>
                    <a:pt x="0" y="0"/>
                  </a:moveTo>
                  <a:lnTo>
                    <a:pt x="516" y="420"/>
                  </a:lnTo>
                  <a:cubicBezTo>
                    <a:pt x="560" y="457"/>
                    <a:pt x="560" y="516"/>
                    <a:pt x="516" y="552"/>
                  </a:cubicBezTo>
                  <a:lnTo>
                    <a:pt x="0" y="973"/>
                  </a:lnTo>
                  <a:lnTo>
                    <a:pt x="0" y="0"/>
                  </a:lnTo>
                  <a:close/>
                </a:path>
              </a:pathLst>
            </a:custGeom>
            <a:solidFill>
              <a:srgbClr val="005BAC"/>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004EA2"/>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 name="文本框 41">
              <a:extLst>
                <a:ext uri="{FF2B5EF4-FFF2-40B4-BE49-F238E27FC236}">
                  <a16:creationId xmlns:a16="http://schemas.microsoft.com/office/drawing/2014/main" id="{CD277C01-E6B7-43ED-A530-CA7B9A8586F1}"/>
                </a:ext>
              </a:extLst>
            </p:cNvPr>
            <p:cNvSpPr txBox="1"/>
            <p:nvPr/>
          </p:nvSpPr>
          <p:spPr>
            <a:xfrm>
              <a:off x="-51603" y="146972"/>
              <a:ext cx="1084083" cy="6895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四</a:t>
              </a:r>
            </a:p>
          </p:txBody>
        </p:sp>
      </p:grpSp>
      <p:sp>
        <p:nvSpPr>
          <p:cNvPr id="43" name="平行四边形 42">
            <a:extLst>
              <a:ext uri="{FF2B5EF4-FFF2-40B4-BE49-F238E27FC236}">
                <a16:creationId xmlns:a16="http://schemas.microsoft.com/office/drawing/2014/main" id="{EE906314-E1D9-4315-8673-A4C33AFAC90F}"/>
              </a:ext>
            </a:extLst>
          </p:cNvPr>
          <p:cNvSpPr/>
          <p:nvPr/>
        </p:nvSpPr>
        <p:spPr>
          <a:xfrm rot="10800000">
            <a:off x="3320143" y="775627"/>
            <a:ext cx="8868566" cy="90674"/>
          </a:xfrm>
          <a:prstGeom prst="parallelogram">
            <a:avLst>
              <a:gd name="adj" fmla="val 196700"/>
            </a:avLst>
          </a:prstGeom>
          <a:solidFill>
            <a:srgbClr val="69B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 name="文本框 16">
            <a:extLst>
              <a:ext uri="{FF2B5EF4-FFF2-40B4-BE49-F238E27FC236}">
                <a16:creationId xmlns:a16="http://schemas.microsoft.com/office/drawing/2014/main" id="{BDB216CC-D1BF-40BE-8B6C-B6095A4891A6}"/>
              </a:ext>
            </a:extLst>
          </p:cNvPr>
          <p:cNvSpPr txBox="1"/>
          <p:nvPr/>
        </p:nvSpPr>
        <p:spPr>
          <a:xfrm>
            <a:off x="6309476" y="4549716"/>
            <a:ext cx="5584408" cy="1200329"/>
          </a:xfrm>
          <a:prstGeom prst="rect">
            <a:avLst/>
          </a:prstGeom>
          <a:solidFill>
            <a:schemeClr val="accent3">
              <a:lumMod val="60000"/>
              <a:lumOff val="40000"/>
              <a:alpha val="26000"/>
            </a:schemeClr>
          </a:solidFill>
          <a:ln w="12700" cap="flat" cmpd="sng" algn="ctr">
            <a:solidFill>
              <a:sysClr val="windowText" lastClr="000000"/>
            </a:solidFill>
            <a:prstDash val="dash"/>
            <a:miter lim="800000"/>
          </a:ln>
          <a:effectLst/>
        </p:spPr>
        <p:txBody>
          <a:bodyPr rtlCol="0" anchor="ctr"/>
          <a:lstStyle>
            <a:defPPr>
              <a:defRPr lang="zh-CN"/>
            </a:defPPr>
            <a:lvl1pPr marR="0" lvl="0" indent="0" algn="just" fontAlgn="auto">
              <a:lnSpc>
                <a:spcPct val="100000"/>
              </a:lnSpc>
              <a:spcBef>
                <a:spcPts val="0"/>
              </a:spcBef>
              <a:spcAft>
                <a:spcPts val="0"/>
              </a:spcAft>
              <a:buClrTx/>
              <a:buSzTx/>
              <a:buFontTx/>
              <a:buNone/>
              <a:tabLst/>
              <a:defRPr kumimoji="0" b="1" i="0" u="none" strike="noStrike" cap="none" spc="0" normalizeH="0" baseline="0">
                <a:ln>
                  <a:noFill/>
                </a:ln>
                <a:solidFill>
                  <a:prstClr val="black"/>
                </a:solidFill>
                <a:effectLst/>
                <a:uLnTx/>
                <a:uFillTx/>
                <a:latin typeface="微软雅黑"/>
                <a:ea typeface="微软雅黑"/>
              </a:defRPr>
            </a:lvl1pPr>
          </a:lstStyle>
          <a:p>
            <a:r>
              <a:rPr lang="zh-CN" altLang="en-US" dirty="0"/>
              <a:t>草地 </a:t>
            </a:r>
            <a:r>
              <a:rPr lang="en-US" altLang="zh-CN" dirty="0"/>
              <a:t>FVC </a:t>
            </a:r>
            <a:r>
              <a:rPr lang="zh-CN" altLang="en-US" dirty="0"/>
              <a:t>的波动与年降水总量之间呈现出显著或高度正相关，而农田和林地 </a:t>
            </a:r>
            <a:r>
              <a:rPr lang="en-US" altLang="zh-CN" dirty="0"/>
              <a:t>FVC </a:t>
            </a:r>
            <a:r>
              <a:rPr lang="zh-CN" altLang="en-US" dirty="0"/>
              <a:t>则与年度均温显著或高度正相关，</a:t>
            </a:r>
            <a:r>
              <a:rPr lang="zh-CN" altLang="en-US" dirty="0">
                <a:solidFill>
                  <a:schemeClr val="tx2"/>
                </a:solidFill>
              </a:rPr>
              <a:t>强调不同植被类型对气候因子的独特响应机制。</a:t>
            </a:r>
          </a:p>
        </p:txBody>
      </p:sp>
      <p:sp>
        <p:nvSpPr>
          <p:cNvPr id="20" name="矩形 19">
            <a:extLst>
              <a:ext uri="{FF2B5EF4-FFF2-40B4-BE49-F238E27FC236}">
                <a16:creationId xmlns:a16="http://schemas.microsoft.com/office/drawing/2014/main" id="{D8B08003-885D-4A98-9706-2D156454B393}"/>
              </a:ext>
            </a:extLst>
          </p:cNvPr>
          <p:cNvSpPr/>
          <p:nvPr/>
        </p:nvSpPr>
        <p:spPr>
          <a:xfrm>
            <a:off x="0" y="5992983"/>
            <a:ext cx="12192000" cy="1081899"/>
          </a:xfrm>
          <a:prstGeom prst="rect">
            <a:avLst/>
          </a:prstGeom>
          <a:solidFill>
            <a:srgbClr val="00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ts val="3700"/>
              </a:lnSpc>
              <a:spcBef>
                <a:spcPts val="600"/>
              </a:spcBef>
              <a:spcAft>
                <a:spcPts val="600"/>
              </a:spcAft>
              <a:defRPr/>
            </a:pPr>
            <a:r>
              <a:rPr kumimoji="0" lang="zh-CN" altLang="en-US" b="1" i="0" u="none" strike="noStrike" kern="1200" cap="none" spc="0" normalizeH="0" baseline="0" noProof="0" dirty="0">
                <a:ln>
                  <a:noFill/>
                </a:ln>
                <a:solidFill>
                  <a:schemeClr val="accent2">
                    <a:lumMod val="40000"/>
                    <a:lumOff val="60000"/>
                  </a:schemeClr>
                </a:solidFill>
                <a:effectLst/>
                <a:uLnTx/>
                <a:uFillTx/>
                <a:latin typeface="微软雅黑" panose="020B0503020204020204" pitchFamily="34" charset="-122"/>
                <a:ea typeface="微软雅黑" panose="020B0503020204020204" pitchFamily="34" charset="-122"/>
                <a:cs typeface="+mn-cs"/>
              </a:rPr>
              <a:t>得出甘肃省 </a:t>
            </a:r>
            <a:r>
              <a:rPr kumimoji="0" lang="en-US" altLang="zh-CN" b="1" i="0" u="none" strike="noStrike" kern="1200" cap="none" spc="0" normalizeH="0" baseline="0" noProof="0" dirty="0">
                <a:ln>
                  <a:noFill/>
                </a:ln>
                <a:solidFill>
                  <a:schemeClr val="accent2">
                    <a:lumMod val="40000"/>
                    <a:lumOff val="60000"/>
                  </a:schemeClr>
                </a:solidFill>
                <a:effectLst/>
                <a:uLnTx/>
                <a:uFillTx/>
                <a:latin typeface="微软雅黑" panose="020B0503020204020204" pitchFamily="34" charset="-122"/>
                <a:ea typeface="微软雅黑" panose="020B0503020204020204" pitchFamily="34" charset="-122"/>
                <a:cs typeface="+mn-cs"/>
              </a:rPr>
              <a:t>1981 - 2020 </a:t>
            </a:r>
            <a:r>
              <a:rPr kumimoji="0" lang="zh-CN" altLang="en-US" b="1" i="0" u="none" strike="noStrike" kern="1200" cap="none" spc="0" normalizeH="0" baseline="0" noProof="0" dirty="0">
                <a:ln>
                  <a:noFill/>
                </a:ln>
                <a:solidFill>
                  <a:schemeClr val="accent2">
                    <a:lumMod val="40000"/>
                    <a:lumOff val="60000"/>
                  </a:schemeClr>
                </a:solidFill>
                <a:effectLst/>
                <a:uLnTx/>
                <a:uFillTx/>
                <a:latin typeface="微软雅黑" panose="020B0503020204020204" pitchFamily="34" charset="-122"/>
                <a:ea typeface="微软雅黑" panose="020B0503020204020204" pitchFamily="34" charset="-122"/>
                <a:cs typeface="+mn-cs"/>
              </a:rPr>
              <a:t>年植被覆盖度时空变化特征及气候因子分析的相应结果，为该地区的生态保护和可持续发展提供科学依据和决策支持。</a:t>
            </a: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22" name="矩形: 圆角 21">
            <a:extLst>
              <a:ext uri="{FF2B5EF4-FFF2-40B4-BE49-F238E27FC236}">
                <a16:creationId xmlns:a16="http://schemas.microsoft.com/office/drawing/2014/main" id="{3052DFFF-BD5D-416E-AA17-0BC05AB4E210}"/>
              </a:ext>
            </a:extLst>
          </p:cNvPr>
          <p:cNvSpPr/>
          <p:nvPr/>
        </p:nvSpPr>
        <p:spPr>
          <a:xfrm>
            <a:off x="479329" y="4528793"/>
            <a:ext cx="5584408" cy="1242175"/>
          </a:xfrm>
          <a:prstGeom prst="roundRect">
            <a:avLst>
              <a:gd name="adj" fmla="val 2372"/>
            </a:avLst>
          </a:prstGeom>
          <a:solidFill>
            <a:schemeClr val="accent3">
              <a:lumMod val="60000"/>
              <a:lumOff val="40000"/>
              <a:alpha val="26000"/>
            </a:schemeClr>
          </a:solidFill>
          <a:ln w="12700" cap="flat" cmpd="sng" algn="ctr">
            <a:solidFill>
              <a:sysClr val="windowText" lastClr="000000"/>
            </a:solidFill>
            <a:prstDash val="dash"/>
            <a:miter lim="800000"/>
          </a:ln>
          <a:effectLst/>
        </p:spPr>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在东南部湿润地区，草地 </a:t>
            </a:r>
            <a:r>
              <a:rPr kumimoji="0" lang="en-US" altLang="zh-CN" sz="1800" b="1" i="0" u="none" strike="noStrike" kern="1200" cap="none" spc="0" normalizeH="0" baseline="0" noProof="0" dirty="0">
                <a:ln>
                  <a:noFill/>
                </a:ln>
                <a:solidFill>
                  <a:prstClr val="black"/>
                </a:solidFill>
                <a:effectLst/>
                <a:uLnTx/>
                <a:uFillTx/>
                <a:latin typeface="微软雅黑"/>
                <a:ea typeface="微软雅黑"/>
                <a:cs typeface="+mn-cs"/>
              </a:rPr>
              <a:t>FVC </a:t>
            </a: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对降水量变化极为敏感，呈显著正相关；而在西北部干旱地区，裸地 </a:t>
            </a:r>
            <a:r>
              <a:rPr kumimoji="0" lang="en-US" altLang="zh-CN" sz="1800" b="1" i="0" u="none" strike="noStrike" kern="1200" cap="none" spc="0" normalizeH="0" baseline="0" noProof="0" dirty="0">
                <a:ln>
                  <a:noFill/>
                </a:ln>
                <a:solidFill>
                  <a:prstClr val="black"/>
                </a:solidFill>
                <a:effectLst/>
                <a:uLnTx/>
                <a:uFillTx/>
                <a:latin typeface="微软雅黑"/>
                <a:ea typeface="微软雅黑"/>
                <a:cs typeface="+mn-cs"/>
              </a:rPr>
              <a:t>FVC </a:t>
            </a:r>
            <a:r>
              <a:rPr kumimoji="0" lang="zh-CN" altLang="en-US" sz="1800" b="1" i="0" u="none" strike="noStrike" kern="1200" cap="none" spc="0" normalizeH="0" baseline="0" noProof="0" dirty="0">
                <a:ln>
                  <a:noFill/>
                </a:ln>
                <a:solidFill>
                  <a:prstClr val="black"/>
                </a:solidFill>
                <a:effectLst/>
                <a:uLnTx/>
                <a:uFillTx/>
                <a:latin typeface="微软雅黑"/>
                <a:ea typeface="微软雅黑"/>
                <a:cs typeface="+mn-cs"/>
              </a:rPr>
              <a:t>在部分区域与气温和降水量均呈负相关等，</a:t>
            </a:r>
            <a:r>
              <a:rPr kumimoji="0" lang="zh-CN" altLang="en-US" sz="1800" b="1" i="0" u="none" strike="noStrike" kern="1200" cap="none" spc="0" normalizeH="0" baseline="0" noProof="0" dirty="0">
                <a:ln>
                  <a:noFill/>
                </a:ln>
                <a:solidFill>
                  <a:schemeClr val="tx2"/>
                </a:solidFill>
                <a:effectLst/>
                <a:uLnTx/>
                <a:uFillTx/>
                <a:latin typeface="微软雅黑"/>
                <a:ea typeface="微软雅黑"/>
                <a:cs typeface="+mn-cs"/>
              </a:rPr>
              <a:t>揭示植被覆盖变化与气候因子关系的区域差异性。</a:t>
            </a:r>
          </a:p>
        </p:txBody>
      </p:sp>
      <p:pic>
        <p:nvPicPr>
          <p:cNvPr id="6" name="图片 5">
            <a:extLst>
              <a:ext uri="{FF2B5EF4-FFF2-40B4-BE49-F238E27FC236}">
                <a16:creationId xmlns:a16="http://schemas.microsoft.com/office/drawing/2014/main" id="{A17BFA7F-2E8B-128E-8780-865137E85DD8}"/>
              </a:ext>
            </a:extLst>
          </p:cNvPr>
          <p:cNvPicPr>
            <a:picLocks noChangeAspect="1"/>
          </p:cNvPicPr>
          <p:nvPr/>
        </p:nvPicPr>
        <p:blipFill>
          <a:blip r:embed="rId2"/>
          <a:stretch>
            <a:fillRect/>
          </a:stretch>
        </p:blipFill>
        <p:spPr>
          <a:xfrm>
            <a:off x="479329" y="2149896"/>
            <a:ext cx="5584408" cy="2047875"/>
          </a:xfrm>
          <a:prstGeom prst="rect">
            <a:avLst/>
          </a:prstGeom>
        </p:spPr>
      </p:pic>
      <p:pic>
        <p:nvPicPr>
          <p:cNvPr id="7" name="图片 6">
            <a:extLst>
              <a:ext uri="{FF2B5EF4-FFF2-40B4-BE49-F238E27FC236}">
                <a16:creationId xmlns:a16="http://schemas.microsoft.com/office/drawing/2014/main" id="{2E1A3E15-4B0F-CFDA-656E-A337C5719C13}"/>
              </a:ext>
            </a:extLst>
          </p:cNvPr>
          <p:cNvPicPr>
            <a:picLocks noChangeAspect="1"/>
          </p:cNvPicPr>
          <p:nvPr/>
        </p:nvPicPr>
        <p:blipFill>
          <a:blip r:embed="rId3"/>
          <a:stretch>
            <a:fillRect/>
          </a:stretch>
        </p:blipFill>
        <p:spPr>
          <a:xfrm>
            <a:off x="6309476" y="2149896"/>
            <a:ext cx="5584408" cy="2047875"/>
          </a:xfrm>
          <a:prstGeom prst="rect">
            <a:avLst/>
          </a:prstGeom>
        </p:spPr>
      </p:pic>
    </p:spTree>
    <p:extLst>
      <p:ext uri="{BB962C8B-B14F-4D97-AF65-F5344CB8AC3E}">
        <p14:creationId xmlns:p14="http://schemas.microsoft.com/office/powerpoint/2010/main" val="884282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87968"/>
            <a:ext cx="7784892" cy="7784892"/>
          </a:xfrm>
          <a:prstGeom prst="rect">
            <a:avLst/>
          </a:prstGeom>
        </p:spPr>
      </p:pic>
      <p:sp>
        <p:nvSpPr>
          <p:cNvPr id="99" name="流程图: 手动输入 3"/>
          <p:cNvSpPr/>
          <p:nvPr/>
        </p:nvSpPr>
        <p:spPr>
          <a:xfrm rot="5400000">
            <a:off x="-772141" y="765575"/>
            <a:ext cx="6865184" cy="5316494"/>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1" fmla="*/ 0 w 10013"/>
              <a:gd name="connsiteY0-2" fmla="*/ 3619 h 10000"/>
              <a:gd name="connsiteX1-3" fmla="*/ 10013 w 10013"/>
              <a:gd name="connsiteY1-4" fmla="*/ 0 h 10000"/>
              <a:gd name="connsiteX2-5" fmla="*/ 10013 w 10013"/>
              <a:gd name="connsiteY2-6" fmla="*/ 10000 h 10000"/>
              <a:gd name="connsiteX3-7" fmla="*/ 13 w 10013"/>
              <a:gd name="connsiteY3-8" fmla="*/ 10000 h 10000"/>
              <a:gd name="connsiteX4-9" fmla="*/ 0 w 10013"/>
              <a:gd name="connsiteY4-10" fmla="*/ 3619 h 10000"/>
              <a:gd name="connsiteX0-11" fmla="*/ 0 w 10013"/>
              <a:gd name="connsiteY0-12" fmla="*/ 3970 h 10000"/>
              <a:gd name="connsiteX1-13" fmla="*/ 10013 w 10013"/>
              <a:gd name="connsiteY1-14" fmla="*/ 0 h 10000"/>
              <a:gd name="connsiteX2-15" fmla="*/ 10013 w 10013"/>
              <a:gd name="connsiteY2-16" fmla="*/ 10000 h 10000"/>
              <a:gd name="connsiteX3-17" fmla="*/ 13 w 10013"/>
              <a:gd name="connsiteY3-18" fmla="*/ 10000 h 10000"/>
              <a:gd name="connsiteX4-19" fmla="*/ 0 w 10013"/>
              <a:gd name="connsiteY4-20" fmla="*/ 397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13" h="10000">
                <a:moveTo>
                  <a:pt x="0" y="3970"/>
                </a:moveTo>
                <a:lnTo>
                  <a:pt x="10013" y="0"/>
                </a:lnTo>
                <a:lnTo>
                  <a:pt x="10013" y="10000"/>
                </a:lnTo>
                <a:lnTo>
                  <a:pt x="13" y="10000"/>
                </a:lnTo>
                <a:cubicBezTo>
                  <a:pt x="9" y="7873"/>
                  <a:pt x="4" y="6097"/>
                  <a:pt x="0" y="3970"/>
                </a:cubicBezTo>
                <a:close/>
              </a:path>
            </a:pathLst>
          </a:custGeom>
          <a:gradFill>
            <a:gsLst>
              <a:gs pos="0">
                <a:srgbClr val="142756"/>
              </a:gs>
              <a:gs pos="100000">
                <a:srgbClr val="2E5DA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dirty="0">
              <a:solidFill>
                <a:schemeClr val="lt1"/>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00" name="图片 99"/>
          <p:cNvPicPr>
            <a:picLocks noChangeAspect="1"/>
          </p:cNvPicPr>
          <p:nvPr/>
        </p:nvPicPr>
        <p:blipFill>
          <a:blip r:embed="rId4">
            <a:extLst>
              <a:ext uri="{28A0092B-C50C-407E-A947-70E740481C1C}">
                <a14:useLocalDpi xmlns:a14="http://schemas.microsoft.com/office/drawing/2010/main" val="0"/>
              </a:ext>
            </a:extLst>
          </a:blip>
          <a:srcRect t="32" b="32"/>
          <a:stretch>
            <a:fillRect/>
          </a:stretch>
        </p:blipFill>
        <p:spPr>
          <a:xfrm>
            <a:off x="819657" y="1074336"/>
            <a:ext cx="4892808" cy="4939693"/>
          </a:xfrm>
          <a:prstGeom prst="ellipse">
            <a:avLst/>
          </a:prstGeom>
          <a:effectLst>
            <a:outerShdw blurRad="63500" sx="102000" sy="102000" algn="ctr" rotWithShape="0">
              <a:prstClr val="black">
                <a:alpha val="40000"/>
              </a:prstClr>
            </a:outerShdw>
          </a:effectLst>
        </p:spPr>
      </p:pic>
      <p:sp>
        <p:nvSpPr>
          <p:cNvPr id="104" name="空心弧 103"/>
          <p:cNvSpPr/>
          <p:nvPr/>
        </p:nvSpPr>
        <p:spPr>
          <a:xfrm rot="14414393">
            <a:off x="895496" y="1098487"/>
            <a:ext cx="4801452" cy="4801452"/>
          </a:xfrm>
          <a:prstGeom prst="blockArc">
            <a:avLst>
              <a:gd name="adj1" fmla="val 10800000"/>
              <a:gd name="adj2" fmla="val 467453"/>
              <a:gd name="adj3" fmla="val 2676"/>
            </a:avLst>
          </a:prstGeom>
          <a:solidFill>
            <a:srgbClr val="FBF9F7"/>
          </a:solidFill>
          <a:ln w="12700" cap="flat" cmpd="sng" algn="ctr">
            <a:noFill/>
            <a:prstDash val="solid"/>
            <a:miter lim="800000"/>
          </a:ln>
          <a:effectLst/>
        </p:spPr>
        <p:txBody>
          <a:bodyPr rtlCol="0" anchor="ctr"/>
          <a:lstStyle/>
          <a:p>
            <a:pPr algn="ctr" defTabSz="914400">
              <a:defRPr/>
            </a:pPr>
            <a:endParaRPr lang="zh-CN" altLang="en-US" kern="0" dirty="0">
              <a:solidFill>
                <a:prstClr val="black"/>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10" name="Freeform 236"/>
          <p:cNvSpPr/>
          <p:nvPr/>
        </p:nvSpPr>
        <p:spPr bwMode="auto">
          <a:xfrm rot="10800000" flipH="1" flipV="1">
            <a:off x="6784728" y="4032933"/>
            <a:ext cx="4242848" cy="58622"/>
          </a:xfrm>
          <a:custGeom>
            <a:avLst/>
            <a:gdLst>
              <a:gd name="T0" fmla="*/ 508 w 508"/>
              <a:gd name="T1" fmla="*/ 28 h 66"/>
              <a:gd name="T2" fmla="*/ 433 w 508"/>
              <a:gd name="T3" fmla="*/ 21 h 66"/>
              <a:gd name="T4" fmla="*/ 445 w 508"/>
              <a:gd name="T5" fmla="*/ 20 h 66"/>
              <a:gd name="T6" fmla="*/ 209 w 508"/>
              <a:gd name="T7" fmla="*/ 5 h 66"/>
              <a:gd name="T8" fmla="*/ 94 w 508"/>
              <a:gd name="T9" fmla="*/ 4 h 66"/>
              <a:gd name="T10" fmla="*/ 62 w 508"/>
              <a:gd name="T11" fmla="*/ 10 h 66"/>
              <a:gd name="T12" fmla="*/ 26 w 508"/>
              <a:gd name="T13" fmla="*/ 14 h 66"/>
              <a:gd name="T14" fmla="*/ 2 w 508"/>
              <a:gd name="T15" fmla="*/ 24 h 66"/>
              <a:gd name="T16" fmla="*/ 12 w 508"/>
              <a:gd name="T17" fmla="*/ 53 h 66"/>
              <a:gd name="T18" fmla="*/ 10 w 508"/>
              <a:gd name="T19" fmla="*/ 56 h 66"/>
              <a:gd name="T20" fmla="*/ 11 w 508"/>
              <a:gd name="T21" fmla="*/ 65 h 66"/>
              <a:gd name="T22" fmla="*/ 23 w 508"/>
              <a:gd name="T23" fmla="*/ 60 h 66"/>
              <a:gd name="T24" fmla="*/ 34 w 508"/>
              <a:gd name="T25" fmla="*/ 62 h 66"/>
              <a:gd name="T26" fmla="*/ 61 w 508"/>
              <a:gd name="T27" fmla="*/ 52 h 66"/>
              <a:gd name="T28" fmla="*/ 108 w 508"/>
              <a:gd name="T29" fmla="*/ 54 h 66"/>
              <a:gd name="T30" fmla="*/ 279 w 508"/>
              <a:gd name="T31" fmla="*/ 48 h 66"/>
              <a:gd name="T32" fmla="*/ 366 w 508"/>
              <a:gd name="T33" fmla="*/ 43 h 66"/>
              <a:gd name="T34" fmla="*/ 362 w 508"/>
              <a:gd name="T35" fmla="*/ 42 h 66"/>
              <a:gd name="T36" fmla="*/ 477 w 508"/>
              <a:gd name="T37" fmla="*/ 36 h 66"/>
              <a:gd name="T38" fmla="*/ 491 w 508"/>
              <a:gd name="T39" fmla="*/ 33 h 66"/>
              <a:gd name="T40" fmla="*/ 474 w 508"/>
              <a:gd name="T41" fmla="*/ 31 h 66"/>
              <a:gd name="T42" fmla="*/ 508 w 508"/>
              <a:gd name="T43"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08" h="66">
                <a:moveTo>
                  <a:pt x="508" y="28"/>
                </a:moveTo>
                <a:cubicBezTo>
                  <a:pt x="433" y="21"/>
                  <a:pt x="433" y="21"/>
                  <a:pt x="433" y="21"/>
                </a:cubicBezTo>
                <a:cubicBezTo>
                  <a:pt x="437" y="20"/>
                  <a:pt x="441" y="22"/>
                  <a:pt x="445" y="20"/>
                </a:cubicBezTo>
                <a:cubicBezTo>
                  <a:pt x="360" y="13"/>
                  <a:pt x="292" y="6"/>
                  <a:pt x="209" y="5"/>
                </a:cubicBezTo>
                <a:cubicBezTo>
                  <a:pt x="172" y="6"/>
                  <a:pt x="130" y="1"/>
                  <a:pt x="94" y="4"/>
                </a:cubicBezTo>
                <a:cubicBezTo>
                  <a:pt x="85" y="11"/>
                  <a:pt x="70" y="0"/>
                  <a:pt x="62" y="10"/>
                </a:cubicBezTo>
                <a:cubicBezTo>
                  <a:pt x="50" y="10"/>
                  <a:pt x="37" y="10"/>
                  <a:pt x="26" y="14"/>
                </a:cubicBezTo>
                <a:cubicBezTo>
                  <a:pt x="16" y="10"/>
                  <a:pt x="10" y="20"/>
                  <a:pt x="2" y="24"/>
                </a:cubicBezTo>
                <a:cubicBezTo>
                  <a:pt x="0" y="34"/>
                  <a:pt x="4" y="44"/>
                  <a:pt x="12" y="53"/>
                </a:cubicBezTo>
                <a:cubicBezTo>
                  <a:pt x="12" y="54"/>
                  <a:pt x="11" y="55"/>
                  <a:pt x="10" y="56"/>
                </a:cubicBezTo>
                <a:cubicBezTo>
                  <a:pt x="8" y="59"/>
                  <a:pt x="8" y="63"/>
                  <a:pt x="11" y="65"/>
                </a:cubicBezTo>
                <a:cubicBezTo>
                  <a:pt x="15" y="64"/>
                  <a:pt x="19" y="63"/>
                  <a:pt x="23" y="60"/>
                </a:cubicBezTo>
                <a:cubicBezTo>
                  <a:pt x="27" y="60"/>
                  <a:pt x="30" y="66"/>
                  <a:pt x="34" y="62"/>
                </a:cubicBezTo>
                <a:cubicBezTo>
                  <a:pt x="42" y="54"/>
                  <a:pt x="52" y="55"/>
                  <a:pt x="61" y="52"/>
                </a:cubicBezTo>
                <a:cubicBezTo>
                  <a:pt x="76" y="54"/>
                  <a:pt x="93" y="53"/>
                  <a:pt x="108" y="54"/>
                </a:cubicBezTo>
                <a:cubicBezTo>
                  <a:pt x="161" y="52"/>
                  <a:pt x="222" y="49"/>
                  <a:pt x="279" y="48"/>
                </a:cubicBezTo>
                <a:cubicBezTo>
                  <a:pt x="308" y="49"/>
                  <a:pt x="338" y="46"/>
                  <a:pt x="366" y="43"/>
                </a:cubicBezTo>
                <a:cubicBezTo>
                  <a:pt x="365" y="43"/>
                  <a:pt x="363" y="43"/>
                  <a:pt x="362" y="42"/>
                </a:cubicBezTo>
                <a:cubicBezTo>
                  <a:pt x="401" y="41"/>
                  <a:pt x="439" y="38"/>
                  <a:pt x="477" y="36"/>
                </a:cubicBezTo>
                <a:cubicBezTo>
                  <a:pt x="481" y="34"/>
                  <a:pt x="487" y="37"/>
                  <a:pt x="491" y="33"/>
                </a:cubicBezTo>
                <a:cubicBezTo>
                  <a:pt x="486" y="31"/>
                  <a:pt x="479" y="33"/>
                  <a:pt x="474" y="31"/>
                </a:cubicBezTo>
                <a:cubicBezTo>
                  <a:pt x="485" y="29"/>
                  <a:pt x="498" y="31"/>
                  <a:pt x="508" y="28"/>
                </a:cubicBezTo>
                <a:close/>
              </a:path>
            </a:pathLst>
          </a:custGeom>
          <a:solidFill>
            <a:srgbClr val="0070C0"/>
          </a:solidFill>
          <a:ln>
            <a:noFill/>
          </a:ln>
        </p:spPr>
        <p:txBody>
          <a:bodyPr vert="horz" wrap="square" lIns="91440" tIns="45720" rIns="91440" bIns="45720" numCol="1" anchor="t" anchorCtr="0" compatLnSpc="1"/>
          <a:lstStyle/>
          <a:p>
            <a:pPr defTabSz="457200">
              <a:lnSpc>
                <a:spcPct val="130000"/>
              </a:lnSpc>
            </a:pPr>
            <a:endParaRPr lang="zh-CN" altLang="en-US" dirty="0">
              <a:solidFill>
                <a:prstClr val="white"/>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11" name="组合 10"/>
          <p:cNvGrpSpPr/>
          <p:nvPr/>
        </p:nvGrpSpPr>
        <p:grpSpPr>
          <a:xfrm>
            <a:off x="6526635" y="4735646"/>
            <a:ext cx="2227055" cy="370546"/>
            <a:chOff x="4654427" y="4718860"/>
            <a:chExt cx="1663809" cy="276971"/>
          </a:xfrm>
        </p:grpSpPr>
        <p:grpSp>
          <p:nvGrpSpPr>
            <p:cNvPr id="12" name="组合 11"/>
            <p:cNvGrpSpPr/>
            <p:nvPr/>
          </p:nvGrpSpPr>
          <p:grpSpPr>
            <a:xfrm>
              <a:off x="4654427" y="4718860"/>
              <a:ext cx="276971" cy="276971"/>
              <a:chOff x="3725237" y="4930504"/>
              <a:chExt cx="531780" cy="531780"/>
            </a:xfrm>
          </p:grpSpPr>
          <p:sp>
            <p:nvSpPr>
              <p:cNvPr id="14" name="圆角矩形 2"/>
              <p:cNvSpPr/>
              <p:nvPr/>
            </p:nvSpPr>
            <p:spPr>
              <a:xfrm>
                <a:off x="3725237"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student-graduation-cap-shape_52041"/>
              <p:cNvSpPr>
                <a:spLocks noChangeAspect="1"/>
              </p:cNvSpPr>
              <p:nvPr/>
            </p:nvSpPr>
            <p:spPr bwMode="auto">
              <a:xfrm>
                <a:off x="3875605" y="5054575"/>
                <a:ext cx="219840" cy="264806"/>
              </a:xfrm>
              <a:custGeom>
                <a:avLst/>
                <a:gdLst>
                  <a:gd name="connsiteX0" fmla="*/ 56671 w 279400"/>
                  <a:gd name="connsiteY0" fmla="*/ 192087 h 336550"/>
                  <a:gd name="connsiteX1" fmla="*/ 224047 w 279400"/>
                  <a:gd name="connsiteY1" fmla="*/ 192087 h 336550"/>
                  <a:gd name="connsiteX2" fmla="*/ 279400 w 279400"/>
                  <a:gd name="connsiteY2" fmla="*/ 247752 h 336550"/>
                  <a:gd name="connsiteX3" fmla="*/ 279400 w 279400"/>
                  <a:gd name="connsiteY3" fmla="*/ 336550 h 336550"/>
                  <a:gd name="connsiteX4" fmla="*/ 176602 w 279400"/>
                  <a:gd name="connsiteY4" fmla="*/ 336550 h 336550"/>
                  <a:gd name="connsiteX5" fmla="*/ 158151 w 279400"/>
                  <a:gd name="connsiteY5" fmla="*/ 245101 h 336550"/>
                  <a:gd name="connsiteX6" fmla="*/ 151562 w 279400"/>
                  <a:gd name="connsiteY6" fmla="*/ 239800 h 336550"/>
                  <a:gd name="connsiteX7" fmla="*/ 167377 w 279400"/>
                  <a:gd name="connsiteY7" fmla="*/ 213293 h 336550"/>
                  <a:gd name="connsiteX8" fmla="*/ 167377 w 279400"/>
                  <a:gd name="connsiteY8" fmla="*/ 209317 h 336550"/>
                  <a:gd name="connsiteX9" fmla="*/ 163423 w 279400"/>
                  <a:gd name="connsiteY9" fmla="*/ 207991 h 336550"/>
                  <a:gd name="connsiteX10" fmla="*/ 121249 w 279400"/>
                  <a:gd name="connsiteY10" fmla="*/ 207991 h 336550"/>
                  <a:gd name="connsiteX11" fmla="*/ 118613 w 279400"/>
                  <a:gd name="connsiteY11" fmla="*/ 209317 h 336550"/>
                  <a:gd name="connsiteX12" fmla="*/ 118613 w 279400"/>
                  <a:gd name="connsiteY12" fmla="*/ 213293 h 336550"/>
                  <a:gd name="connsiteX13" fmla="*/ 134429 w 279400"/>
                  <a:gd name="connsiteY13" fmla="*/ 239800 h 336550"/>
                  <a:gd name="connsiteX14" fmla="*/ 126521 w 279400"/>
                  <a:gd name="connsiteY14" fmla="*/ 245101 h 336550"/>
                  <a:gd name="connsiteX15" fmla="*/ 110706 w 279400"/>
                  <a:gd name="connsiteY15" fmla="*/ 336550 h 336550"/>
                  <a:gd name="connsiteX16" fmla="*/ 0 w 279400"/>
                  <a:gd name="connsiteY16" fmla="*/ 336550 h 336550"/>
                  <a:gd name="connsiteX17" fmla="*/ 0 w 279400"/>
                  <a:gd name="connsiteY17" fmla="*/ 247752 h 336550"/>
                  <a:gd name="connsiteX18" fmla="*/ 56671 w 279400"/>
                  <a:gd name="connsiteY18" fmla="*/ 192087 h 336550"/>
                  <a:gd name="connsiteX19" fmla="*/ 138907 w 279400"/>
                  <a:gd name="connsiteY19" fmla="*/ 0 h 336550"/>
                  <a:gd name="connsiteX20" fmla="*/ 219076 w 279400"/>
                  <a:gd name="connsiteY20" fmla="*/ 80169 h 336550"/>
                  <a:gd name="connsiteX21" fmla="*/ 138907 w 279400"/>
                  <a:gd name="connsiteY21" fmla="*/ 160338 h 336550"/>
                  <a:gd name="connsiteX22" fmla="*/ 58738 w 279400"/>
                  <a:gd name="connsiteY22" fmla="*/ 80169 h 336550"/>
                  <a:gd name="connsiteX23" fmla="*/ 138907 w 279400"/>
                  <a:gd name="connsiteY2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9400" h="336550">
                    <a:moveTo>
                      <a:pt x="56671" y="192087"/>
                    </a:moveTo>
                    <a:cubicBezTo>
                      <a:pt x="56671" y="192087"/>
                      <a:pt x="56671" y="192087"/>
                      <a:pt x="224047" y="192087"/>
                    </a:cubicBezTo>
                    <a:cubicBezTo>
                      <a:pt x="254360" y="192087"/>
                      <a:pt x="279400" y="217269"/>
                      <a:pt x="279400" y="247752"/>
                    </a:cubicBezTo>
                    <a:cubicBezTo>
                      <a:pt x="279400" y="247752"/>
                      <a:pt x="279400" y="247752"/>
                      <a:pt x="279400" y="336550"/>
                    </a:cubicBezTo>
                    <a:cubicBezTo>
                      <a:pt x="279400" y="336550"/>
                      <a:pt x="279400" y="336550"/>
                      <a:pt x="176602" y="336550"/>
                    </a:cubicBezTo>
                    <a:cubicBezTo>
                      <a:pt x="176602" y="336550"/>
                      <a:pt x="176602" y="336550"/>
                      <a:pt x="158151" y="245101"/>
                    </a:cubicBezTo>
                    <a:cubicBezTo>
                      <a:pt x="158151" y="242450"/>
                      <a:pt x="154197" y="239800"/>
                      <a:pt x="151562" y="239800"/>
                    </a:cubicBezTo>
                    <a:cubicBezTo>
                      <a:pt x="151562" y="239800"/>
                      <a:pt x="151562" y="239800"/>
                      <a:pt x="167377" y="213293"/>
                    </a:cubicBezTo>
                    <a:cubicBezTo>
                      <a:pt x="167377" y="211967"/>
                      <a:pt x="167377" y="210642"/>
                      <a:pt x="167377" y="209317"/>
                    </a:cubicBezTo>
                    <a:cubicBezTo>
                      <a:pt x="166059" y="207991"/>
                      <a:pt x="164741" y="207991"/>
                      <a:pt x="163423" y="207991"/>
                    </a:cubicBezTo>
                    <a:cubicBezTo>
                      <a:pt x="163423" y="207991"/>
                      <a:pt x="163423" y="207991"/>
                      <a:pt x="121249" y="207991"/>
                    </a:cubicBezTo>
                    <a:cubicBezTo>
                      <a:pt x="119931" y="207991"/>
                      <a:pt x="118613" y="207991"/>
                      <a:pt x="118613" y="209317"/>
                    </a:cubicBezTo>
                    <a:cubicBezTo>
                      <a:pt x="117296" y="210642"/>
                      <a:pt x="117296" y="211967"/>
                      <a:pt x="118613" y="213293"/>
                    </a:cubicBezTo>
                    <a:cubicBezTo>
                      <a:pt x="118613" y="213293"/>
                      <a:pt x="118613" y="213293"/>
                      <a:pt x="134429" y="239800"/>
                    </a:cubicBezTo>
                    <a:cubicBezTo>
                      <a:pt x="130475" y="239800"/>
                      <a:pt x="127839" y="242450"/>
                      <a:pt x="126521" y="245101"/>
                    </a:cubicBezTo>
                    <a:cubicBezTo>
                      <a:pt x="126521" y="245101"/>
                      <a:pt x="126521" y="245101"/>
                      <a:pt x="110706" y="336550"/>
                    </a:cubicBezTo>
                    <a:cubicBezTo>
                      <a:pt x="110706" y="336550"/>
                      <a:pt x="110706" y="336550"/>
                      <a:pt x="0" y="336550"/>
                    </a:cubicBezTo>
                    <a:cubicBezTo>
                      <a:pt x="0" y="336550"/>
                      <a:pt x="0" y="336550"/>
                      <a:pt x="0" y="247752"/>
                    </a:cubicBezTo>
                    <a:cubicBezTo>
                      <a:pt x="0" y="217269"/>
                      <a:pt x="25040" y="192087"/>
                      <a:pt x="56671" y="192087"/>
                    </a:cubicBezTo>
                    <a:close/>
                    <a:moveTo>
                      <a:pt x="138907" y="0"/>
                    </a:moveTo>
                    <a:cubicBezTo>
                      <a:pt x="183183" y="0"/>
                      <a:pt x="219076" y="35893"/>
                      <a:pt x="219076" y="80169"/>
                    </a:cubicBezTo>
                    <a:cubicBezTo>
                      <a:pt x="219076" y="124445"/>
                      <a:pt x="183183" y="160338"/>
                      <a:pt x="138907" y="160338"/>
                    </a:cubicBezTo>
                    <a:cubicBezTo>
                      <a:pt x="94631" y="160338"/>
                      <a:pt x="58738" y="124445"/>
                      <a:pt x="58738" y="80169"/>
                    </a:cubicBezTo>
                    <a:cubicBezTo>
                      <a:pt x="58738" y="35893"/>
                      <a:pt x="94631" y="0"/>
                      <a:pt x="138907"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3" name="文本框 22"/>
            <p:cNvSpPr txBox="1"/>
            <p:nvPr/>
          </p:nvSpPr>
          <p:spPr>
            <a:xfrm>
              <a:off x="4925563" y="4732803"/>
              <a:ext cx="1392673" cy="253058"/>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汇报人：周嘉伟</a:t>
              </a:r>
            </a:p>
          </p:txBody>
        </p:sp>
      </p:grpSp>
      <p:grpSp>
        <p:nvGrpSpPr>
          <p:cNvPr id="16" name="组合 15"/>
          <p:cNvGrpSpPr/>
          <p:nvPr/>
        </p:nvGrpSpPr>
        <p:grpSpPr>
          <a:xfrm>
            <a:off x="9022660" y="4735646"/>
            <a:ext cx="2698615" cy="370765"/>
            <a:chOff x="6395842" y="4718860"/>
            <a:chExt cx="2016134" cy="276971"/>
          </a:xfrm>
        </p:grpSpPr>
        <p:grpSp>
          <p:nvGrpSpPr>
            <p:cNvPr id="17" name="组合 16"/>
            <p:cNvGrpSpPr/>
            <p:nvPr/>
          </p:nvGrpSpPr>
          <p:grpSpPr>
            <a:xfrm>
              <a:off x="6395842" y="4718860"/>
              <a:ext cx="276971" cy="276971"/>
              <a:chOff x="6392770" y="4930504"/>
              <a:chExt cx="531780" cy="531780"/>
            </a:xfrm>
          </p:grpSpPr>
          <p:sp>
            <p:nvSpPr>
              <p:cNvPr id="19" name="圆角矩形 2"/>
              <p:cNvSpPr/>
              <p:nvPr/>
            </p:nvSpPr>
            <p:spPr>
              <a:xfrm>
                <a:off x="6392770" y="4930504"/>
                <a:ext cx="531780" cy="531780"/>
              </a:xfrm>
              <a:prstGeom prst="ellipse">
                <a:avLst/>
              </a:prstGeom>
              <a:solidFill>
                <a:srgbClr val="0070C0"/>
              </a:solidFill>
              <a:ln w="25400" cap="flat" cmpd="sng" algn="ctr">
                <a:noFill/>
                <a:prstDash val="solid"/>
                <a:miter lim="800000"/>
              </a:ln>
              <a:effectLst>
                <a:outerShdw blurRad="177800" dist="101600" dir="8100000" algn="tr" rotWithShape="0">
                  <a:prstClr val="black">
                    <a:alpha val="30000"/>
                  </a:prstClr>
                </a:outerShdw>
              </a:effectLst>
            </p:spPr>
            <p:txBody>
              <a:bodyPr rtlCol="0" anchor="ct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algn="ctr" defTabSz="913765">
                  <a:defRPr/>
                </a:pPr>
                <a:endParaRPr lang="zh-CN" altLang="en-US" sz="14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student-graduation-cap-shape_52041"/>
              <p:cNvSpPr>
                <a:spLocks noChangeAspect="1"/>
              </p:cNvSpPr>
              <p:nvPr/>
            </p:nvSpPr>
            <p:spPr bwMode="auto">
              <a:xfrm>
                <a:off x="6527005" y="5064598"/>
                <a:ext cx="256066" cy="264808"/>
              </a:xfrm>
              <a:custGeom>
                <a:avLst/>
                <a:gdLst>
                  <a:gd name="connsiteX0" fmla="*/ 233363 w 325438"/>
                  <a:gd name="connsiteY0" fmla="*/ 249238 h 336550"/>
                  <a:gd name="connsiteX1" fmla="*/ 279401 w 325438"/>
                  <a:gd name="connsiteY1" fmla="*/ 249238 h 336550"/>
                  <a:gd name="connsiteX2" fmla="*/ 279401 w 325438"/>
                  <a:gd name="connsiteY2" fmla="*/ 290513 h 336550"/>
                  <a:gd name="connsiteX3" fmla="*/ 233363 w 325438"/>
                  <a:gd name="connsiteY3" fmla="*/ 290513 h 336550"/>
                  <a:gd name="connsiteX4" fmla="*/ 171450 w 325438"/>
                  <a:gd name="connsiteY4" fmla="*/ 249238 h 336550"/>
                  <a:gd name="connsiteX5" fmla="*/ 217488 w 325438"/>
                  <a:gd name="connsiteY5" fmla="*/ 249238 h 336550"/>
                  <a:gd name="connsiteX6" fmla="*/ 217488 w 325438"/>
                  <a:gd name="connsiteY6" fmla="*/ 290513 h 336550"/>
                  <a:gd name="connsiteX7" fmla="*/ 171450 w 325438"/>
                  <a:gd name="connsiteY7" fmla="*/ 290513 h 336550"/>
                  <a:gd name="connsiteX8" fmla="*/ 107950 w 325438"/>
                  <a:gd name="connsiteY8" fmla="*/ 249238 h 336550"/>
                  <a:gd name="connsiteX9" fmla="*/ 155575 w 325438"/>
                  <a:gd name="connsiteY9" fmla="*/ 249238 h 336550"/>
                  <a:gd name="connsiteX10" fmla="*/ 155575 w 325438"/>
                  <a:gd name="connsiteY10" fmla="*/ 290513 h 336550"/>
                  <a:gd name="connsiteX11" fmla="*/ 107950 w 325438"/>
                  <a:gd name="connsiteY11" fmla="*/ 290513 h 336550"/>
                  <a:gd name="connsiteX12" fmla="*/ 46038 w 325438"/>
                  <a:gd name="connsiteY12" fmla="*/ 249238 h 336550"/>
                  <a:gd name="connsiteX13" fmla="*/ 93663 w 325438"/>
                  <a:gd name="connsiteY13" fmla="*/ 249238 h 336550"/>
                  <a:gd name="connsiteX14" fmla="*/ 93663 w 325438"/>
                  <a:gd name="connsiteY14" fmla="*/ 290513 h 336550"/>
                  <a:gd name="connsiteX15" fmla="*/ 46038 w 325438"/>
                  <a:gd name="connsiteY15" fmla="*/ 290513 h 336550"/>
                  <a:gd name="connsiteX16" fmla="*/ 233363 w 325438"/>
                  <a:gd name="connsiteY16" fmla="*/ 195263 h 336550"/>
                  <a:gd name="connsiteX17" fmla="*/ 279401 w 325438"/>
                  <a:gd name="connsiteY17" fmla="*/ 195263 h 336550"/>
                  <a:gd name="connsiteX18" fmla="*/ 279401 w 325438"/>
                  <a:gd name="connsiteY18" fmla="*/ 234951 h 336550"/>
                  <a:gd name="connsiteX19" fmla="*/ 233363 w 325438"/>
                  <a:gd name="connsiteY19" fmla="*/ 234951 h 336550"/>
                  <a:gd name="connsiteX20" fmla="*/ 171450 w 325438"/>
                  <a:gd name="connsiteY20" fmla="*/ 195263 h 336550"/>
                  <a:gd name="connsiteX21" fmla="*/ 217488 w 325438"/>
                  <a:gd name="connsiteY21" fmla="*/ 195263 h 336550"/>
                  <a:gd name="connsiteX22" fmla="*/ 217488 w 325438"/>
                  <a:gd name="connsiteY22" fmla="*/ 234951 h 336550"/>
                  <a:gd name="connsiteX23" fmla="*/ 171450 w 325438"/>
                  <a:gd name="connsiteY23" fmla="*/ 234951 h 336550"/>
                  <a:gd name="connsiteX24" fmla="*/ 107950 w 325438"/>
                  <a:gd name="connsiteY24" fmla="*/ 195263 h 336550"/>
                  <a:gd name="connsiteX25" fmla="*/ 155575 w 325438"/>
                  <a:gd name="connsiteY25" fmla="*/ 195263 h 336550"/>
                  <a:gd name="connsiteX26" fmla="*/ 155575 w 325438"/>
                  <a:gd name="connsiteY26" fmla="*/ 234951 h 336550"/>
                  <a:gd name="connsiteX27" fmla="*/ 107950 w 325438"/>
                  <a:gd name="connsiteY27" fmla="*/ 234951 h 336550"/>
                  <a:gd name="connsiteX28" fmla="*/ 46038 w 325438"/>
                  <a:gd name="connsiteY28" fmla="*/ 195263 h 336550"/>
                  <a:gd name="connsiteX29" fmla="*/ 93663 w 325438"/>
                  <a:gd name="connsiteY29" fmla="*/ 195263 h 336550"/>
                  <a:gd name="connsiteX30" fmla="*/ 93663 w 325438"/>
                  <a:gd name="connsiteY30" fmla="*/ 234951 h 336550"/>
                  <a:gd name="connsiteX31" fmla="*/ 46038 w 325438"/>
                  <a:gd name="connsiteY31" fmla="*/ 234951 h 336550"/>
                  <a:gd name="connsiteX32" fmla="*/ 233363 w 325438"/>
                  <a:gd name="connsiteY32" fmla="*/ 139700 h 336550"/>
                  <a:gd name="connsiteX33" fmla="*/ 279401 w 325438"/>
                  <a:gd name="connsiteY33" fmla="*/ 139700 h 336550"/>
                  <a:gd name="connsiteX34" fmla="*/ 279401 w 325438"/>
                  <a:gd name="connsiteY34" fmla="*/ 180975 h 336550"/>
                  <a:gd name="connsiteX35" fmla="*/ 233363 w 325438"/>
                  <a:gd name="connsiteY35" fmla="*/ 180975 h 336550"/>
                  <a:gd name="connsiteX36" fmla="*/ 171450 w 325438"/>
                  <a:gd name="connsiteY36" fmla="*/ 139700 h 336550"/>
                  <a:gd name="connsiteX37" fmla="*/ 217488 w 325438"/>
                  <a:gd name="connsiteY37" fmla="*/ 139700 h 336550"/>
                  <a:gd name="connsiteX38" fmla="*/ 217488 w 325438"/>
                  <a:gd name="connsiteY38" fmla="*/ 180975 h 336550"/>
                  <a:gd name="connsiteX39" fmla="*/ 171450 w 325438"/>
                  <a:gd name="connsiteY39" fmla="*/ 180975 h 336550"/>
                  <a:gd name="connsiteX40" fmla="*/ 107950 w 325438"/>
                  <a:gd name="connsiteY40" fmla="*/ 139700 h 336550"/>
                  <a:gd name="connsiteX41" fmla="*/ 155575 w 325438"/>
                  <a:gd name="connsiteY41" fmla="*/ 139700 h 336550"/>
                  <a:gd name="connsiteX42" fmla="*/ 155575 w 325438"/>
                  <a:gd name="connsiteY42" fmla="*/ 180975 h 336550"/>
                  <a:gd name="connsiteX43" fmla="*/ 107950 w 325438"/>
                  <a:gd name="connsiteY43" fmla="*/ 180975 h 336550"/>
                  <a:gd name="connsiteX44" fmla="*/ 49167 w 325438"/>
                  <a:gd name="connsiteY44" fmla="*/ 38100 h 336550"/>
                  <a:gd name="connsiteX45" fmla="*/ 25400 w 325438"/>
                  <a:gd name="connsiteY45" fmla="*/ 61753 h 336550"/>
                  <a:gd name="connsiteX46" fmla="*/ 25400 w 325438"/>
                  <a:gd name="connsiteY46" fmla="*/ 289085 h 336550"/>
                  <a:gd name="connsiteX47" fmla="*/ 49167 w 325438"/>
                  <a:gd name="connsiteY47" fmla="*/ 312738 h 336550"/>
                  <a:gd name="connsiteX48" fmla="*/ 276271 w 325438"/>
                  <a:gd name="connsiteY48" fmla="*/ 312738 h 336550"/>
                  <a:gd name="connsiteX49" fmla="*/ 300038 w 325438"/>
                  <a:gd name="connsiteY49" fmla="*/ 289085 h 336550"/>
                  <a:gd name="connsiteX50" fmla="*/ 300038 w 325438"/>
                  <a:gd name="connsiteY50" fmla="*/ 61753 h 336550"/>
                  <a:gd name="connsiteX51" fmla="*/ 276271 w 325438"/>
                  <a:gd name="connsiteY51" fmla="*/ 38100 h 336550"/>
                  <a:gd name="connsiteX52" fmla="*/ 269669 w 325438"/>
                  <a:gd name="connsiteY52" fmla="*/ 38100 h 336550"/>
                  <a:gd name="connsiteX53" fmla="*/ 269669 w 325438"/>
                  <a:gd name="connsiteY53" fmla="*/ 63067 h 336550"/>
                  <a:gd name="connsiteX54" fmla="*/ 276271 w 325438"/>
                  <a:gd name="connsiteY54" fmla="*/ 74894 h 336550"/>
                  <a:gd name="connsiteX55" fmla="*/ 260427 w 325438"/>
                  <a:gd name="connsiteY55" fmla="*/ 90662 h 336550"/>
                  <a:gd name="connsiteX56" fmla="*/ 244582 w 325438"/>
                  <a:gd name="connsiteY56" fmla="*/ 74894 h 336550"/>
                  <a:gd name="connsiteX57" fmla="*/ 249864 w 325438"/>
                  <a:gd name="connsiteY57" fmla="*/ 63067 h 336550"/>
                  <a:gd name="connsiteX58" fmla="*/ 249864 w 325438"/>
                  <a:gd name="connsiteY58" fmla="*/ 38100 h 336550"/>
                  <a:gd name="connsiteX59" fmla="*/ 231379 w 325438"/>
                  <a:gd name="connsiteY59" fmla="*/ 38100 h 336550"/>
                  <a:gd name="connsiteX60" fmla="*/ 231379 w 325438"/>
                  <a:gd name="connsiteY60" fmla="*/ 63067 h 336550"/>
                  <a:gd name="connsiteX61" fmla="*/ 236660 w 325438"/>
                  <a:gd name="connsiteY61" fmla="*/ 74894 h 336550"/>
                  <a:gd name="connsiteX62" fmla="*/ 220816 w 325438"/>
                  <a:gd name="connsiteY62" fmla="*/ 90662 h 336550"/>
                  <a:gd name="connsiteX63" fmla="*/ 204971 w 325438"/>
                  <a:gd name="connsiteY63" fmla="*/ 74894 h 336550"/>
                  <a:gd name="connsiteX64" fmla="*/ 210253 w 325438"/>
                  <a:gd name="connsiteY64" fmla="*/ 63067 h 336550"/>
                  <a:gd name="connsiteX65" fmla="*/ 210253 w 325438"/>
                  <a:gd name="connsiteY65" fmla="*/ 38100 h 336550"/>
                  <a:gd name="connsiteX66" fmla="*/ 191767 w 325438"/>
                  <a:gd name="connsiteY66" fmla="*/ 38100 h 336550"/>
                  <a:gd name="connsiteX67" fmla="*/ 191767 w 325438"/>
                  <a:gd name="connsiteY67" fmla="*/ 63067 h 336550"/>
                  <a:gd name="connsiteX68" fmla="*/ 198369 w 325438"/>
                  <a:gd name="connsiteY68" fmla="*/ 74894 h 336550"/>
                  <a:gd name="connsiteX69" fmla="*/ 182525 w 325438"/>
                  <a:gd name="connsiteY69" fmla="*/ 90662 h 336550"/>
                  <a:gd name="connsiteX70" fmla="*/ 166680 w 325438"/>
                  <a:gd name="connsiteY70" fmla="*/ 74894 h 336550"/>
                  <a:gd name="connsiteX71" fmla="*/ 171962 w 325438"/>
                  <a:gd name="connsiteY71" fmla="*/ 63067 h 336550"/>
                  <a:gd name="connsiteX72" fmla="*/ 171962 w 325438"/>
                  <a:gd name="connsiteY72" fmla="*/ 38100 h 336550"/>
                  <a:gd name="connsiteX73" fmla="*/ 153476 w 325438"/>
                  <a:gd name="connsiteY73" fmla="*/ 38100 h 336550"/>
                  <a:gd name="connsiteX74" fmla="*/ 153476 w 325438"/>
                  <a:gd name="connsiteY74" fmla="*/ 63067 h 336550"/>
                  <a:gd name="connsiteX75" fmla="*/ 158758 w 325438"/>
                  <a:gd name="connsiteY75" fmla="*/ 74894 h 336550"/>
                  <a:gd name="connsiteX76" fmla="*/ 142913 w 325438"/>
                  <a:gd name="connsiteY76" fmla="*/ 90662 h 336550"/>
                  <a:gd name="connsiteX77" fmla="*/ 127069 w 325438"/>
                  <a:gd name="connsiteY77" fmla="*/ 74894 h 336550"/>
                  <a:gd name="connsiteX78" fmla="*/ 133671 w 325438"/>
                  <a:gd name="connsiteY78" fmla="*/ 63067 h 336550"/>
                  <a:gd name="connsiteX79" fmla="*/ 133671 w 325438"/>
                  <a:gd name="connsiteY79" fmla="*/ 38100 h 336550"/>
                  <a:gd name="connsiteX80" fmla="*/ 115186 w 325438"/>
                  <a:gd name="connsiteY80" fmla="*/ 38100 h 336550"/>
                  <a:gd name="connsiteX81" fmla="*/ 115186 w 325438"/>
                  <a:gd name="connsiteY81" fmla="*/ 63067 h 336550"/>
                  <a:gd name="connsiteX82" fmla="*/ 120467 w 325438"/>
                  <a:gd name="connsiteY82" fmla="*/ 74894 h 336550"/>
                  <a:gd name="connsiteX83" fmla="*/ 104623 w 325438"/>
                  <a:gd name="connsiteY83" fmla="*/ 90662 h 336550"/>
                  <a:gd name="connsiteX84" fmla="*/ 88778 w 325438"/>
                  <a:gd name="connsiteY84" fmla="*/ 74894 h 336550"/>
                  <a:gd name="connsiteX85" fmla="*/ 94060 w 325438"/>
                  <a:gd name="connsiteY85" fmla="*/ 63067 h 336550"/>
                  <a:gd name="connsiteX86" fmla="*/ 94060 w 325438"/>
                  <a:gd name="connsiteY86" fmla="*/ 38100 h 336550"/>
                  <a:gd name="connsiteX87" fmla="*/ 75574 w 325438"/>
                  <a:gd name="connsiteY87" fmla="*/ 38100 h 336550"/>
                  <a:gd name="connsiteX88" fmla="*/ 75574 w 325438"/>
                  <a:gd name="connsiteY88" fmla="*/ 63067 h 336550"/>
                  <a:gd name="connsiteX89" fmla="*/ 80856 w 325438"/>
                  <a:gd name="connsiteY89" fmla="*/ 74894 h 336550"/>
                  <a:gd name="connsiteX90" fmla="*/ 65011 w 325438"/>
                  <a:gd name="connsiteY90" fmla="*/ 90662 h 336550"/>
                  <a:gd name="connsiteX91" fmla="*/ 49167 w 325438"/>
                  <a:gd name="connsiteY91" fmla="*/ 74894 h 336550"/>
                  <a:gd name="connsiteX92" fmla="*/ 55769 w 325438"/>
                  <a:gd name="connsiteY92" fmla="*/ 63067 h 336550"/>
                  <a:gd name="connsiteX93" fmla="*/ 55769 w 325438"/>
                  <a:gd name="connsiteY93" fmla="*/ 38100 h 336550"/>
                  <a:gd name="connsiteX94" fmla="*/ 49167 w 325438"/>
                  <a:gd name="connsiteY94" fmla="*/ 38100 h 336550"/>
                  <a:gd name="connsiteX95" fmla="*/ 65315 w 325438"/>
                  <a:gd name="connsiteY95" fmla="*/ 4763 h 336550"/>
                  <a:gd name="connsiteX96" fmla="*/ 61913 w 325438"/>
                  <a:gd name="connsiteY96" fmla="*/ 10110 h 336550"/>
                  <a:gd name="connsiteX97" fmla="*/ 61913 w 325438"/>
                  <a:gd name="connsiteY97" fmla="*/ 75616 h 336550"/>
                  <a:gd name="connsiteX98" fmla="*/ 65315 w 325438"/>
                  <a:gd name="connsiteY98" fmla="*/ 80963 h 336550"/>
                  <a:gd name="connsiteX99" fmla="*/ 69851 w 325438"/>
                  <a:gd name="connsiteY99" fmla="*/ 75616 h 336550"/>
                  <a:gd name="connsiteX100" fmla="*/ 69851 w 325438"/>
                  <a:gd name="connsiteY100" fmla="*/ 10110 h 336550"/>
                  <a:gd name="connsiteX101" fmla="*/ 65315 w 325438"/>
                  <a:gd name="connsiteY101" fmla="*/ 4763 h 336550"/>
                  <a:gd name="connsiteX102" fmla="*/ 104776 w 325438"/>
                  <a:gd name="connsiteY102" fmla="*/ 4763 h 336550"/>
                  <a:gd name="connsiteX103" fmla="*/ 100013 w 325438"/>
                  <a:gd name="connsiteY103" fmla="*/ 10110 h 336550"/>
                  <a:gd name="connsiteX104" fmla="*/ 100013 w 325438"/>
                  <a:gd name="connsiteY104" fmla="*/ 75616 h 336550"/>
                  <a:gd name="connsiteX105" fmla="*/ 104776 w 325438"/>
                  <a:gd name="connsiteY105" fmla="*/ 80963 h 336550"/>
                  <a:gd name="connsiteX106" fmla="*/ 109538 w 325438"/>
                  <a:gd name="connsiteY106" fmla="*/ 75616 h 336550"/>
                  <a:gd name="connsiteX107" fmla="*/ 109538 w 325438"/>
                  <a:gd name="connsiteY107" fmla="*/ 10110 h 336550"/>
                  <a:gd name="connsiteX108" fmla="*/ 104776 w 325438"/>
                  <a:gd name="connsiteY108" fmla="*/ 4763 h 336550"/>
                  <a:gd name="connsiteX109" fmla="*/ 142876 w 325438"/>
                  <a:gd name="connsiteY109" fmla="*/ 4763 h 336550"/>
                  <a:gd name="connsiteX110" fmla="*/ 138113 w 325438"/>
                  <a:gd name="connsiteY110" fmla="*/ 10110 h 336550"/>
                  <a:gd name="connsiteX111" fmla="*/ 138113 w 325438"/>
                  <a:gd name="connsiteY111" fmla="*/ 75616 h 336550"/>
                  <a:gd name="connsiteX112" fmla="*/ 142876 w 325438"/>
                  <a:gd name="connsiteY112" fmla="*/ 80963 h 336550"/>
                  <a:gd name="connsiteX113" fmla="*/ 147638 w 325438"/>
                  <a:gd name="connsiteY113" fmla="*/ 75616 h 336550"/>
                  <a:gd name="connsiteX114" fmla="*/ 147638 w 325438"/>
                  <a:gd name="connsiteY114" fmla="*/ 10110 h 336550"/>
                  <a:gd name="connsiteX115" fmla="*/ 142876 w 325438"/>
                  <a:gd name="connsiteY115" fmla="*/ 4763 h 336550"/>
                  <a:gd name="connsiteX116" fmla="*/ 182563 w 325438"/>
                  <a:gd name="connsiteY116" fmla="*/ 4763 h 336550"/>
                  <a:gd name="connsiteX117" fmla="*/ 177800 w 325438"/>
                  <a:gd name="connsiteY117" fmla="*/ 10110 h 336550"/>
                  <a:gd name="connsiteX118" fmla="*/ 177800 w 325438"/>
                  <a:gd name="connsiteY118" fmla="*/ 75616 h 336550"/>
                  <a:gd name="connsiteX119" fmla="*/ 182563 w 325438"/>
                  <a:gd name="connsiteY119" fmla="*/ 80963 h 336550"/>
                  <a:gd name="connsiteX120" fmla="*/ 187325 w 325438"/>
                  <a:gd name="connsiteY120" fmla="*/ 75616 h 336550"/>
                  <a:gd name="connsiteX121" fmla="*/ 187325 w 325438"/>
                  <a:gd name="connsiteY121" fmla="*/ 10110 h 336550"/>
                  <a:gd name="connsiteX122" fmla="*/ 182563 w 325438"/>
                  <a:gd name="connsiteY122" fmla="*/ 4763 h 336550"/>
                  <a:gd name="connsiteX123" fmla="*/ 220663 w 325438"/>
                  <a:gd name="connsiteY123" fmla="*/ 4763 h 336550"/>
                  <a:gd name="connsiteX124" fmla="*/ 215900 w 325438"/>
                  <a:gd name="connsiteY124" fmla="*/ 10110 h 336550"/>
                  <a:gd name="connsiteX125" fmla="*/ 215900 w 325438"/>
                  <a:gd name="connsiteY125" fmla="*/ 75616 h 336550"/>
                  <a:gd name="connsiteX126" fmla="*/ 220663 w 325438"/>
                  <a:gd name="connsiteY126" fmla="*/ 80963 h 336550"/>
                  <a:gd name="connsiteX127" fmla="*/ 225425 w 325438"/>
                  <a:gd name="connsiteY127" fmla="*/ 75616 h 336550"/>
                  <a:gd name="connsiteX128" fmla="*/ 225425 w 325438"/>
                  <a:gd name="connsiteY128" fmla="*/ 10110 h 336550"/>
                  <a:gd name="connsiteX129" fmla="*/ 220663 w 325438"/>
                  <a:gd name="connsiteY129" fmla="*/ 4763 h 336550"/>
                  <a:gd name="connsiteX130" fmla="*/ 260124 w 325438"/>
                  <a:gd name="connsiteY130" fmla="*/ 4763 h 336550"/>
                  <a:gd name="connsiteX131" fmla="*/ 255588 w 325438"/>
                  <a:gd name="connsiteY131" fmla="*/ 10110 h 336550"/>
                  <a:gd name="connsiteX132" fmla="*/ 255588 w 325438"/>
                  <a:gd name="connsiteY132" fmla="*/ 75616 h 336550"/>
                  <a:gd name="connsiteX133" fmla="*/ 260124 w 325438"/>
                  <a:gd name="connsiteY133" fmla="*/ 80963 h 336550"/>
                  <a:gd name="connsiteX134" fmla="*/ 263526 w 325438"/>
                  <a:gd name="connsiteY134" fmla="*/ 75616 h 336550"/>
                  <a:gd name="connsiteX135" fmla="*/ 263526 w 325438"/>
                  <a:gd name="connsiteY135" fmla="*/ 10110 h 336550"/>
                  <a:gd name="connsiteX136" fmla="*/ 260124 w 325438"/>
                  <a:gd name="connsiteY136" fmla="*/ 4763 h 336550"/>
                  <a:gd name="connsiteX137" fmla="*/ 64823 w 325438"/>
                  <a:gd name="connsiteY137" fmla="*/ 0 h 336550"/>
                  <a:gd name="connsiteX138" fmla="*/ 75406 w 325438"/>
                  <a:gd name="connsiteY138" fmla="*/ 10517 h 336550"/>
                  <a:gd name="connsiteX139" fmla="*/ 75406 w 325438"/>
                  <a:gd name="connsiteY139" fmla="*/ 14461 h 336550"/>
                  <a:gd name="connsiteX140" fmla="*/ 93927 w 325438"/>
                  <a:gd name="connsiteY140" fmla="*/ 14461 h 336550"/>
                  <a:gd name="connsiteX141" fmla="*/ 93927 w 325438"/>
                  <a:gd name="connsiteY141" fmla="*/ 10517 h 336550"/>
                  <a:gd name="connsiteX142" fmla="*/ 104511 w 325438"/>
                  <a:gd name="connsiteY142" fmla="*/ 0 h 336550"/>
                  <a:gd name="connsiteX143" fmla="*/ 115094 w 325438"/>
                  <a:gd name="connsiteY143" fmla="*/ 10517 h 336550"/>
                  <a:gd name="connsiteX144" fmla="*/ 115094 w 325438"/>
                  <a:gd name="connsiteY144" fmla="*/ 14461 h 336550"/>
                  <a:gd name="connsiteX145" fmla="*/ 133615 w 325438"/>
                  <a:gd name="connsiteY145" fmla="*/ 14461 h 336550"/>
                  <a:gd name="connsiteX146" fmla="*/ 133615 w 325438"/>
                  <a:gd name="connsiteY146" fmla="*/ 10517 h 336550"/>
                  <a:gd name="connsiteX147" fmla="*/ 142875 w 325438"/>
                  <a:gd name="connsiteY147" fmla="*/ 0 h 336550"/>
                  <a:gd name="connsiteX148" fmla="*/ 153459 w 325438"/>
                  <a:gd name="connsiteY148" fmla="*/ 10517 h 336550"/>
                  <a:gd name="connsiteX149" fmla="*/ 153459 w 325438"/>
                  <a:gd name="connsiteY149" fmla="*/ 14461 h 336550"/>
                  <a:gd name="connsiteX150" fmla="*/ 171980 w 325438"/>
                  <a:gd name="connsiteY150" fmla="*/ 14461 h 336550"/>
                  <a:gd name="connsiteX151" fmla="*/ 171980 w 325438"/>
                  <a:gd name="connsiteY151" fmla="*/ 10517 h 336550"/>
                  <a:gd name="connsiteX152" fmla="*/ 182563 w 325438"/>
                  <a:gd name="connsiteY152" fmla="*/ 0 h 336550"/>
                  <a:gd name="connsiteX153" fmla="*/ 191823 w 325438"/>
                  <a:gd name="connsiteY153" fmla="*/ 10517 h 336550"/>
                  <a:gd name="connsiteX154" fmla="*/ 191823 w 325438"/>
                  <a:gd name="connsiteY154" fmla="*/ 14461 h 336550"/>
                  <a:gd name="connsiteX155" fmla="*/ 210344 w 325438"/>
                  <a:gd name="connsiteY155" fmla="*/ 14461 h 336550"/>
                  <a:gd name="connsiteX156" fmla="*/ 210344 w 325438"/>
                  <a:gd name="connsiteY156" fmla="*/ 10517 h 336550"/>
                  <a:gd name="connsiteX157" fmla="*/ 220927 w 325438"/>
                  <a:gd name="connsiteY157" fmla="*/ 0 h 336550"/>
                  <a:gd name="connsiteX158" fmla="*/ 231511 w 325438"/>
                  <a:gd name="connsiteY158" fmla="*/ 10517 h 336550"/>
                  <a:gd name="connsiteX159" fmla="*/ 231511 w 325438"/>
                  <a:gd name="connsiteY159" fmla="*/ 14461 h 336550"/>
                  <a:gd name="connsiteX160" fmla="*/ 250032 w 325438"/>
                  <a:gd name="connsiteY160" fmla="*/ 14461 h 336550"/>
                  <a:gd name="connsiteX161" fmla="*/ 250032 w 325438"/>
                  <a:gd name="connsiteY161" fmla="*/ 10517 h 336550"/>
                  <a:gd name="connsiteX162" fmla="*/ 260615 w 325438"/>
                  <a:gd name="connsiteY162" fmla="*/ 0 h 336550"/>
                  <a:gd name="connsiteX163" fmla="*/ 269875 w 325438"/>
                  <a:gd name="connsiteY163" fmla="*/ 10517 h 336550"/>
                  <a:gd name="connsiteX164" fmla="*/ 269875 w 325438"/>
                  <a:gd name="connsiteY164" fmla="*/ 14461 h 336550"/>
                  <a:gd name="connsiteX165" fmla="*/ 276490 w 325438"/>
                  <a:gd name="connsiteY165" fmla="*/ 14461 h 336550"/>
                  <a:gd name="connsiteX166" fmla="*/ 325438 w 325438"/>
                  <a:gd name="connsiteY166" fmla="*/ 61789 h 336550"/>
                  <a:gd name="connsiteX167" fmla="*/ 325438 w 325438"/>
                  <a:gd name="connsiteY167" fmla="*/ 289223 h 336550"/>
                  <a:gd name="connsiteX168" fmla="*/ 276490 w 325438"/>
                  <a:gd name="connsiteY168" fmla="*/ 336550 h 336550"/>
                  <a:gd name="connsiteX169" fmla="*/ 48948 w 325438"/>
                  <a:gd name="connsiteY169" fmla="*/ 336550 h 336550"/>
                  <a:gd name="connsiteX170" fmla="*/ 0 w 325438"/>
                  <a:gd name="connsiteY170" fmla="*/ 289223 h 336550"/>
                  <a:gd name="connsiteX171" fmla="*/ 0 w 325438"/>
                  <a:gd name="connsiteY171" fmla="*/ 61789 h 336550"/>
                  <a:gd name="connsiteX172" fmla="*/ 48948 w 325438"/>
                  <a:gd name="connsiteY172" fmla="*/ 14461 h 336550"/>
                  <a:gd name="connsiteX173" fmla="*/ 55563 w 325438"/>
                  <a:gd name="connsiteY173" fmla="*/ 14461 h 336550"/>
                  <a:gd name="connsiteX174" fmla="*/ 55563 w 325438"/>
                  <a:gd name="connsiteY174" fmla="*/ 10517 h 336550"/>
                  <a:gd name="connsiteX175" fmla="*/ 64823 w 325438"/>
                  <a:gd name="connsiteY17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25438" h="336550">
                    <a:moveTo>
                      <a:pt x="233363" y="249238"/>
                    </a:moveTo>
                    <a:lnTo>
                      <a:pt x="279401" y="249238"/>
                    </a:lnTo>
                    <a:lnTo>
                      <a:pt x="279401" y="290513"/>
                    </a:lnTo>
                    <a:lnTo>
                      <a:pt x="233363" y="290513"/>
                    </a:lnTo>
                    <a:close/>
                    <a:moveTo>
                      <a:pt x="171450" y="249238"/>
                    </a:moveTo>
                    <a:lnTo>
                      <a:pt x="217488" y="249238"/>
                    </a:lnTo>
                    <a:lnTo>
                      <a:pt x="217488" y="290513"/>
                    </a:lnTo>
                    <a:lnTo>
                      <a:pt x="171450" y="290513"/>
                    </a:lnTo>
                    <a:close/>
                    <a:moveTo>
                      <a:pt x="107950" y="249238"/>
                    </a:moveTo>
                    <a:lnTo>
                      <a:pt x="155575" y="249238"/>
                    </a:lnTo>
                    <a:lnTo>
                      <a:pt x="155575" y="290513"/>
                    </a:lnTo>
                    <a:lnTo>
                      <a:pt x="107950" y="290513"/>
                    </a:lnTo>
                    <a:close/>
                    <a:moveTo>
                      <a:pt x="46038" y="249238"/>
                    </a:moveTo>
                    <a:lnTo>
                      <a:pt x="93663" y="249238"/>
                    </a:lnTo>
                    <a:lnTo>
                      <a:pt x="93663" y="290513"/>
                    </a:lnTo>
                    <a:lnTo>
                      <a:pt x="46038" y="290513"/>
                    </a:lnTo>
                    <a:close/>
                    <a:moveTo>
                      <a:pt x="233363" y="195263"/>
                    </a:moveTo>
                    <a:lnTo>
                      <a:pt x="279401" y="195263"/>
                    </a:lnTo>
                    <a:lnTo>
                      <a:pt x="279401" y="234951"/>
                    </a:lnTo>
                    <a:lnTo>
                      <a:pt x="233363" y="234951"/>
                    </a:lnTo>
                    <a:close/>
                    <a:moveTo>
                      <a:pt x="171450" y="195263"/>
                    </a:moveTo>
                    <a:lnTo>
                      <a:pt x="217488" y="195263"/>
                    </a:lnTo>
                    <a:lnTo>
                      <a:pt x="217488" y="234951"/>
                    </a:lnTo>
                    <a:lnTo>
                      <a:pt x="171450" y="234951"/>
                    </a:lnTo>
                    <a:close/>
                    <a:moveTo>
                      <a:pt x="107950" y="195263"/>
                    </a:moveTo>
                    <a:lnTo>
                      <a:pt x="155575" y="195263"/>
                    </a:lnTo>
                    <a:lnTo>
                      <a:pt x="155575" y="234951"/>
                    </a:lnTo>
                    <a:lnTo>
                      <a:pt x="107950" y="234951"/>
                    </a:lnTo>
                    <a:close/>
                    <a:moveTo>
                      <a:pt x="46038" y="195263"/>
                    </a:moveTo>
                    <a:lnTo>
                      <a:pt x="93663" y="195263"/>
                    </a:lnTo>
                    <a:lnTo>
                      <a:pt x="93663" y="234951"/>
                    </a:lnTo>
                    <a:lnTo>
                      <a:pt x="46038" y="234951"/>
                    </a:lnTo>
                    <a:close/>
                    <a:moveTo>
                      <a:pt x="233363" y="139700"/>
                    </a:moveTo>
                    <a:lnTo>
                      <a:pt x="279401" y="139700"/>
                    </a:lnTo>
                    <a:lnTo>
                      <a:pt x="279401" y="180975"/>
                    </a:lnTo>
                    <a:lnTo>
                      <a:pt x="233363" y="180975"/>
                    </a:lnTo>
                    <a:close/>
                    <a:moveTo>
                      <a:pt x="171450" y="139700"/>
                    </a:moveTo>
                    <a:lnTo>
                      <a:pt x="217488" y="139700"/>
                    </a:lnTo>
                    <a:lnTo>
                      <a:pt x="217488" y="180975"/>
                    </a:lnTo>
                    <a:lnTo>
                      <a:pt x="171450" y="180975"/>
                    </a:lnTo>
                    <a:close/>
                    <a:moveTo>
                      <a:pt x="107950" y="139700"/>
                    </a:moveTo>
                    <a:lnTo>
                      <a:pt x="155575" y="139700"/>
                    </a:lnTo>
                    <a:lnTo>
                      <a:pt x="155575" y="180975"/>
                    </a:lnTo>
                    <a:lnTo>
                      <a:pt x="107950" y="180975"/>
                    </a:lnTo>
                    <a:close/>
                    <a:moveTo>
                      <a:pt x="49167" y="38100"/>
                    </a:moveTo>
                    <a:cubicBezTo>
                      <a:pt x="35963" y="38100"/>
                      <a:pt x="25400" y="48613"/>
                      <a:pt x="25400" y="61753"/>
                    </a:cubicBezTo>
                    <a:cubicBezTo>
                      <a:pt x="25400" y="61753"/>
                      <a:pt x="25400" y="61753"/>
                      <a:pt x="25400" y="289085"/>
                    </a:cubicBezTo>
                    <a:cubicBezTo>
                      <a:pt x="25400" y="302226"/>
                      <a:pt x="35963" y="312738"/>
                      <a:pt x="49167" y="312738"/>
                    </a:cubicBezTo>
                    <a:cubicBezTo>
                      <a:pt x="49167" y="312738"/>
                      <a:pt x="49167" y="312738"/>
                      <a:pt x="276271" y="312738"/>
                    </a:cubicBezTo>
                    <a:cubicBezTo>
                      <a:pt x="289475" y="312738"/>
                      <a:pt x="300038" y="302226"/>
                      <a:pt x="300038" y="289085"/>
                    </a:cubicBezTo>
                    <a:cubicBezTo>
                      <a:pt x="300038" y="289085"/>
                      <a:pt x="300038" y="289085"/>
                      <a:pt x="300038" y="61753"/>
                    </a:cubicBezTo>
                    <a:cubicBezTo>
                      <a:pt x="300038" y="48613"/>
                      <a:pt x="289475" y="38100"/>
                      <a:pt x="276271" y="38100"/>
                    </a:cubicBezTo>
                    <a:cubicBezTo>
                      <a:pt x="276271" y="38100"/>
                      <a:pt x="276271" y="38100"/>
                      <a:pt x="269669" y="38100"/>
                    </a:cubicBezTo>
                    <a:cubicBezTo>
                      <a:pt x="269669" y="38100"/>
                      <a:pt x="269669" y="38100"/>
                      <a:pt x="269669" y="63067"/>
                    </a:cubicBezTo>
                    <a:cubicBezTo>
                      <a:pt x="273631" y="65695"/>
                      <a:pt x="276271" y="70951"/>
                      <a:pt x="276271" y="74894"/>
                    </a:cubicBezTo>
                    <a:cubicBezTo>
                      <a:pt x="276271" y="84092"/>
                      <a:pt x="268349" y="90662"/>
                      <a:pt x="260427" y="90662"/>
                    </a:cubicBezTo>
                    <a:cubicBezTo>
                      <a:pt x="251184" y="90662"/>
                      <a:pt x="244582" y="84092"/>
                      <a:pt x="244582" y="74894"/>
                    </a:cubicBezTo>
                    <a:cubicBezTo>
                      <a:pt x="244582" y="70951"/>
                      <a:pt x="245903" y="65695"/>
                      <a:pt x="249864" y="63067"/>
                    </a:cubicBezTo>
                    <a:cubicBezTo>
                      <a:pt x="249864" y="63067"/>
                      <a:pt x="249864" y="63067"/>
                      <a:pt x="249864" y="38100"/>
                    </a:cubicBezTo>
                    <a:cubicBezTo>
                      <a:pt x="249864" y="38100"/>
                      <a:pt x="249864" y="38100"/>
                      <a:pt x="231379" y="38100"/>
                    </a:cubicBezTo>
                    <a:cubicBezTo>
                      <a:pt x="231379" y="38100"/>
                      <a:pt x="231379" y="38100"/>
                      <a:pt x="231379" y="63067"/>
                    </a:cubicBezTo>
                    <a:cubicBezTo>
                      <a:pt x="234019" y="65695"/>
                      <a:pt x="236660" y="70951"/>
                      <a:pt x="236660" y="74894"/>
                    </a:cubicBezTo>
                    <a:cubicBezTo>
                      <a:pt x="236660" y="84092"/>
                      <a:pt x="230058" y="90662"/>
                      <a:pt x="220816" y="90662"/>
                    </a:cubicBezTo>
                    <a:cubicBezTo>
                      <a:pt x="212893" y="90662"/>
                      <a:pt x="204971" y="84092"/>
                      <a:pt x="204971" y="74894"/>
                    </a:cubicBezTo>
                    <a:cubicBezTo>
                      <a:pt x="204971" y="70951"/>
                      <a:pt x="207612" y="65695"/>
                      <a:pt x="210253" y="63067"/>
                    </a:cubicBezTo>
                    <a:cubicBezTo>
                      <a:pt x="210253" y="63067"/>
                      <a:pt x="210253" y="63067"/>
                      <a:pt x="210253" y="38100"/>
                    </a:cubicBezTo>
                    <a:cubicBezTo>
                      <a:pt x="210253" y="38100"/>
                      <a:pt x="210253" y="38100"/>
                      <a:pt x="191767" y="38100"/>
                    </a:cubicBezTo>
                    <a:cubicBezTo>
                      <a:pt x="191767" y="38100"/>
                      <a:pt x="191767" y="38100"/>
                      <a:pt x="191767" y="63067"/>
                    </a:cubicBezTo>
                    <a:cubicBezTo>
                      <a:pt x="195728" y="65695"/>
                      <a:pt x="198369" y="70951"/>
                      <a:pt x="198369" y="74894"/>
                    </a:cubicBezTo>
                    <a:cubicBezTo>
                      <a:pt x="198369" y="84092"/>
                      <a:pt x="190447" y="90662"/>
                      <a:pt x="182525" y="90662"/>
                    </a:cubicBezTo>
                    <a:cubicBezTo>
                      <a:pt x="173282" y="90662"/>
                      <a:pt x="166680" y="84092"/>
                      <a:pt x="166680" y="74894"/>
                    </a:cubicBezTo>
                    <a:cubicBezTo>
                      <a:pt x="166680" y="70951"/>
                      <a:pt x="168001" y="65695"/>
                      <a:pt x="171962" y="63067"/>
                    </a:cubicBezTo>
                    <a:cubicBezTo>
                      <a:pt x="171962" y="63067"/>
                      <a:pt x="171962" y="63067"/>
                      <a:pt x="171962" y="38100"/>
                    </a:cubicBezTo>
                    <a:cubicBezTo>
                      <a:pt x="171962" y="38100"/>
                      <a:pt x="171962" y="38100"/>
                      <a:pt x="153476" y="38100"/>
                    </a:cubicBezTo>
                    <a:cubicBezTo>
                      <a:pt x="153476" y="38100"/>
                      <a:pt x="153476" y="38100"/>
                      <a:pt x="153476" y="63067"/>
                    </a:cubicBezTo>
                    <a:cubicBezTo>
                      <a:pt x="157438" y="65695"/>
                      <a:pt x="158758" y="70951"/>
                      <a:pt x="158758" y="74894"/>
                    </a:cubicBezTo>
                    <a:cubicBezTo>
                      <a:pt x="158758" y="84092"/>
                      <a:pt x="152156" y="90662"/>
                      <a:pt x="142913" y="90662"/>
                    </a:cubicBezTo>
                    <a:cubicBezTo>
                      <a:pt x="134991" y="90662"/>
                      <a:pt x="127069" y="84092"/>
                      <a:pt x="127069" y="74894"/>
                    </a:cubicBezTo>
                    <a:cubicBezTo>
                      <a:pt x="127069" y="70951"/>
                      <a:pt x="129710" y="65695"/>
                      <a:pt x="133671" y="63067"/>
                    </a:cubicBezTo>
                    <a:cubicBezTo>
                      <a:pt x="133671" y="63067"/>
                      <a:pt x="133671" y="63067"/>
                      <a:pt x="133671" y="38100"/>
                    </a:cubicBezTo>
                    <a:cubicBezTo>
                      <a:pt x="133671" y="38100"/>
                      <a:pt x="133671" y="38100"/>
                      <a:pt x="115186" y="38100"/>
                    </a:cubicBezTo>
                    <a:cubicBezTo>
                      <a:pt x="115186" y="38100"/>
                      <a:pt x="115186" y="38100"/>
                      <a:pt x="115186" y="63067"/>
                    </a:cubicBezTo>
                    <a:cubicBezTo>
                      <a:pt x="117826" y="65695"/>
                      <a:pt x="120467" y="70951"/>
                      <a:pt x="120467" y="74894"/>
                    </a:cubicBezTo>
                    <a:cubicBezTo>
                      <a:pt x="120467" y="84092"/>
                      <a:pt x="112545" y="90662"/>
                      <a:pt x="104623" y="90662"/>
                    </a:cubicBezTo>
                    <a:cubicBezTo>
                      <a:pt x="95380" y="90662"/>
                      <a:pt x="88778" y="84092"/>
                      <a:pt x="88778" y="74894"/>
                    </a:cubicBezTo>
                    <a:cubicBezTo>
                      <a:pt x="88778" y="70951"/>
                      <a:pt x="91419" y="65695"/>
                      <a:pt x="94060" y="63067"/>
                    </a:cubicBezTo>
                    <a:cubicBezTo>
                      <a:pt x="94060" y="63067"/>
                      <a:pt x="94060" y="63067"/>
                      <a:pt x="94060" y="38100"/>
                    </a:cubicBezTo>
                    <a:cubicBezTo>
                      <a:pt x="94060" y="38100"/>
                      <a:pt x="94060" y="38100"/>
                      <a:pt x="75574" y="38100"/>
                    </a:cubicBezTo>
                    <a:cubicBezTo>
                      <a:pt x="75574" y="38100"/>
                      <a:pt x="75574" y="38100"/>
                      <a:pt x="75574" y="63067"/>
                    </a:cubicBezTo>
                    <a:cubicBezTo>
                      <a:pt x="79535" y="65695"/>
                      <a:pt x="80856" y="70951"/>
                      <a:pt x="80856" y="74894"/>
                    </a:cubicBezTo>
                    <a:cubicBezTo>
                      <a:pt x="80856" y="84092"/>
                      <a:pt x="74254" y="90662"/>
                      <a:pt x="65011" y="90662"/>
                    </a:cubicBezTo>
                    <a:cubicBezTo>
                      <a:pt x="57089" y="90662"/>
                      <a:pt x="49167" y="84092"/>
                      <a:pt x="49167" y="74894"/>
                    </a:cubicBezTo>
                    <a:cubicBezTo>
                      <a:pt x="49167" y="70951"/>
                      <a:pt x="51808" y="65695"/>
                      <a:pt x="55769" y="63067"/>
                    </a:cubicBezTo>
                    <a:cubicBezTo>
                      <a:pt x="55769" y="63067"/>
                      <a:pt x="55769" y="63067"/>
                      <a:pt x="55769" y="38100"/>
                    </a:cubicBezTo>
                    <a:cubicBezTo>
                      <a:pt x="55769" y="38100"/>
                      <a:pt x="55769" y="38100"/>
                      <a:pt x="49167" y="38100"/>
                    </a:cubicBezTo>
                    <a:close/>
                    <a:moveTo>
                      <a:pt x="65315" y="4763"/>
                    </a:moveTo>
                    <a:cubicBezTo>
                      <a:pt x="63047" y="4763"/>
                      <a:pt x="61913" y="7437"/>
                      <a:pt x="61913" y="10110"/>
                    </a:cubicBezTo>
                    <a:lnTo>
                      <a:pt x="61913" y="75616"/>
                    </a:lnTo>
                    <a:cubicBezTo>
                      <a:pt x="61913" y="79626"/>
                      <a:pt x="63047" y="80963"/>
                      <a:pt x="65315" y="80963"/>
                    </a:cubicBezTo>
                    <a:cubicBezTo>
                      <a:pt x="68717" y="80963"/>
                      <a:pt x="69851" y="79626"/>
                      <a:pt x="69851" y="75616"/>
                    </a:cubicBezTo>
                    <a:cubicBezTo>
                      <a:pt x="69851" y="75616"/>
                      <a:pt x="69851" y="75616"/>
                      <a:pt x="69851" y="10110"/>
                    </a:cubicBezTo>
                    <a:cubicBezTo>
                      <a:pt x="69851" y="7437"/>
                      <a:pt x="68717" y="4763"/>
                      <a:pt x="65315" y="4763"/>
                    </a:cubicBezTo>
                    <a:close/>
                    <a:moveTo>
                      <a:pt x="104776" y="4763"/>
                    </a:moveTo>
                    <a:cubicBezTo>
                      <a:pt x="102394" y="4763"/>
                      <a:pt x="100013" y="7437"/>
                      <a:pt x="100013" y="10110"/>
                    </a:cubicBezTo>
                    <a:lnTo>
                      <a:pt x="100013" y="75616"/>
                    </a:lnTo>
                    <a:cubicBezTo>
                      <a:pt x="100013" y="79626"/>
                      <a:pt x="102394" y="80963"/>
                      <a:pt x="104776" y="80963"/>
                    </a:cubicBezTo>
                    <a:cubicBezTo>
                      <a:pt x="107157" y="80963"/>
                      <a:pt x="109538" y="79626"/>
                      <a:pt x="109538" y="75616"/>
                    </a:cubicBezTo>
                    <a:cubicBezTo>
                      <a:pt x="109538" y="75616"/>
                      <a:pt x="109538" y="75616"/>
                      <a:pt x="109538" y="10110"/>
                    </a:cubicBezTo>
                    <a:cubicBezTo>
                      <a:pt x="109538" y="7437"/>
                      <a:pt x="107157" y="4763"/>
                      <a:pt x="104776" y="4763"/>
                    </a:cubicBezTo>
                    <a:close/>
                    <a:moveTo>
                      <a:pt x="142876" y="4763"/>
                    </a:moveTo>
                    <a:cubicBezTo>
                      <a:pt x="140494" y="4763"/>
                      <a:pt x="138113" y="7437"/>
                      <a:pt x="138113" y="10110"/>
                    </a:cubicBezTo>
                    <a:lnTo>
                      <a:pt x="138113" y="75616"/>
                    </a:lnTo>
                    <a:cubicBezTo>
                      <a:pt x="138113" y="79626"/>
                      <a:pt x="140494" y="80963"/>
                      <a:pt x="142876" y="80963"/>
                    </a:cubicBezTo>
                    <a:cubicBezTo>
                      <a:pt x="145257" y="80963"/>
                      <a:pt x="147638" y="79626"/>
                      <a:pt x="147638" y="75616"/>
                    </a:cubicBezTo>
                    <a:cubicBezTo>
                      <a:pt x="147638" y="75616"/>
                      <a:pt x="147638" y="75616"/>
                      <a:pt x="147638" y="10110"/>
                    </a:cubicBezTo>
                    <a:cubicBezTo>
                      <a:pt x="147638" y="7437"/>
                      <a:pt x="145257" y="4763"/>
                      <a:pt x="142876" y="4763"/>
                    </a:cubicBezTo>
                    <a:close/>
                    <a:moveTo>
                      <a:pt x="182563" y="4763"/>
                    </a:moveTo>
                    <a:cubicBezTo>
                      <a:pt x="180181" y="4763"/>
                      <a:pt x="177800" y="7437"/>
                      <a:pt x="177800" y="10110"/>
                    </a:cubicBezTo>
                    <a:lnTo>
                      <a:pt x="177800" y="75616"/>
                    </a:lnTo>
                    <a:cubicBezTo>
                      <a:pt x="177800" y="79626"/>
                      <a:pt x="180181" y="80963"/>
                      <a:pt x="182563" y="80963"/>
                    </a:cubicBezTo>
                    <a:cubicBezTo>
                      <a:pt x="184944" y="80963"/>
                      <a:pt x="187325" y="79626"/>
                      <a:pt x="187325" y="75616"/>
                    </a:cubicBezTo>
                    <a:cubicBezTo>
                      <a:pt x="187325" y="75616"/>
                      <a:pt x="187325" y="75616"/>
                      <a:pt x="187325" y="10110"/>
                    </a:cubicBezTo>
                    <a:cubicBezTo>
                      <a:pt x="187325" y="7437"/>
                      <a:pt x="184944" y="4763"/>
                      <a:pt x="182563" y="4763"/>
                    </a:cubicBezTo>
                    <a:close/>
                    <a:moveTo>
                      <a:pt x="220663" y="4763"/>
                    </a:moveTo>
                    <a:cubicBezTo>
                      <a:pt x="218281" y="4763"/>
                      <a:pt x="215900" y="7437"/>
                      <a:pt x="215900" y="10110"/>
                    </a:cubicBezTo>
                    <a:lnTo>
                      <a:pt x="215900" y="75616"/>
                    </a:lnTo>
                    <a:cubicBezTo>
                      <a:pt x="215900" y="79626"/>
                      <a:pt x="218281" y="80963"/>
                      <a:pt x="220663" y="80963"/>
                    </a:cubicBezTo>
                    <a:cubicBezTo>
                      <a:pt x="223044" y="80963"/>
                      <a:pt x="225425" y="79626"/>
                      <a:pt x="225425" y="75616"/>
                    </a:cubicBezTo>
                    <a:cubicBezTo>
                      <a:pt x="225425" y="75616"/>
                      <a:pt x="225425" y="75616"/>
                      <a:pt x="225425" y="10110"/>
                    </a:cubicBezTo>
                    <a:cubicBezTo>
                      <a:pt x="225425" y="7437"/>
                      <a:pt x="223044" y="4763"/>
                      <a:pt x="220663" y="4763"/>
                    </a:cubicBezTo>
                    <a:close/>
                    <a:moveTo>
                      <a:pt x="260124" y="4763"/>
                    </a:moveTo>
                    <a:cubicBezTo>
                      <a:pt x="256722" y="4763"/>
                      <a:pt x="255588" y="7437"/>
                      <a:pt x="255588" y="10110"/>
                    </a:cubicBezTo>
                    <a:lnTo>
                      <a:pt x="255588" y="75616"/>
                    </a:lnTo>
                    <a:cubicBezTo>
                      <a:pt x="255588" y="79626"/>
                      <a:pt x="256722" y="80963"/>
                      <a:pt x="260124" y="80963"/>
                    </a:cubicBezTo>
                    <a:cubicBezTo>
                      <a:pt x="262392" y="80963"/>
                      <a:pt x="263526" y="79626"/>
                      <a:pt x="263526" y="75616"/>
                    </a:cubicBezTo>
                    <a:cubicBezTo>
                      <a:pt x="263526" y="75616"/>
                      <a:pt x="263526" y="75616"/>
                      <a:pt x="263526" y="10110"/>
                    </a:cubicBezTo>
                    <a:cubicBezTo>
                      <a:pt x="263526" y="7437"/>
                      <a:pt x="262392" y="4763"/>
                      <a:pt x="260124" y="4763"/>
                    </a:cubicBezTo>
                    <a:close/>
                    <a:moveTo>
                      <a:pt x="64823" y="0"/>
                    </a:moveTo>
                    <a:cubicBezTo>
                      <a:pt x="71438" y="0"/>
                      <a:pt x="75406" y="3944"/>
                      <a:pt x="75406" y="10517"/>
                    </a:cubicBezTo>
                    <a:cubicBezTo>
                      <a:pt x="75406" y="10517"/>
                      <a:pt x="75406" y="10517"/>
                      <a:pt x="75406" y="14461"/>
                    </a:cubicBezTo>
                    <a:cubicBezTo>
                      <a:pt x="75406" y="14461"/>
                      <a:pt x="75406" y="14461"/>
                      <a:pt x="93927" y="14461"/>
                    </a:cubicBezTo>
                    <a:cubicBezTo>
                      <a:pt x="93927" y="14461"/>
                      <a:pt x="93927" y="14461"/>
                      <a:pt x="93927" y="10517"/>
                    </a:cubicBezTo>
                    <a:cubicBezTo>
                      <a:pt x="93927" y="3944"/>
                      <a:pt x="99219" y="0"/>
                      <a:pt x="104511" y="0"/>
                    </a:cubicBezTo>
                    <a:cubicBezTo>
                      <a:pt x="109802" y="0"/>
                      <a:pt x="115094" y="3944"/>
                      <a:pt x="115094" y="10517"/>
                    </a:cubicBezTo>
                    <a:cubicBezTo>
                      <a:pt x="115094" y="10517"/>
                      <a:pt x="115094" y="10517"/>
                      <a:pt x="115094" y="14461"/>
                    </a:cubicBezTo>
                    <a:cubicBezTo>
                      <a:pt x="115094" y="14461"/>
                      <a:pt x="115094" y="14461"/>
                      <a:pt x="133615" y="14461"/>
                    </a:cubicBezTo>
                    <a:cubicBezTo>
                      <a:pt x="133615" y="14461"/>
                      <a:pt x="133615" y="14461"/>
                      <a:pt x="133615" y="10517"/>
                    </a:cubicBezTo>
                    <a:cubicBezTo>
                      <a:pt x="133615" y="3944"/>
                      <a:pt x="137584" y="0"/>
                      <a:pt x="142875" y="0"/>
                    </a:cubicBezTo>
                    <a:cubicBezTo>
                      <a:pt x="149490" y="0"/>
                      <a:pt x="153459" y="3944"/>
                      <a:pt x="153459" y="10517"/>
                    </a:cubicBezTo>
                    <a:cubicBezTo>
                      <a:pt x="153459" y="10517"/>
                      <a:pt x="153459" y="10517"/>
                      <a:pt x="153459" y="14461"/>
                    </a:cubicBezTo>
                    <a:cubicBezTo>
                      <a:pt x="153459" y="14461"/>
                      <a:pt x="153459" y="14461"/>
                      <a:pt x="171980" y="14461"/>
                    </a:cubicBezTo>
                    <a:cubicBezTo>
                      <a:pt x="171980" y="14461"/>
                      <a:pt x="171980" y="14461"/>
                      <a:pt x="171980" y="10517"/>
                    </a:cubicBezTo>
                    <a:cubicBezTo>
                      <a:pt x="171980" y="3944"/>
                      <a:pt x="175948" y="0"/>
                      <a:pt x="182563" y="0"/>
                    </a:cubicBezTo>
                    <a:cubicBezTo>
                      <a:pt x="187855" y="0"/>
                      <a:pt x="191823" y="3944"/>
                      <a:pt x="191823" y="10517"/>
                    </a:cubicBezTo>
                    <a:cubicBezTo>
                      <a:pt x="191823" y="10517"/>
                      <a:pt x="191823" y="10517"/>
                      <a:pt x="191823" y="14461"/>
                    </a:cubicBezTo>
                    <a:cubicBezTo>
                      <a:pt x="191823" y="14461"/>
                      <a:pt x="191823" y="14461"/>
                      <a:pt x="210344" y="14461"/>
                    </a:cubicBezTo>
                    <a:cubicBezTo>
                      <a:pt x="210344" y="14461"/>
                      <a:pt x="210344" y="14461"/>
                      <a:pt x="210344" y="10517"/>
                    </a:cubicBezTo>
                    <a:cubicBezTo>
                      <a:pt x="210344" y="3944"/>
                      <a:pt x="215636" y="0"/>
                      <a:pt x="220927" y="0"/>
                    </a:cubicBezTo>
                    <a:cubicBezTo>
                      <a:pt x="226219" y="0"/>
                      <a:pt x="231511" y="3944"/>
                      <a:pt x="231511" y="10517"/>
                    </a:cubicBezTo>
                    <a:cubicBezTo>
                      <a:pt x="231511" y="10517"/>
                      <a:pt x="231511" y="10517"/>
                      <a:pt x="231511" y="14461"/>
                    </a:cubicBezTo>
                    <a:cubicBezTo>
                      <a:pt x="231511" y="14461"/>
                      <a:pt x="231511" y="14461"/>
                      <a:pt x="250032" y="14461"/>
                    </a:cubicBezTo>
                    <a:cubicBezTo>
                      <a:pt x="250032" y="14461"/>
                      <a:pt x="250032" y="14461"/>
                      <a:pt x="250032" y="10517"/>
                    </a:cubicBezTo>
                    <a:cubicBezTo>
                      <a:pt x="250032" y="3944"/>
                      <a:pt x="254000" y="0"/>
                      <a:pt x="260615" y="0"/>
                    </a:cubicBezTo>
                    <a:cubicBezTo>
                      <a:pt x="265907" y="0"/>
                      <a:pt x="269875" y="3944"/>
                      <a:pt x="269875" y="10517"/>
                    </a:cubicBezTo>
                    <a:cubicBezTo>
                      <a:pt x="269875" y="10517"/>
                      <a:pt x="269875" y="10517"/>
                      <a:pt x="269875" y="14461"/>
                    </a:cubicBezTo>
                    <a:cubicBezTo>
                      <a:pt x="269875" y="14461"/>
                      <a:pt x="269875" y="14461"/>
                      <a:pt x="276490" y="14461"/>
                    </a:cubicBezTo>
                    <a:cubicBezTo>
                      <a:pt x="302948" y="14461"/>
                      <a:pt x="325438" y="35496"/>
                      <a:pt x="325438" y="61789"/>
                    </a:cubicBezTo>
                    <a:cubicBezTo>
                      <a:pt x="325438" y="61789"/>
                      <a:pt x="325438" y="61789"/>
                      <a:pt x="325438" y="289223"/>
                    </a:cubicBezTo>
                    <a:cubicBezTo>
                      <a:pt x="325438" y="315516"/>
                      <a:pt x="302948" y="336550"/>
                      <a:pt x="276490" y="336550"/>
                    </a:cubicBezTo>
                    <a:cubicBezTo>
                      <a:pt x="276490" y="336550"/>
                      <a:pt x="276490" y="336550"/>
                      <a:pt x="48948" y="336550"/>
                    </a:cubicBezTo>
                    <a:cubicBezTo>
                      <a:pt x="22490" y="336550"/>
                      <a:pt x="0" y="315516"/>
                      <a:pt x="0" y="289223"/>
                    </a:cubicBezTo>
                    <a:cubicBezTo>
                      <a:pt x="0" y="289223"/>
                      <a:pt x="0" y="289223"/>
                      <a:pt x="0" y="61789"/>
                    </a:cubicBezTo>
                    <a:cubicBezTo>
                      <a:pt x="0" y="35496"/>
                      <a:pt x="22490" y="14461"/>
                      <a:pt x="48948" y="14461"/>
                    </a:cubicBezTo>
                    <a:cubicBezTo>
                      <a:pt x="48948" y="14461"/>
                      <a:pt x="48948" y="14461"/>
                      <a:pt x="55563" y="14461"/>
                    </a:cubicBezTo>
                    <a:cubicBezTo>
                      <a:pt x="55563" y="14461"/>
                      <a:pt x="55563" y="14461"/>
                      <a:pt x="55563" y="10517"/>
                    </a:cubicBezTo>
                    <a:cubicBezTo>
                      <a:pt x="55563" y="3944"/>
                      <a:pt x="59531" y="0"/>
                      <a:pt x="64823" y="0"/>
                    </a:cubicBezTo>
                    <a:close/>
                  </a:path>
                </a:pathLst>
              </a:custGeom>
              <a:solidFill>
                <a:sysClr val="window" lastClr="FFFFFF"/>
              </a:solidFill>
              <a:ln>
                <a:noFill/>
              </a:ln>
            </p:spPr>
            <p:txBody>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endParaRPr lang="zh-CN" altLang="en-US" sz="14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 name="文本框 27"/>
            <p:cNvSpPr txBox="1"/>
            <p:nvPr/>
          </p:nvSpPr>
          <p:spPr>
            <a:xfrm>
              <a:off x="6669040" y="4733309"/>
              <a:ext cx="1742936" cy="252909"/>
            </a:xfrm>
            <a:prstGeom prst="rect">
              <a:avLst/>
            </a:prstGeom>
            <a:noFill/>
          </p:spPr>
          <p:txBody>
            <a:bodyPr wrap="square" rtlCol="0">
              <a:spAutoFit/>
            </a:bodyPr>
            <a:lstStyle>
              <a:defPPr>
                <a:defRPr lang="zh-CN"/>
              </a:defPPr>
              <a:lvl1pPr marL="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charset="-122"/>
                  <a:cs typeface="+mn-ea"/>
                </a:defRPr>
              </a:lvl9pPr>
            </a:lstStyle>
            <a:p>
              <a:pPr defTabSz="913765">
                <a:defRPr/>
              </a:pPr>
              <a:r>
                <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时间：</a:t>
              </a:r>
              <a:r>
                <a:rPr lang="en-US" altLang="zh-CN"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rPr>
                <a:t>2025-04-21</a:t>
              </a:r>
              <a:endParaRPr lang="zh-CN" altLang="en-US" sz="1600" b="1" dirty="0">
                <a:solidFill>
                  <a:sysClr val="windowText" lastClr="000000">
                    <a:lumMod val="75000"/>
                    <a:lumOff val="25000"/>
                  </a:sys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01251" y="6249432"/>
            <a:ext cx="2757212" cy="385951"/>
          </a:xfrm>
          <a:prstGeom prst="rect">
            <a:avLst/>
          </a:prstGeom>
        </p:spPr>
      </p:pic>
      <p:sp>
        <p:nvSpPr>
          <p:cNvPr id="21" name="文本占位符 1">
            <a:extLst>
              <a:ext uri="{FF2B5EF4-FFF2-40B4-BE49-F238E27FC236}">
                <a16:creationId xmlns:a16="http://schemas.microsoft.com/office/drawing/2014/main" id="{45E3CF39-A26E-422F-9A35-4160A6319B45}"/>
              </a:ext>
            </a:extLst>
          </p:cNvPr>
          <p:cNvSpPr txBox="1"/>
          <p:nvPr/>
        </p:nvSpPr>
        <p:spPr>
          <a:xfrm>
            <a:off x="5267597" y="1331398"/>
            <a:ext cx="7155284" cy="1971217"/>
          </a:xfrm>
          <a:prstGeom prst="rect">
            <a:avLst/>
          </a:prstGeom>
        </p:spPr>
        <p:txBody>
          <a:bodyPr vert="horz" wrap="none" lIns="91440" tIns="45720" rIns="91440" bIns="45720" rtlCol="0" anchor="ctr">
            <a:noAutofit/>
          </a:bodyPr>
          <a:lstStyle>
            <a:lvl1pPr marL="0" indent="0" algn="ctr" defTabSz="914400" rtl="0" eaLnBrk="1" latinLnBrk="0" hangingPunct="1">
              <a:lnSpc>
                <a:spcPct val="90000"/>
              </a:lnSpc>
              <a:spcBef>
                <a:spcPts val="1000"/>
              </a:spcBef>
              <a:buFontTx/>
              <a:buNone/>
              <a:defRPr sz="4000" b="1" kern="1200" spc="0" baseline="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25000"/>
              </a:lnSpc>
              <a:spcBef>
                <a:spcPts val="1000"/>
              </a:spcBef>
              <a:spcAft>
                <a:spcPts val="0"/>
              </a:spcAft>
              <a:buClrTx/>
              <a:buSzTx/>
              <a:buFontTx/>
              <a:buNone/>
              <a:defRPr/>
            </a:pPr>
            <a:r>
              <a:rPr kumimoji="0" lang="zh-CN" altLang="en-US" sz="8000" b="1" i="0"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汇报结束 </a:t>
            </a:r>
            <a:endParaRPr kumimoji="0" lang="en-US" altLang="zh-CN" sz="8000" b="1" i="0"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a:p>
            <a:pPr marL="0" marR="0" lvl="0" indent="0" defTabSz="914400" rtl="0" eaLnBrk="1" fontAlgn="auto" latinLnBrk="0" hangingPunct="1">
              <a:lnSpc>
                <a:spcPct val="125000"/>
              </a:lnSpc>
              <a:spcBef>
                <a:spcPts val="1000"/>
              </a:spcBef>
              <a:spcAft>
                <a:spcPts val="0"/>
              </a:spcAft>
              <a:buClrTx/>
              <a:buSzTx/>
              <a:buFontTx/>
              <a:buNone/>
              <a:defRPr/>
            </a:pPr>
            <a:r>
              <a:rPr lang="zh-CN" altLang="en-US" sz="8000" spc="600" dirty="0">
                <a:solidFill>
                  <a:srgbClr val="0070C0"/>
                </a:solidFill>
                <a:latin typeface="Times New Roman" panose="02020603050405020304" pitchFamily="18" charset="0"/>
                <a:ea typeface="微软雅黑" panose="020B0503020204020204" pitchFamily="34" charset="-122"/>
                <a:sym typeface="Times New Roman" panose="02020603050405020304" pitchFamily="18" charset="0"/>
              </a:rPr>
              <a:t>谢谢大家</a:t>
            </a:r>
            <a:r>
              <a:rPr kumimoji="0" lang="zh-CN" altLang="en-US" sz="8000" b="1" i="1" u="none" strike="noStrike" kern="1200" cap="none" spc="600" normalizeH="0" baseline="0" noProof="0" dirty="0">
                <a:ln>
                  <a:noFill/>
                </a:ln>
                <a:solidFill>
                  <a:srgbClr val="0070C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a:t>
            </a:r>
          </a:p>
        </p:txBody>
      </p:sp>
    </p:spTree>
    <p:extLst>
      <p:ext uri="{BB962C8B-B14F-4D97-AF65-F5344CB8AC3E}">
        <p14:creationId xmlns:p14="http://schemas.microsoft.com/office/powerpoint/2010/main" val="16680418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FmNzNhNTgzZmRjOTk0NjdlYmI0YmE1ZTNlZDNhNjMifQ=="/>
</p:tagLst>
</file>

<file path=ppt/theme/theme1.xml><?xml version="1.0" encoding="utf-8"?>
<a:theme xmlns:a="http://schemas.openxmlformats.org/drawingml/2006/main" name="第一PPT，www.1ppt.com">
  <a:themeElements>
    <a:clrScheme name="自定义 40">
      <a:dk1>
        <a:sysClr val="windowText" lastClr="000000"/>
      </a:dk1>
      <a:lt1>
        <a:sysClr val="window" lastClr="FFFFFF"/>
      </a:lt1>
      <a:dk2>
        <a:srgbClr val="C00000"/>
      </a:dk2>
      <a:lt2>
        <a:srgbClr val="FF0000"/>
      </a:lt2>
      <a:accent1>
        <a:srgbClr val="FF6600"/>
      </a:accent1>
      <a:accent2>
        <a:srgbClr val="FFC000"/>
      </a:accent2>
      <a:accent3>
        <a:srgbClr val="92D050"/>
      </a:accent3>
      <a:accent4>
        <a:srgbClr val="00B0F0"/>
      </a:accent4>
      <a:accent5>
        <a:srgbClr val="7F7F7F"/>
      </a:accent5>
      <a:accent6>
        <a:srgbClr val="262626"/>
      </a:accent6>
      <a:hlink>
        <a:srgbClr val="262626"/>
      </a:hlink>
      <a:folHlink>
        <a:srgbClr val="7F7F7F"/>
      </a:folHlink>
    </a:clrScheme>
    <a:fontScheme name="2rrodchb">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1180</TotalTime>
  <Words>839</Words>
  <Application>Microsoft Office PowerPoint</Application>
  <PresentationFormat>宽屏</PresentationFormat>
  <Paragraphs>102</Paragraphs>
  <Slides>11</Slides>
  <Notes>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等线</vt:lpstr>
      <vt:lpstr>微软雅黑</vt:lpstr>
      <vt:lpstr>Arial</vt:lpstr>
      <vt:lpstr>Calibri</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嘉伟 周</cp:lastModifiedBy>
  <cp:revision>134</cp:revision>
  <dcterms:created xsi:type="dcterms:W3CDTF">2021-04-15T12:03:00Z</dcterms:created>
  <dcterms:modified xsi:type="dcterms:W3CDTF">2025-06-16T03:45:40Z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CC7496E30844449AB513B6CA296F35C7_12</vt:lpwstr>
  </property>
  <property fmtid="{D5CDD505-2E9C-101B-9397-08002B2CF9AE}" pid="3" name="KSOProductBuildVer">
    <vt:lpwstr>2052-12.1.0.15712</vt:lpwstr>
  </property>
</Properties>
</file>