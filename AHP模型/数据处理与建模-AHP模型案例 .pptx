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483" r:id="rId2"/>
    <p:sldId id="510" r:id="rId3"/>
    <p:sldId id="540" r:id="rId4"/>
    <p:sldId id="536" r:id="rId5"/>
    <p:sldId id="541" r:id="rId6"/>
    <p:sldId id="520" r:id="rId7"/>
    <p:sldId id="537" r:id="rId8"/>
    <p:sldId id="522" r:id="rId9"/>
    <p:sldId id="525" r:id="rId10"/>
    <p:sldId id="538" r:id="rId11"/>
    <p:sldId id="519" r:id="rId12"/>
    <p:sldId id="514" r:id="rId13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4995"/>
    <a:srgbClr val="FF33CC"/>
    <a:srgbClr val="D7E1EE"/>
    <a:srgbClr val="4245BE"/>
    <a:srgbClr val="0070C0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56" autoAdjust="0"/>
    <p:restoredTop sz="94660"/>
  </p:normalViewPr>
  <p:slideViewPr>
    <p:cSldViewPr snapToGrid="0">
      <p:cViewPr varScale="1">
        <p:scale>
          <a:sx n="66" d="100"/>
          <a:sy n="66" d="100"/>
        </p:scale>
        <p:origin x="32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D5AAD-12B1-4117-8A4B-C4109D64BF51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08F440-86C7-4ABB-A7C0-3F9FD6847DA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65EFC850-7D77-4205-9604-040A94831ED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1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81BBE174-D638-475B-A0A6-2E5C6AD14BBC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03514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154B0-585A-BFA4-DB85-9C5DC2FF9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AB7B92-5C57-D81F-CFBA-077AA45011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CEC1197-99E2-5BE7-4119-CF0AD2DD5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AC55DE-6757-2DD1-2031-DCD0605879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81BBE174-D638-475B-A0A6-2E5C6AD14BBC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0443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81BBE174-D638-475B-A0A6-2E5C6AD14BBC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35601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80FE9-D31A-D9E2-95A3-02BABD1DC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8D7D72-0E0F-BDA3-9089-22569B1DDE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AE1523B-A45E-FA77-6C4F-919A645C91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370ACEE-08BD-176D-7E1C-E3583E11D3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81BBE174-D638-475B-A0A6-2E5C6AD14BBC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3124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1FB97-ED7F-F397-535B-04BB3ADB6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171A4C-C621-053A-8600-40657B808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234978C-3151-65F3-DA45-E1C7CD9A7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E5FFED-9465-36E3-F688-336ECB663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81BBE174-D638-475B-A0A6-2E5C6AD14BBC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1341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65EFC850-7D77-4205-9604-040A94831ED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12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1859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9072331" y="6021289"/>
            <a:ext cx="1033515" cy="276931"/>
          </a:xfrm>
          <a:prstGeom prst="rect">
            <a:avLst/>
          </a:prstGeom>
        </p:spPr>
        <p:txBody>
          <a:bodyPr wrap="square" lIns="121889" tIns="60944" rIns="121889" bIns="60944">
            <a:spAutoFit/>
          </a:bodyPr>
          <a:lstStyle/>
          <a:p>
            <a:pPr defTabSz="1219200"/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www.1ppt.com/moban/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行业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www.1ppt.com/hangye/ </a:t>
            </a:r>
          </a:p>
          <a:p>
            <a:pPr defTabSz="1219200"/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节日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www.1ppt.com/jieri/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素材下载：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www.1ppt.com/sucai/</a:t>
            </a:r>
          </a:p>
          <a:p>
            <a:pPr defTabSz="1219200"/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背景图片：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www.1ppt.com/beijing/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图表下载：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www.1ppt.com/tubiao/      </a:t>
            </a:r>
          </a:p>
          <a:p>
            <a:pPr defTabSz="1219200"/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优秀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www.1ppt.com/xiazai/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www.1ppt.com/powerpoint/      </a:t>
            </a:r>
          </a:p>
          <a:p>
            <a:pPr defTabSz="1219200"/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Word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www.1ppt.com/word/              Excel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www.1ppt.com/excel/  </a:t>
            </a:r>
          </a:p>
          <a:p>
            <a:pPr defTabSz="1219200"/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资料下载：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www.1ppt.com/ziliao/     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课件下载：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www.1ppt.com/kejian/ </a:t>
            </a:r>
          </a:p>
          <a:p>
            <a:pPr defTabSz="1219200"/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范文下载：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www.1ppt.com/fanwen/        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试卷下载：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www.1ppt.com/shiti/  </a:t>
            </a:r>
          </a:p>
          <a:p>
            <a:pPr defTabSz="1219200"/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教案下载：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www.1ppt.com/jiaoan/        </a:t>
            </a:r>
          </a:p>
          <a:p>
            <a:pPr defTabSz="1219200"/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字体下载：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www.1ppt.com/ziti/</a:t>
            </a:r>
          </a:p>
          <a:p>
            <a:pPr defTabSz="1219200"/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 </a:t>
            </a:r>
            <a:endParaRPr lang="zh-CN" altLang="en-US" sz="100" dirty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pic>
        <p:nvPicPr>
          <p:cNvPr id="1026" name="Picture 2" descr="C:\Users\Administrator\Desktop\灰色01副本.jpg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>
            <a:off x="30291" y="-826"/>
            <a:ext cx="12161709" cy="6858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65" y="-3659"/>
            <a:ext cx="12178317" cy="6861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defTabSz="1218565" rtl="0" eaLnBrk="1" latinLnBrk="0" hangingPunct="1">
        <a:spcBef>
          <a:spcPct val="0"/>
        </a:spcBef>
        <a:buNone/>
        <a:defRPr sz="5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8565" rtl="0" eaLnBrk="1" latinLnBrk="0" hangingPunct="1">
        <a:spcBef>
          <a:spcPct val="20000"/>
        </a:spcBef>
        <a:buFont typeface="Arial" panose="020B0604020202020204" pitchFamily="34" charset="0"/>
        <a:buChar char="•"/>
        <a:defRPr sz="4300" kern="1200">
          <a:solidFill>
            <a:schemeClr val="tx1"/>
          </a:solidFill>
          <a:latin typeface="+mn-lt"/>
          <a:ea typeface="+mn-ea"/>
          <a:cs typeface="+mn-cs"/>
        </a:defRPr>
      </a:lvl1pPr>
      <a:lvl2pPr marL="989965" indent="-381000" algn="l" defTabSz="1218565" rtl="0" eaLnBrk="1" latinLnBrk="0" hangingPunct="1">
        <a:spcBef>
          <a:spcPct val="20000"/>
        </a:spcBef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365" indent="-304800" algn="l" defTabSz="1218565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2965" indent="-304800" algn="l" defTabSz="1218565" rtl="0" eaLnBrk="1" latinLnBrk="0" hangingPunct="1">
        <a:spcBef>
          <a:spcPct val="20000"/>
        </a:spcBef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1930" indent="-304800" algn="l" defTabSz="1218565" rtl="0" eaLnBrk="1" latinLnBrk="0" hangingPunct="1">
        <a:spcBef>
          <a:spcPct val="20000"/>
        </a:spcBef>
        <a:buFont typeface="Arial" panose="020B0604020202020204" pitchFamily="34" charset="0"/>
        <a:buChar char="»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351530" indent="-304800" algn="l" defTabSz="1218565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0495" indent="-304800" algn="l" defTabSz="1218565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0095" indent="-304800" algn="l" defTabSz="1218565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79060" indent="-304800" algn="l" defTabSz="1218565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856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856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565" algn="l" defTabSz="121856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165" algn="l" defTabSz="121856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130" algn="l" defTabSz="121856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6730" algn="l" defTabSz="121856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5695" algn="l" defTabSz="121856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295" algn="l" defTabSz="121856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4895" algn="l" defTabSz="121856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-687968"/>
            <a:ext cx="7784892" cy="7784892"/>
          </a:xfrm>
          <a:prstGeom prst="rect">
            <a:avLst/>
          </a:prstGeom>
        </p:spPr>
      </p:pic>
      <p:sp>
        <p:nvSpPr>
          <p:cNvPr id="99" name="流程图: 手动输入 3"/>
          <p:cNvSpPr/>
          <p:nvPr/>
        </p:nvSpPr>
        <p:spPr>
          <a:xfrm rot="5400000">
            <a:off x="-772141" y="765575"/>
            <a:ext cx="6865184" cy="5316494"/>
          </a:xfrm>
          <a:custGeom>
            <a:avLst/>
            <a:gdLst>
              <a:gd name="connsiteX0" fmla="*/ 0 w 10000"/>
              <a:gd name="connsiteY0" fmla="*/ 200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2000 h 10000"/>
              <a:gd name="connsiteX0-1" fmla="*/ 0 w 10013"/>
              <a:gd name="connsiteY0-2" fmla="*/ 3619 h 10000"/>
              <a:gd name="connsiteX1-3" fmla="*/ 10013 w 10013"/>
              <a:gd name="connsiteY1-4" fmla="*/ 0 h 10000"/>
              <a:gd name="connsiteX2-5" fmla="*/ 10013 w 10013"/>
              <a:gd name="connsiteY2-6" fmla="*/ 10000 h 10000"/>
              <a:gd name="connsiteX3-7" fmla="*/ 13 w 10013"/>
              <a:gd name="connsiteY3-8" fmla="*/ 10000 h 10000"/>
              <a:gd name="connsiteX4-9" fmla="*/ 0 w 10013"/>
              <a:gd name="connsiteY4-10" fmla="*/ 3619 h 10000"/>
              <a:gd name="connsiteX0-11" fmla="*/ 0 w 10013"/>
              <a:gd name="connsiteY0-12" fmla="*/ 3970 h 10000"/>
              <a:gd name="connsiteX1-13" fmla="*/ 10013 w 10013"/>
              <a:gd name="connsiteY1-14" fmla="*/ 0 h 10000"/>
              <a:gd name="connsiteX2-15" fmla="*/ 10013 w 10013"/>
              <a:gd name="connsiteY2-16" fmla="*/ 10000 h 10000"/>
              <a:gd name="connsiteX3-17" fmla="*/ 13 w 10013"/>
              <a:gd name="connsiteY3-18" fmla="*/ 10000 h 10000"/>
              <a:gd name="connsiteX4-19" fmla="*/ 0 w 10013"/>
              <a:gd name="connsiteY4-20" fmla="*/ 3970 h 10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0013" h="10000">
                <a:moveTo>
                  <a:pt x="0" y="3970"/>
                </a:moveTo>
                <a:lnTo>
                  <a:pt x="10013" y="0"/>
                </a:lnTo>
                <a:lnTo>
                  <a:pt x="10013" y="10000"/>
                </a:lnTo>
                <a:lnTo>
                  <a:pt x="13" y="10000"/>
                </a:lnTo>
                <a:cubicBezTo>
                  <a:pt x="9" y="7873"/>
                  <a:pt x="4" y="6097"/>
                  <a:pt x="0" y="3970"/>
                </a:cubicBezTo>
                <a:close/>
              </a:path>
            </a:pathLst>
          </a:custGeom>
          <a:gradFill>
            <a:gsLst>
              <a:gs pos="0">
                <a:srgbClr val="142756"/>
              </a:gs>
              <a:gs pos="100000">
                <a:srgbClr val="2E5DAE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 dirty="0">
              <a:solidFill>
                <a:schemeClr val="lt1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pic>
        <p:nvPicPr>
          <p:cNvPr id="100" name="图片 9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" b="32"/>
          <a:stretch>
            <a:fillRect/>
          </a:stretch>
        </p:blipFill>
        <p:spPr>
          <a:xfrm>
            <a:off x="819657" y="1074336"/>
            <a:ext cx="4892808" cy="4939693"/>
          </a:xfrm>
          <a:prstGeom prst="ellipse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04" name="空心弧 103"/>
          <p:cNvSpPr/>
          <p:nvPr/>
        </p:nvSpPr>
        <p:spPr>
          <a:xfrm rot="14414393">
            <a:off x="895496" y="1098487"/>
            <a:ext cx="4801452" cy="4801452"/>
          </a:xfrm>
          <a:prstGeom prst="blockArc">
            <a:avLst>
              <a:gd name="adj1" fmla="val 10800000"/>
              <a:gd name="adj2" fmla="val 467453"/>
              <a:gd name="adj3" fmla="val 2676"/>
            </a:avLst>
          </a:prstGeom>
          <a:solidFill>
            <a:srgbClr val="FBF9F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lang="zh-CN" altLang="en-US" kern="0" dirty="0">
              <a:solidFill>
                <a:prstClr val="black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+mn-ea"/>
              <a:sym typeface="Times New Roman" panose="02020603050405020304" pitchFamily="18" charset="0"/>
            </a:endParaRPr>
          </a:p>
        </p:txBody>
      </p:sp>
      <p:sp>
        <p:nvSpPr>
          <p:cNvPr id="9" name="文本占位符 1"/>
          <p:cNvSpPr txBox="1"/>
          <p:nvPr/>
        </p:nvSpPr>
        <p:spPr>
          <a:xfrm>
            <a:off x="5150499" y="713903"/>
            <a:ext cx="6867329" cy="378623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4000" b="1" kern="1200" spc="0" baseline="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defRPr/>
            </a:pPr>
            <a:endParaRPr lang="en-US" altLang="zh-CN" sz="3600" dirty="0">
              <a:solidFill>
                <a:srgbClr val="0070C0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  <a:p>
            <a:pPr>
              <a:lnSpc>
                <a:spcPct val="100000"/>
              </a:lnSpc>
              <a:defRPr/>
            </a:pPr>
            <a:r>
              <a:rPr lang="en-US" altLang="zh-CN" sz="3600" dirty="0">
                <a:solidFill>
                  <a:srgbClr val="0070C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3600" dirty="0">
                <a:solidFill>
                  <a:srgbClr val="0070C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模型在三峡库区越冬水禽</a:t>
            </a:r>
            <a:endParaRPr lang="en-US" altLang="zh-CN" sz="3600" dirty="0">
              <a:solidFill>
                <a:srgbClr val="0070C0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  <a:p>
            <a:pPr>
              <a:lnSpc>
                <a:spcPct val="100000"/>
              </a:lnSpc>
              <a:defRPr/>
            </a:pPr>
            <a:r>
              <a:rPr lang="zh-CN" altLang="en-US" sz="3600" dirty="0">
                <a:solidFill>
                  <a:srgbClr val="0070C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栖息地评价中的应用与共识</a:t>
            </a:r>
            <a:endParaRPr lang="en-US" altLang="zh-CN" sz="3600" dirty="0">
              <a:solidFill>
                <a:srgbClr val="0070C0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  <a:p>
            <a:pPr>
              <a:lnSpc>
                <a:spcPct val="100000"/>
              </a:lnSpc>
              <a:defRPr/>
            </a:pPr>
            <a:r>
              <a:rPr lang="en-US" altLang="zh-CN" sz="2800" dirty="0">
                <a:solidFill>
                  <a:srgbClr val="0070C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2800" dirty="0">
                <a:solidFill>
                  <a:srgbClr val="0070C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模型案例</a:t>
            </a:r>
            <a:endParaRPr lang="en-US" altLang="zh-CN" sz="2800" dirty="0">
              <a:solidFill>
                <a:srgbClr val="0070C0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10" name="Freeform 236"/>
          <p:cNvSpPr/>
          <p:nvPr/>
        </p:nvSpPr>
        <p:spPr bwMode="auto">
          <a:xfrm rot="10800000" flipH="1" flipV="1">
            <a:off x="6784728" y="4032933"/>
            <a:ext cx="4242848" cy="58622"/>
          </a:xfrm>
          <a:custGeom>
            <a:avLst/>
            <a:gdLst>
              <a:gd name="T0" fmla="*/ 508 w 508"/>
              <a:gd name="T1" fmla="*/ 28 h 66"/>
              <a:gd name="T2" fmla="*/ 433 w 508"/>
              <a:gd name="T3" fmla="*/ 21 h 66"/>
              <a:gd name="T4" fmla="*/ 445 w 508"/>
              <a:gd name="T5" fmla="*/ 20 h 66"/>
              <a:gd name="T6" fmla="*/ 209 w 508"/>
              <a:gd name="T7" fmla="*/ 5 h 66"/>
              <a:gd name="T8" fmla="*/ 94 w 508"/>
              <a:gd name="T9" fmla="*/ 4 h 66"/>
              <a:gd name="T10" fmla="*/ 62 w 508"/>
              <a:gd name="T11" fmla="*/ 10 h 66"/>
              <a:gd name="T12" fmla="*/ 26 w 508"/>
              <a:gd name="T13" fmla="*/ 14 h 66"/>
              <a:gd name="T14" fmla="*/ 2 w 508"/>
              <a:gd name="T15" fmla="*/ 24 h 66"/>
              <a:gd name="T16" fmla="*/ 12 w 508"/>
              <a:gd name="T17" fmla="*/ 53 h 66"/>
              <a:gd name="T18" fmla="*/ 10 w 508"/>
              <a:gd name="T19" fmla="*/ 56 h 66"/>
              <a:gd name="T20" fmla="*/ 11 w 508"/>
              <a:gd name="T21" fmla="*/ 65 h 66"/>
              <a:gd name="T22" fmla="*/ 23 w 508"/>
              <a:gd name="T23" fmla="*/ 60 h 66"/>
              <a:gd name="T24" fmla="*/ 34 w 508"/>
              <a:gd name="T25" fmla="*/ 62 h 66"/>
              <a:gd name="T26" fmla="*/ 61 w 508"/>
              <a:gd name="T27" fmla="*/ 52 h 66"/>
              <a:gd name="T28" fmla="*/ 108 w 508"/>
              <a:gd name="T29" fmla="*/ 54 h 66"/>
              <a:gd name="T30" fmla="*/ 279 w 508"/>
              <a:gd name="T31" fmla="*/ 48 h 66"/>
              <a:gd name="T32" fmla="*/ 366 w 508"/>
              <a:gd name="T33" fmla="*/ 43 h 66"/>
              <a:gd name="T34" fmla="*/ 362 w 508"/>
              <a:gd name="T35" fmla="*/ 42 h 66"/>
              <a:gd name="T36" fmla="*/ 477 w 508"/>
              <a:gd name="T37" fmla="*/ 36 h 66"/>
              <a:gd name="T38" fmla="*/ 491 w 508"/>
              <a:gd name="T39" fmla="*/ 33 h 66"/>
              <a:gd name="T40" fmla="*/ 474 w 508"/>
              <a:gd name="T41" fmla="*/ 31 h 66"/>
              <a:gd name="T42" fmla="*/ 508 w 508"/>
              <a:gd name="T43" fmla="*/ 28 h 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508" h="66">
                <a:moveTo>
                  <a:pt x="508" y="28"/>
                </a:moveTo>
                <a:cubicBezTo>
                  <a:pt x="433" y="21"/>
                  <a:pt x="433" y="21"/>
                  <a:pt x="433" y="21"/>
                </a:cubicBezTo>
                <a:cubicBezTo>
                  <a:pt x="437" y="20"/>
                  <a:pt x="441" y="22"/>
                  <a:pt x="445" y="20"/>
                </a:cubicBezTo>
                <a:cubicBezTo>
                  <a:pt x="360" y="13"/>
                  <a:pt x="292" y="6"/>
                  <a:pt x="209" y="5"/>
                </a:cubicBezTo>
                <a:cubicBezTo>
                  <a:pt x="172" y="6"/>
                  <a:pt x="130" y="1"/>
                  <a:pt x="94" y="4"/>
                </a:cubicBezTo>
                <a:cubicBezTo>
                  <a:pt x="85" y="11"/>
                  <a:pt x="70" y="0"/>
                  <a:pt x="62" y="10"/>
                </a:cubicBezTo>
                <a:cubicBezTo>
                  <a:pt x="50" y="10"/>
                  <a:pt x="37" y="10"/>
                  <a:pt x="26" y="14"/>
                </a:cubicBezTo>
                <a:cubicBezTo>
                  <a:pt x="16" y="10"/>
                  <a:pt x="10" y="20"/>
                  <a:pt x="2" y="24"/>
                </a:cubicBezTo>
                <a:cubicBezTo>
                  <a:pt x="0" y="34"/>
                  <a:pt x="4" y="44"/>
                  <a:pt x="12" y="53"/>
                </a:cubicBezTo>
                <a:cubicBezTo>
                  <a:pt x="12" y="54"/>
                  <a:pt x="11" y="55"/>
                  <a:pt x="10" y="56"/>
                </a:cubicBezTo>
                <a:cubicBezTo>
                  <a:pt x="8" y="59"/>
                  <a:pt x="8" y="63"/>
                  <a:pt x="11" y="65"/>
                </a:cubicBezTo>
                <a:cubicBezTo>
                  <a:pt x="15" y="64"/>
                  <a:pt x="19" y="63"/>
                  <a:pt x="23" y="60"/>
                </a:cubicBezTo>
                <a:cubicBezTo>
                  <a:pt x="27" y="60"/>
                  <a:pt x="30" y="66"/>
                  <a:pt x="34" y="62"/>
                </a:cubicBezTo>
                <a:cubicBezTo>
                  <a:pt x="42" y="54"/>
                  <a:pt x="52" y="55"/>
                  <a:pt x="61" y="52"/>
                </a:cubicBezTo>
                <a:cubicBezTo>
                  <a:pt x="76" y="54"/>
                  <a:pt x="93" y="53"/>
                  <a:pt x="108" y="54"/>
                </a:cubicBezTo>
                <a:cubicBezTo>
                  <a:pt x="161" y="52"/>
                  <a:pt x="222" y="49"/>
                  <a:pt x="279" y="48"/>
                </a:cubicBezTo>
                <a:cubicBezTo>
                  <a:pt x="308" y="49"/>
                  <a:pt x="338" y="46"/>
                  <a:pt x="366" y="43"/>
                </a:cubicBezTo>
                <a:cubicBezTo>
                  <a:pt x="365" y="43"/>
                  <a:pt x="363" y="43"/>
                  <a:pt x="362" y="42"/>
                </a:cubicBezTo>
                <a:cubicBezTo>
                  <a:pt x="401" y="41"/>
                  <a:pt x="439" y="38"/>
                  <a:pt x="477" y="36"/>
                </a:cubicBezTo>
                <a:cubicBezTo>
                  <a:pt x="481" y="34"/>
                  <a:pt x="487" y="37"/>
                  <a:pt x="491" y="33"/>
                </a:cubicBezTo>
                <a:cubicBezTo>
                  <a:pt x="486" y="31"/>
                  <a:pt x="479" y="33"/>
                  <a:pt x="474" y="31"/>
                </a:cubicBezTo>
                <a:cubicBezTo>
                  <a:pt x="485" y="29"/>
                  <a:pt x="498" y="31"/>
                  <a:pt x="508" y="28"/>
                </a:cubicBezTo>
                <a:close/>
              </a:path>
            </a:pathLst>
          </a:custGeom>
          <a:solidFill>
            <a:srgbClr val="0070C0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defTabSz="457200">
              <a:lnSpc>
                <a:spcPct val="130000"/>
              </a:lnSpc>
            </a:pPr>
            <a:endParaRPr lang="zh-CN" altLang="en-US" dirty="0">
              <a:solidFill>
                <a:prstClr val="white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+mn-ea"/>
              <a:sym typeface="Times New Roman" panose="02020603050405020304" pitchFamily="18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6526635" y="4735646"/>
            <a:ext cx="2227055" cy="370546"/>
            <a:chOff x="4654427" y="4718860"/>
            <a:chExt cx="1663809" cy="276971"/>
          </a:xfrm>
        </p:grpSpPr>
        <p:grpSp>
          <p:nvGrpSpPr>
            <p:cNvPr id="12" name="组合 11"/>
            <p:cNvGrpSpPr/>
            <p:nvPr/>
          </p:nvGrpSpPr>
          <p:grpSpPr>
            <a:xfrm>
              <a:off x="4654427" y="4718860"/>
              <a:ext cx="276971" cy="276971"/>
              <a:chOff x="3725237" y="4930504"/>
              <a:chExt cx="531780" cy="531780"/>
            </a:xfrm>
          </p:grpSpPr>
          <p:sp>
            <p:nvSpPr>
              <p:cNvPr id="14" name="圆角矩形 2"/>
              <p:cNvSpPr/>
              <p:nvPr/>
            </p:nvSpPr>
            <p:spPr>
              <a:xfrm>
                <a:off x="3725237" y="4930504"/>
                <a:ext cx="531780" cy="531780"/>
              </a:xfrm>
              <a:prstGeom prst="ellipse">
                <a:avLst/>
              </a:prstGeom>
              <a:solidFill>
                <a:srgbClr val="0070C0"/>
              </a:solidFill>
              <a:ln w="25400" cap="flat" cmpd="sng" algn="ctr">
                <a:noFill/>
                <a:prstDash val="solid"/>
                <a:miter lim="800000"/>
              </a:ln>
              <a:effectLst>
                <a:outerShdw blurRad="177800" dist="101600" dir="8100000" algn="tr" rotWithShape="0">
                  <a:prstClr val="black">
                    <a:alpha val="30000"/>
                  </a:prstClr>
                </a:outerShdw>
              </a:effectLst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9pPr>
              </a:lstStyle>
              <a:p>
                <a:pPr algn="ctr" defTabSz="913765">
                  <a:defRPr/>
                </a:pPr>
                <a:endParaRPr lang="zh-CN" altLang="en-US" sz="1400" b="1" dirty="0">
                  <a:solidFill>
                    <a:srgbClr val="FFFFFF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endParaRPr>
              </a:p>
            </p:txBody>
          </p:sp>
          <p:sp>
            <p:nvSpPr>
              <p:cNvPr id="15" name="student-graduation-cap-shape_52041"/>
              <p:cNvSpPr>
                <a:spLocks noChangeAspect="1"/>
              </p:cNvSpPr>
              <p:nvPr/>
            </p:nvSpPr>
            <p:spPr bwMode="auto">
              <a:xfrm>
                <a:off x="3875605" y="5054575"/>
                <a:ext cx="219840" cy="264806"/>
              </a:xfrm>
              <a:custGeom>
                <a:avLst/>
                <a:gdLst>
                  <a:gd name="connsiteX0" fmla="*/ 56671 w 279400"/>
                  <a:gd name="connsiteY0" fmla="*/ 192087 h 336550"/>
                  <a:gd name="connsiteX1" fmla="*/ 224047 w 279400"/>
                  <a:gd name="connsiteY1" fmla="*/ 192087 h 336550"/>
                  <a:gd name="connsiteX2" fmla="*/ 279400 w 279400"/>
                  <a:gd name="connsiteY2" fmla="*/ 247752 h 336550"/>
                  <a:gd name="connsiteX3" fmla="*/ 279400 w 279400"/>
                  <a:gd name="connsiteY3" fmla="*/ 336550 h 336550"/>
                  <a:gd name="connsiteX4" fmla="*/ 176602 w 279400"/>
                  <a:gd name="connsiteY4" fmla="*/ 336550 h 336550"/>
                  <a:gd name="connsiteX5" fmla="*/ 158151 w 279400"/>
                  <a:gd name="connsiteY5" fmla="*/ 245101 h 336550"/>
                  <a:gd name="connsiteX6" fmla="*/ 151562 w 279400"/>
                  <a:gd name="connsiteY6" fmla="*/ 239800 h 336550"/>
                  <a:gd name="connsiteX7" fmla="*/ 167377 w 279400"/>
                  <a:gd name="connsiteY7" fmla="*/ 213293 h 336550"/>
                  <a:gd name="connsiteX8" fmla="*/ 167377 w 279400"/>
                  <a:gd name="connsiteY8" fmla="*/ 209317 h 336550"/>
                  <a:gd name="connsiteX9" fmla="*/ 163423 w 279400"/>
                  <a:gd name="connsiteY9" fmla="*/ 207991 h 336550"/>
                  <a:gd name="connsiteX10" fmla="*/ 121249 w 279400"/>
                  <a:gd name="connsiteY10" fmla="*/ 207991 h 336550"/>
                  <a:gd name="connsiteX11" fmla="*/ 118613 w 279400"/>
                  <a:gd name="connsiteY11" fmla="*/ 209317 h 336550"/>
                  <a:gd name="connsiteX12" fmla="*/ 118613 w 279400"/>
                  <a:gd name="connsiteY12" fmla="*/ 213293 h 336550"/>
                  <a:gd name="connsiteX13" fmla="*/ 134429 w 279400"/>
                  <a:gd name="connsiteY13" fmla="*/ 239800 h 336550"/>
                  <a:gd name="connsiteX14" fmla="*/ 126521 w 279400"/>
                  <a:gd name="connsiteY14" fmla="*/ 245101 h 336550"/>
                  <a:gd name="connsiteX15" fmla="*/ 110706 w 279400"/>
                  <a:gd name="connsiteY15" fmla="*/ 336550 h 336550"/>
                  <a:gd name="connsiteX16" fmla="*/ 0 w 279400"/>
                  <a:gd name="connsiteY16" fmla="*/ 336550 h 336550"/>
                  <a:gd name="connsiteX17" fmla="*/ 0 w 279400"/>
                  <a:gd name="connsiteY17" fmla="*/ 247752 h 336550"/>
                  <a:gd name="connsiteX18" fmla="*/ 56671 w 279400"/>
                  <a:gd name="connsiteY18" fmla="*/ 192087 h 336550"/>
                  <a:gd name="connsiteX19" fmla="*/ 138907 w 279400"/>
                  <a:gd name="connsiteY19" fmla="*/ 0 h 336550"/>
                  <a:gd name="connsiteX20" fmla="*/ 219076 w 279400"/>
                  <a:gd name="connsiteY20" fmla="*/ 80169 h 336550"/>
                  <a:gd name="connsiteX21" fmla="*/ 138907 w 279400"/>
                  <a:gd name="connsiteY21" fmla="*/ 160338 h 336550"/>
                  <a:gd name="connsiteX22" fmla="*/ 58738 w 279400"/>
                  <a:gd name="connsiteY22" fmla="*/ 80169 h 336550"/>
                  <a:gd name="connsiteX23" fmla="*/ 138907 w 279400"/>
                  <a:gd name="connsiteY23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79400" h="336550">
                    <a:moveTo>
                      <a:pt x="56671" y="192087"/>
                    </a:moveTo>
                    <a:cubicBezTo>
                      <a:pt x="56671" y="192087"/>
                      <a:pt x="56671" y="192087"/>
                      <a:pt x="224047" y="192087"/>
                    </a:cubicBezTo>
                    <a:cubicBezTo>
                      <a:pt x="254360" y="192087"/>
                      <a:pt x="279400" y="217269"/>
                      <a:pt x="279400" y="247752"/>
                    </a:cubicBezTo>
                    <a:cubicBezTo>
                      <a:pt x="279400" y="247752"/>
                      <a:pt x="279400" y="247752"/>
                      <a:pt x="279400" y="336550"/>
                    </a:cubicBezTo>
                    <a:cubicBezTo>
                      <a:pt x="279400" y="336550"/>
                      <a:pt x="279400" y="336550"/>
                      <a:pt x="176602" y="336550"/>
                    </a:cubicBezTo>
                    <a:cubicBezTo>
                      <a:pt x="176602" y="336550"/>
                      <a:pt x="176602" y="336550"/>
                      <a:pt x="158151" y="245101"/>
                    </a:cubicBezTo>
                    <a:cubicBezTo>
                      <a:pt x="158151" y="242450"/>
                      <a:pt x="154197" y="239800"/>
                      <a:pt x="151562" y="239800"/>
                    </a:cubicBezTo>
                    <a:cubicBezTo>
                      <a:pt x="151562" y="239800"/>
                      <a:pt x="151562" y="239800"/>
                      <a:pt x="167377" y="213293"/>
                    </a:cubicBezTo>
                    <a:cubicBezTo>
                      <a:pt x="167377" y="211967"/>
                      <a:pt x="167377" y="210642"/>
                      <a:pt x="167377" y="209317"/>
                    </a:cubicBezTo>
                    <a:cubicBezTo>
                      <a:pt x="166059" y="207991"/>
                      <a:pt x="164741" y="207991"/>
                      <a:pt x="163423" y="207991"/>
                    </a:cubicBezTo>
                    <a:cubicBezTo>
                      <a:pt x="163423" y="207991"/>
                      <a:pt x="163423" y="207991"/>
                      <a:pt x="121249" y="207991"/>
                    </a:cubicBezTo>
                    <a:cubicBezTo>
                      <a:pt x="119931" y="207991"/>
                      <a:pt x="118613" y="207991"/>
                      <a:pt x="118613" y="209317"/>
                    </a:cubicBezTo>
                    <a:cubicBezTo>
                      <a:pt x="117296" y="210642"/>
                      <a:pt x="117296" y="211967"/>
                      <a:pt x="118613" y="213293"/>
                    </a:cubicBezTo>
                    <a:cubicBezTo>
                      <a:pt x="118613" y="213293"/>
                      <a:pt x="118613" y="213293"/>
                      <a:pt x="134429" y="239800"/>
                    </a:cubicBezTo>
                    <a:cubicBezTo>
                      <a:pt x="130475" y="239800"/>
                      <a:pt x="127839" y="242450"/>
                      <a:pt x="126521" y="245101"/>
                    </a:cubicBezTo>
                    <a:cubicBezTo>
                      <a:pt x="126521" y="245101"/>
                      <a:pt x="126521" y="245101"/>
                      <a:pt x="110706" y="336550"/>
                    </a:cubicBezTo>
                    <a:cubicBezTo>
                      <a:pt x="110706" y="336550"/>
                      <a:pt x="110706" y="336550"/>
                      <a:pt x="0" y="336550"/>
                    </a:cubicBezTo>
                    <a:cubicBezTo>
                      <a:pt x="0" y="336550"/>
                      <a:pt x="0" y="336550"/>
                      <a:pt x="0" y="247752"/>
                    </a:cubicBezTo>
                    <a:cubicBezTo>
                      <a:pt x="0" y="217269"/>
                      <a:pt x="25040" y="192087"/>
                      <a:pt x="56671" y="192087"/>
                    </a:cubicBezTo>
                    <a:close/>
                    <a:moveTo>
                      <a:pt x="138907" y="0"/>
                    </a:moveTo>
                    <a:cubicBezTo>
                      <a:pt x="183183" y="0"/>
                      <a:pt x="219076" y="35893"/>
                      <a:pt x="219076" y="80169"/>
                    </a:cubicBezTo>
                    <a:cubicBezTo>
                      <a:pt x="219076" y="124445"/>
                      <a:pt x="183183" y="160338"/>
                      <a:pt x="138907" y="160338"/>
                    </a:cubicBezTo>
                    <a:cubicBezTo>
                      <a:pt x="94631" y="160338"/>
                      <a:pt x="58738" y="124445"/>
                      <a:pt x="58738" y="80169"/>
                    </a:cubicBezTo>
                    <a:cubicBezTo>
                      <a:pt x="58738" y="35893"/>
                      <a:pt x="94631" y="0"/>
                      <a:pt x="138907" y="0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9pPr>
              </a:lstStyle>
              <a:p>
                <a:pPr defTabSz="913765">
                  <a:defRPr/>
                </a:pPr>
                <a:endPara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endParaRPr>
              </a:p>
            </p:txBody>
          </p:sp>
        </p:grpSp>
        <p:sp>
          <p:nvSpPr>
            <p:cNvPr id="13" name="文本框 22"/>
            <p:cNvSpPr txBox="1"/>
            <p:nvPr/>
          </p:nvSpPr>
          <p:spPr>
            <a:xfrm>
              <a:off x="4925563" y="4732803"/>
              <a:ext cx="1392673" cy="2530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9pPr>
            </a:lstStyle>
            <a:p>
              <a:pPr defTabSz="913765">
                <a:defRPr/>
              </a:pPr>
              <a:r>
                <a:rPr lang="zh-CN" altLang="en-US" sz="1600" b="1" dirty="0">
                  <a:solidFill>
                    <a:sysClr val="windowText" lastClr="000000">
                      <a:lumMod val="75000"/>
                      <a:lumOff val="25000"/>
                    </a:sys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汇报人：罗睿思</a:t>
              </a: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9022660" y="4735646"/>
            <a:ext cx="2698615" cy="370765"/>
            <a:chOff x="6395842" y="4718860"/>
            <a:chExt cx="2016134" cy="276971"/>
          </a:xfrm>
        </p:grpSpPr>
        <p:grpSp>
          <p:nvGrpSpPr>
            <p:cNvPr id="17" name="组合 16"/>
            <p:cNvGrpSpPr/>
            <p:nvPr/>
          </p:nvGrpSpPr>
          <p:grpSpPr>
            <a:xfrm>
              <a:off x="6395842" y="4718860"/>
              <a:ext cx="276971" cy="276971"/>
              <a:chOff x="6392770" y="4930504"/>
              <a:chExt cx="531780" cy="531780"/>
            </a:xfrm>
          </p:grpSpPr>
          <p:sp>
            <p:nvSpPr>
              <p:cNvPr id="19" name="圆角矩形 2"/>
              <p:cNvSpPr/>
              <p:nvPr/>
            </p:nvSpPr>
            <p:spPr>
              <a:xfrm>
                <a:off x="6392770" y="4930504"/>
                <a:ext cx="531780" cy="531780"/>
              </a:xfrm>
              <a:prstGeom prst="ellipse">
                <a:avLst/>
              </a:prstGeom>
              <a:solidFill>
                <a:srgbClr val="0070C0"/>
              </a:solidFill>
              <a:ln w="25400" cap="flat" cmpd="sng" algn="ctr">
                <a:noFill/>
                <a:prstDash val="solid"/>
                <a:miter lim="800000"/>
              </a:ln>
              <a:effectLst>
                <a:outerShdw blurRad="177800" dist="101600" dir="8100000" algn="tr" rotWithShape="0">
                  <a:prstClr val="black">
                    <a:alpha val="30000"/>
                  </a:prstClr>
                </a:outerShdw>
              </a:effectLst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9pPr>
              </a:lstStyle>
              <a:p>
                <a:pPr algn="ctr" defTabSz="913765">
                  <a:defRPr/>
                </a:pPr>
                <a:endParaRPr lang="zh-CN" altLang="en-US" sz="1400" b="1" dirty="0">
                  <a:solidFill>
                    <a:srgbClr val="FFFFFF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endParaRPr>
              </a:p>
            </p:txBody>
          </p:sp>
          <p:sp>
            <p:nvSpPr>
              <p:cNvPr id="20" name="student-graduation-cap-shape_52041"/>
              <p:cNvSpPr>
                <a:spLocks noChangeAspect="1"/>
              </p:cNvSpPr>
              <p:nvPr/>
            </p:nvSpPr>
            <p:spPr bwMode="auto">
              <a:xfrm>
                <a:off x="6527005" y="5064598"/>
                <a:ext cx="256066" cy="264808"/>
              </a:xfrm>
              <a:custGeom>
                <a:avLst/>
                <a:gdLst>
                  <a:gd name="connsiteX0" fmla="*/ 233363 w 325438"/>
                  <a:gd name="connsiteY0" fmla="*/ 249238 h 336550"/>
                  <a:gd name="connsiteX1" fmla="*/ 279401 w 325438"/>
                  <a:gd name="connsiteY1" fmla="*/ 249238 h 336550"/>
                  <a:gd name="connsiteX2" fmla="*/ 279401 w 325438"/>
                  <a:gd name="connsiteY2" fmla="*/ 290513 h 336550"/>
                  <a:gd name="connsiteX3" fmla="*/ 233363 w 325438"/>
                  <a:gd name="connsiteY3" fmla="*/ 290513 h 336550"/>
                  <a:gd name="connsiteX4" fmla="*/ 171450 w 325438"/>
                  <a:gd name="connsiteY4" fmla="*/ 249238 h 336550"/>
                  <a:gd name="connsiteX5" fmla="*/ 217488 w 325438"/>
                  <a:gd name="connsiteY5" fmla="*/ 249238 h 336550"/>
                  <a:gd name="connsiteX6" fmla="*/ 217488 w 325438"/>
                  <a:gd name="connsiteY6" fmla="*/ 290513 h 336550"/>
                  <a:gd name="connsiteX7" fmla="*/ 171450 w 325438"/>
                  <a:gd name="connsiteY7" fmla="*/ 290513 h 336550"/>
                  <a:gd name="connsiteX8" fmla="*/ 107950 w 325438"/>
                  <a:gd name="connsiteY8" fmla="*/ 249238 h 336550"/>
                  <a:gd name="connsiteX9" fmla="*/ 155575 w 325438"/>
                  <a:gd name="connsiteY9" fmla="*/ 249238 h 336550"/>
                  <a:gd name="connsiteX10" fmla="*/ 155575 w 325438"/>
                  <a:gd name="connsiteY10" fmla="*/ 290513 h 336550"/>
                  <a:gd name="connsiteX11" fmla="*/ 107950 w 325438"/>
                  <a:gd name="connsiteY11" fmla="*/ 290513 h 336550"/>
                  <a:gd name="connsiteX12" fmla="*/ 46038 w 325438"/>
                  <a:gd name="connsiteY12" fmla="*/ 249238 h 336550"/>
                  <a:gd name="connsiteX13" fmla="*/ 93663 w 325438"/>
                  <a:gd name="connsiteY13" fmla="*/ 249238 h 336550"/>
                  <a:gd name="connsiteX14" fmla="*/ 93663 w 325438"/>
                  <a:gd name="connsiteY14" fmla="*/ 290513 h 336550"/>
                  <a:gd name="connsiteX15" fmla="*/ 46038 w 325438"/>
                  <a:gd name="connsiteY15" fmla="*/ 290513 h 336550"/>
                  <a:gd name="connsiteX16" fmla="*/ 233363 w 325438"/>
                  <a:gd name="connsiteY16" fmla="*/ 195263 h 336550"/>
                  <a:gd name="connsiteX17" fmla="*/ 279401 w 325438"/>
                  <a:gd name="connsiteY17" fmla="*/ 195263 h 336550"/>
                  <a:gd name="connsiteX18" fmla="*/ 279401 w 325438"/>
                  <a:gd name="connsiteY18" fmla="*/ 234951 h 336550"/>
                  <a:gd name="connsiteX19" fmla="*/ 233363 w 325438"/>
                  <a:gd name="connsiteY19" fmla="*/ 234951 h 336550"/>
                  <a:gd name="connsiteX20" fmla="*/ 171450 w 325438"/>
                  <a:gd name="connsiteY20" fmla="*/ 195263 h 336550"/>
                  <a:gd name="connsiteX21" fmla="*/ 217488 w 325438"/>
                  <a:gd name="connsiteY21" fmla="*/ 195263 h 336550"/>
                  <a:gd name="connsiteX22" fmla="*/ 217488 w 325438"/>
                  <a:gd name="connsiteY22" fmla="*/ 234951 h 336550"/>
                  <a:gd name="connsiteX23" fmla="*/ 171450 w 325438"/>
                  <a:gd name="connsiteY23" fmla="*/ 234951 h 336550"/>
                  <a:gd name="connsiteX24" fmla="*/ 107950 w 325438"/>
                  <a:gd name="connsiteY24" fmla="*/ 195263 h 336550"/>
                  <a:gd name="connsiteX25" fmla="*/ 155575 w 325438"/>
                  <a:gd name="connsiteY25" fmla="*/ 195263 h 336550"/>
                  <a:gd name="connsiteX26" fmla="*/ 155575 w 325438"/>
                  <a:gd name="connsiteY26" fmla="*/ 234951 h 336550"/>
                  <a:gd name="connsiteX27" fmla="*/ 107950 w 325438"/>
                  <a:gd name="connsiteY27" fmla="*/ 234951 h 336550"/>
                  <a:gd name="connsiteX28" fmla="*/ 46038 w 325438"/>
                  <a:gd name="connsiteY28" fmla="*/ 195263 h 336550"/>
                  <a:gd name="connsiteX29" fmla="*/ 93663 w 325438"/>
                  <a:gd name="connsiteY29" fmla="*/ 195263 h 336550"/>
                  <a:gd name="connsiteX30" fmla="*/ 93663 w 325438"/>
                  <a:gd name="connsiteY30" fmla="*/ 234951 h 336550"/>
                  <a:gd name="connsiteX31" fmla="*/ 46038 w 325438"/>
                  <a:gd name="connsiteY31" fmla="*/ 234951 h 336550"/>
                  <a:gd name="connsiteX32" fmla="*/ 233363 w 325438"/>
                  <a:gd name="connsiteY32" fmla="*/ 139700 h 336550"/>
                  <a:gd name="connsiteX33" fmla="*/ 279401 w 325438"/>
                  <a:gd name="connsiteY33" fmla="*/ 139700 h 336550"/>
                  <a:gd name="connsiteX34" fmla="*/ 279401 w 325438"/>
                  <a:gd name="connsiteY34" fmla="*/ 180975 h 336550"/>
                  <a:gd name="connsiteX35" fmla="*/ 233363 w 325438"/>
                  <a:gd name="connsiteY35" fmla="*/ 180975 h 336550"/>
                  <a:gd name="connsiteX36" fmla="*/ 171450 w 325438"/>
                  <a:gd name="connsiteY36" fmla="*/ 139700 h 336550"/>
                  <a:gd name="connsiteX37" fmla="*/ 217488 w 325438"/>
                  <a:gd name="connsiteY37" fmla="*/ 139700 h 336550"/>
                  <a:gd name="connsiteX38" fmla="*/ 217488 w 325438"/>
                  <a:gd name="connsiteY38" fmla="*/ 180975 h 336550"/>
                  <a:gd name="connsiteX39" fmla="*/ 171450 w 325438"/>
                  <a:gd name="connsiteY39" fmla="*/ 180975 h 336550"/>
                  <a:gd name="connsiteX40" fmla="*/ 107950 w 325438"/>
                  <a:gd name="connsiteY40" fmla="*/ 139700 h 336550"/>
                  <a:gd name="connsiteX41" fmla="*/ 155575 w 325438"/>
                  <a:gd name="connsiteY41" fmla="*/ 139700 h 336550"/>
                  <a:gd name="connsiteX42" fmla="*/ 155575 w 325438"/>
                  <a:gd name="connsiteY42" fmla="*/ 180975 h 336550"/>
                  <a:gd name="connsiteX43" fmla="*/ 107950 w 325438"/>
                  <a:gd name="connsiteY43" fmla="*/ 180975 h 336550"/>
                  <a:gd name="connsiteX44" fmla="*/ 49167 w 325438"/>
                  <a:gd name="connsiteY44" fmla="*/ 38100 h 336550"/>
                  <a:gd name="connsiteX45" fmla="*/ 25400 w 325438"/>
                  <a:gd name="connsiteY45" fmla="*/ 61753 h 336550"/>
                  <a:gd name="connsiteX46" fmla="*/ 25400 w 325438"/>
                  <a:gd name="connsiteY46" fmla="*/ 289085 h 336550"/>
                  <a:gd name="connsiteX47" fmla="*/ 49167 w 325438"/>
                  <a:gd name="connsiteY47" fmla="*/ 312738 h 336550"/>
                  <a:gd name="connsiteX48" fmla="*/ 276271 w 325438"/>
                  <a:gd name="connsiteY48" fmla="*/ 312738 h 336550"/>
                  <a:gd name="connsiteX49" fmla="*/ 300038 w 325438"/>
                  <a:gd name="connsiteY49" fmla="*/ 289085 h 336550"/>
                  <a:gd name="connsiteX50" fmla="*/ 300038 w 325438"/>
                  <a:gd name="connsiteY50" fmla="*/ 61753 h 336550"/>
                  <a:gd name="connsiteX51" fmla="*/ 276271 w 325438"/>
                  <a:gd name="connsiteY51" fmla="*/ 38100 h 336550"/>
                  <a:gd name="connsiteX52" fmla="*/ 269669 w 325438"/>
                  <a:gd name="connsiteY52" fmla="*/ 38100 h 336550"/>
                  <a:gd name="connsiteX53" fmla="*/ 269669 w 325438"/>
                  <a:gd name="connsiteY53" fmla="*/ 63067 h 336550"/>
                  <a:gd name="connsiteX54" fmla="*/ 276271 w 325438"/>
                  <a:gd name="connsiteY54" fmla="*/ 74894 h 336550"/>
                  <a:gd name="connsiteX55" fmla="*/ 260427 w 325438"/>
                  <a:gd name="connsiteY55" fmla="*/ 90662 h 336550"/>
                  <a:gd name="connsiteX56" fmla="*/ 244582 w 325438"/>
                  <a:gd name="connsiteY56" fmla="*/ 74894 h 336550"/>
                  <a:gd name="connsiteX57" fmla="*/ 249864 w 325438"/>
                  <a:gd name="connsiteY57" fmla="*/ 63067 h 336550"/>
                  <a:gd name="connsiteX58" fmla="*/ 249864 w 325438"/>
                  <a:gd name="connsiteY58" fmla="*/ 38100 h 336550"/>
                  <a:gd name="connsiteX59" fmla="*/ 231379 w 325438"/>
                  <a:gd name="connsiteY59" fmla="*/ 38100 h 336550"/>
                  <a:gd name="connsiteX60" fmla="*/ 231379 w 325438"/>
                  <a:gd name="connsiteY60" fmla="*/ 63067 h 336550"/>
                  <a:gd name="connsiteX61" fmla="*/ 236660 w 325438"/>
                  <a:gd name="connsiteY61" fmla="*/ 74894 h 336550"/>
                  <a:gd name="connsiteX62" fmla="*/ 220816 w 325438"/>
                  <a:gd name="connsiteY62" fmla="*/ 90662 h 336550"/>
                  <a:gd name="connsiteX63" fmla="*/ 204971 w 325438"/>
                  <a:gd name="connsiteY63" fmla="*/ 74894 h 336550"/>
                  <a:gd name="connsiteX64" fmla="*/ 210253 w 325438"/>
                  <a:gd name="connsiteY64" fmla="*/ 63067 h 336550"/>
                  <a:gd name="connsiteX65" fmla="*/ 210253 w 325438"/>
                  <a:gd name="connsiteY65" fmla="*/ 38100 h 336550"/>
                  <a:gd name="connsiteX66" fmla="*/ 191767 w 325438"/>
                  <a:gd name="connsiteY66" fmla="*/ 38100 h 336550"/>
                  <a:gd name="connsiteX67" fmla="*/ 191767 w 325438"/>
                  <a:gd name="connsiteY67" fmla="*/ 63067 h 336550"/>
                  <a:gd name="connsiteX68" fmla="*/ 198369 w 325438"/>
                  <a:gd name="connsiteY68" fmla="*/ 74894 h 336550"/>
                  <a:gd name="connsiteX69" fmla="*/ 182525 w 325438"/>
                  <a:gd name="connsiteY69" fmla="*/ 90662 h 336550"/>
                  <a:gd name="connsiteX70" fmla="*/ 166680 w 325438"/>
                  <a:gd name="connsiteY70" fmla="*/ 74894 h 336550"/>
                  <a:gd name="connsiteX71" fmla="*/ 171962 w 325438"/>
                  <a:gd name="connsiteY71" fmla="*/ 63067 h 336550"/>
                  <a:gd name="connsiteX72" fmla="*/ 171962 w 325438"/>
                  <a:gd name="connsiteY72" fmla="*/ 38100 h 336550"/>
                  <a:gd name="connsiteX73" fmla="*/ 153476 w 325438"/>
                  <a:gd name="connsiteY73" fmla="*/ 38100 h 336550"/>
                  <a:gd name="connsiteX74" fmla="*/ 153476 w 325438"/>
                  <a:gd name="connsiteY74" fmla="*/ 63067 h 336550"/>
                  <a:gd name="connsiteX75" fmla="*/ 158758 w 325438"/>
                  <a:gd name="connsiteY75" fmla="*/ 74894 h 336550"/>
                  <a:gd name="connsiteX76" fmla="*/ 142913 w 325438"/>
                  <a:gd name="connsiteY76" fmla="*/ 90662 h 336550"/>
                  <a:gd name="connsiteX77" fmla="*/ 127069 w 325438"/>
                  <a:gd name="connsiteY77" fmla="*/ 74894 h 336550"/>
                  <a:gd name="connsiteX78" fmla="*/ 133671 w 325438"/>
                  <a:gd name="connsiteY78" fmla="*/ 63067 h 336550"/>
                  <a:gd name="connsiteX79" fmla="*/ 133671 w 325438"/>
                  <a:gd name="connsiteY79" fmla="*/ 38100 h 336550"/>
                  <a:gd name="connsiteX80" fmla="*/ 115186 w 325438"/>
                  <a:gd name="connsiteY80" fmla="*/ 38100 h 336550"/>
                  <a:gd name="connsiteX81" fmla="*/ 115186 w 325438"/>
                  <a:gd name="connsiteY81" fmla="*/ 63067 h 336550"/>
                  <a:gd name="connsiteX82" fmla="*/ 120467 w 325438"/>
                  <a:gd name="connsiteY82" fmla="*/ 74894 h 336550"/>
                  <a:gd name="connsiteX83" fmla="*/ 104623 w 325438"/>
                  <a:gd name="connsiteY83" fmla="*/ 90662 h 336550"/>
                  <a:gd name="connsiteX84" fmla="*/ 88778 w 325438"/>
                  <a:gd name="connsiteY84" fmla="*/ 74894 h 336550"/>
                  <a:gd name="connsiteX85" fmla="*/ 94060 w 325438"/>
                  <a:gd name="connsiteY85" fmla="*/ 63067 h 336550"/>
                  <a:gd name="connsiteX86" fmla="*/ 94060 w 325438"/>
                  <a:gd name="connsiteY86" fmla="*/ 38100 h 336550"/>
                  <a:gd name="connsiteX87" fmla="*/ 75574 w 325438"/>
                  <a:gd name="connsiteY87" fmla="*/ 38100 h 336550"/>
                  <a:gd name="connsiteX88" fmla="*/ 75574 w 325438"/>
                  <a:gd name="connsiteY88" fmla="*/ 63067 h 336550"/>
                  <a:gd name="connsiteX89" fmla="*/ 80856 w 325438"/>
                  <a:gd name="connsiteY89" fmla="*/ 74894 h 336550"/>
                  <a:gd name="connsiteX90" fmla="*/ 65011 w 325438"/>
                  <a:gd name="connsiteY90" fmla="*/ 90662 h 336550"/>
                  <a:gd name="connsiteX91" fmla="*/ 49167 w 325438"/>
                  <a:gd name="connsiteY91" fmla="*/ 74894 h 336550"/>
                  <a:gd name="connsiteX92" fmla="*/ 55769 w 325438"/>
                  <a:gd name="connsiteY92" fmla="*/ 63067 h 336550"/>
                  <a:gd name="connsiteX93" fmla="*/ 55769 w 325438"/>
                  <a:gd name="connsiteY93" fmla="*/ 38100 h 336550"/>
                  <a:gd name="connsiteX94" fmla="*/ 49167 w 325438"/>
                  <a:gd name="connsiteY94" fmla="*/ 38100 h 336550"/>
                  <a:gd name="connsiteX95" fmla="*/ 65315 w 325438"/>
                  <a:gd name="connsiteY95" fmla="*/ 4763 h 336550"/>
                  <a:gd name="connsiteX96" fmla="*/ 61913 w 325438"/>
                  <a:gd name="connsiteY96" fmla="*/ 10110 h 336550"/>
                  <a:gd name="connsiteX97" fmla="*/ 61913 w 325438"/>
                  <a:gd name="connsiteY97" fmla="*/ 75616 h 336550"/>
                  <a:gd name="connsiteX98" fmla="*/ 65315 w 325438"/>
                  <a:gd name="connsiteY98" fmla="*/ 80963 h 336550"/>
                  <a:gd name="connsiteX99" fmla="*/ 69851 w 325438"/>
                  <a:gd name="connsiteY99" fmla="*/ 75616 h 336550"/>
                  <a:gd name="connsiteX100" fmla="*/ 69851 w 325438"/>
                  <a:gd name="connsiteY100" fmla="*/ 10110 h 336550"/>
                  <a:gd name="connsiteX101" fmla="*/ 65315 w 325438"/>
                  <a:gd name="connsiteY101" fmla="*/ 4763 h 336550"/>
                  <a:gd name="connsiteX102" fmla="*/ 104776 w 325438"/>
                  <a:gd name="connsiteY102" fmla="*/ 4763 h 336550"/>
                  <a:gd name="connsiteX103" fmla="*/ 100013 w 325438"/>
                  <a:gd name="connsiteY103" fmla="*/ 10110 h 336550"/>
                  <a:gd name="connsiteX104" fmla="*/ 100013 w 325438"/>
                  <a:gd name="connsiteY104" fmla="*/ 75616 h 336550"/>
                  <a:gd name="connsiteX105" fmla="*/ 104776 w 325438"/>
                  <a:gd name="connsiteY105" fmla="*/ 80963 h 336550"/>
                  <a:gd name="connsiteX106" fmla="*/ 109538 w 325438"/>
                  <a:gd name="connsiteY106" fmla="*/ 75616 h 336550"/>
                  <a:gd name="connsiteX107" fmla="*/ 109538 w 325438"/>
                  <a:gd name="connsiteY107" fmla="*/ 10110 h 336550"/>
                  <a:gd name="connsiteX108" fmla="*/ 104776 w 325438"/>
                  <a:gd name="connsiteY108" fmla="*/ 4763 h 336550"/>
                  <a:gd name="connsiteX109" fmla="*/ 142876 w 325438"/>
                  <a:gd name="connsiteY109" fmla="*/ 4763 h 336550"/>
                  <a:gd name="connsiteX110" fmla="*/ 138113 w 325438"/>
                  <a:gd name="connsiteY110" fmla="*/ 10110 h 336550"/>
                  <a:gd name="connsiteX111" fmla="*/ 138113 w 325438"/>
                  <a:gd name="connsiteY111" fmla="*/ 75616 h 336550"/>
                  <a:gd name="connsiteX112" fmla="*/ 142876 w 325438"/>
                  <a:gd name="connsiteY112" fmla="*/ 80963 h 336550"/>
                  <a:gd name="connsiteX113" fmla="*/ 147638 w 325438"/>
                  <a:gd name="connsiteY113" fmla="*/ 75616 h 336550"/>
                  <a:gd name="connsiteX114" fmla="*/ 147638 w 325438"/>
                  <a:gd name="connsiteY114" fmla="*/ 10110 h 336550"/>
                  <a:gd name="connsiteX115" fmla="*/ 142876 w 325438"/>
                  <a:gd name="connsiteY115" fmla="*/ 4763 h 336550"/>
                  <a:gd name="connsiteX116" fmla="*/ 182563 w 325438"/>
                  <a:gd name="connsiteY116" fmla="*/ 4763 h 336550"/>
                  <a:gd name="connsiteX117" fmla="*/ 177800 w 325438"/>
                  <a:gd name="connsiteY117" fmla="*/ 10110 h 336550"/>
                  <a:gd name="connsiteX118" fmla="*/ 177800 w 325438"/>
                  <a:gd name="connsiteY118" fmla="*/ 75616 h 336550"/>
                  <a:gd name="connsiteX119" fmla="*/ 182563 w 325438"/>
                  <a:gd name="connsiteY119" fmla="*/ 80963 h 336550"/>
                  <a:gd name="connsiteX120" fmla="*/ 187325 w 325438"/>
                  <a:gd name="connsiteY120" fmla="*/ 75616 h 336550"/>
                  <a:gd name="connsiteX121" fmla="*/ 187325 w 325438"/>
                  <a:gd name="connsiteY121" fmla="*/ 10110 h 336550"/>
                  <a:gd name="connsiteX122" fmla="*/ 182563 w 325438"/>
                  <a:gd name="connsiteY122" fmla="*/ 4763 h 336550"/>
                  <a:gd name="connsiteX123" fmla="*/ 220663 w 325438"/>
                  <a:gd name="connsiteY123" fmla="*/ 4763 h 336550"/>
                  <a:gd name="connsiteX124" fmla="*/ 215900 w 325438"/>
                  <a:gd name="connsiteY124" fmla="*/ 10110 h 336550"/>
                  <a:gd name="connsiteX125" fmla="*/ 215900 w 325438"/>
                  <a:gd name="connsiteY125" fmla="*/ 75616 h 336550"/>
                  <a:gd name="connsiteX126" fmla="*/ 220663 w 325438"/>
                  <a:gd name="connsiteY126" fmla="*/ 80963 h 336550"/>
                  <a:gd name="connsiteX127" fmla="*/ 225425 w 325438"/>
                  <a:gd name="connsiteY127" fmla="*/ 75616 h 336550"/>
                  <a:gd name="connsiteX128" fmla="*/ 225425 w 325438"/>
                  <a:gd name="connsiteY128" fmla="*/ 10110 h 336550"/>
                  <a:gd name="connsiteX129" fmla="*/ 220663 w 325438"/>
                  <a:gd name="connsiteY129" fmla="*/ 4763 h 336550"/>
                  <a:gd name="connsiteX130" fmla="*/ 260124 w 325438"/>
                  <a:gd name="connsiteY130" fmla="*/ 4763 h 336550"/>
                  <a:gd name="connsiteX131" fmla="*/ 255588 w 325438"/>
                  <a:gd name="connsiteY131" fmla="*/ 10110 h 336550"/>
                  <a:gd name="connsiteX132" fmla="*/ 255588 w 325438"/>
                  <a:gd name="connsiteY132" fmla="*/ 75616 h 336550"/>
                  <a:gd name="connsiteX133" fmla="*/ 260124 w 325438"/>
                  <a:gd name="connsiteY133" fmla="*/ 80963 h 336550"/>
                  <a:gd name="connsiteX134" fmla="*/ 263526 w 325438"/>
                  <a:gd name="connsiteY134" fmla="*/ 75616 h 336550"/>
                  <a:gd name="connsiteX135" fmla="*/ 263526 w 325438"/>
                  <a:gd name="connsiteY135" fmla="*/ 10110 h 336550"/>
                  <a:gd name="connsiteX136" fmla="*/ 260124 w 325438"/>
                  <a:gd name="connsiteY136" fmla="*/ 4763 h 336550"/>
                  <a:gd name="connsiteX137" fmla="*/ 64823 w 325438"/>
                  <a:gd name="connsiteY137" fmla="*/ 0 h 336550"/>
                  <a:gd name="connsiteX138" fmla="*/ 75406 w 325438"/>
                  <a:gd name="connsiteY138" fmla="*/ 10517 h 336550"/>
                  <a:gd name="connsiteX139" fmla="*/ 75406 w 325438"/>
                  <a:gd name="connsiteY139" fmla="*/ 14461 h 336550"/>
                  <a:gd name="connsiteX140" fmla="*/ 93927 w 325438"/>
                  <a:gd name="connsiteY140" fmla="*/ 14461 h 336550"/>
                  <a:gd name="connsiteX141" fmla="*/ 93927 w 325438"/>
                  <a:gd name="connsiteY141" fmla="*/ 10517 h 336550"/>
                  <a:gd name="connsiteX142" fmla="*/ 104511 w 325438"/>
                  <a:gd name="connsiteY142" fmla="*/ 0 h 336550"/>
                  <a:gd name="connsiteX143" fmla="*/ 115094 w 325438"/>
                  <a:gd name="connsiteY143" fmla="*/ 10517 h 336550"/>
                  <a:gd name="connsiteX144" fmla="*/ 115094 w 325438"/>
                  <a:gd name="connsiteY144" fmla="*/ 14461 h 336550"/>
                  <a:gd name="connsiteX145" fmla="*/ 133615 w 325438"/>
                  <a:gd name="connsiteY145" fmla="*/ 14461 h 336550"/>
                  <a:gd name="connsiteX146" fmla="*/ 133615 w 325438"/>
                  <a:gd name="connsiteY146" fmla="*/ 10517 h 336550"/>
                  <a:gd name="connsiteX147" fmla="*/ 142875 w 325438"/>
                  <a:gd name="connsiteY147" fmla="*/ 0 h 336550"/>
                  <a:gd name="connsiteX148" fmla="*/ 153459 w 325438"/>
                  <a:gd name="connsiteY148" fmla="*/ 10517 h 336550"/>
                  <a:gd name="connsiteX149" fmla="*/ 153459 w 325438"/>
                  <a:gd name="connsiteY149" fmla="*/ 14461 h 336550"/>
                  <a:gd name="connsiteX150" fmla="*/ 171980 w 325438"/>
                  <a:gd name="connsiteY150" fmla="*/ 14461 h 336550"/>
                  <a:gd name="connsiteX151" fmla="*/ 171980 w 325438"/>
                  <a:gd name="connsiteY151" fmla="*/ 10517 h 336550"/>
                  <a:gd name="connsiteX152" fmla="*/ 182563 w 325438"/>
                  <a:gd name="connsiteY152" fmla="*/ 0 h 336550"/>
                  <a:gd name="connsiteX153" fmla="*/ 191823 w 325438"/>
                  <a:gd name="connsiteY153" fmla="*/ 10517 h 336550"/>
                  <a:gd name="connsiteX154" fmla="*/ 191823 w 325438"/>
                  <a:gd name="connsiteY154" fmla="*/ 14461 h 336550"/>
                  <a:gd name="connsiteX155" fmla="*/ 210344 w 325438"/>
                  <a:gd name="connsiteY155" fmla="*/ 14461 h 336550"/>
                  <a:gd name="connsiteX156" fmla="*/ 210344 w 325438"/>
                  <a:gd name="connsiteY156" fmla="*/ 10517 h 336550"/>
                  <a:gd name="connsiteX157" fmla="*/ 220927 w 325438"/>
                  <a:gd name="connsiteY157" fmla="*/ 0 h 336550"/>
                  <a:gd name="connsiteX158" fmla="*/ 231511 w 325438"/>
                  <a:gd name="connsiteY158" fmla="*/ 10517 h 336550"/>
                  <a:gd name="connsiteX159" fmla="*/ 231511 w 325438"/>
                  <a:gd name="connsiteY159" fmla="*/ 14461 h 336550"/>
                  <a:gd name="connsiteX160" fmla="*/ 250032 w 325438"/>
                  <a:gd name="connsiteY160" fmla="*/ 14461 h 336550"/>
                  <a:gd name="connsiteX161" fmla="*/ 250032 w 325438"/>
                  <a:gd name="connsiteY161" fmla="*/ 10517 h 336550"/>
                  <a:gd name="connsiteX162" fmla="*/ 260615 w 325438"/>
                  <a:gd name="connsiteY162" fmla="*/ 0 h 336550"/>
                  <a:gd name="connsiteX163" fmla="*/ 269875 w 325438"/>
                  <a:gd name="connsiteY163" fmla="*/ 10517 h 336550"/>
                  <a:gd name="connsiteX164" fmla="*/ 269875 w 325438"/>
                  <a:gd name="connsiteY164" fmla="*/ 14461 h 336550"/>
                  <a:gd name="connsiteX165" fmla="*/ 276490 w 325438"/>
                  <a:gd name="connsiteY165" fmla="*/ 14461 h 336550"/>
                  <a:gd name="connsiteX166" fmla="*/ 325438 w 325438"/>
                  <a:gd name="connsiteY166" fmla="*/ 61789 h 336550"/>
                  <a:gd name="connsiteX167" fmla="*/ 325438 w 325438"/>
                  <a:gd name="connsiteY167" fmla="*/ 289223 h 336550"/>
                  <a:gd name="connsiteX168" fmla="*/ 276490 w 325438"/>
                  <a:gd name="connsiteY168" fmla="*/ 336550 h 336550"/>
                  <a:gd name="connsiteX169" fmla="*/ 48948 w 325438"/>
                  <a:gd name="connsiteY169" fmla="*/ 336550 h 336550"/>
                  <a:gd name="connsiteX170" fmla="*/ 0 w 325438"/>
                  <a:gd name="connsiteY170" fmla="*/ 289223 h 336550"/>
                  <a:gd name="connsiteX171" fmla="*/ 0 w 325438"/>
                  <a:gd name="connsiteY171" fmla="*/ 61789 h 336550"/>
                  <a:gd name="connsiteX172" fmla="*/ 48948 w 325438"/>
                  <a:gd name="connsiteY172" fmla="*/ 14461 h 336550"/>
                  <a:gd name="connsiteX173" fmla="*/ 55563 w 325438"/>
                  <a:gd name="connsiteY173" fmla="*/ 14461 h 336550"/>
                  <a:gd name="connsiteX174" fmla="*/ 55563 w 325438"/>
                  <a:gd name="connsiteY174" fmla="*/ 10517 h 336550"/>
                  <a:gd name="connsiteX175" fmla="*/ 64823 w 325438"/>
                  <a:gd name="connsiteY175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</a:cxnLst>
                <a:rect l="l" t="t" r="r" b="b"/>
                <a:pathLst>
                  <a:path w="325438" h="336550">
                    <a:moveTo>
                      <a:pt x="233363" y="249238"/>
                    </a:moveTo>
                    <a:lnTo>
                      <a:pt x="279401" y="249238"/>
                    </a:lnTo>
                    <a:lnTo>
                      <a:pt x="279401" y="290513"/>
                    </a:lnTo>
                    <a:lnTo>
                      <a:pt x="233363" y="290513"/>
                    </a:lnTo>
                    <a:close/>
                    <a:moveTo>
                      <a:pt x="171450" y="249238"/>
                    </a:moveTo>
                    <a:lnTo>
                      <a:pt x="217488" y="249238"/>
                    </a:lnTo>
                    <a:lnTo>
                      <a:pt x="217488" y="290513"/>
                    </a:lnTo>
                    <a:lnTo>
                      <a:pt x="171450" y="290513"/>
                    </a:lnTo>
                    <a:close/>
                    <a:moveTo>
                      <a:pt x="107950" y="249238"/>
                    </a:moveTo>
                    <a:lnTo>
                      <a:pt x="155575" y="249238"/>
                    </a:lnTo>
                    <a:lnTo>
                      <a:pt x="155575" y="290513"/>
                    </a:lnTo>
                    <a:lnTo>
                      <a:pt x="107950" y="290513"/>
                    </a:lnTo>
                    <a:close/>
                    <a:moveTo>
                      <a:pt x="46038" y="249238"/>
                    </a:moveTo>
                    <a:lnTo>
                      <a:pt x="93663" y="249238"/>
                    </a:lnTo>
                    <a:lnTo>
                      <a:pt x="93663" y="290513"/>
                    </a:lnTo>
                    <a:lnTo>
                      <a:pt x="46038" y="290513"/>
                    </a:lnTo>
                    <a:close/>
                    <a:moveTo>
                      <a:pt x="233363" y="195263"/>
                    </a:moveTo>
                    <a:lnTo>
                      <a:pt x="279401" y="195263"/>
                    </a:lnTo>
                    <a:lnTo>
                      <a:pt x="279401" y="234951"/>
                    </a:lnTo>
                    <a:lnTo>
                      <a:pt x="233363" y="234951"/>
                    </a:lnTo>
                    <a:close/>
                    <a:moveTo>
                      <a:pt x="171450" y="195263"/>
                    </a:moveTo>
                    <a:lnTo>
                      <a:pt x="217488" y="195263"/>
                    </a:lnTo>
                    <a:lnTo>
                      <a:pt x="217488" y="234951"/>
                    </a:lnTo>
                    <a:lnTo>
                      <a:pt x="171450" y="234951"/>
                    </a:lnTo>
                    <a:close/>
                    <a:moveTo>
                      <a:pt x="107950" y="195263"/>
                    </a:moveTo>
                    <a:lnTo>
                      <a:pt x="155575" y="195263"/>
                    </a:lnTo>
                    <a:lnTo>
                      <a:pt x="155575" y="234951"/>
                    </a:lnTo>
                    <a:lnTo>
                      <a:pt x="107950" y="234951"/>
                    </a:lnTo>
                    <a:close/>
                    <a:moveTo>
                      <a:pt x="46038" y="195263"/>
                    </a:moveTo>
                    <a:lnTo>
                      <a:pt x="93663" y="195263"/>
                    </a:lnTo>
                    <a:lnTo>
                      <a:pt x="93663" y="234951"/>
                    </a:lnTo>
                    <a:lnTo>
                      <a:pt x="46038" y="234951"/>
                    </a:lnTo>
                    <a:close/>
                    <a:moveTo>
                      <a:pt x="233363" y="139700"/>
                    </a:moveTo>
                    <a:lnTo>
                      <a:pt x="279401" y="139700"/>
                    </a:lnTo>
                    <a:lnTo>
                      <a:pt x="279401" y="180975"/>
                    </a:lnTo>
                    <a:lnTo>
                      <a:pt x="233363" y="180975"/>
                    </a:lnTo>
                    <a:close/>
                    <a:moveTo>
                      <a:pt x="171450" y="139700"/>
                    </a:moveTo>
                    <a:lnTo>
                      <a:pt x="217488" y="139700"/>
                    </a:lnTo>
                    <a:lnTo>
                      <a:pt x="217488" y="180975"/>
                    </a:lnTo>
                    <a:lnTo>
                      <a:pt x="171450" y="180975"/>
                    </a:lnTo>
                    <a:close/>
                    <a:moveTo>
                      <a:pt x="107950" y="139700"/>
                    </a:moveTo>
                    <a:lnTo>
                      <a:pt x="155575" y="139700"/>
                    </a:lnTo>
                    <a:lnTo>
                      <a:pt x="155575" y="180975"/>
                    </a:lnTo>
                    <a:lnTo>
                      <a:pt x="107950" y="180975"/>
                    </a:lnTo>
                    <a:close/>
                    <a:moveTo>
                      <a:pt x="49167" y="38100"/>
                    </a:moveTo>
                    <a:cubicBezTo>
                      <a:pt x="35963" y="38100"/>
                      <a:pt x="25400" y="48613"/>
                      <a:pt x="25400" y="61753"/>
                    </a:cubicBezTo>
                    <a:cubicBezTo>
                      <a:pt x="25400" y="61753"/>
                      <a:pt x="25400" y="61753"/>
                      <a:pt x="25400" y="289085"/>
                    </a:cubicBezTo>
                    <a:cubicBezTo>
                      <a:pt x="25400" y="302226"/>
                      <a:pt x="35963" y="312738"/>
                      <a:pt x="49167" y="312738"/>
                    </a:cubicBezTo>
                    <a:cubicBezTo>
                      <a:pt x="49167" y="312738"/>
                      <a:pt x="49167" y="312738"/>
                      <a:pt x="276271" y="312738"/>
                    </a:cubicBezTo>
                    <a:cubicBezTo>
                      <a:pt x="289475" y="312738"/>
                      <a:pt x="300038" y="302226"/>
                      <a:pt x="300038" y="289085"/>
                    </a:cubicBezTo>
                    <a:cubicBezTo>
                      <a:pt x="300038" y="289085"/>
                      <a:pt x="300038" y="289085"/>
                      <a:pt x="300038" y="61753"/>
                    </a:cubicBezTo>
                    <a:cubicBezTo>
                      <a:pt x="300038" y="48613"/>
                      <a:pt x="289475" y="38100"/>
                      <a:pt x="276271" y="38100"/>
                    </a:cubicBezTo>
                    <a:cubicBezTo>
                      <a:pt x="276271" y="38100"/>
                      <a:pt x="276271" y="38100"/>
                      <a:pt x="269669" y="38100"/>
                    </a:cubicBezTo>
                    <a:cubicBezTo>
                      <a:pt x="269669" y="38100"/>
                      <a:pt x="269669" y="38100"/>
                      <a:pt x="269669" y="63067"/>
                    </a:cubicBezTo>
                    <a:cubicBezTo>
                      <a:pt x="273631" y="65695"/>
                      <a:pt x="276271" y="70951"/>
                      <a:pt x="276271" y="74894"/>
                    </a:cubicBezTo>
                    <a:cubicBezTo>
                      <a:pt x="276271" y="84092"/>
                      <a:pt x="268349" y="90662"/>
                      <a:pt x="260427" y="90662"/>
                    </a:cubicBezTo>
                    <a:cubicBezTo>
                      <a:pt x="251184" y="90662"/>
                      <a:pt x="244582" y="84092"/>
                      <a:pt x="244582" y="74894"/>
                    </a:cubicBezTo>
                    <a:cubicBezTo>
                      <a:pt x="244582" y="70951"/>
                      <a:pt x="245903" y="65695"/>
                      <a:pt x="249864" y="63067"/>
                    </a:cubicBezTo>
                    <a:cubicBezTo>
                      <a:pt x="249864" y="63067"/>
                      <a:pt x="249864" y="63067"/>
                      <a:pt x="249864" y="38100"/>
                    </a:cubicBezTo>
                    <a:cubicBezTo>
                      <a:pt x="249864" y="38100"/>
                      <a:pt x="249864" y="38100"/>
                      <a:pt x="231379" y="38100"/>
                    </a:cubicBezTo>
                    <a:cubicBezTo>
                      <a:pt x="231379" y="38100"/>
                      <a:pt x="231379" y="38100"/>
                      <a:pt x="231379" y="63067"/>
                    </a:cubicBezTo>
                    <a:cubicBezTo>
                      <a:pt x="234019" y="65695"/>
                      <a:pt x="236660" y="70951"/>
                      <a:pt x="236660" y="74894"/>
                    </a:cubicBezTo>
                    <a:cubicBezTo>
                      <a:pt x="236660" y="84092"/>
                      <a:pt x="230058" y="90662"/>
                      <a:pt x="220816" y="90662"/>
                    </a:cubicBezTo>
                    <a:cubicBezTo>
                      <a:pt x="212893" y="90662"/>
                      <a:pt x="204971" y="84092"/>
                      <a:pt x="204971" y="74894"/>
                    </a:cubicBezTo>
                    <a:cubicBezTo>
                      <a:pt x="204971" y="70951"/>
                      <a:pt x="207612" y="65695"/>
                      <a:pt x="210253" y="63067"/>
                    </a:cubicBezTo>
                    <a:cubicBezTo>
                      <a:pt x="210253" y="63067"/>
                      <a:pt x="210253" y="63067"/>
                      <a:pt x="210253" y="38100"/>
                    </a:cubicBezTo>
                    <a:cubicBezTo>
                      <a:pt x="210253" y="38100"/>
                      <a:pt x="210253" y="38100"/>
                      <a:pt x="191767" y="38100"/>
                    </a:cubicBezTo>
                    <a:cubicBezTo>
                      <a:pt x="191767" y="38100"/>
                      <a:pt x="191767" y="38100"/>
                      <a:pt x="191767" y="63067"/>
                    </a:cubicBezTo>
                    <a:cubicBezTo>
                      <a:pt x="195728" y="65695"/>
                      <a:pt x="198369" y="70951"/>
                      <a:pt x="198369" y="74894"/>
                    </a:cubicBezTo>
                    <a:cubicBezTo>
                      <a:pt x="198369" y="84092"/>
                      <a:pt x="190447" y="90662"/>
                      <a:pt x="182525" y="90662"/>
                    </a:cubicBezTo>
                    <a:cubicBezTo>
                      <a:pt x="173282" y="90662"/>
                      <a:pt x="166680" y="84092"/>
                      <a:pt x="166680" y="74894"/>
                    </a:cubicBezTo>
                    <a:cubicBezTo>
                      <a:pt x="166680" y="70951"/>
                      <a:pt x="168001" y="65695"/>
                      <a:pt x="171962" y="63067"/>
                    </a:cubicBezTo>
                    <a:cubicBezTo>
                      <a:pt x="171962" y="63067"/>
                      <a:pt x="171962" y="63067"/>
                      <a:pt x="171962" y="38100"/>
                    </a:cubicBezTo>
                    <a:cubicBezTo>
                      <a:pt x="171962" y="38100"/>
                      <a:pt x="171962" y="38100"/>
                      <a:pt x="153476" y="38100"/>
                    </a:cubicBezTo>
                    <a:cubicBezTo>
                      <a:pt x="153476" y="38100"/>
                      <a:pt x="153476" y="38100"/>
                      <a:pt x="153476" y="63067"/>
                    </a:cubicBezTo>
                    <a:cubicBezTo>
                      <a:pt x="157438" y="65695"/>
                      <a:pt x="158758" y="70951"/>
                      <a:pt x="158758" y="74894"/>
                    </a:cubicBezTo>
                    <a:cubicBezTo>
                      <a:pt x="158758" y="84092"/>
                      <a:pt x="152156" y="90662"/>
                      <a:pt x="142913" y="90662"/>
                    </a:cubicBezTo>
                    <a:cubicBezTo>
                      <a:pt x="134991" y="90662"/>
                      <a:pt x="127069" y="84092"/>
                      <a:pt x="127069" y="74894"/>
                    </a:cubicBezTo>
                    <a:cubicBezTo>
                      <a:pt x="127069" y="70951"/>
                      <a:pt x="129710" y="65695"/>
                      <a:pt x="133671" y="63067"/>
                    </a:cubicBezTo>
                    <a:cubicBezTo>
                      <a:pt x="133671" y="63067"/>
                      <a:pt x="133671" y="63067"/>
                      <a:pt x="133671" y="38100"/>
                    </a:cubicBezTo>
                    <a:cubicBezTo>
                      <a:pt x="133671" y="38100"/>
                      <a:pt x="133671" y="38100"/>
                      <a:pt x="115186" y="38100"/>
                    </a:cubicBezTo>
                    <a:cubicBezTo>
                      <a:pt x="115186" y="38100"/>
                      <a:pt x="115186" y="38100"/>
                      <a:pt x="115186" y="63067"/>
                    </a:cubicBezTo>
                    <a:cubicBezTo>
                      <a:pt x="117826" y="65695"/>
                      <a:pt x="120467" y="70951"/>
                      <a:pt x="120467" y="74894"/>
                    </a:cubicBezTo>
                    <a:cubicBezTo>
                      <a:pt x="120467" y="84092"/>
                      <a:pt x="112545" y="90662"/>
                      <a:pt x="104623" y="90662"/>
                    </a:cubicBezTo>
                    <a:cubicBezTo>
                      <a:pt x="95380" y="90662"/>
                      <a:pt x="88778" y="84092"/>
                      <a:pt x="88778" y="74894"/>
                    </a:cubicBezTo>
                    <a:cubicBezTo>
                      <a:pt x="88778" y="70951"/>
                      <a:pt x="91419" y="65695"/>
                      <a:pt x="94060" y="63067"/>
                    </a:cubicBezTo>
                    <a:cubicBezTo>
                      <a:pt x="94060" y="63067"/>
                      <a:pt x="94060" y="63067"/>
                      <a:pt x="94060" y="38100"/>
                    </a:cubicBezTo>
                    <a:cubicBezTo>
                      <a:pt x="94060" y="38100"/>
                      <a:pt x="94060" y="38100"/>
                      <a:pt x="75574" y="38100"/>
                    </a:cubicBezTo>
                    <a:cubicBezTo>
                      <a:pt x="75574" y="38100"/>
                      <a:pt x="75574" y="38100"/>
                      <a:pt x="75574" y="63067"/>
                    </a:cubicBezTo>
                    <a:cubicBezTo>
                      <a:pt x="79535" y="65695"/>
                      <a:pt x="80856" y="70951"/>
                      <a:pt x="80856" y="74894"/>
                    </a:cubicBezTo>
                    <a:cubicBezTo>
                      <a:pt x="80856" y="84092"/>
                      <a:pt x="74254" y="90662"/>
                      <a:pt x="65011" y="90662"/>
                    </a:cubicBezTo>
                    <a:cubicBezTo>
                      <a:pt x="57089" y="90662"/>
                      <a:pt x="49167" y="84092"/>
                      <a:pt x="49167" y="74894"/>
                    </a:cubicBezTo>
                    <a:cubicBezTo>
                      <a:pt x="49167" y="70951"/>
                      <a:pt x="51808" y="65695"/>
                      <a:pt x="55769" y="63067"/>
                    </a:cubicBezTo>
                    <a:cubicBezTo>
                      <a:pt x="55769" y="63067"/>
                      <a:pt x="55769" y="63067"/>
                      <a:pt x="55769" y="38100"/>
                    </a:cubicBezTo>
                    <a:cubicBezTo>
                      <a:pt x="55769" y="38100"/>
                      <a:pt x="55769" y="38100"/>
                      <a:pt x="49167" y="38100"/>
                    </a:cubicBezTo>
                    <a:close/>
                    <a:moveTo>
                      <a:pt x="65315" y="4763"/>
                    </a:moveTo>
                    <a:cubicBezTo>
                      <a:pt x="63047" y="4763"/>
                      <a:pt x="61913" y="7437"/>
                      <a:pt x="61913" y="10110"/>
                    </a:cubicBezTo>
                    <a:lnTo>
                      <a:pt x="61913" y="75616"/>
                    </a:lnTo>
                    <a:cubicBezTo>
                      <a:pt x="61913" y="79626"/>
                      <a:pt x="63047" y="80963"/>
                      <a:pt x="65315" y="80963"/>
                    </a:cubicBezTo>
                    <a:cubicBezTo>
                      <a:pt x="68717" y="80963"/>
                      <a:pt x="69851" y="79626"/>
                      <a:pt x="69851" y="75616"/>
                    </a:cubicBezTo>
                    <a:cubicBezTo>
                      <a:pt x="69851" y="75616"/>
                      <a:pt x="69851" y="75616"/>
                      <a:pt x="69851" y="10110"/>
                    </a:cubicBezTo>
                    <a:cubicBezTo>
                      <a:pt x="69851" y="7437"/>
                      <a:pt x="68717" y="4763"/>
                      <a:pt x="65315" y="4763"/>
                    </a:cubicBezTo>
                    <a:close/>
                    <a:moveTo>
                      <a:pt x="104776" y="4763"/>
                    </a:moveTo>
                    <a:cubicBezTo>
                      <a:pt x="102394" y="4763"/>
                      <a:pt x="100013" y="7437"/>
                      <a:pt x="100013" y="10110"/>
                    </a:cubicBezTo>
                    <a:lnTo>
                      <a:pt x="100013" y="75616"/>
                    </a:lnTo>
                    <a:cubicBezTo>
                      <a:pt x="100013" y="79626"/>
                      <a:pt x="102394" y="80963"/>
                      <a:pt x="104776" y="80963"/>
                    </a:cubicBezTo>
                    <a:cubicBezTo>
                      <a:pt x="107157" y="80963"/>
                      <a:pt x="109538" y="79626"/>
                      <a:pt x="109538" y="75616"/>
                    </a:cubicBezTo>
                    <a:cubicBezTo>
                      <a:pt x="109538" y="75616"/>
                      <a:pt x="109538" y="75616"/>
                      <a:pt x="109538" y="10110"/>
                    </a:cubicBezTo>
                    <a:cubicBezTo>
                      <a:pt x="109538" y="7437"/>
                      <a:pt x="107157" y="4763"/>
                      <a:pt x="104776" y="4763"/>
                    </a:cubicBezTo>
                    <a:close/>
                    <a:moveTo>
                      <a:pt x="142876" y="4763"/>
                    </a:moveTo>
                    <a:cubicBezTo>
                      <a:pt x="140494" y="4763"/>
                      <a:pt x="138113" y="7437"/>
                      <a:pt x="138113" y="10110"/>
                    </a:cubicBezTo>
                    <a:lnTo>
                      <a:pt x="138113" y="75616"/>
                    </a:lnTo>
                    <a:cubicBezTo>
                      <a:pt x="138113" y="79626"/>
                      <a:pt x="140494" y="80963"/>
                      <a:pt x="142876" y="80963"/>
                    </a:cubicBezTo>
                    <a:cubicBezTo>
                      <a:pt x="145257" y="80963"/>
                      <a:pt x="147638" y="79626"/>
                      <a:pt x="147638" y="75616"/>
                    </a:cubicBezTo>
                    <a:cubicBezTo>
                      <a:pt x="147638" y="75616"/>
                      <a:pt x="147638" y="75616"/>
                      <a:pt x="147638" y="10110"/>
                    </a:cubicBezTo>
                    <a:cubicBezTo>
                      <a:pt x="147638" y="7437"/>
                      <a:pt x="145257" y="4763"/>
                      <a:pt x="142876" y="4763"/>
                    </a:cubicBezTo>
                    <a:close/>
                    <a:moveTo>
                      <a:pt x="182563" y="4763"/>
                    </a:moveTo>
                    <a:cubicBezTo>
                      <a:pt x="180181" y="4763"/>
                      <a:pt x="177800" y="7437"/>
                      <a:pt x="177800" y="10110"/>
                    </a:cubicBezTo>
                    <a:lnTo>
                      <a:pt x="177800" y="75616"/>
                    </a:lnTo>
                    <a:cubicBezTo>
                      <a:pt x="177800" y="79626"/>
                      <a:pt x="180181" y="80963"/>
                      <a:pt x="182563" y="80963"/>
                    </a:cubicBezTo>
                    <a:cubicBezTo>
                      <a:pt x="184944" y="80963"/>
                      <a:pt x="187325" y="79626"/>
                      <a:pt x="187325" y="75616"/>
                    </a:cubicBezTo>
                    <a:cubicBezTo>
                      <a:pt x="187325" y="75616"/>
                      <a:pt x="187325" y="75616"/>
                      <a:pt x="187325" y="10110"/>
                    </a:cubicBezTo>
                    <a:cubicBezTo>
                      <a:pt x="187325" y="7437"/>
                      <a:pt x="184944" y="4763"/>
                      <a:pt x="182563" y="4763"/>
                    </a:cubicBezTo>
                    <a:close/>
                    <a:moveTo>
                      <a:pt x="220663" y="4763"/>
                    </a:moveTo>
                    <a:cubicBezTo>
                      <a:pt x="218281" y="4763"/>
                      <a:pt x="215900" y="7437"/>
                      <a:pt x="215900" y="10110"/>
                    </a:cubicBezTo>
                    <a:lnTo>
                      <a:pt x="215900" y="75616"/>
                    </a:lnTo>
                    <a:cubicBezTo>
                      <a:pt x="215900" y="79626"/>
                      <a:pt x="218281" y="80963"/>
                      <a:pt x="220663" y="80963"/>
                    </a:cubicBezTo>
                    <a:cubicBezTo>
                      <a:pt x="223044" y="80963"/>
                      <a:pt x="225425" y="79626"/>
                      <a:pt x="225425" y="75616"/>
                    </a:cubicBezTo>
                    <a:cubicBezTo>
                      <a:pt x="225425" y="75616"/>
                      <a:pt x="225425" y="75616"/>
                      <a:pt x="225425" y="10110"/>
                    </a:cubicBezTo>
                    <a:cubicBezTo>
                      <a:pt x="225425" y="7437"/>
                      <a:pt x="223044" y="4763"/>
                      <a:pt x="220663" y="4763"/>
                    </a:cubicBezTo>
                    <a:close/>
                    <a:moveTo>
                      <a:pt x="260124" y="4763"/>
                    </a:moveTo>
                    <a:cubicBezTo>
                      <a:pt x="256722" y="4763"/>
                      <a:pt x="255588" y="7437"/>
                      <a:pt x="255588" y="10110"/>
                    </a:cubicBezTo>
                    <a:lnTo>
                      <a:pt x="255588" y="75616"/>
                    </a:lnTo>
                    <a:cubicBezTo>
                      <a:pt x="255588" y="79626"/>
                      <a:pt x="256722" y="80963"/>
                      <a:pt x="260124" y="80963"/>
                    </a:cubicBezTo>
                    <a:cubicBezTo>
                      <a:pt x="262392" y="80963"/>
                      <a:pt x="263526" y="79626"/>
                      <a:pt x="263526" y="75616"/>
                    </a:cubicBezTo>
                    <a:cubicBezTo>
                      <a:pt x="263526" y="75616"/>
                      <a:pt x="263526" y="75616"/>
                      <a:pt x="263526" y="10110"/>
                    </a:cubicBezTo>
                    <a:cubicBezTo>
                      <a:pt x="263526" y="7437"/>
                      <a:pt x="262392" y="4763"/>
                      <a:pt x="260124" y="4763"/>
                    </a:cubicBezTo>
                    <a:close/>
                    <a:moveTo>
                      <a:pt x="64823" y="0"/>
                    </a:moveTo>
                    <a:cubicBezTo>
                      <a:pt x="71438" y="0"/>
                      <a:pt x="75406" y="3944"/>
                      <a:pt x="75406" y="10517"/>
                    </a:cubicBezTo>
                    <a:cubicBezTo>
                      <a:pt x="75406" y="10517"/>
                      <a:pt x="75406" y="10517"/>
                      <a:pt x="75406" y="14461"/>
                    </a:cubicBezTo>
                    <a:cubicBezTo>
                      <a:pt x="75406" y="14461"/>
                      <a:pt x="75406" y="14461"/>
                      <a:pt x="93927" y="14461"/>
                    </a:cubicBezTo>
                    <a:cubicBezTo>
                      <a:pt x="93927" y="14461"/>
                      <a:pt x="93927" y="14461"/>
                      <a:pt x="93927" y="10517"/>
                    </a:cubicBezTo>
                    <a:cubicBezTo>
                      <a:pt x="93927" y="3944"/>
                      <a:pt x="99219" y="0"/>
                      <a:pt x="104511" y="0"/>
                    </a:cubicBezTo>
                    <a:cubicBezTo>
                      <a:pt x="109802" y="0"/>
                      <a:pt x="115094" y="3944"/>
                      <a:pt x="115094" y="10517"/>
                    </a:cubicBezTo>
                    <a:cubicBezTo>
                      <a:pt x="115094" y="10517"/>
                      <a:pt x="115094" y="10517"/>
                      <a:pt x="115094" y="14461"/>
                    </a:cubicBezTo>
                    <a:cubicBezTo>
                      <a:pt x="115094" y="14461"/>
                      <a:pt x="115094" y="14461"/>
                      <a:pt x="133615" y="14461"/>
                    </a:cubicBezTo>
                    <a:cubicBezTo>
                      <a:pt x="133615" y="14461"/>
                      <a:pt x="133615" y="14461"/>
                      <a:pt x="133615" y="10517"/>
                    </a:cubicBezTo>
                    <a:cubicBezTo>
                      <a:pt x="133615" y="3944"/>
                      <a:pt x="137584" y="0"/>
                      <a:pt x="142875" y="0"/>
                    </a:cubicBezTo>
                    <a:cubicBezTo>
                      <a:pt x="149490" y="0"/>
                      <a:pt x="153459" y="3944"/>
                      <a:pt x="153459" y="10517"/>
                    </a:cubicBezTo>
                    <a:cubicBezTo>
                      <a:pt x="153459" y="10517"/>
                      <a:pt x="153459" y="10517"/>
                      <a:pt x="153459" y="14461"/>
                    </a:cubicBezTo>
                    <a:cubicBezTo>
                      <a:pt x="153459" y="14461"/>
                      <a:pt x="153459" y="14461"/>
                      <a:pt x="171980" y="14461"/>
                    </a:cubicBezTo>
                    <a:cubicBezTo>
                      <a:pt x="171980" y="14461"/>
                      <a:pt x="171980" y="14461"/>
                      <a:pt x="171980" y="10517"/>
                    </a:cubicBezTo>
                    <a:cubicBezTo>
                      <a:pt x="171980" y="3944"/>
                      <a:pt x="175948" y="0"/>
                      <a:pt x="182563" y="0"/>
                    </a:cubicBezTo>
                    <a:cubicBezTo>
                      <a:pt x="187855" y="0"/>
                      <a:pt x="191823" y="3944"/>
                      <a:pt x="191823" y="10517"/>
                    </a:cubicBezTo>
                    <a:cubicBezTo>
                      <a:pt x="191823" y="10517"/>
                      <a:pt x="191823" y="10517"/>
                      <a:pt x="191823" y="14461"/>
                    </a:cubicBezTo>
                    <a:cubicBezTo>
                      <a:pt x="191823" y="14461"/>
                      <a:pt x="191823" y="14461"/>
                      <a:pt x="210344" y="14461"/>
                    </a:cubicBezTo>
                    <a:cubicBezTo>
                      <a:pt x="210344" y="14461"/>
                      <a:pt x="210344" y="14461"/>
                      <a:pt x="210344" y="10517"/>
                    </a:cubicBezTo>
                    <a:cubicBezTo>
                      <a:pt x="210344" y="3944"/>
                      <a:pt x="215636" y="0"/>
                      <a:pt x="220927" y="0"/>
                    </a:cubicBezTo>
                    <a:cubicBezTo>
                      <a:pt x="226219" y="0"/>
                      <a:pt x="231511" y="3944"/>
                      <a:pt x="231511" y="10517"/>
                    </a:cubicBezTo>
                    <a:cubicBezTo>
                      <a:pt x="231511" y="10517"/>
                      <a:pt x="231511" y="10517"/>
                      <a:pt x="231511" y="14461"/>
                    </a:cubicBezTo>
                    <a:cubicBezTo>
                      <a:pt x="231511" y="14461"/>
                      <a:pt x="231511" y="14461"/>
                      <a:pt x="250032" y="14461"/>
                    </a:cubicBezTo>
                    <a:cubicBezTo>
                      <a:pt x="250032" y="14461"/>
                      <a:pt x="250032" y="14461"/>
                      <a:pt x="250032" y="10517"/>
                    </a:cubicBezTo>
                    <a:cubicBezTo>
                      <a:pt x="250032" y="3944"/>
                      <a:pt x="254000" y="0"/>
                      <a:pt x="260615" y="0"/>
                    </a:cubicBezTo>
                    <a:cubicBezTo>
                      <a:pt x="265907" y="0"/>
                      <a:pt x="269875" y="3944"/>
                      <a:pt x="269875" y="10517"/>
                    </a:cubicBezTo>
                    <a:cubicBezTo>
                      <a:pt x="269875" y="10517"/>
                      <a:pt x="269875" y="10517"/>
                      <a:pt x="269875" y="14461"/>
                    </a:cubicBezTo>
                    <a:cubicBezTo>
                      <a:pt x="269875" y="14461"/>
                      <a:pt x="269875" y="14461"/>
                      <a:pt x="276490" y="14461"/>
                    </a:cubicBezTo>
                    <a:cubicBezTo>
                      <a:pt x="302948" y="14461"/>
                      <a:pt x="325438" y="35496"/>
                      <a:pt x="325438" y="61789"/>
                    </a:cubicBezTo>
                    <a:cubicBezTo>
                      <a:pt x="325438" y="61789"/>
                      <a:pt x="325438" y="61789"/>
                      <a:pt x="325438" y="289223"/>
                    </a:cubicBezTo>
                    <a:cubicBezTo>
                      <a:pt x="325438" y="315516"/>
                      <a:pt x="302948" y="336550"/>
                      <a:pt x="276490" y="336550"/>
                    </a:cubicBezTo>
                    <a:cubicBezTo>
                      <a:pt x="276490" y="336550"/>
                      <a:pt x="276490" y="336550"/>
                      <a:pt x="48948" y="336550"/>
                    </a:cubicBezTo>
                    <a:cubicBezTo>
                      <a:pt x="22490" y="336550"/>
                      <a:pt x="0" y="315516"/>
                      <a:pt x="0" y="289223"/>
                    </a:cubicBezTo>
                    <a:cubicBezTo>
                      <a:pt x="0" y="289223"/>
                      <a:pt x="0" y="289223"/>
                      <a:pt x="0" y="61789"/>
                    </a:cubicBezTo>
                    <a:cubicBezTo>
                      <a:pt x="0" y="35496"/>
                      <a:pt x="22490" y="14461"/>
                      <a:pt x="48948" y="14461"/>
                    </a:cubicBezTo>
                    <a:cubicBezTo>
                      <a:pt x="48948" y="14461"/>
                      <a:pt x="48948" y="14461"/>
                      <a:pt x="55563" y="14461"/>
                    </a:cubicBezTo>
                    <a:cubicBezTo>
                      <a:pt x="55563" y="14461"/>
                      <a:pt x="55563" y="14461"/>
                      <a:pt x="55563" y="10517"/>
                    </a:cubicBezTo>
                    <a:cubicBezTo>
                      <a:pt x="55563" y="3944"/>
                      <a:pt x="59531" y="0"/>
                      <a:pt x="64823" y="0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9pPr>
              </a:lstStyle>
              <a:p>
                <a:pPr defTabSz="913765">
                  <a:defRPr/>
                </a:pPr>
                <a:endPara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endParaRPr>
              </a:p>
            </p:txBody>
          </p:sp>
        </p:grpSp>
        <p:sp>
          <p:nvSpPr>
            <p:cNvPr id="18" name="文本框 27"/>
            <p:cNvSpPr txBox="1"/>
            <p:nvPr/>
          </p:nvSpPr>
          <p:spPr>
            <a:xfrm>
              <a:off x="6669040" y="4733309"/>
              <a:ext cx="1742936" cy="2529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9pPr>
            </a:lstStyle>
            <a:p>
              <a:pPr defTabSz="913765">
                <a:defRPr/>
              </a:pPr>
              <a:r>
                <a:rPr lang="zh-CN" altLang="en-US" sz="1600" b="1" dirty="0">
                  <a:solidFill>
                    <a:sysClr val="windowText" lastClr="000000">
                      <a:lumMod val="75000"/>
                      <a:lumOff val="25000"/>
                    </a:sys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时间：</a:t>
              </a:r>
              <a:r>
                <a:rPr lang="en-US" altLang="zh-CN" sz="1600" b="1" dirty="0">
                  <a:solidFill>
                    <a:sysClr val="windowText" lastClr="000000">
                      <a:lumMod val="75000"/>
                      <a:lumOff val="25000"/>
                    </a:sys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2026-06-03</a:t>
              </a:r>
              <a:endParaRPr lang="zh-CN" altLang="en-US" sz="1600" b="1" dirty="0">
                <a:solidFill>
                  <a:sysClr val="windowText" lastClr="000000">
                    <a:lumMod val="75000"/>
                    <a:lumOff val="25000"/>
                  </a:sysClr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1251" y="6249432"/>
            <a:ext cx="2757212" cy="38595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6F7C394-972D-4308-98A0-EEB5E394CD1D}"/>
              </a:ext>
            </a:extLst>
          </p:cNvPr>
          <p:cNvSpPr/>
          <p:nvPr/>
        </p:nvSpPr>
        <p:spPr>
          <a:xfrm>
            <a:off x="-2226" y="-1"/>
            <a:ext cx="2521894" cy="6857329"/>
          </a:xfrm>
          <a:prstGeom prst="rect">
            <a:avLst/>
          </a:prstGeom>
          <a:gradFill>
            <a:gsLst>
              <a:gs pos="0">
                <a:srgbClr val="142756"/>
              </a:gs>
              <a:gs pos="100000">
                <a:srgbClr val="2E5DAE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4" name="圆角矩形 33">
            <a:extLst>
              <a:ext uri="{FF2B5EF4-FFF2-40B4-BE49-F238E27FC236}">
                <a16:creationId xmlns:a16="http://schemas.microsoft.com/office/drawing/2014/main" id="{6E861A0F-B75E-409A-949E-EF0231F37CCA}"/>
              </a:ext>
            </a:extLst>
          </p:cNvPr>
          <p:cNvSpPr/>
          <p:nvPr/>
        </p:nvSpPr>
        <p:spPr>
          <a:xfrm>
            <a:off x="756025" y="1993900"/>
            <a:ext cx="1156306" cy="2870200"/>
          </a:xfrm>
          <a:prstGeom prst="roundRect">
            <a:avLst>
              <a:gd name="adj" fmla="val 0"/>
            </a:avLst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A4A94CD-51AE-4B4B-9073-96EB778AB4C2}"/>
              </a:ext>
            </a:extLst>
          </p:cNvPr>
          <p:cNvSpPr txBox="1"/>
          <p:nvPr/>
        </p:nvSpPr>
        <p:spPr>
          <a:xfrm>
            <a:off x="964846" y="2286380"/>
            <a:ext cx="738664" cy="2285241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汇 报 内 容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D2FA53E-3943-4277-9678-07CA48EF055C}"/>
              </a:ext>
            </a:extLst>
          </p:cNvPr>
          <p:cNvSpPr>
            <a:spLocks/>
          </p:cNvSpPr>
          <p:nvPr/>
        </p:nvSpPr>
        <p:spPr>
          <a:xfrm>
            <a:off x="4398346" y="835941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257175">
              <a:defRPr/>
            </a:pPr>
            <a:r>
              <a:rPr kumimoji="1" lang="en-US" altLang="zh-CN" sz="3600" b="1" kern="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t>AHP</a:t>
            </a:r>
            <a:r>
              <a:rPr kumimoji="1" lang="zh-CN" altLang="en-US" sz="3600" b="1" kern="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t>模型基本概念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D727800-F181-47A9-B5A2-9BE234D07C6F}"/>
              </a:ext>
            </a:extLst>
          </p:cNvPr>
          <p:cNvSpPr/>
          <p:nvPr/>
        </p:nvSpPr>
        <p:spPr>
          <a:xfrm>
            <a:off x="4340479" y="714989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7C2DEF3-85C6-41EB-BEA1-26D309BA763D}"/>
              </a:ext>
            </a:extLst>
          </p:cNvPr>
          <p:cNvSpPr/>
          <p:nvPr/>
        </p:nvSpPr>
        <p:spPr>
          <a:xfrm>
            <a:off x="3491889" y="716881"/>
            <a:ext cx="906457" cy="871365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B404D87-5BC9-40D2-B86C-57BADE0EB884}"/>
              </a:ext>
            </a:extLst>
          </p:cNvPr>
          <p:cNvSpPr/>
          <p:nvPr/>
        </p:nvSpPr>
        <p:spPr>
          <a:xfrm>
            <a:off x="3606962" y="816941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一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97AE74C-BCFB-4EB2-8990-771F14CB4CC6}"/>
              </a:ext>
            </a:extLst>
          </p:cNvPr>
          <p:cNvSpPr>
            <a:spLocks/>
          </p:cNvSpPr>
          <p:nvPr/>
        </p:nvSpPr>
        <p:spPr>
          <a:xfrm>
            <a:off x="4417997" y="2380268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模型应用背景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5276682-91C6-494A-8BD8-79A54AAEF61D}"/>
              </a:ext>
            </a:extLst>
          </p:cNvPr>
          <p:cNvSpPr/>
          <p:nvPr/>
        </p:nvSpPr>
        <p:spPr>
          <a:xfrm>
            <a:off x="4340479" y="2249440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3B1753A-5B90-46AD-84AB-A97505A14A1E}"/>
              </a:ext>
            </a:extLst>
          </p:cNvPr>
          <p:cNvSpPr/>
          <p:nvPr/>
        </p:nvSpPr>
        <p:spPr>
          <a:xfrm>
            <a:off x="3491889" y="2249440"/>
            <a:ext cx="906457" cy="873258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762DDDD-7200-4BEC-9DFC-E5B95FA5DE84}"/>
              </a:ext>
            </a:extLst>
          </p:cNvPr>
          <p:cNvSpPr/>
          <p:nvPr/>
        </p:nvSpPr>
        <p:spPr>
          <a:xfrm>
            <a:off x="3606962" y="2351392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二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59D90B5-9E70-48C0-BFE9-6A0BBBCCC6E9}"/>
              </a:ext>
            </a:extLst>
          </p:cNvPr>
          <p:cNvSpPr>
            <a:spLocks/>
          </p:cNvSpPr>
          <p:nvPr/>
        </p:nvSpPr>
        <p:spPr>
          <a:xfrm>
            <a:off x="4418353" y="5390281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结果与结论</a:t>
            </a:r>
            <a:endParaRPr lang="zh-CN" altLang="en-US" sz="2800" b="1" dirty="0">
              <a:solidFill>
                <a:srgbClr val="0F4995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7CBF392-C907-4D29-BE6C-7C7B99F43455}"/>
              </a:ext>
            </a:extLst>
          </p:cNvPr>
          <p:cNvSpPr/>
          <p:nvPr/>
        </p:nvSpPr>
        <p:spPr>
          <a:xfrm>
            <a:off x="4340479" y="5269078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17C9E68-6BA3-4702-8099-B23D38F9BB6E}"/>
              </a:ext>
            </a:extLst>
          </p:cNvPr>
          <p:cNvSpPr/>
          <p:nvPr/>
        </p:nvSpPr>
        <p:spPr>
          <a:xfrm>
            <a:off x="3491889" y="5270970"/>
            <a:ext cx="906457" cy="871365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97959D4-98E0-4591-9170-BF6758D3EC2C}"/>
              </a:ext>
            </a:extLst>
          </p:cNvPr>
          <p:cNvSpPr/>
          <p:nvPr/>
        </p:nvSpPr>
        <p:spPr>
          <a:xfrm>
            <a:off x="3606962" y="5371030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四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147B276-6AB7-460B-90E6-ADEAC5A17164}"/>
              </a:ext>
            </a:extLst>
          </p:cNvPr>
          <p:cNvSpPr>
            <a:spLocks/>
          </p:cNvSpPr>
          <p:nvPr/>
        </p:nvSpPr>
        <p:spPr>
          <a:xfrm>
            <a:off x="4415507" y="3879517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模型应用方式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E736492-4D64-42E6-9678-F4869AF879F3}"/>
              </a:ext>
            </a:extLst>
          </p:cNvPr>
          <p:cNvSpPr/>
          <p:nvPr/>
        </p:nvSpPr>
        <p:spPr>
          <a:xfrm>
            <a:off x="4340479" y="3758314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12EA1B3-FB3D-4AF2-B2B7-C84D036D2BBD}"/>
              </a:ext>
            </a:extLst>
          </p:cNvPr>
          <p:cNvSpPr/>
          <p:nvPr/>
        </p:nvSpPr>
        <p:spPr>
          <a:xfrm>
            <a:off x="3491889" y="3758314"/>
            <a:ext cx="906457" cy="873258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7E547B0-5CC0-40EE-A904-E304FCE58231}"/>
              </a:ext>
            </a:extLst>
          </p:cNvPr>
          <p:cNvSpPr/>
          <p:nvPr/>
        </p:nvSpPr>
        <p:spPr>
          <a:xfrm>
            <a:off x="3606962" y="3860266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三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1B31F91-01CC-46D5-986E-F9061072BFD3}"/>
              </a:ext>
            </a:extLst>
          </p:cNvPr>
          <p:cNvSpPr/>
          <p:nvPr/>
        </p:nvSpPr>
        <p:spPr>
          <a:xfrm>
            <a:off x="3034753" y="1900053"/>
            <a:ext cx="8274761" cy="4589779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7000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>
            <a:extLst>
              <a:ext uri="{FF2B5EF4-FFF2-40B4-BE49-F238E27FC236}">
                <a16:creationId xmlns:a16="http://schemas.microsoft.com/office/drawing/2014/main" id="{EAC27C75-9878-4AF1-BD21-EDA5BAEF50FF}"/>
              </a:ext>
            </a:extLst>
          </p:cNvPr>
          <p:cNvSpPr txBox="1"/>
          <p:nvPr/>
        </p:nvSpPr>
        <p:spPr>
          <a:xfrm>
            <a:off x="298115" y="944284"/>
            <a:ext cx="11595769" cy="100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457200" marR="0" lvl="0" indent="-457200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"/>
              <a:tabLst/>
              <a:defRPr kumimoji="0" sz="2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>
              <a:defRPr/>
            </a:pPr>
            <a:r>
              <a:rPr lang="zh-CN" altLang="en-US" sz="2400" dirty="0"/>
              <a:t>层次分析法（</a:t>
            </a:r>
            <a:r>
              <a:rPr lang="en-US" altLang="zh-CN" sz="2400" dirty="0"/>
              <a:t>Analytic Hierarchy Process</a:t>
            </a:r>
            <a:r>
              <a:rPr lang="zh-CN" altLang="en-US" sz="2400" dirty="0"/>
              <a:t>，</a:t>
            </a:r>
            <a:r>
              <a:rPr lang="en-US" altLang="zh-CN" sz="2400" dirty="0"/>
              <a:t>AHP</a:t>
            </a:r>
            <a:r>
              <a:rPr lang="zh-CN" altLang="en-US" sz="2400" dirty="0"/>
              <a:t>）是一种用于处理复杂决策问题的</a:t>
            </a:r>
            <a:r>
              <a:rPr lang="zh-CN" altLang="en-US" sz="2400" dirty="0">
                <a:solidFill>
                  <a:schemeClr val="tx2"/>
                </a:solidFill>
              </a:rPr>
              <a:t>定性</a:t>
            </a:r>
            <a:r>
              <a:rPr lang="zh-CN" altLang="en-US" sz="2400" dirty="0"/>
              <a:t>和</a:t>
            </a:r>
            <a:r>
              <a:rPr lang="zh-CN" altLang="en-US" sz="2400" dirty="0">
                <a:solidFill>
                  <a:schemeClr val="tx2"/>
                </a:solidFill>
              </a:rPr>
              <a:t>定量</a:t>
            </a:r>
            <a:r>
              <a:rPr lang="zh-CN" altLang="en-US" sz="2400" dirty="0"/>
              <a:t>相结合的决策分析方法</a:t>
            </a:r>
          </a:p>
        </p:txBody>
      </p:sp>
      <p:sp>
        <p:nvSpPr>
          <p:cNvPr id="35" name="灯片编号占位符 3">
            <a:extLst>
              <a:ext uri="{FF2B5EF4-FFF2-40B4-BE49-F238E27FC236}">
                <a16:creationId xmlns:a16="http://schemas.microsoft.com/office/drawing/2014/main" id="{4E13C9AD-C81E-4EE3-B9EC-34FF68A841E2}"/>
              </a:ext>
            </a:extLst>
          </p:cNvPr>
          <p:cNvSpPr txBox="1">
            <a:spLocks/>
          </p:cNvSpPr>
          <p:nvPr/>
        </p:nvSpPr>
        <p:spPr>
          <a:xfrm>
            <a:off x="9282546" y="108066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24612B-083E-42A1-A722-547198ACFF6B}" type="slidenum">
              <a:rPr kumimoji="0" lang="zh-CN" altLang="en-US" sz="2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118B07D-E2F7-41D4-BCBE-7D670F4A3580}"/>
              </a:ext>
            </a:extLst>
          </p:cNvPr>
          <p:cNvSpPr txBox="1"/>
          <p:nvPr/>
        </p:nvSpPr>
        <p:spPr>
          <a:xfrm>
            <a:off x="1061389" y="-67577"/>
            <a:ext cx="3984139" cy="764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ct val="0"/>
              </a:spcAft>
              <a:defRPr sz="4800" b="1">
                <a:gradFill>
                  <a:gsLst>
                    <a:gs pos="100000">
                      <a:srgbClr val="026EBB"/>
                    </a:gs>
                    <a:gs pos="0">
                      <a:srgbClr val="038EDB"/>
                    </a:gs>
                  </a:gsLst>
                  <a:lin ang="0" scaled="1"/>
                </a:gradFill>
                <a:latin typeface="Eras Bold ITC" panose="020B0907030504020204" pitchFamily="34" charset="0"/>
                <a:ea typeface="思源黑体 CN Medium" panose="020B0600000000000000" pitchFamily="34" charset="-122"/>
                <a:cs typeface="+mj-cs"/>
              </a:defRPr>
            </a:lvl1pPr>
            <a:lvl2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marL="571500" marR="0" lvl="0" indent="-571500" algn="l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0" lang="en-US" altLang="zh-CN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kumimoji="0" lang="zh-CN" altLang="en-US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模型概念</a:t>
            </a:r>
          </a:p>
        </p:txBody>
      </p:sp>
      <p:sp>
        <p:nvSpPr>
          <p:cNvPr id="38" name="平行四边形 37">
            <a:extLst>
              <a:ext uri="{FF2B5EF4-FFF2-40B4-BE49-F238E27FC236}">
                <a16:creationId xmlns:a16="http://schemas.microsoft.com/office/drawing/2014/main" id="{9237FECA-4EA3-4697-B699-84730BAE8B10}"/>
              </a:ext>
            </a:extLst>
          </p:cNvPr>
          <p:cNvSpPr/>
          <p:nvPr/>
        </p:nvSpPr>
        <p:spPr>
          <a:xfrm rot="10800000">
            <a:off x="566665" y="775626"/>
            <a:ext cx="2787949" cy="95817"/>
          </a:xfrm>
          <a:prstGeom prst="parallelogram">
            <a:avLst>
              <a:gd name="adj" fmla="val 196700"/>
            </a:avLst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4845614F-7241-4DB3-9BE0-9960246D59D7}"/>
              </a:ext>
            </a:extLst>
          </p:cNvPr>
          <p:cNvGrpSpPr/>
          <p:nvPr/>
        </p:nvGrpSpPr>
        <p:grpSpPr>
          <a:xfrm>
            <a:off x="-53106" y="0"/>
            <a:ext cx="963271" cy="1033814"/>
            <a:chOff x="-51603" y="0"/>
            <a:chExt cx="1084083" cy="1219009"/>
          </a:xfrm>
        </p:grpSpPr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A1BDF8D0-A1CC-4209-B8DF-D36E34D6C3AC}"/>
                </a:ext>
              </a:extLst>
            </p:cNvPr>
            <p:cNvSpPr/>
            <p:nvPr/>
          </p:nvSpPr>
          <p:spPr bwMode="auto">
            <a:xfrm>
              <a:off x="3290" y="132030"/>
              <a:ext cx="974299" cy="1086979"/>
            </a:xfrm>
            <a:custGeom>
              <a:avLst/>
              <a:gdLst>
                <a:gd name="T0" fmla="*/ 0 w 529"/>
                <a:gd name="T1" fmla="*/ 0 h 915"/>
                <a:gd name="T2" fmla="*/ 490 w 529"/>
                <a:gd name="T3" fmla="*/ 399 h 915"/>
                <a:gd name="T4" fmla="*/ 490 w 529"/>
                <a:gd name="T5" fmla="*/ 516 h 915"/>
                <a:gd name="T6" fmla="*/ 0 w 529"/>
                <a:gd name="T7" fmla="*/ 915 h 915"/>
                <a:gd name="T8" fmla="*/ 0 w 529"/>
                <a:gd name="T9" fmla="*/ 0 h 9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9" h="915">
                  <a:moveTo>
                    <a:pt x="0" y="0"/>
                  </a:moveTo>
                  <a:lnTo>
                    <a:pt x="490" y="399"/>
                  </a:lnTo>
                  <a:cubicBezTo>
                    <a:pt x="529" y="431"/>
                    <a:pt x="529" y="484"/>
                    <a:pt x="490" y="516"/>
                  </a:cubicBezTo>
                  <a:lnTo>
                    <a:pt x="0" y="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B8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DE0E586D-84DD-4F85-8A67-93CFE0890111}"/>
                </a:ext>
              </a:extLst>
            </p:cNvPr>
            <p:cNvSpPr/>
            <p:nvPr/>
          </p:nvSpPr>
          <p:spPr bwMode="auto">
            <a:xfrm>
              <a:off x="3290" y="0"/>
              <a:ext cx="974299" cy="1086979"/>
            </a:xfrm>
            <a:custGeom>
              <a:avLst/>
              <a:gdLst>
                <a:gd name="T0" fmla="*/ 0 w 560"/>
                <a:gd name="T1" fmla="*/ 0 h 973"/>
                <a:gd name="T2" fmla="*/ 516 w 560"/>
                <a:gd name="T3" fmla="*/ 420 h 973"/>
                <a:gd name="T4" fmla="*/ 516 w 560"/>
                <a:gd name="T5" fmla="*/ 552 h 973"/>
                <a:gd name="T6" fmla="*/ 0 w 560"/>
                <a:gd name="T7" fmla="*/ 973 h 973"/>
                <a:gd name="T8" fmla="*/ 0 w 560"/>
                <a:gd name="T9" fmla="*/ 0 h 9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60" h="973">
                  <a:moveTo>
                    <a:pt x="0" y="0"/>
                  </a:moveTo>
                  <a:lnTo>
                    <a:pt x="516" y="420"/>
                  </a:lnTo>
                  <a:cubicBezTo>
                    <a:pt x="560" y="457"/>
                    <a:pt x="560" y="516"/>
                    <a:pt x="516" y="552"/>
                  </a:cubicBezTo>
                  <a:lnTo>
                    <a:pt x="0" y="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BA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4EA2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CD277C01-E6B7-43ED-A530-CA7B9A8586F1}"/>
                </a:ext>
              </a:extLst>
            </p:cNvPr>
            <p:cNvSpPr txBox="1"/>
            <p:nvPr/>
          </p:nvSpPr>
          <p:spPr>
            <a:xfrm>
              <a:off x="-51603" y="146972"/>
              <a:ext cx="1084083" cy="689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一</a:t>
              </a:r>
            </a:p>
          </p:txBody>
        </p:sp>
      </p:grpSp>
      <p:sp>
        <p:nvSpPr>
          <p:cNvPr id="43" name="平行四边形 42">
            <a:extLst>
              <a:ext uri="{FF2B5EF4-FFF2-40B4-BE49-F238E27FC236}">
                <a16:creationId xmlns:a16="http://schemas.microsoft.com/office/drawing/2014/main" id="{EE906314-E1D9-4315-8673-A4C33AFAC90F}"/>
              </a:ext>
            </a:extLst>
          </p:cNvPr>
          <p:cNvSpPr/>
          <p:nvPr/>
        </p:nvSpPr>
        <p:spPr>
          <a:xfrm rot="10800000">
            <a:off x="3320143" y="775627"/>
            <a:ext cx="8868566" cy="90674"/>
          </a:xfrm>
          <a:prstGeom prst="parallelogram">
            <a:avLst>
              <a:gd name="adj" fmla="val 196700"/>
            </a:avLst>
          </a:prstGeom>
          <a:solidFill>
            <a:srgbClr val="69B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FC7EDFBC-E1F2-4FC7-8F9D-13E659D6D631}"/>
              </a:ext>
            </a:extLst>
          </p:cNvPr>
          <p:cNvGrpSpPr/>
          <p:nvPr/>
        </p:nvGrpSpPr>
        <p:grpSpPr>
          <a:xfrm>
            <a:off x="528332" y="2267912"/>
            <a:ext cx="11775206" cy="3083768"/>
            <a:chOff x="9137870" y="2197936"/>
            <a:chExt cx="2823353" cy="1591953"/>
          </a:xfrm>
        </p:grpSpPr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E13658B4-99D7-4390-B6CA-35C4B938CA3C}"/>
                </a:ext>
              </a:extLst>
            </p:cNvPr>
            <p:cNvGrpSpPr/>
            <p:nvPr/>
          </p:nvGrpSpPr>
          <p:grpSpPr>
            <a:xfrm>
              <a:off x="9169400" y="2197936"/>
              <a:ext cx="2743176" cy="1591953"/>
              <a:chOff x="1199732" y="5259960"/>
              <a:chExt cx="3104442" cy="1075370"/>
            </a:xfrm>
          </p:grpSpPr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3C657A99-3780-43F4-84AE-F01962852990}"/>
                  </a:ext>
                </a:extLst>
              </p:cNvPr>
              <p:cNvSpPr/>
              <p:nvPr/>
            </p:nvSpPr>
            <p:spPr>
              <a:xfrm>
                <a:off x="1199732" y="5265041"/>
                <a:ext cx="3104442" cy="1070289"/>
              </a:xfrm>
              <a:prstGeom prst="rect">
                <a:avLst/>
              </a:prstGeom>
              <a:gradFill>
                <a:gsLst>
                  <a:gs pos="0">
                    <a:srgbClr val="1A76DC">
                      <a:lumMod val="15000"/>
                      <a:lumOff val="85000"/>
                    </a:srgbClr>
                  </a:gs>
                  <a:gs pos="100000">
                    <a:sysClr val="window" lastClr="FFFFFF"/>
                  </a:gs>
                </a:gsLst>
                <a:lin ang="5400000" scaled="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180000" tIns="45720" rIns="91440" bIns="4572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微软雅黑 Light" panose="020B0502040204020203" charset="-122"/>
                  <a:cs typeface="+mn-cs"/>
                  <a:sym typeface="Times New Roman" panose="02020603050405020304" pitchFamily="18" charset="0"/>
                </a:endParaRPr>
              </a:p>
            </p:txBody>
          </p:sp>
          <p:cxnSp>
            <p:nvCxnSpPr>
              <p:cNvPr id="53" name="直接连接符 52">
                <a:extLst>
                  <a:ext uri="{FF2B5EF4-FFF2-40B4-BE49-F238E27FC236}">
                    <a16:creationId xmlns:a16="http://schemas.microsoft.com/office/drawing/2014/main" id="{3CE043AE-C225-4434-BA64-EE5B19A8B0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99732" y="5259960"/>
                <a:ext cx="3104442" cy="0"/>
              </a:xfrm>
              <a:prstGeom prst="line">
                <a:avLst/>
              </a:prstGeom>
              <a:noFill/>
              <a:ln w="28575" cap="flat" cmpd="sng" algn="ctr">
                <a:solidFill>
                  <a:srgbClr val="004FA8"/>
                </a:solidFill>
                <a:prstDash val="solid"/>
                <a:miter lim="800000"/>
              </a:ln>
              <a:effectLst/>
            </p:spPr>
          </p:cxnSp>
        </p:grpSp>
        <p:sp>
          <p:nvSpPr>
            <p:cNvPr id="51" name="矩形 33">
              <a:extLst>
                <a:ext uri="{FF2B5EF4-FFF2-40B4-BE49-F238E27FC236}">
                  <a16:creationId xmlns:a16="http://schemas.microsoft.com/office/drawing/2014/main" id="{E48671B1-C53F-4015-A9F7-B59A233237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37870" y="2244618"/>
              <a:ext cx="2823353" cy="1534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endPara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D8094609-8F84-4959-A5AF-D0CD05CD87A3}"/>
              </a:ext>
            </a:extLst>
          </p:cNvPr>
          <p:cNvSpPr txBox="1"/>
          <p:nvPr/>
        </p:nvSpPr>
        <p:spPr>
          <a:xfrm>
            <a:off x="770429" y="2323452"/>
            <a:ext cx="11219622" cy="4720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20000"/>
              </a:lnSpc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0F499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基本步骤：</a:t>
            </a:r>
          </a:p>
          <a:p>
            <a:pPr algn="just">
              <a:lnSpc>
                <a:spcPct val="120000"/>
              </a:lnSpc>
            </a:pPr>
            <a:r>
              <a:rPr lang="zh-CN" altLang="en-US" sz="2000" b="1" kern="0" dirty="0">
                <a:latin typeface="Times New Roman" panose="02020603050405020304" pitchFamily="18" charset="0"/>
              </a:rPr>
              <a:t>建立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层次结构模型 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：</a:t>
            </a:r>
            <a:endParaRPr lang="en-US" altLang="zh-CN" sz="2000" b="1" kern="0" dirty="0">
              <a:latin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r>
              <a:rPr lang="en-US" altLang="zh-CN" sz="2000" b="1" kern="0" dirty="0">
                <a:latin typeface="Times New Roman" panose="02020603050405020304" pitchFamily="18" charset="0"/>
              </a:rPr>
              <a:t>     1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、明确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决策目标 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：也就是要解决的问题，是整个层次结构的最高层。</a:t>
            </a:r>
            <a:endParaRPr lang="en-US" altLang="zh-CN" sz="2000" b="1" kern="0" dirty="0">
              <a:latin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r>
              <a:rPr lang="en-US" altLang="zh-CN" sz="2000" b="1" kern="0" dirty="0">
                <a:latin typeface="Times New Roman" panose="02020603050405020304" pitchFamily="18" charset="0"/>
              </a:rPr>
              <a:t>     2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、确定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准则层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 ：将影响决策目标实现的各种因素作为准则层。</a:t>
            </a:r>
            <a:endParaRPr lang="en-US" altLang="zh-CN" sz="2000" b="1" kern="0" dirty="0">
              <a:latin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r>
              <a:rPr lang="en-US" altLang="zh-CN" sz="2000" b="1" kern="0" dirty="0">
                <a:latin typeface="Times New Roman" panose="02020603050405020304" pitchFamily="18" charset="0"/>
              </a:rPr>
              <a:t>     3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、确定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方案层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 ：将实现目标的各种方案或措施作为方案层。</a:t>
            </a:r>
            <a:endParaRPr lang="en-US" altLang="zh-CN" sz="2000" b="1" kern="0" dirty="0">
              <a:latin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r>
              <a:rPr lang="zh-CN" altLang="en-US" sz="2000" b="1" kern="0" dirty="0">
                <a:latin typeface="Times New Roman" panose="02020603050405020304" pitchFamily="18" charset="0"/>
              </a:rPr>
              <a:t>构造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判断矩阵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 ：针对每个准则，两两比较其下属的各个元素之间的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相对重要性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，并依据一定的标度赋予相应的数值，构造出判断矩阵。</a:t>
            </a:r>
            <a:endParaRPr lang="en-US" altLang="zh-CN" sz="2000" b="1" kern="0" dirty="0">
              <a:latin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r>
              <a:rPr lang="zh-CN" altLang="en-US" sz="2000" b="1" kern="0" dirty="0">
                <a:latin typeface="Times New Roman" panose="02020603050405020304" pitchFamily="18" charset="0"/>
              </a:rPr>
              <a:t>层次单排序及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一致性检验 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：通过计算判断矩阵的特征向量并归一化处理，得到各要素对于该准则的相对权重。然后利用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一致性指标（</a:t>
            </a:r>
            <a:r>
              <a:rPr lang="en-US" altLang="zh-CN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CI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）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、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随机一致性指标（</a:t>
            </a:r>
            <a:r>
              <a:rPr lang="en-US" altLang="zh-CN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RI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）和一致性比率（</a:t>
            </a:r>
            <a:r>
              <a:rPr lang="en-US" altLang="zh-CN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CR</a:t>
            </a:r>
            <a:r>
              <a:rPr lang="zh-CN" altLang="en-US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）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来检验判断矩阵是否具有一致性，若 </a:t>
            </a:r>
            <a:r>
              <a:rPr lang="en-US" altLang="zh-CN" sz="2000" b="1" kern="0" dirty="0">
                <a:solidFill>
                  <a:srgbClr val="C00000"/>
                </a:solidFill>
                <a:latin typeface="Times New Roman" panose="02020603050405020304" pitchFamily="18" charset="0"/>
              </a:rPr>
              <a:t>CR &lt; 0.1</a:t>
            </a:r>
            <a:r>
              <a:rPr lang="zh-CN" altLang="en-US" sz="2000" b="1" kern="0" dirty="0">
                <a:latin typeface="Times New Roman" panose="02020603050405020304" pitchFamily="18" charset="0"/>
              </a:rPr>
              <a:t>，则认为判断矩阵具有满意的一致性。</a:t>
            </a:r>
            <a:endParaRPr lang="en-US" altLang="zh-CN" sz="2000" b="1" kern="0" dirty="0">
              <a:latin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endParaRPr lang="en-US" altLang="zh-CN" sz="1600" b="1" kern="0" dirty="0">
              <a:latin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endParaRPr lang="zh-CN" altLang="en-US" sz="1600" b="1" kern="0" dirty="0">
              <a:latin typeface="Times New Roman" panose="02020603050405020304" pitchFamily="18" charset="0"/>
            </a:endParaRPr>
          </a:p>
          <a:p>
            <a:pPr marL="285750" indent="-28575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zh-CN" altLang="en-US" sz="1600" b="1" kern="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1383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E1571-F4D2-D5FC-B375-0EA87CCAF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14A41B9-7A23-F924-7CA4-760F83062AFD}"/>
              </a:ext>
            </a:extLst>
          </p:cNvPr>
          <p:cNvSpPr/>
          <p:nvPr/>
        </p:nvSpPr>
        <p:spPr>
          <a:xfrm>
            <a:off x="-2226" y="-1"/>
            <a:ext cx="2521894" cy="6857329"/>
          </a:xfrm>
          <a:prstGeom prst="rect">
            <a:avLst/>
          </a:prstGeom>
          <a:gradFill>
            <a:gsLst>
              <a:gs pos="0">
                <a:srgbClr val="142756"/>
              </a:gs>
              <a:gs pos="100000">
                <a:srgbClr val="2E5DAE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4" name="圆角矩形 33">
            <a:extLst>
              <a:ext uri="{FF2B5EF4-FFF2-40B4-BE49-F238E27FC236}">
                <a16:creationId xmlns:a16="http://schemas.microsoft.com/office/drawing/2014/main" id="{8FB380E3-AE44-FC93-4560-52EB8BF623FA}"/>
              </a:ext>
            </a:extLst>
          </p:cNvPr>
          <p:cNvSpPr/>
          <p:nvPr/>
        </p:nvSpPr>
        <p:spPr>
          <a:xfrm>
            <a:off x="756025" y="1993900"/>
            <a:ext cx="1156306" cy="2870200"/>
          </a:xfrm>
          <a:prstGeom prst="roundRect">
            <a:avLst>
              <a:gd name="adj" fmla="val 0"/>
            </a:avLst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6F15C8E-A8D1-62FF-B119-3F1480FDE37D}"/>
              </a:ext>
            </a:extLst>
          </p:cNvPr>
          <p:cNvSpPr txBox="1"/>
          <p:nvPr/>
        </p:nvSpPr>
        <p:spPr>
          <a:xfrm>
            <a:off x="964846" y="2286380"/>
            <a:ext cx="738664" cy="2285241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汇 报 内 容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580D8BB-E327-CBEF-B9FD-2A76FA57CACC}"/>
              </a:ext>
            </a:extLst>
          </p:cNvPr>
          <p:cNvSpPr>
            <a:spLocks/>
          </p:cNvSpPr>
          <p:nvPr/>
        </p:nvSpPr>
        <p:spPr>
          <a:xfrm>
            <a:off x="4398346" y="835941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257175">
              <a:defRPr/>
            </a:pPr>
            <a:r>
              <a:rPr kumimoji="1" lang="en-US" altLang="zh-CN" sz="3600" b="1" kern="0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t>AHP</a:t>
            </a:r>
            <a:r>
              <a:rPr kumimoji="1" lang="zh-CN" altLang="en-US" sz="3600" b="1" kern="0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t>模型基本概念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33ED0AA-B41F-2975-63C2-9E10B150CAD1}"/>
              </a:ext>
            </a:extLst>
          </p:cNvPr>
          <p:cNvSpPr/>
          <p:nvPr/>
        </p:nvSpPr>
        <p:spPr>
          <a:xfrm>
            <a:off x="4340479" y="714989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81B76AB-8D9C-EE4C-DD34-DC399C145A8B}"/>
              </a:ext>
            </a:extLst>
          </p:cNvPr>
          <p:cNvSpPr/>
          <p:nvPr/>
        </p:nvSpPr>
        <p:spPr>
          <a:xfrm>
            <a:off x="3491889" y="716881"/>
            <a:ext cx="906457" cy="871365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598E2C5-AD72-02DD-96C3-70945194BF1A}"/>
              </a:ext>
            </a:extLst>
          </p:cNvPr>
          <p:cNvSpPr/>
          <p:nvPr/>
        </p:nvSpPr>
        <p:spPr>
          <a:xfrm>
            <a:off x="3606962" y="816941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一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07B83A6-B51C-0207-7CA7-3F4A2258CBA0}"/>
              </a:ext>
            </a:extLst>
          </p:cNvPr>
          <p:cNvSpPr>
            <a:spLocks/>
          </p:cNvSpPr>
          <p:nvPr/>
        </p:nvSpPr>
        <p:spPr>
          <a:xfrm>
            <a:off x="4417997" y="2380268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3600" b="1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3600" b="1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模型应用背景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D05B2FA-A4AD-6279-30CA-CB9D1E9C4016}"/>
              </a:ext>
            </a:extLst>
          </p:cNvPr>
          <p:cNvSpPr/>
          <p:nvPr/>
        </p:nvSpPr>
        <p:spPr>
          <a:xfrm>
            <a:off x="4340479" y="2249440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C2F3F0C-09AC-37CB-87DC-7CA46AA52A68}"/>
              </a:ext>
            </a:extLst>
          </p:cNvPr>
          <p:cNvSpPr/>
          <p:nvPr/>
        </p:nvSpPr>
        <p:spPr>
          <a:xfrm>
            <a:off x="3491889" y="2249440"/>
            <a:ext cx="906457" cy="873258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F9B1023-067B-7406-1B9C-DB44B4434A7A}"/>
              </a:ext>
            </a:extLst>
          </p:cNvPr>
          <p:cNvSpPr/>
          <p:nvPr/>
        </p:nvSpPr>
        <p:spPr>
          <a:xfrm>
            <a:off x="3606962" y="2351392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二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F034EF1-A471-CC43-521E-8FE6908AFCAE}"/>
              </a:ext>
            </a:extLst>
          </p:cNvPr>
          <p:cNvSpPr>
            <a:spLocks/>
          </p:cNvSpPr>
          <p:nvPr/>
        </p:nvSpPr>
        <p:spPr>
          <a:xfrm>
            <a:off x="4418353" y="5390281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结果与结论</a:t>
            </a:r>
            <a:endParaRPr lang="zh-CN" altLang="en-US" sz="2800" b="1" dirty="0">
              <a:solidFill>
                <a:srgbClr val="0F4995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CC75A92-D208-B221-B5B7-8FBC5A3F445E}"/>
              </a:ext>
            </a:extLst>
          </p:cNvPr>
          <p:cNvSpPr/>
          <p:nvPr/>
        </p:nvSpPr>
        <p:spPr>
          <a:xfrm>
            <a:off x="4340479" y="5269078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B2407C5-D6C5-0819-4993-F69322377617}"/>
              </a:ext>
            </a:extLst>
          </p:cNvPr>
          <p:cNvSpPr/>
          <p:nvPr/>
        </p:nvSpPr>
        <p:spPr>
          <a:xfrm>
            <a:off x="3491889" y="5270970"/>
            <a:ext cx="906457" cy="871365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019140C-4B7C-C6F8-89FF-8885904B2D5A}"/>
              </a:ext>
            </a:extLst>
          </p:cNvPr>
          <p:cNvSpPr/>
          <p:nvPr/>
        </p:nvSpPr>
        <p:spPr>
          <a:xfrm>
            <a:off x="3606962" y="5371030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四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07CC70-4430-0176-D9D8-B90B31DC45A3}"/>
              </a:ext>
            </a:extLst>
          </p:cNvPr>
          <p:cNvSpPr>
            <a:spLocks/>
          </p:cNvSpPr>
          <p:nvPr/>
        </p:nvSpPr>
        <p:spPr>
          <a:xfrm>
            <a:off x="4415507" y="3879517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模型应用方式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F3BAD49-CA39-6772-7258-0346624FC002}"/>
              </a:ext>
            </a:extLst>
          </p:cNvPr>
          <p:cNvSpPr/>
          <p:nvPr/>
        </p:nvSpPr>
        <p:spPr>
          <a:xfrm>
            <a:off x="4340479" y="3758314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D39A622-7DA9-9DFE-5405-4E949A5BBB57}"/>
              </a:ext>
            </a:extLst>
          </p:cNvPr>
          <p:cNvSpPr/>
          <p:nvPr/>
        </p:nvSpPr>
        <p:spPr>
          <a:xfrm>
            <a:off x="3491889" y="3758314"/>
            <a:ext cx="906457" cy="873258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37C1184-29DB-A95D-2584-54CC549253DC}"/>
              </a:ext>
            </a:extLst>
          </p:cNvPr>
          <p:cNvSpPr/>
          <p:nvPr/>
        </p:nvSpPr>
        <p:spPr>
          <a:xfrm>
            <a:off x="3606962" y="3860266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三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123BF1C-E523-495B-7990-73915A255EE3}"/>
              </a:ext>
            </a:extLst>
          </p:cNvPr>
          <p:cNvSpPr/>
          <p:nvPr/>
        </p:nvSpPr>
        <p:spPr>
          <a:xfrm>
            <a:off x="2952393" y="3417692"/>
            <a:ext cx="8274761" cy="2940252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3995DAD-FAE8-F4FA-5172-C416DAE3219E}"/>
              </a:ext>
            </a:extLst>
          </p:cNvPr>
          <p:cNvSpPr/>
          <p:nvPr/>
        </p:nvSpPr>
        <p:spPr>
          <a:xfrm>
            <a:off x="3161214" y="359061"/>
            <a:ext cx="8274761" cy="1678732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651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>
            <a:extLst>
              <a:ext uri="{FF2B5EF4-FFF2-40B4-BE49-F238E27FC236}">
                <a16:creationId xmlns:a16="http://schemas.microsoft.com/office/drawing/2014/main" id="{EAC27C75-9878-4AF1-BD21-EDA5BAEF50FF}"/>
              </a:ext>
            </a:extLst>
          </p:cNvPr>
          <p:cNvSpPr txBox="1"/>
          <p:nvPr/>
        </p:nvSpPr>
        <p:spPr>
          <a:xfrm>
            <a:off x="298115" y="944284"/>
            <a:ext cx="11595769" cy="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457200" marR="0" lvl="0" indent="-457200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"/>
              <a:tabLst/>
              <a:defRPr kumimoji="0" sz="2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t>三峡库区位于28°56'—31°44'N，106°16'—111°28'E，面积约5.8×10⁴ km²，涵盖重庆市和湖北省26个县市区。季节性水位波动形成了长江、洲滩、湖泊、江心岛屿一体的内陆淡水湿地生态系统，为斑嘴鸭、绿头鸭、中华秋沙鸭等多种水禽提供越冬生境。</a:t>
            </a:r>
          </a:p>
        </p:txBody>
      </p:sp>
      <p:sp>
        <p:nvSpPr>
          <p:cNvPr id="35" name="灯片编号占位符 3">
            <a:extLst>
              <a:ext uri="{FF2B5EF4-FFF2-40B4-BE49-F238E27FC236}">
                <a16:creationId xmlns:a16="http://schemas.microsoft.com/office/drawing/2014/main" id="{4E13C9AD-C81E-4EE3-B9EC-34FF68A841E2}"/>
              </a:ext>
            </a:extLst>
          </p:cNvPr>
          <p:cNvSpPr txBox="1">
            <a:spLocks/>
          </p:cNvSpPr>
          <p:nvPr/>
        </p:nvSpPr>
        <p:spPr>
          <a:xfrm>
            <a:off x="9282546" y="108066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24612B-083E-42A1-A722-547198ACFF6B}" type="slidenum">
              <a:rPr kumimoji="0" lang="zh-CN" altLang="en-US" sz="2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118B07D-E2F7-41D4-BCBE-7D670F4A3580}"/>
              </a:ext>
            </a:extLst>
          </p:cNvPr>
          <p:cNvSpPr txBox="1"/>
          <p:nvPr/>
        </p:nvSpPr>
        <p:spPr>
          <a:xfrm>
            <a:off x="1061390" y="-67577"/>
            <a:ext cx="3876370" cy="764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ct val="0"/>
              </a:spcAft>
              <a:defRPr sz="4800" b="1">
                <a:gradFill>
                  <a:gsLst>
                    <a:gs pos="100000">
                      <a:srgbClr val="026EBB"/>
                    </a:gs>
                    <a:gs pos="0">
                      <a:srgbClr val="038EDB"/>
                    </a:gs>
                  </a:gsLst>
                  <a:lin ang="0" scaled="1"/>
                </a:gradFill>
                <a:latin typeface="Eras Bold ITC" panose="020B0907030504020204" pitchFamily="34" charset="0"/>
                <a:ea typeface="思源黑体 CN Medium" panose="020B0600000000000000" pitchFamily="34" charset="-122"/>
                <a:cs typeface="+mj-cs"/>
              </a:defRPr>
            </a:lvl1pPr>
            <a:lvl2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marL="571500" marR="0" lvl="0" indent="-571500" algn="l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0" lang="zh-CN" altLang="en-US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研究背景</a:t>
            </a:r>
          </a:p>
        </p:txBody>
      </p:sp>
      <p:sp>
        <p:nvSpPr>
          <p:cNvPr id="38" name="平行四边形 37">
            <a:extLst>
              <a:ext uri="{FF2B5EF4-FFF2-40B4-BE49-F238E27FC236}">
                <a16:creationId xmlns:a16="http://schemas.microsoft.com/office/drawing/2014/main" id="{9237FECA-4EA3-4697-B699-84730BAE8B10}"/>
              </a:ext>
            </a:extLst>
          </p:cNvPr>
          <p:cNvSpPr/>
          <p:nvPr/>
        </p:nvSpPr>
        <p:spPr>
          <a:xfrm rot="10800000">
            <a:off x="566665" y="775626"/>
            <a:ext cx="2787949" cy="95817"/>
          </a:xfrm>
          <a:prstGeom prst="parallelogram">
            <a:avLst>
              <a:gd name="adj" fmla="val 196700"/>
            </a:avLst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4845614F-7241-4DB3-9BE0-9960246D59D7}"/>
              </a:ext>
            </a:extLst>
          </p:cNvPr>
          <p:cNvGrpSpPr/>
          <p:nvPr/>
        </p:nvGrpSpPr>
        <p:grpSpPr>
          <a:xfrm>
            <a:off x="-53106" y="0"/>
            <a:ext cx="963271" cy="1033814"/>
            <a:chOff x="-51603" y="0"/>
            <a:chExt cx="1084083" cy="1219009"/>
          </a:xfrm>
        </p:grpSpPr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A1BDF8D0-A1CC-4209-B8DF-D36E34D6C3AC}"/>
                </a:ext>
              </a:extLst>
            </p:cNvPr>
            <p:cNvSpPr/>
            <p:nvPr/>
          </p:nvSpPr>
          <p:spPr bwMode="auto">
            <a:xfrm>
              <a:off x="3290" y="132030"/>
              <a:ext cx="974299" cy="1086979"/>
            </a:xfrm>
            <a:custGeom>
              <a:avLst/>
              <a:gdLst>
                <a:gd name="T0" fmla="*/ 0 w 529"/>
                <a:gd name="T1" fmla="*/ 0 h 915"/>
                <a:gd name="T2" fmla="*/ 490 w 529"/>
                <a:gd name="T3" fmla="*/ 399 h 915"/>
                <a:gd name="T4" fmla="*/ 490 w 529"/>
                <a:gd name="T5" fmla="*/ 516 h 915"/>
                <a:gd name="T6" fmla="*/ 0 w 529"/>
                <a:gd name="T7" fmla="*/ 915 h 915"/>
                <a:gd name="T8" fmla="*/ 0 w 529"/>
                <a:gd name="T9" fmla="*/ 0 h 9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9" h="915">
                  <a:moveTo>
                    <a:pt x="0" y="0"/>
                  </a:moveTo>
                  <a:lnTo>
                    <a:pt x="490" y="399"/>
                  </a:lnTo>
                  <a:cubicBezTo>
                    <a:pt x="529" y="431"/>
                    <a:pt x="529" y="484"/>
                    <a:pt x="490" y="516"/>
                  </a:cubicBezTo>
                  <a:lnTo>
                    <a:pt x="0" y="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B8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DE0E586D-84DD-4F85-8A67-93CFE0890111}"/>
                </a:ext>
              </a:extLst>
            </p:cNvPr>
            <p:cNvSpPr/>
            <p:nvPr/>
          </p:nvSpPr>
          <p:spPr bwMode="auto">
            <a:xfrm>
              <a:off x="3290" y="0"/>
              <a:ext cx="974299" cy="1086979"/>
            </a:xfrm>
            <a:custGeom>
              <a:avLst/>
              <a:gdLst>
                <a:gd name="T0" fmla="*/ 0 w 560"/>
                <a:gd name="T1" fmla="*/ 0 h 973"/>
                <a:gd name="T2" fmla="*/ 516 w 560"/>
                <a:gd name="T3" fmla="*/ 420 h 973"/>
                <a:gd name="T4" fmla="*/ 516 w 560"/>
                <a:gd name="T5" fmla="*/ 552 h 973"/>
                <a:gd name="T6" fmla="*/ 0 w 560"/>
                <a:gd name="T7" fmla="*/ 973 h 973"/>
                <a:gd name="T8" fmla="*/ 0 w 560"/>
                <a:gd name="T9" fmla="*/ 0 h 9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60" h="973">
                  <a:moveTo>
                    <a:pt x="0" y="0"/>
                  </a:moveTo>
                  <a:lnTo>
                    <a:pt x="516" y="420"/>
                  </a:lnTo>
                  <a:cubicBezTo>
                    <a:pt x="560" y="457"/>
                    <a:pt x="560" y="516"/>
                    <a:pt x="516" y="552"/>
                  </a:cubicBezTo>
                  <a:lnTo>
                    <a:pt x="0" y="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BA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4EA2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CD277C01-E6B7-43ED-A530-CA7B9A8586F1}"/>
                </a:ext>
              </a:extLst>
            </p:cNvPr>
            <p:cNvSpPr txBox="1"/>
            <p:nvPr/>
          </p:nvSpPr>
          <p:spPr>
            <a:xfrm>
              <a:off x="-51603" y="146972"/>
              <a:ext cx="1084083" cy="689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3200" b="1" dirty="0">
                  <a:solidFill>
                    <a:prstClr val="white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二</a:t>
              </a:r>
              <a:endPara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</p:grpSp>
      <p:sp>
        <p:nvSpPr>
          <p:cNvPr id="43" name="平行四边形 42">
            <a:extLst>
              <a:ext uri="{FF2B5EF4-FFF2-40B4-BE49-F238E27FC236}">
                <a16:creationId xmlns:a16="http://schemas.microsoft.com/office/drawing/2014/main" id="{EE906314-E1D9-4315-8673-A4C33AFAC90F}"/>
              </a:ext>
            </a:extLst>
          </p:cNvPr>
          <p:cNvSpPr/>
          <p:nvPr/>
        </p:nvSpPr>
        <p:spPr>
          <a:xfrm rot="10800000">
            <a:off x="3320143" y="775627"/>
            <a:ext cx="8868566" cy="90674"/>
          </a:xfrm>
          <a:prstGeom prst="parallelogram">
            <a:avLst>
              <a:gd name="adj" fmla="val 196700"/>
            </a:avLst>
          </a:prstGeom>
          <a:solidFill>
            <a:srgbClr val="69B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DB216CC-D1BF-40BE-8B6C-B6095A4891A6}"/>
              </a:ext>
            </a:extLst>
          </p:cNvPr>
          <p:cNvSpPr txBox="1"/>
          <p:nvPr/>
        </p:nvSpPr>
        <p:spPr>
          <a:xfrm>
            <a:off x="3886207" y="5091231"/>
            <a:ext cx="4419584" cy="388661"/>
          </a:xfrm>
          <a:prstGeom prst="rect">
            <a:avLst/>
          </a:prstGeom>
          <a:solidFill>
            <a:schemeClr val="accent3">
              <a:lumMod val="60000"/>
              <a:lumOff val="40000"/>
              <a:alpha val="26000"/>
            </a:schemeClr>
          </a:solidFill>
          <a:ln w="12700" cap="flat" cmpd="sng" algn="ctr">
            <a:solidFill>
              <a:sysClr val="windowText" lastClr="000000"/>
            </a:solidFill>
            <a:prstDash val="dash"/>
            <a:miter lim="800000"/>
          </a:ln>
          <a:effectLst/>
        </p:spPr>
        <p:txBody>
          <a:bodyPr wrap="square" rtlCol="0" anchor="ctr">
            <a:normAutofit/>
          </a:bodyPr>
          <a:lstStyle>
            <a:defPPr>
              <a:defRPr lang="zh-CN"/>
            </a:defPPr>
            <a:lvl1pPr marR="0" lvl="0" indent="0" algn="just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defRPr>
            </a:lvl1pPr>
          </a:lstStyle>
          <a:p>
            <a:pPr algn="ctr"/>
            <a:r>
              <a:rPr lang="zh-CN" altLang="en-US" sz="1600" b="1" dirty="0"/>
              <a:t>三峡库区范围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8B08003-885D-4A98-9706-2D156454B393}"/>
              </a:ext>
            </a:extLst>
          </p:cNvPr>
          <p:cNvSpPr/>
          <p:nvPr/>
        </p:nvSpPr>
        <p:spPr>
          <a:xfrm>
            <a:off x="0" y="5550000"/>
            <a:ext cx="12192000" cy="1300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t>1995-2020年蓄水分为5个阶段：蓄水前→围堰发电期(135m)→初期蓄水期(156m)→试验蓄水期(175m)→周期性稳定蓄水期(145~175m)。三峡工程改变了湿地水文结构，水禽栖息地质量显著下降，开展栖息地适宜性评价是保护生物多样性的关键。</a:t>
            </a:r>
          </a:p>
        </p:txBody>
      </p:sp>
      <p:pic>
        <p:nvPicPr>
          <p:cNvPr id="44" name="Picture 43" descr="_fig1_study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7" y="2110298"/>
            <a:ext cx="4419584" cy="298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421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文本框 57">
            <a:extLst>
              <a:ext uri="{FF2B5EF4-FFF2-40B4-BE49-F238E27FC236}">
                <a16:creationId xmlns:a16="http://schemas.microsoft.com/office/drawing/2014/main" id="{66E385C0-46B6-47D9-AA11-521F386398EE}"/>
              </a:ext>
            </a:extLst>
          </p:cNvPr>
          <p:cNvSpPr txBox="1"/>
          <p:nvPr/>
        </p:nvSpPr>
        <p:spPr>
          <a:xfrm>
            <a:off x="298115" y="944284"/>
            <a:ext cx="11595769" cy="108189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457200" marR="0" lvl="0" indent="-457200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"/>
              <a:tabLst/>
              <a:defRPr kumimoji="0" sz="2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t>将复杂生态评价问题分解为多层次结构，为栖息地适宜性综合评估提供科学、系统的解决方案。</a:t>
            </a:r>
          </a:p>
        </p:txBody>
      </p:sp>
      <p:sp>
        <p:nvSpPr>
          <p:cNvPr id="59" name="灯片编号占位符 3">
            <a:extLst>
              <a:ext uri="{FF2B5EF4-FFF2-40B4-BE49-F238E27FC236}">
                <a16:creationId xmlns:a16="http://schemas.microsoft.com/office/drawing/2014/main" id="{65FB6339-72B3-4D19-B15A-3549C38402FE}"/>
              </a:ext>
            </a:extLst>
          </p:cNvPr>
          <p:cNvSpPr txBox="1">
            <a:spLocks/>
          </p:cNvSpPr>
          <p:nvPr/>
        </p:nvSpPr>
        <p:spPr>
          <a:xfrm>
            <a:off x="9282546" y="108066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24612B-083E-42A1-A722-547198ACFF6B}" type="slidenum">
              <a:rPr kumimoji="0" lang="zh-CN" altLang="en-US" sz="2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8C32579A-9C75-4E3E-BBB6-F37DD3EF31D3}"/>
              </a:ext>
            </a:extLst>
          </p:cNvPr>
          <p:cNvSpPr txBox="1"/>
          <p:nvPr/>
        </p:nvSpPr>
        <p:spPr>
          <a:xfrm>
            <a:off x="1061389" y="-67577"/>
            <a:ext cx="4742251" cy="764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ct val="0"/>
              </a:spcAft>
              <a:defRPr sz="4800" b="1">
                <a:gradFill>
                  <a:gsLst>
                    <a:gs pos="100000">
                      <a:srgbClr val="026EBB"/>
                    </a:gs>
                    <a:gs pos="0">
                      <a:srgbClr val="038EDB"/>
                    </a:gs>
                  </a:gsLst>
                  <a:lin ang="0" scaled="1"/>
                </a:gradFill>
                <a:latin typeface="Eras Bold ITC" panose="020B0907030504020204" pitchFamily="34" charset="0"/>
                <a:ea typeface="思源黑体 CN Medium" panose="020B0600000000000000" pitchFamily="34" charset="-122"/>
                <a:cs typeface="+mj-cs"/>
              </a:defRPr>
            </a:lvl1pPr>
            <a:lvl2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marL="571500" marR="0" lvl="0" indent="-571500" algn="l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0" lang="en-US" altLang="zh-CN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kumimoji="0" lang="zh-CN" altLang="en-US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模型应用背景</a:t>
            </a:r>
          </a:p>
        </p:txBody>
      </p:sp>
      <p:sp>
        <p:nvSpPr>
          <p:cNvPr id="62" name="平行四边形 61">
            <a:extLst>
              <a:ext uri="{FF2B5EF4-FFF2-40B4-BE49-F238E27FC236}">
                <a16:creationId xmlns:a16="http://schemas.microsoft.com/office/drawing/2014/main" id="{BC26353B-BA58-428C-B648-8E0401A63A99}"/>
              </a:ext>
            </a:extLst>
          </p:cNvPr>
          <p:cNvSpPr/>
          <p:nvPr/>
        </p:nvSpPr>
        <p:spPr>
          <a:xfrm rot="10800000">
            <a:off x="566665" y="775626"/>
            <a:ext cx="2787949" cy="95817"/>
          </a:xfrm>
          <a:prstGeom prst="parallelogram">
            <a:avLst>
              <a:gd name="adj" fmla="val 196700"/>
            </a:avLst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9165285A-6DDA-4204-8FD4-2BCD23EC3978}"/>
              </a:ext>
            </a:extLst>
          </p:cNvPr>
          <p:cNvGrpSpPr/>
          <p:nvPr/>
        </p:nvGrpSpPr>
        <p:grpSpPr>
          <a:xfrm>
            <a:off x="-53106" y="0"/>
            <a:ext cx="963271" cy="1033814"/>
            <a:chOff x="-51603" y="0"/>
            <a:chExt cx="1084083" cy="1219009"/>
          </a:xfrm>
        </p:grpSpPr>
        <p:sp>
          <p:nvSpPr>
            <p:cNvPr id="64" name="Freeform 7">
              <a:extLst>
                <a:ext uri="{FF2B5EF4-FFF2-40B4-BE49-F238E27FC236}">
                  <a16:creationId xmlns:a16="http://schemas.microsoft.com/office/drawing/2014/main" id="{ECC5B651-37DC-4C4D-8C15-9BDBC38A7ED1}"/>
                </a:ext>
              </a:extLst>
            </p:cNvPr>
            <p:cNvSpPr/>
            <p:nvPr/>
          </p:nvSpPr>
          <p:spPr bwMode="auto">
            <a:xfrm>
              <a:off x="3290" y="132030"/>
              <a:ext cx="974299" cy="1086979"/>
            </a:xfrm>
            <a:custGeom>
              <a:avLst/>
              <a:gdLst>
                <a:gd name="T0" fmla="*/ 0 w 529"/>
                <a:gd name="T1" fmla="*/ 0 h 915"/>
                <a:gd name="T2" fmla="*/ 490 w 529"/>
                <a:gd name="T3" fmla="*/ 399 h 915"/>
                <a:gd name="T4" fmla="*/ 490 w 529"/>
                <a:gd name="T5" fmla="*/ 516 h 915"/>
                <a:gd name="T6" fmla="*/ 0 w 529"/>
                <a:gd name="T7" fmla="*/ 915 h 915"/>
                <a:gd name="T8" fmla="*/ 0 w 529"/>
                <a:gd name="T9" fmla="*/ 0 h 9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9" h="915">
                  <a:moveTo>
                    <a:pt x="0" y="0"/>
                  </a:moveTo>
                  <a:lnTo>
                    <a:pt x="490" y="399"/>
                  </a:lnTo>
                  <a:cubicBezTo>
                    <a:pt x="529" y="431"/>
                    <a:pt x="529" y="484"/>
                    <a:pt x="490" y="516"/>
                  </a:cubicBezTo>
                  <a:lnTo>
                    <a:pt x="0" y="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B8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72" name="Freeform 8">
              <a:extLst>
                <a:ext uri="{FF2B5EF4-FFF2-40B4-BE49-F238E27FC236}">
                  <a16:creationId xmlns:a16="http://schemas.microsoft.com/office/drawing/2014/main" id="{DB5B96F3-1690-4433-94B9-F8E5727054E2}"/>
                </a:ext>
              </a:extLst>
            </p:cNvPr>
            <p:cNvSpPr/>
            <p:nvPr/>
          </p:nvSpPr>
          <p:spPr bwMode="auto">
            <a:xfrm>
              <a:off x="3290" y="0"/>
              <a:ext cx="974299" cy="1086979"/>
            </a:xfrm>
            <a:custGeom>
              <a:avLst/>
              <a:gdLst>
                <a:gd name="T0" fmla="*/ 0 w 560"/>
                <a:gd name="T1" fmla="*/ 0 h 973"/>
                <a:gd name="T2" fmla="*/ 516 w 560"/>
                <a:gd name="T3" fmla="*/ 420 h 973"/>
                <a:gd name="T4" fmla="*/ 516 w 560"/>
                <a:gd name="T5" fmla="*/ 552 h 973"/>
                <a:gd name="T6" fmla="*/ 0 w 560"/>
                <a:gd name="T7" fmla="*/ 973 h 973"/>
                <a:gd name="T8" fmla="*/ 0 w 560"/>
                <a:gd name="T9" fmla="*/ 0 h 9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60" h="973">
                  <a:moveTo>
                    <a:pt x="0" y="0"/>
                  </a:moveTo>
                  <a:lnTo>
                    <a:pt x="516" y="420"/>
                  </a:lnTo>
                  <a:cubicBezTo>
                    <a:pt x="560" y="457"/>
                    <a:pt x="560" y="516"/>
                    <a:pt x="516" y="552"/>
                  </a:cubicBezTo>
                  <a:lnTo>
                    <a:pt x="0" y="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BA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4EA2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75619FC7-1EFC-40A2-9453-1A2035FC7DAB}"/>
                </a:ext>
              </a:extLst>
            </p:cNvPr>
            <p:cNvSpPr txBox="1"/>
            <p:nvPr/>
          </p:nvSpPr>
          <p:spPr>
            <a:xfrm>
              <a:off x="-51603" y="146972"/>
              <a:ext cx="1084083" cy="689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二</a:t>
              </a:r>
            </a:p>
          </p:txBody>
        </p:sp>
      </p:grpSp>
      <p:sp>
        <p:nvSpPr>
          <p:cNvPr id="75" name="平行四边形 74">
            <a:extLst>
              <a:ext uri="{FF2B5EF4-FFF2-40B4-BE49-F238E27FC236}">
                <a16:creationId xmlns:a16="http://schemas.microsoft.com/office/drawing/2014/main" id="{D007D02F-9988-4DD1-BCDE-62FC3ACDE0E3}"/>
              </a:ext>
            </a:extLst>
          </p:cNvPr>
          <p:cNvSpPr/>
          <p:nvPr/>
        </p:nvSpPr>
        <p:spPr>
          <a:xfrm rot="10800000">
            <a:off x="3320143" y="775627"/>
            <a:ext cx="8868566" cy="90674"/>
          </a:xfrm>
          <a:prstGeom prst="parallelogram">
            <a:avLst>
              <a:gd name="adj" fmla="val 196700"/>
            </a:avLst>
          </a:prstGeom>
          <a:solidFill>
            <a:srgbClr val="69B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CCB2047-5968-4479-A1EC-0E37E8397790}"/>
              </a:ext>
            </a:extLst>
          </p:cNvPr>
          <p:cNvSpPr/>
          <p:nvPr/>
        </p:nvSpPr>
        <p:spPr>
          <a:xfrm>
            <a:off x="273627" y="2138549"/>
            <a:ext cx="11644746" cy="4594807"/>
          </a:xfrm>
          <a:prstGeom prst="rect">
            <a:avLst/>
          </a:prstGeom>
          <a:noFill/>
          <a:ln w="38100">
            <a:gradFill flip="none" rotWithShape="1">
              <a:gsLst>
                <a:gs pos="0">
                  <a:srgbClr val="0070C0">
                    <a:alpha val="19000"/>
                  </a:srgbClr>
                </a:gs>
                <a:gs pos="100000">
                  <a:schemeClr val="accent4">
                    <a:lumMod val="75000"/>
                  </a:schemeClr>
                </a:gs>
              </a:gsLst>
              <a:lin ang="162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600">
              <a:solidFill>
                <a:prstClr val="white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3" name="AutoShape 3">
            <a:extLst>
              <a:ext uri="{FF2B5EF4-FFF2-40B4-BE49-F238E27FC236}">
                <a16:creationId xmlns:a16="http://schemas.microsoft.com/office/drawing/2014/main" id="{CA3502B5-FD97-40AA-9C29-22F2E142FA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5528" y="2342263"/>
            <a:ext cx="6155243" cy="1351212"/>
          </a:xfrm>
          <a:prstGeom prst="roundRect">
            <a:avLst>
              <a:gd name="adj" fmla="val 16667"/>
            </a:avLst>
          </a:prstGeom>
          <a:solidFill>
            <a:srgbClr val="0070C0"/>
          </a:solidFill>
          <a:ln w="19050" algn="ctr">
            <a:solidFill>
              <a:sysClr val="window" lastClr="FFFFFF"/>
            </a:solidFill>
            <a:prstDash val="solid"/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>
            <a:normAutofit/>
          </a:bodyPr>
          <a:lstStyle/>
          <a:p>
            <a:r>
              <a:t>越冬水禽栖息地评价需综合考量食物条件、隐蔽条件、水文条件、气候和人为干扰5个维度，单一维度评价难以全面反映栖息地质量。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ADF1FE8-21F5-4A6E-A292-2DC9B134CD25}"/>
              </a:ext>
            </a:extLst>
          </p:cNvPr>
          <p:cNvSpPr txBox="1">
            <a:spLocks/>
          </p:cNvSpPr>
          <p:nvPr/>
        </p:nvSpPr>
        <p:spPr>
          <a:xfrm>
            <a:off x="415878" y="2698394"/>
            <a:ext cx="2904265" cy="715089"/>
          </a:xfrm>
          <a:prstGeom prst="roundRect">
            <a:avLst/>
          </a:prstGeom>
          <a:solidFill>
            <a:sysClr val="window" lastClr="FFFFFF"/>
          </a:solidFill>
          <a:ln>
            <a:solidFill>
              <a:sysClr val="window" lastClr="FFFFF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rmAutofit/>
          </a:bodyPr>
          <a:lstStyle/>
          <a:p>
            <a:r>
              <a:rPr sz="1400"/>
              <a:t>栖息地多因素综合评价需求</a:t>
            </a:r>
          </a:p>
        </p:txBody>
      </p:sp>
      <p:sp>
        <p:nvSpPr>
          <p:cNvPr id="35" name="箭头: 右 34">
            <a:extLst>
              <a:ext uri="{FF2B5EF4-FFF2-40B4-BE49-F238E27FC236}">
                <a16:creationId xmlns:a16="http://schemas.microsoft.com/office/drawing/2014/main" id="{DB782A0E-D289-4A3B-85A8-1924B9E73716}"/>
              </a:ext>
            </a:extLst>
          </p:cNvPr>
          <p:cNvSpPr>
            <a:spLocks/>
          </p:cNvSpPr>
          <p:nvPr/>
        </p:nvSpPr>
        <p:spPr>
          <a:xfrm>
            <a:off x="3746082" y="2835159"/>
            <a:ext cx="567315" cy="365420"/>
          </a:xfrm>
          <a:prstGeom prst="rightArrow">
            <a:avLst>
              <a:gd name="adj1" fmla="val 50000"/>
              <a:gd name="adj2" fmla="val 62225"/>
            </a:avLst>
          </a:prstGeom>
          <a:gradFill flip="none" rotWithShape="1">
            <a:gsLst>
              <a:gs pos="8426">
                <a:srgbClr val="DBE2EE"/>
              </a:gs>
              <a:gs pos="22000">
                <a:srgbClr val="A2B3D3"/>
              </a:gs>
              <a:gs pos="73000">
                <a:srgbClr val="385EA2"/>
              </a:gs>
              <a:gs pos="0">
                <a:sysClr val="window" lastClr="FFFFFF">
                  <a:alpha val="62000"/>
                </a:sysClr>
              </a:gs>
            </a:gsLst>
            <a:lin ang="0" scaled="1"/>
            <a:tileRect/>
          </a:gradFill>
          <a:ln w="25400" cap="flat" cmpd="sng" algn="ctr">
            <a:solidFill>
              <a:sysClr val="window" lastClr="FFFFFF"/>
            </a:solidFill>
            <a:prstDash val="solid"/>
            <a:miter lim="800000"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6" name="AutoShape 3">
            <a:extLst>
              <a:ext uri="{FF2B5EF4-FFF2-40B4-BE49-F238E27FC236}">
                <a16:creationId xmlns:a16="http://schemas.microsoft.com/office/drawing/2014/main" id="{BB83D6B4-4C00-4D1F-99B5-5662A25D06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5528" y="4435952"/>
            <a:ext cx="6155243" cy="1351212"/>
          </a:xfrm>
          <a:prstGeom prst="roundRect">
            <a:avLst>
              <a:gd name="adj" fmla="val 16667"/>
            </a:avLst>
          </a:prstGeom>
          <a:solidFill>
            <a:srgbClr val="0070C0"/>
          </a:solidFill>
          <a:ln w="19050" algn="ctr">
            <a:solidFill>
              <a:sysClr val="window" lastClr="FFFFFF"/>
            </a:solidFill>
            <a:prstDash val="solid"/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>
            <a:normAutofit/>
          </a:bodyPr>
          <a:lstStyle/>
          <a:p>
            <a:r>
              <a:t>AHP方法建立目标层→准则层→指标层结构，系统分析不同环境因子权重，在物种分布数据缺乏的情况下具有显著优势。</a:t>
            </a: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C720A657-D9CD-459E-85FA-C35F9803ACB1}"/>
              </a:ext>
            </a:extLst>
          </p:cNvPr>
          <p:cNvSpPr>
            <a:spLocks/>
          </p:cNvSpPr>
          <p:nvPr/>
        </p:nvSpPr>
        <p:spPr>
          <a:xfrm>
            <a:off x="3746081" y="5026903"/>
            <a:ext cx="567315" cy="365420"/>
          </a:xfrm>
          <a:prstGeom prst="rightArrow">
            <a:avLst>
              <a:gd name="adj1" fmla="val 50000"/>
              <a:gd name="adj2" fmla="val 62225"/>
            </a:avLst>
          </a:prstGeom>
          <a:gradFill flip="none" rotWithShape="1">
            <a:gsLst>
              <a:gs pos="8426">
                <a:srgbClr val="DBE2EE"/>
              </a:gs>
              <a:gs pos="22000">
                <a:srgbClr val="A2B3D3"/>
              </a:gs>
              <a:gs pos="73000">
                <a:srgbClr val="385EA2"/>
              </a:gs>
              <a:gs pos="0">
                <a:sysClr val="window" lastClr="FFFFFF">
                  <a:alpha val="62000"/>
                </a:sysClr>
              </a:gs>
            </a:gsLst>
            <a:lin ang="0" scaled="1"/>
            <a:tileRect/>
          </a:gradFill>
          <a:ln w="25400" cap="flat" cmpd="sng" algn="ctr">
            <a:solidFill>
              <a:sysClr val="window" lastClr="FFFFFF"/>
            </a:solidFill>
            <a:prstDash val="solid"/>
            <a:miter lim="800000"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FE21C11-1135-47AC-A4AA-45B70EF5C42A}"/>
              </a:ext>
            </a:extLst>
          </p:cNvPr>
          <p:cNvSpPr txBox="1">
            <a:spLocks/>
          </p:cNvSpPr>
          <p:nvPr/>
        </p:nvSpPr>
        <p:spPr>
          <a:xfrm>
            <a:off x="415878" y="4939486"/>
            <a:ext cx="2904265" cy="540255"/>
          </a:xfrm>
          <a:prstGeom prst="roundRect">
            <a:avLst/>
          </a:prstGeom>
          <a:solidFill>
            <a:sysClr val="window" lastClr="FFFFFF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rmAutofit/>
          </a:bodyPr>
          <a:lstStyle/>
          <a:p>
            <a:pPr marL="285750" marR="0" lvl="0" indent="-28575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chemeClr val="tx2">
                    <a:lumMod val="60000"/>
                    <a:lumOff val="40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rPr>
              <a:t>AHP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chemeClr val="tx2">
                    <a:lumMod val="60000"/>
                    <a:lumOff val="40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rPr>
              <a:t>模型的优势</a:t>
            </a:r>
            <a:endParaRPr kumimoji="0" lang="zh-CN" altLang="en-US" sz="1800" b="1" i="0" u="none" strike="noStrike" kern="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2" name="箭头: 右 1">
            <a:extLst>
              <a:ext uri="{FF2B5EF4-FFF2-40B4-BE49-F238E27FC236}">
                <a16:creationId xmlns:a16="http://schemas.microsoft.com/office/drawing/2014/main" id="{C7E79BC1-11C3-04C6-877E-1EE20A451C5F}"/>
              </a:ext>
            </a:extLst>
          </p:cNvPr>
          <p:cNvSpPr>
            <a:spLocks/>
          </p:cNvSpPr>
          <p:nvPr/>
        </p:nvSpPr>
        <p:spPr>
          <a:xfrm rot="5400000">
            <a:off x="7709491" y="3913402"/>
            <a:ext cx="567315" cy="365420"/>
          </a:xfrm>
          <a:prstGeom prst="rightArrow">
            <a:avLst>
              <a:gd name="adj1" fmla="val 50000"/>
              <a:gd name="adj2" fmla="val 62225"/>
            </a:avLst>
          </a:prstGeom>
          <a:gradFill flip="none" rotWithShape="1">
            <a:gsLst>
              <a:gs pos="8426">
                <a:srgbClr val="DBE2EE"/>
              </a:gs>
              <a:gs pos="22000">
                <a:srgbClr val="A2B3D3"/>
              </a:gs>
              <a:gs pos="73000">
                <a:srgbClr val="385EA2"/>
              </a:gs>
              <a:gs pos="0">
                <a:sysClr val="window" lastClr="FFFFFF">
                  <a:alpha val="62000"/>
                </a:sysClr>
              </a:gs>
            </a:gsLst>
            <a:lin ang="0" scaled="1"/>
            <a:tileRect/>
          </a:gradFill>
          <a:ln w="25400" cap="flat" cmpd="sng" algn="ctr">
            <a:solidFill>
              <a:sysClr val="window" lastClr="FFFFFF"/>
            </a:solidFill>
            <a:prstDash val="solid"/>
            <a:miter lim="800000"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9508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9F0F0-0964-F721-2318-F6907A0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7707D71F-79E9-A6AC-EFAF-4EC9247A613E}"/>
              </a:ext>
            </a:extLst>
          </p:cNvPr>
          <p:cNvSpPr/>
          <p:nvPr/>
        </p:nvSpPr>
        <p:spPr>
          <a:xfrm>
            <a:off x="-2226" y="-1"/>
            <a:ext cx="2521894" cy="6857329"/>
          </a:xfrm>
          <a:prstGeom prst="rect">
            <a:avLst/>
          </a:prstGeom>
          <a:gradFill>
            <a:gsLst>
              <a:gs pos="0">
                <a:srgbClr val="142756"/>
              </a:gs>
              <a:gs pos="100000">
                <a:srgbClr val="2E5DAE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4" name="圆角矩形 33">
            <a:extLst>
              <a:ext uri="{FF2B5EF4-FFF2-40B4-BE49-F238E27FC236}">
                <a16:creationId xmlns:a16="http://schemas.microsoft.com/office/drawing/2014/main" id="{2E3F86B5-4FFA-DEF4-465F-127E7FD54517}"/>
              </a:ext>
            </a:extLst>
          </p:cNvPr>
          <p:cNvSpPr/>
          <p:nvPr/>
        </p:nvSpPr>
        <p:spPr>
          <a:xfrm>
            <a:off x="756025" y="1993900"/>
            <a:ext cx="1156306" cy="2870200"/>
          </a:xfrm>
          <a:prstGeom prst="roundRect">
            <a:avLst>
              <a:gd name="adj" fmla="val 0"/>
            </a:avLst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CDFD7A7-DC0F-A698-3C68-AADF7730D982}"/>
              </a:ext>
            </a:extLst>
          </p:cNvPr>
          <p:cNvSpPr txBox="1"/>
          <p:nvPr/>
        </p:nvSpPr>
        <p:spPr>
          <a:xfrm>
            <a:off x="964846" y="2286380"/>
            <a:ext cx="738664" cy="2285241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汇 报 内 容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A3ECFDD-49D1-5C72-B24E-A122E060C3C1}"/>
              </a:ext>
            </a:extLst>
          </p:cNvPr>
          <p:cNvSpPr>
            <a:spLocks/>
          </p:cNvSpPr>
          <p:nvPr/>
        </p:nvSpPr>
        <p:spPr>
          <a:xfrm>
            <a:off x="4398346" y="835941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257175">
              <a:defRPr/>
            </a:pPr>
            <a:r>
              <a:rPr kumimoji="1" lang="en-US" altLang="zh-CN" sz="3600" b="1" kern="0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t>AHP</a:t>
            </a:r>
            <a:r>
              <a:rPr kumimoji="1" lang="zh-CN" altLang="en-US" sz="3600" b="1" kern="0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t>模型基本概念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8BED7CB-B3A0-E2A2-75EC-4BBD611927FA}"/>
              </a:ext>
            </a:extLst>
          </p:cNvPr>
          <p:cNvSpPr/>
          <p:nvPr/>
        </p:nvSpPr>
        <p:spPr>
          <a:xfrm>
            <a:off x="4340479" y="714989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6D22011-C654-1794-A71B-2E8F65498647}"/>
              </a:ext>
            </a:extLst>
          </p:cNvPr>
          <p:cNvSpPr/>
          <p:nvPr/>
        </p:nvSpPr>
        <p:spPr>
          <a:xfrm>
            <a:off x="3491889" y="716881"/>
            <a:ext cx="906457" cy="871365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5E1EE66-5924-CD39-A0DA-DD1C7B78FF34}"/>
              </a:ext>
            </a:extLst>
          </p:cNvPr>
          <p:cNvSpPr/>
          <p:nvPr/>
        </p:nvSpPr>
        <p:spPr>
          <a:xfrm>
            <a:off x="3606962" y="816941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一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1BA5F0-6A6D-A015-A2E9-E3F5C9A0C331}"/>
              </a:ext>
            </a:extLst>
          </p:cNvPr>
          <p:cNvSpPr>
            <a:spLocks/>
          </p:cNvSpPr>
          <p:nvPr/>
        </p:nvSpPr>
        <p:spPr>
          <a:xfrm>
            <a:off x="4417997" y="2380268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模型应用背景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437A854-1477-563D-8AA5-BEA88B1D6117}"/>
              </a:ext>
            </a:extLst>
          </p:cNvPr>
          <p:cNvSpPr/>
          <p:nvPr/>
        </p:nvSpPr>
        <p:spPr>
          <a:xfrm>
            <a:off x="4340479" y="2249440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7AC65E3-751D-9ADE-1471-558E36D4A22E}"/>
              </a:ext>
            </a:extLst>
          </p:cNvPr>
          <p:cNvSpPr/>
          <p:nvPr/>
        </p:nvSpPr>
        <p:spPr>
          <a:xfrm>
            <a:off x="3491889" y="2249440"/>
            <a:ext cx="906457" cy="873258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7D35D64-1295-B7E8-FC6F-5969112CA5F6}"/>
              </a:ext>
            </a:extLst>
          </p:cNvPr>
          <p:cNvSpPr/>
          <p:nvPr/>
        </p:nvSpPr>
        <p:spPr>
          <a:xfrm>
            <a:off x="3606962" y="2351392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二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9D12A0A-0888-D996-11CB-4801308B3AE6}"/>
              </a:ext>
            </a:extLst>
          </p:cNvPr>
          <p:cNvSpPr>
            <a:spLocks/>
          </p:cNvSpPr>
          <p:nvPr/>
        </p:nvSpPr>
        <p:spPr>
          <a:xfrm>
            <a:off x="4418353" y="5390281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结果与结论</a:t>
            </a:r>
            <a:endParaRPr lang="zh-CN" altLang="en-US" sz="2800" b="1" dirty="0">
              <a:solidFill>
                <a:srgbClr val="0F4995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6D9F5CB-489B-C974-C3CA-7B1D9D7378AD}"/>
              </a:ext>
            </a:extLst>
          </p:cNvPr>
          <p:cNvSpPr/>
          <p:nvPr/>
        </p:nvSpPr>
        <p:spPr>
          <a:xfrm>
            <a:off x="4340479" y="5269078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C0F25D3-5843-79BE-F702-6D201B52C467}"/>
              </a:ext>
            </a:extLst>
          </p:cNvPr>
          <p:cNvSpPr/>
          <p:nvPr/>
        </p:nvSpPr>
        <p:spPr>
          <a:xfrm>
            <a:off x="3491889" y="5270970"/>
            <a:ext cx="906457" cy="871365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EF28AD2-D3DB-FA34-B9E0-E33D4A7D7A25}"/>
              </a:ext>
            </a:extLst>
          </p:cNvPr>
          <p:cNvSpPr/>
          <p:nvPr/>
        </p:nvSpPr>
        <p:spPr>
          <a:xfrm>
            <a:off x="3606962" y="5371030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四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F8FF951-7CEA-A646-4D18-8175238FC991}"/>
              </a:ext>
            </a:extLst>
          </p:cNvPr>
          <p:cNvSpPr>
            <a:spLocks/>
          </p:cNvSpPr>
          <p:nvPr/>
        </p:nvSpPr>
        <p:spPr>
          <a:xfrm>
            <a:off x="4415507" y="3879517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3600" b="1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3600" b="1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模型应用方式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AB14E6F-B3A9-F67C-72E7-24A6E1575A03}"/>
              </a:ext>
            </a:extLst>
          </p:cNvPr>
          <p:cNvSpPr/>
          <p:nvPr/>
        </p:nvSpPr>
        <p:spPr>
          <a:xfrm>
            <a:off x="4340479" y="3758314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1D79DA4-80BA-DED9-FDAA-E5622F60308F}"/>
              </a:ext>
            </a:extLst>
          </p:cNvPr>
          <p:cNvSpPr/>
          <p:nvPr/>
        </p:nvSpPr>
        <p:spPr>
          <a:xfrm>
            <a:off x="3491889" y="3758314"/>
            <a:ext cx="906457" cy="873258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189E26B1-1A70-63A4-F162-3A6AB71F6CC5}"/>
              </a:ext>
            </a:extLst>
          </p:cNvPr>
          <p:cNvSpPr/>
          <p:nvPr/>
        </p:nvSpPr>
        <p:spPr>
          <a:xfrm>
            <a:off x="3606962" y="3860266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三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21C2962-71CD-E23B-D2FF-0EB98AAD7AC8}"/>
              </a:ext>
            </a:extLst>
          </p:cNvPr>
          <p:cNvSpPr/>
          <p:nvPr/>
        </p:nvSpPr>
        <p:spPr>
          <a:xfrm>
            <a:off x="3161214" y="5021066"/>
            <a:ext cx="8274761" cy="1348186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B04630-5A65-97C6-34F3-CC7CB2AB6D6F}"/>
              </a:ext>
            </a:extLst>
          </p:cNvPr>
          <p:cNvSpPr/>
          <p:nvPr/>
        </p:nvSpPr>
        <p:spPr>
          <a:xfrm>
            <a:off x="3161214" y="324382"/>
            <a:ext cx="8274761" cy="2947099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322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灯片编号占位符 3">
            <a:extLst>
              <a:ext uri="{FF2B5EF4-FFF2-40B4-BE49-F238E27FC236}">
                <a16:creationId xmlns:a16="http://schemas.microsoft.com/office/drawing/2014/main" id="{4E13C9AD-C81E-4EE3-B9EC-34FF68A841E2}"/>
              </a:ext>
            </a:extLst>
          </p:cNvPr>
          <p:cNvSpPr txBox="1">
            <a:spLocks/>
          </p:cNvSpPr>
          <p:nvPr/>
        </p:nvSpPr>
        <p:spPr>
          <a:xfrm>
            <a:off x="9282546" y="108066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24612B-083E-42A1-A722-547198ACFF6B}" type="slidenum">
              <a:rPr kumimoji="0" lang="zh-CN" altLang="en-US" sz="2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118B07D-E2F7-41D4-BCBE-7D670F4A3580}"/>
              </a:ext>
            </a:extLst>
          </p:cNvPr>
          <p:cNvSpPr txBox="1"/>
          <p:nvPr/>
        </p:nvSpPr>
        <p:spPr>
          <a:xfrm>
            <a:off x="1061389" y="-67577"/>
            <a:ext cx="5306753" cy="764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ct val="0"/>
              </a:spcAft>
              <a:defRPr sz="4800" b="1">
                <a:gradFill>
                  <a:gsLst>
                    <a:gs pos="100000">
                      <a:srgbClr val="026EBB"/>
                    </a:gs>
                    <a:gs pos="0">
                      <a:srgbClr val="038EDB"/>
                    </a:gs>
                  </a:gsLst>
                  <a:lin ang="0" scaled="1"/>
                </a:gradFill>
                <a:latin typeface="Eras Bold ITC" panose="020B0907030504020204" pitchFamily="34" charset="0"/>
                <a:ea typeface="思源黑体 CN Medium" panose="020B0600000000000000" pitchFamily="34" charset="-122"/>
                <a:cs typeface="+mj-cs"/>
              </a:defRPr>
            </a:lvl1pPr>
            <a:lvl2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marL="571500" marR="0" lvl="0" indent="-571500" algn="l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0" lang="en-US" altLang="zh-CN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kumimoji="0" lang="zh-CN" altLang="en-US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模型的应用方式</a:t>
            </a:r>
          </a:p>
        </p:txBody>
      </p:sp>
      <p:sp>
        <p:nvSpPr>
          <p:cNvPr id="38" name="平行四边形 37">
            <a:extLst>
              <a:ext uri="{FF2B5EF4-FFF2-40B4-BE49-F238E27FC236}">
                <a16:creationId xmlns:a16="http://schemas.microsoft.com/office/drawing/2014/main" id="{9237FECA-4EA3-4697-B699-84730BAE8B10}"/>
              </a:ext>
            </a:extLst>
          </p:cNvPr>
          <p:cNvSpPr/>
          <p:nvPr/>
        </p:nvSpPr>
        <p:spPr>
          <a:xfrm rot="10800000">
            <a:off x="566665" y="775626"/>
            <a:ext cx="2787949" cy="95817"/>
          </a:xfrm>
          <a:prstGeom prst="parallelogram">
            <a:avLst>
              <a:gd name="adj" fmla="val 196700"/>
            </a:avLst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4845614F-7241-4DB3-9BE0-9960246D59D7}"/>
              </a:ext>
            </a:extLst>
          </p:cNvPr>
          <p:cNvGrpSpPr/>
          <p:nvPr/>
        </p:nvGrpSpPr>
        <p:grpSpPr>
          <a:xfrm>
            <a:off x="-53106" y="0"/>
            <a:ext cx="963271" cy="1033814"/>
            <a:chOff x="-51603" y="0"/>
            <a:chExt cx="1084083" cy="1219009"/>
          </a:xfrm>
        </p:grpSpPr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A1BDF8D0-A1CC-4209-B8DF-D36E34D6C3AC}"/>
                </a:ext>
              </a:extLst>
            </p:cNvPr>
            <p:cNvSpPr/>
            <p:nvPr/>
          </p:nvSpPr>
          <p:spPr bwMode="auto">
            <a:xfrm>
              <a:off x="3290" y="132030"/>
              <a:ext cx="974299" cy="1086979"/>
            </a:xfrm>
            <a:custGeom>
              <a:avLst/>
              <a:gdLst>
                <a:gd name="T0" fmla="*/ 0 w 529"/>
                <a:gd name="T1" fmla="*/ 0 h 915"/>
                <a:gd name="T2" fmla="*/ 490 w 529"/>
                <a:gd name="T3" fmla="*/ 399 h 915"/>
                <a:gd name="T4" fmla="*/ 490 w 529"/>
                <a:gd name="T5" fmla="*/ 516 h 915"/>
                <a:gd name="T6" fmla="*/ 0 w 529"/>
                <a:gd name="T7" fmla="*/ 915 h 915"/>
                <a:gd name="T8" fmla="*/ 0 w 529"/>
                <a:gd name="T9" fmla="*/ 0 h 9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9" h="915">
                  <a:moveTo>
                    <a:pt x="0" y="0"/>
                  </a:moveTo>
                  <a:lnTo>
                    <a:pt x="490" y="399"/>
                  </a:lnTo>
                  <a:cubicBezTo>
                    <a:pt x="529" y="431"/>
                    <a:pt x="529" y="484"/>
                    <a:pt x="490" y="516"/>
                  </a:cubicBezTo>
                  <a:lnTo>
                    <a:pt x="0" y="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B8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DE0E586D-84DD-4F85-8A67-93CFE0890111}"/>
                </a:ext>
              </a:extLst>
            </p:cNvPr>
            <p:cNvSpPr/>
            <p:nvPr/>
          </p:nvSpPr>
          <p:spPr bwMode="auto">
            <a:xfrm>
              <a:off x="3290" y="0"/>
              <a:ext cx="974299" cy="1086979"/>
            </a:xfrm>
            <a:custGeom>
              <a:avLst/>
              <a:gdLst>
                <a:gd name="T0" fmla="*/ 0 w 560"/>
                <a:gd name="T1" fmla="*/ 0 h 973"/>
                <a:gd name="T2" fmla="*/ 516 w 560"/>
                <a:gd name="T3" fmla="*/ 420 h 973"/>
                <a:gd name="T4" fmla="*/ 516 w 560"/>
                <a:gd name="T5" fmla="*/ 552 h 973"/>
                <a:gd name="T6" fmla="*/ 0 w 560"/>
                <a:gd name="T7" fmla="*/ 973 h 973"/>
                <a:gd name="T8" fmla="*/ 0 w 560"/>
                <a:gd name="T9" fmla="*/ 0 h 9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60" h="973">
                  <a:moveTo>
                    <a:pt x="0" y="0"/>
                  </a:moveTo>
                  <a:lnTo>
                    <a:pt x="516" y="420"/>
                  </a:lnTo>
                  <a:cubicBezTo>
                    <a:pt x="560" y="457"/>
                    <a:pt x="560" y="516"/>
                    <a:pt x="516" y="552"/>
                  </a:cubicBezTo>
                  <a:lnTo>
                    <a:pt x="0" y="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BA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4EA2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CD277C01-E6B7-43ED-A530-CA7B9A8586F1}"/>
                </a:ext>
              </a:extLst>
            </p:cNvPr>
            <p:cNvSpPr txBox="1"/>
            <p:nvPr/>
          </p:nvSpPr>
          <p:spPr>
            <a:xfrm>
              <a:off x="-51603" y="146972"/>
              <a:ext cx="1084083" cy="689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三</a:t>
              </a:r>
            </a:p>
          </p:txBody>
        </p:sp>
      </p:grpSp>
      <p:sp>
        <p:nvSpPr>
          <p:cNvPr id="43" name="平行四边形 42">
            <a:extLst>
              <a:ext uri="{FF2B5EF4-FFF2-40B4-BE49-F238E27FC236}">
                <a16:creationId xmlns:a16="http://schemas.microsoft.com/office/drawing/2014/main" id="{EE906314-E1D9-4315-8673-A4C33AFAC90F}"/>
              </a:ext>
            </a:extLst>
          </p:cNvPr>
          <p:cNvSpPr/>
          <p:nvPr/>
        </p:nvSpPr>
        <p:spPr>
          <a:xfrm rot="10800000">
            <a:off x="3320143" y="775627"/>
            <a:ext cx="8868566" cy="90674"/>
          </a:xfrm>
          <a:prstGeom prst="parallelogram">
            <a:avLst>
              <a:gd name="adj" fmla="val 196700"/>
            </a:avLst>
          </a:prstGeom>
          <a:solidFill>
            <a:srgbClr val="69B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82CE6EC-4AE2-45C0-9C9C-08B0B6ADB17B}"/>
              </a:ext>
            </a:extLst>
          </p:cNvPr>
          <p:cNvSpPr txBox="1"/>
          <p:nvPr/>
        </p:nvSpPr>
        <p:spPr>
          <a:xfrm>
            <a:off x="298115" y="2447991"/>
            <a:ext cx="3581609" cy="1500000"/>
          </a:xfrm>
          <a:prstGeom prst="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txBody>
          <a:bodyPr wrap="square">
            <a:normAutofit/>
          </a:bodyPr>
          <a:lstStyle/>
          <a:p>
            <a:r>
              <a:t>目标层：三峡库区越冬水禽栖息地适宜性评价。准则层5项：食物条件(0.454)、隐蔽条件(0.177)、水文条件(0.177)、气候(0.096)、干扰(0.096)，权重通过判断矩阵及一致性检验(CR&lt;0.1)确定。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313F29D1-68FC-CA20-638C-C9223C324EBC}"/>
              </a:ext>
            </a:extLst>
          </p:cNvPr>
          <p:cNvGrpSpPr/>
          <p:nvPr/>
        </p:nvGrpSpPr>
        <p:grpSpPr>
          <a:xfrm>
            <a:off x="253273" y="4708527"/>
            <a:ext cx="3743373" cy="1585433"/>
            <a:chOff x="253273" y="4708527"/>
            <a:chExt cx="3743373" cy="1585433"/>
          </a:xfrm>
        </p:grpSpPr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A59C5361-20E4-4F44-91DF-37C8D14A2841}"/>
                </a:ext>
              </a:extLst>
            </p:cNvPr>
            <p:cNvSpPr txBox="1"/>
            <p:nvPr/>
          </p:nvSpPr>
          <p:spPr>
            <a:xfrm>
              <a:off x="253273" y="4708527"/>
              <a:ext cx="3743373" cy="1585433"/>
            </a:xfrm>
            <a:prstGeom prst="rect">
              <a:avLst/>
            </a:prstGeom>
            <a:solidFill>
              <a:srgbClr val="FF33CC">
                <a:alpha val="8000"/>
              </a:srgbClr>
            </a:solidFill>
            <a:ln w="25400">
              <a:solidFill>
                <a:srgbClr val="086BCE"/>
              </a:solidFill>
              <a:prstDash val="dash"/>
            </a:ln>
          </p:spPr>
          <p:txBody>
            <a:bodyPr wrap="square" lIns="91440" tIns="0" rIns="91440" bIns="0" anchor="ctr">
              <a:noAutofit/>
            </a:bodyPr>
            <a:lstStyle>
              <a:defPPr>
                <a:defRPr lang="zh-CN"/>
              </a:defPPr>
              <a:lvl1pPr marL="285750" indent="-285750">
                <a:lnSpc>
                  <a:spcPct val="150000"/>
                </a:lnSpc>
                <a:buClr>
                  <a:srgbClr val="0B4B8A"/>
                </a:buClr>
                <a:buFont typeface="Wingdings" panose="05000000000000000000" pitchFamily="2" charset="2"/>
                <a:buChar char="ü"/>
                <a:defRPr sz="2400" b="1">
                  <a:solidFill>
                    <a:srgbClr val="0B4B8A"/>
                  </a:solidFill>
                  <a:latin typeface="Arial" panose="020B0604020202020204"/>
                  <a:ea typeface="微软雅黑" panose="020B0503020204020204" pitchFamily="34" charset="-122"/>
                </a:defRPr>
              </a:lvl1pPr>
            </a:lstStyle>
            <a:p>
              <a:pPr marL="285750" marR="0" lvl="0" indent="-28575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4B8A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29B40504-6A9C-4B82-A989-A93BD684A587}"/>
                </a:ext>
              </a:extLst>
            </p:cNvPr>
            <p:cNvSpPr txBox="1"/>
            <p:nvPr/>
          </p:nvSpPr>
          <p:spPr>
            <a:xfrm>
              <a:off x="253338" y="4796306"/>
              <a:ext cx="3743308" cy="1497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30000"/>
                </a:lnSpc>
                <a:buFont typeface="Wingdings" panose="05000000000000000000" pitchFamily="2" charset="2"/>
                <a:buChar char="Ø"/>
              </a:pPr>
              <a:r>
                <a:rPr lang="zh-CN" altLang="en-US" b="1" dirty="0"/>
                <a:t>基于各污染物的</a:t>
              </a:r>
              <a:r>
                <a:rPr lang="zh-CN" altLang="en-US" b="1" dirty="0">
                  <a:solidFill>
                    <a:schemeClr val="tx2"/>
                  </a:solidFill>
                </a:rPr>
                <a:t>测定值和权重</a:t>
              </a:r>
              <a:r>
                <a:rPr lang="zh-CN" altLang="en-US" b="1" dirty="0"/>
                <a:t>，计算各污水厂污泥的综合风险得分。计算公式为各污染物得分与其权重的乘积之和：</a:t>
              </a:r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EAC27C75-9878-4AF1-BD21-EDA5BAEF50FF}"/>
              </a:ext>
            </a:extLst>
          </p:cNvPr>
          <p:cNvSpPr txBox="1"/>
          <p:nvPr/>
        </p:nvSpPr>
        <p:spPr>
          <a:xfrm>
            <a:off x="298115" y="1000000"/>
            <a:ext cx="11595769" cy="8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457200" marR="0" lvl="0" indent="-457200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"/>
              <a:tabLst/>
              <a:defRPr kumimoji="0" sz="2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t>指标选取：食物条件（土地利用、坡度、海拔）、隐蔽条件（距林缘距离）、水文条件（距水源距离）、气候（越冬期均温）、干扰（距居民区、道路距离），共8个因子。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C0C0C68-7E97-C44B-0B6C-25FDD6DBD88B}"/>
              </a:ext>
            </a:extLst>
          </p:cNvPr>
          <p:cNvGraphicFramePr>
            <a:graphicFrameLocks noGrp="1"/>
          </p:cNvGraphicFramePr>
          <p:nvPr/>
        </p:nvGraphicFramePr>
        <p:xfrm>
          <a:off x="4832141" y="2625261"/>
          <a:ext cx="6960273" cy="1987793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624788">
                  <a:extLst>
                    <a:ext uri="{9D8B030D-6E8A-4147-A177-3AD203B41FA5}">
                      <a16:colId xmlns:a16="http://schemas.microsoft.com/office/drawing/2014/main" val="12403610"/>
                    </a:ext>
                  </a:extLst>
                </a:gridCol>
                <a:gridCol w="688827">
                  <a:extLst>
                    <a:ext uri="{9D8B030D-6E8A-4147-A177-3AD203B41FA5}">
                      <a16:colId xmlns:a16="http://schemas.microsoft.com/office/drawing/2014/main" val="1584741899"/>
                    </a:ext>
                  </a:extLst>
                </a:gridCol>
                <a:gridCol w="600857">
                  <a:extLst>
                    <a:ext uri="{9D8B030D-6E8A-4147-A177-3AD203B41FA5}">
                      <a16:colId xmlns:a16="http://schemas.microsoft.com/office/drawing/2014/main" val="2323082717"/>
                    </a:ext>
                  </a:extLst>
                </a:gridCol>
                <a:gridCol w="600857">
                  <a:extLst>
                    <a:ext uri="{9D8B030D-6E8A-4147-A177-3AD203B41FA5}">
                      <a16:colId xmlns:a16="http://schemas.microsoft.com/office/drawing/2014/main" val="4206772810"/>
                    </a:ext>
                  </a:extLst>
                </a:gridCol>
                <a:gridCol w="601668">
                  <a:extLst>
                    <a:ext uri="{9D8B030D-6E8A-4147-A177-3AD203B41FA5}">
                      <a16:colId xmlns:a16="http://schemas.microsoft.com/office/drawing/2014/main" val="219726783"/>
                    </a:ext>
                  </a:extLst>
                </a:gridCol>
                <a:gridCol w="601668">
                  <a:extLst>
                    <a:ext uri="{9D8B030D-6E8A-4147-A177-3AD203B41FA5}">
                      <a16:colId xmlns:a16="http://schemas.microsoft.com/office/drawing/2014/main" val="54886796"/>
                    </a:ext>
                  </a:extLst>
                </a:gridCol>
                <a:gridCol w="601668">
                  <a:extLst>
                    <a:ext uri="{9D8B030D-6E8A-4147-A177-3AD203B41FA5}">
                      <a16:colId xmlns:a16="http://schemas.microsoft.com/office/drawing/2014/main" val="2225086446"/>
                    </a:ext>
                  </a:extLst>
                </a:gridCol>
                <a:gridCol w="601668">
                  <a:extLst>
                    <a:ext uri="{9D8B030D-6E8A-4147-A177-3AD203B41FA5}">
                      <a16:colId xmlns:a16="http://schemas.microsoft.com/office/drawing/2014/main" val="3980949961"/>
                    </a:ext>
                  </a:extLst>
                </a:gridCol>
                <a:gridCol w="601668">
                  <a:extLst>
                    <a:ext uri="{9D8B030D-6E8A-4147-A177-3AD203B41FA5}">
                      <a16:colId xmlns:a16="http://schemas.microsoft.com/office/drawing/2014/main" val="3727006536"/>
                    </a:ext>
                  </a:extLst>
                </a:gridCol>
                <a:gridCol w="601668">
                  <a:extLst>
                    <a:ext uri="{9D8B030D-6E8A-4147-A177-3AD203B41FA5}">
                      <a16:colId xmlns:a16="http://schemas.microsoft.com/office/drawing/2014/main" val="4122366870"/>
                    </a:ext>
                  </a:extLst>
                </a:gridCol>
                <a:gridCol w="834936">
                  <a:extLst>
                    <a:ext uri="{9D8B030D-6E8A-4147-A177-3AD203B41FA5}">
                      <a16:colId xmlns:a16="http://schemas.microsoft.com/office/drawing/2014/main" val="3559241910"/>
                    </a:ext>
                  </a:extLst>
                </a:gridCol>
              </a:tblGrid>
              <a:tr h="1020395">
                <a:tc>
                  <a:txBody>
                    <a:bodyPr/>
                    <a:lstStyle/>
                    <a:p>
                      <a:r>
                        <a:rPr sz="1100" b="1"/>
                        <a:t>准则层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100" b="1"/>
                        <a:t>食物条件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100" b="1"/>
                        <a:t>食物条件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100" b="1"/>
                        <a:t>食物条件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100" b="1"/>
                        <a:t>隐蔽条件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100" b="1"/>
                        <a:t>水文条件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100" b="1"/>
                        <a:t>气候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100" b="1"/>
                        <a:t>干扰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100" b="1"/>
                        <a:t>干扰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08481680"/>
                  </a:ext>
                </a:extLst>
              </a:tr>
              <a:tr h="510198">
                <a:tc>
                  <a:txBody>
                    <a:bodyPr/>
                    <a:lstStyle/>
                    <a:p>
                      <a:r>
                        <a:rPr sz="1000"/>
                        <a:t>指标层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000"/>
                        <a:t>土地利用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000"/>
                        <a:t>坡度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000"/>
                        <a:t>海拔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000"/>
                        <a:t>距林缘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000"/>
                        <a:t>距水源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000"/>
                        <a:t>越冬期均温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000"/>
                        <a:t>距居民区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sz="1000"/>
                        <a:t>距道路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194357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lang="zh-CN" sz="1000"/>
                        <a:t>权重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sz="1000"/>
                        <a:t>0.259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sz="1000"/>
                        <a:t>0.065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sz="1000"/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sz="1000"/>
                        <a:t>0.177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sz="1000"/>
                        <a:t>0.177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sz="1000"/>
                        <a:t>0.096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sz="1000"/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sz="1000"/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箭头: 右 6">
            <a:extLst>
              <a:ext uri="{FF2B5EF4-FFF2-40B4-BE49-F238E27FC236}">
                <a16:creationId xmlns:a16="http://schemas.microsoft.com/office/drawing/2014/main" id="{6704DCC1-3021-BC83-8F95-5F2A43733CA4}"/>
              </a:ext>
            </a:extLst>
          </p:cNvPr>
          <p:cNvSpPr>
            <a:spLocks/>
          </p:cNvSpPr>
          <p:nvPr/>
        </p:nvSpPr>
        <p:spPr>
          <a:xfrm>
            <a:off x="3996646" y="3194157"/>
            <a:ext cx="567315" cy="365420"/>
          </a:xfrm>
          <a:prstGeom prst="rightArrow">
            <a:avLst>
              <a:gd name="adj1" fmla="val 50000"/>
              <a:gd name="adj2" fmla="val 62225"/>
            </a:avLst>
          </a:prstGeom>
          <a:gradFill flip="none" rotWithShape="1">
            <a:gsLst>
              <a:gs pos="8426">
                <a:srgbClr val="DBE2EE"/>
              </a:gs>
              <a:gs pos="22000">
                <a:srgbClr val="A2B3D3"/>
              </a:gs>
              <a:gs pos="73000">
                <a:srgbClr val="385EA2"/>
              </a:gs>
              <a:gs pos="0">
                <a:sysClr val="window" lastClr="FFFFFF">
                  <a:alpha val="62000"/>
                </a:sysClr>
              </a:gs>
            </a:gsLst>
            <a:lin ang="0" scaled="1"/>
            <a:tileRect/>
          </a:gradFill>
          <a:ln w="25400" cap="flat" cmpd="sng" algn="ctr">
            <a:solidFill>
              <a:sysClr val="window" lastClr="FFFFFF"/>
            </a:solidFill>
            <a:prstDash val="solid"/>
            <a:miter lim="800000"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F899B41E-04A3-02C9-DDEB-0514CA1067B1}"/>
              </a:ext>
            </a:extLst>
          </p:cNvPr>
          <p:cNvSpPr>
            <a:spLocks/>
          </p:cNvSpPr>
          <p:nvPr/>
        </p:nvSpPr>
        <p:spPr>
          <a:xfrm>
            <a:off x="3996645" y="5318533"/>
            <a:ext cx="567315" cy="365420"/>
          </a:xfrm>
          <a:prstGeom prst="rightArrow">
            <a:avLst>
              <a:gd name="adj1" fmla="val 50000"/>
              <a:gd name="adj2" fmla="val 62225"/>
            </a:avLst>
          </a:prstGeom>
          <a:gradFill flip="none" rotWithShape="1">
            <a:gsLst>
              <a:gs pos="8426">
                <a:srgbClr val="DBE2EE"/>
              </a:gs>
              <a:gs pos="22000">
                <a:srgbClr val="A2B3D3"/>
              </a:gs>
              <a:gs pos="73000">
                <a:srgbClr val="385EA2"/>
              </a:gs>
              <a:gs pos="0">
                <a:sysClr val="window" lastClr="FFFFFF">
                  <a:alpha val="62000"/>
                </a:sysClr>
              </a:gs>
            </a:gsLst>
            <a:lin ang="0" scaled="1"/>
            <a:tileRect/>
          </a:gradFill>
          <a:ln w="25400" cap="flat" cmpd="sng" algn="ctr">
            <a:solidFill>
              <a:sysClr val="window" lastClr="FFFFFF"/>
            </a:solidFill>
            <a:prstDash val="solid"/>
            <a:miter lim="800000"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DAAE8ABD-2560-5A8D-4597-11F5F705A573}"/>
              </a:ext>
            </a:extLst>
          </p:cNvPr>
          <p:cNvGrpSpPr/>
          <p:nvPr/>
        </p:nvGrpSpPr>
        <p:grpSpPr>
          <a:xfrm>
            <a:off x="4736879" y="4773442"/>
            <a:ext cx="4127678" cy="1438764"/>
            <a:chOff x="6248438" y="4825751"/>
            <a:chExt cx="4127678" cy="1438764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5480909-FEBC-BA48-F140-A0231F0B2911}"/>
                </a:ext>
              </a:extLst>
            </p:cNvPr>
            <p:cNvSpPr/>
            <p:nvPr/>
          </p:nvSpPr>
          <p:spPr>
            <a:xfrm>
              <a:off x="6352414" y="4825751"/>
              <a:ext cx="3743308" cy="143876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lnSpc>
                  <a:spcPts val="3700"/>
                </a:lnSpc>
                <a:spcBef>
                  <a:spcPts val="600"/>
                </a:spcBef>
                <a:spcAft>
                  <a:spcPts val="600"/>
                </a:spcAft>
                <a:defRPr/>
              </a:pPr>
              <a:endPara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97434D03-9B20-83AD-68FA-EC2937271CEB}"/>
                    </a:ext>
                  </a:extLst>
                </p:cNvPr>
                <p:cNvSpPr txBox="1"/>
                <p:nvPr/>
              </p:nvSpPr>
              <p:spPr>
                <a:xfrm>
                  <a:off x="6248438" y="4825751"/>
                  <a:ext cx="4127678" cy="128483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sz="32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𝑬𝑰</m:t>
                        </m:r>
                        <m:r>
                          <a:rPr lang="zh-CN" altLang="en-US" sz="3200" b="1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grow m:val="on"/>
                            <m:subHide m:val="on"/>
                            <m:supHide m:val="on"/>
                            <m:ctrlPr>
                              <a:rPr lang="zh-CN" altLang="en-US" sz="3200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zh-CN" altLang="en-US" sz="3200" b="1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3200" b="1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𝑽</m:t>
                                </m:r>
                              </m:e>
                              <m:sub>
                                <m:r>
                                  <a:rPr lang="zh-CN" altLang="en-US" sz="3200" b="1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nary>
                        <m:r>
                          <a:rPr lang="zh-CN" altLang="en-US" sz="3200" b="1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zh-CN" altLang="en-US" sz="32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m:oMathPara>
                  </a14:m>
                  <a:endParaRPr lang="zh-CN" altLang="en-US" sz="32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97434D03-9B20-83AD-68FA-EC2937271C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38" y="4825751"/>
                  <a:ext cx="4127678" cy="128483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3921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>
            <a:extLst>
              <a:ext uri="{FF2B5EF4-FFF2-40B4-BE49-F238E27FC236}">
                <a16:creationId xmlns:a16="http://schemas.microsoft.com/office/drawing/2014/main" id="{EAC27C75-9878-4AF1-BD21-EDA5BAEF50FF}"/>
              </a:ext>
            </a:extLst>
          </p:cNvPr>
          <p:cNvSpPr txBox="1"/>
          <p:nvPr/>
        </p:nvSpPr>
        <p:spPr>
          <a:xfrm>
            <a:off x="298115" y="1000000"/>
            <a:ext cx="11595769" cy="8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457200" marR="0" lvl="0" indent="-457200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"/>
              <a:tabLst/>
              <a:defRPr kumimoji="0" sz="2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t>采用1-9标度法对各因子两两比较构建判断矩阵，通过一致性检验(CR&lt;0.1)后计算特征向量并归一化得到权重。食物条件权重最高(0.454)，气候和干扰最低(各0.096)。</a:t>
            </a:r>
          </a:p>
        </p:txBody>
      </p:sp>
      <p:sp>
        <p:nvSpPr>
          <p:cNvPr id="35" name="灯片编号占位符 3">
            <a:extLst>
              <a:ext uri="{FF2B5EF4-FFF2-40B4-BE49-F238E27FC236}">
                <a16:creationId xmlns:a16="http://schemas.microsoft.com/office/drawing/2014/main" id="{4E13C9AD-C81E-4EE3-B9EC-34FF68A841E2}"/>
              </a:ext>
            </a:extLst>
          </p:cNvPr>
          <p:cNvSpPr txBox="1">
            <a:spLocks/>
          </p:cNvSpPr>
          <p:nvPr/>
        </p:nvSpPr>
        <p:spPr>
          <a:xfrm>
            <a:off x="9282546" y="108066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24612B-083E-42A1-A722-547198ACFF6B}" type="slidenum">
              <a:rPr kumimoji="0" lang="zh-CN" altLang="en-US" sz="2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118B07D-E2F7-41D4-BCBE-7D670F4A3580}"/>
              </a:ext>
            </a:extLst>
          </p:cNvPr>
          <p:cNvSpPr txBox="1"/>
          <p:nvPr/>
        </p:nvSpPr>
        <p:spPr>
          <a:xfrm>
            <a:off x="1061389" y="-67577"/>
            <a:ext cx="5572675" cy="764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ct val="0"/>
              </a:spcAft>
              <a:defRPr sz="4800" b="1">
                <a:gradFill>
                  <a:gsLst>
                    <a:gs pos="100000">
                      <a:srgbClr val="026EBB"/>
                    </a:gs>
                    <a:gs pos="0">
                      <a:srgbClr val="038EDB"/>
                    </a:gs>
                  </a:gsLst>
                  <a:lin ang="0" scaled="1"/>
                </a:gradFill>
                <a:latin typeface="Eras Bold ITC" panose="020B0907030504020204" pitchFamily="34" charset="0"/>
                <a:ea typeface="思源黑体 CN Medium" panose="020B0600000000000000" pitchFamily="34" charset="-122"/>
                <a:cs typeface="+mj-cs"/>
              </a:defRPr>
            </a:lvl1pPr>
            <a:lvl2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marL="571500" marR="0" lvl="0" indent="-571500" algn="l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0" lang="en-US" altLang="zh-CN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kumimoji="0" lang="zh-CN" altLang="en-US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模型的应用方式</a:t>
            </a:r>
          </a:p>
        </p:txBody>
      </p:sp>
      <p:sp>
        <p:nvSpPr>
          <p:cNvPr id="38" name="平行四边形 37">
            <a:extLst>
              <a:ext uri="{FF2B5EF4-FFF2-40B4-BE49-F238E27FC236}">
                <a16:creationId xmlns:a16="http://schemas.microsoft.com/office/drawing/2014/main" id="{9237FECA-4EA3-4697-B699-84730BAE8B10}"/>
              </a:ext>
            </a:extLst>
          </p:cNvPr>
          <p:cNvSpPr/>
          <p:nvPr/>
        </p:nvSpPr>
        <p:spPr>
          <a:xfrm rot="10800000">
            <a:off x="566665" y="775626"/>
            <a:ext cx="2787949" cy="95817"/>
          </a:xfrm>
          <a:prstGeom prst="parallelogram">
            <a:avLst>
              <a:gd name="adj" fmla="val 196700"/>
            </a:avLst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4845614F-7241-4DB3-9BE0-9960246D59D7}"/>
              </a:ext>
            </a:extLst>
          </p:cNvPr>
          <p:cNvGrpSpPr/>
          <p:nvPr/>
        </p:nvGrpSpPr>
        <p:grpSpPr>
          <a:xfrm>
            <a:off x="-53106" y="0"/>
            <a:ext cx="963271" cy="1033814"/>
            <a:chOff x="-51603" y="0"/>
            <a:chExt cx="1084083" cy="1219009"/>
          </a:xfrm>
        </p:grpSpPr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A1BDF8D0-A1CC-4209-B8DF-D36E34D6C3AC}"/>
                </a:ext>
              </a:extLst>
            </p:cNvPr>
            <p:cNvSpPr/>
            <p:nvPr/>
          </p:nvSpPr>
          <p:spPr bwMode="auto">
            <a:xfrm>
              <a:off x="3290" y="132030"/>
              <a:ext cx="974299" cy="1086979"/>
            </a:xfrm>
            <a:custGeom>
              <a:avLst/>
              <a:gdLst>
                <a:gd name="T0" fmla="*/ 0 w 529"/>
                <a:gd name="T1" fmla="*/ 0 h 915"/>
                <a:gd name="T2" fmla="*/ 490 w 529"/>
                <a:gd name="T3" fmla="*/ 399 h 915"/>
                <a:gd name="T4" fmla="*/ 490 w 529"/>
                <a:gd name="T5" fmla="*/ 516 h 915"/>
                <a:gd name="T6" fmla="*/ 0 w 529"/>
                <a:gd name="T7" fmla="*/ 915 h 915"/>
                <a:gd name="T8" fmla="*/ 0 w 529"/>
                <a:gd name="T9" fmla="*/ 0 h 9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9" h="915">
                  <a:moveTo>
                    <a:pt x="0" y="0"/>
                  </a:moveTo>
                  <a:lnTo>
                    <a:pt x="490" y="399"/>
                  </a:lnTo>
                  <a:cubicBezTo>
                    <a:pt x="529" y="431"/>
                    <a:pt x="529" y="484"/>
                    <a:pt x="490" y="516"/>
                  </a:cubicBezTo>
                  <a:lnTo>
                    <a:pt x="0" y="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B8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DE0E586D-84DD-4F85-8A67-93CFE0890111}"/>
                </a:ext>
              </a:extLst>
            </p:cNvPr>
            <p:cNvSpPr/>
            <p:nvPr/>
          </p:nvSpPr>
          <p:spPr bwMode="auto">
            <a:xfrm>
              <a:off x="3290" y="0"/>
              <a:ext cx="974299" cy="1086979"/>
            </a:xfrm>
            <a:custGeom>
              <a:avLst/>
              <a:gdLst>
                <a:gd name="T0" fmla="*/ 0 w 560"/>
                <a:gd name="T1" fmla="*/ 0 h 973"/>
                <a:gd name="T2" fmla="*/ 516 w 560"/>
                <a:gd name="T3" fmla="*/ 420 h 973"/>
                <a:gd name="T4" fmla="*/ 516 w 560"/>
                <a:gd name="T5" fmla="*/ 552 h 973"/>
                <a:gd name="T6" fmla="*/ 0 w 560"/>
                <a:gd name="T7" fmla="*/ 973 h 973"/>
                <a:gd name="T8" fmla="*/ 0 w 560"/>
                <a:gd name="T9" fmla="*/ 0 h 9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60" h="973">
                  <a:moveTo>
                    <a:pt x="0" y="0"/>
                  </a:moveTo>
                  <a:lnTo>
                    <a:pt x="516" y="420"/>
                  </a:lnTo>
                  <a:cubicBezTo>
                    <a:pt x="560" y="457"/>
                    <a:pt x="560" y="516"/>
                    <a:pt x="516" y="552"/>
                  </a:cubicBezTo>
                  <a:lnTo>
                    <a:pt x="0" y="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BA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4EA2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CD277C01-E6B7-43ED-A530-CA7B9A8586F1}"/>
                </a:ext>
              </a:extLst>
            </p:cNvPr>
            <p:cNvSpPr txBox="1"/>
            <p:nvPr/>
          </p:nvSpPr>
          <p:spPr>
            <a:xfrm>
              <a:off x="-51603" y="146972"/>
              <a:ext cx="1084083" cy="689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三</a:t>
              </a:r>
            </a:p>
          </p:txBody>
        </p:sp>
      </p:grpSp>
      <p:sp>
        <p:nvSpPr>
          <p:cNvPr id="43" name="平行四边形 42">
            <a:extLst>
              <a:ext uri="{FF2B5EF4-FFF2-40B4-BE49-F238E27FC236}">
                <a16:creationId xmlns:a16="http://schemas.microsoft.com/office/drawing/2014/main" id="{EE906314-E1D9-4315-8673-A4C33AFAC90F}"/>
              </a:ext>
            </a:extLst>
          </p:cNvPr>
          <p:cNvSpPr/>
          <p:nvPr/>
        </p:nvSpPr>
        <p:spPr>
          <a:xfrm rot="10800000">
            <a:off x="3320143" y="775627"/>
            <a:ext cx="8868566" cy="90674"/>
          </a:xfrm>
          <a:prstGeom prst="parallelogram">
            <a:avLst>
              <a:gd name="adj" fmla="val 196700"/>
            </a:avLst>
          </a:prstGeom>
          <a:solidFill>
            <a:srgbClr val="69B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7304EE4-9AB8-F02B-FFBC-8A16759517EE}"/>
              </a:ext>
            </a:extLst>
          </p:cNvPr>
          <p:cNvSpPr txBox="1"/>
          <p:nvPr/>
        </p:nvSpPr>
        <p:spPr>
          <a:xfrm>
            <a:off x="428529" y="2300000"/>
            <a:ext cx="11595769" cy="1000000"/>
          </a:xfrm>
          <a:prstGeom prst="rect">
            <a:avLst/>
          </a:prstGeom>
          <a:noFill/>
        </p:spPr>
        <p:txBody>
          <a:bodyPr wrap="square" rtlCol="0">
            <a:normAutofit fontScale="92500" lnSpcReduction="20000"/>
          </a:bodyPr>
          <a:lstStyle>
            <a:defPPr>
              <a:defRPr lang="zh-CN"/>
            </a:defPPr>
            <a:lvl1pPr marL="457200" marR="0" lvl="0" indent="-457200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"/>
              <a:tabLst/>
              <a:defRPr kumimoji="0" sz="2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t>HSI = Σωi·fi，ωi为因子权重，fi为因子评分。各指标按自然断点分5级：最优(4-5分)、良好(3-4分)、一般(2-3分)、较差(1-2分)、最差(&lt;1分)。最优+良好=适宜生境，较差+最差=不适宜生境。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6A9D8A7-D4EC-F4A0-833F-22738438E68C}"/>
              </a:ext>
            </a:extLst>
          </p:cNvPr>
          <p:cNvSpPr/>
          <p:nvPr/>
        </p:nvSpPr>
        <p:spPr>
          <a:xfrm>
            <a:off x="3000373" y="3465915"/>
            <a:ext cx="6191250" cy="3248025"/>
          </a:xfrm>
          <a:prstGeom prst="rect">
            <a:avLst/>
          </a:prstGeom>
          <a:noFill/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44" name="Picture 43" descr="_fig_method_t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3" y="3556402"/>
            <a:ext cx="6191250" cy="324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286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032BE-1FF7-1340-E605-BA7BA45F0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D1A716FC-B672-BAB2-D9C1-C050053B3E12}"/>
              </a:ext>
            </a:extLst>
          </p:cNvPr>
          <p:cNvSpPr/>
          <p:nvPr/>
        </p:nvSpPr>
        <p:spPr>
          <a:xfrm>
            <a:off x="-2226" y="-1"/>
            <a:ext cx="2521894" cy="6857329"/>
          </a:xfrm>
          <a:prstGeom prst="rect">
            <a:avLst/>
          </a:prstGeom>
          <a:gradFill>
            <a:gsLst>
              <a:gs pos="0">
                <a:srgbClr val="142756"/>
              </a:gs>
              <a:gs pos="100000">
                <a:srgbClr val="2E5DAE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4" name="圆角矩形 33">
            <a:extLst>
              <a:ext uri="{FF2B5EF4-FFF2-40B4-BE49-F238E27FC236}">
                <a16:creationId xmlns:a16="http://schemas.microsoft.com/office/drawing/2014/main" id="{118DDD6D-B703-BD2B-386F-C3833CE47966}"/>
              </a:ext>
            </a:extLst>
          </p:cNvPr>
          <p:cNvSpPr/>
          <p:nvPr/>
        </p:nvSpPr>
        <p:spPr>
          <a:xfrm>
            <a:off x="756025" y="1993900"/>
            <a:ext cx="1156306" cy="2870200"/>
          </a:xfrm>
          <a:prstGeom prst="roundRect">
            <a:avLst>
              <a:gd name="adj" fmla="val 0"/>
            </a:avLst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41FFFFC-010D-EAF1-1EB4-FEB50CF553D7}"/>
              </a:ext>
            </a:extLst>
          </p:cNvPr>
          <p:cNvSpPr txBox="1"/>
          <p:nvPr/>
        </p:nvSpPr>
        <p:spPr>
          <a:xfrm>
            <a:off x="964846" y="2286380"/>
            <a:ext cx="738664" cy="2285241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汇 报 内 容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4FB23F8-78E3-7669-710E-21476195AEE4}"/>
              </a:ext>
            </a:extLst>
          </p:cNvPr>
          <p:cNvSpPr>
            <a:spLocks/>
          </p:cNvSpPr>
          <p:nvPr/>
        </p:nvSpPr>
        <p:spPr>
          <a:xfrm>
            <a:off x="4398346" y="835941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257175">
              <a:defRPr/>
            </a:pPr>
            <a:r>
              <a:rPr kumimoji="1" lang="en-US" altLang="zh-CN" sz="3600" b="1" kern="0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t>AHP</a:t>
            </a:r>
            <a:r>
              <a:rPr kumimoji="1" lang="zh-CN" altLang="en-US" sz="3600" b="1" kern="0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t>模型基本概念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57AE762-03BA-BC29-DEF8-3C225BA877AA}"/>
              </a:ext>
            </a:extLst>
          </p:cNvPr>
          <p:cNvSpPr/>
          <p:nvPr/>
        </p:nvSpPr>
        <p:spPr>
          <a:xfrm>
            <a:off x="4340479" y="714989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CE5E4FB-DC2B-1FB2-9163-7A3129E841BF}"/>
              </a:ext>
            </a:extLst>
          </p:cNvPr>
          <p:cNvSpPr/>
          <p:nvPr/>
        </p:nvSpPr>
        <p:spPr>
          <a:xfrm>
            <a:off x="3491889" y="716881"/>
            <a:ext cx="906457" cy="871365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E5CF207-4B7E-F14F-FF7D-F5EDEE9D9743}"/>
              </a:ext>
            </a:extLst>
          </p:cNvPr>
          <p:cNvSpPr/>
          <p:nvPr/>
        </p:nvSpPr>
        <p:spPr>
          <a:xfrm>
            <a:off x="3606962" y="816941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一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18AA297-38DA-027D-B23B-D28ACD34A10E}"/>
              </a:ext>
            </a:extLst>
          </p:cNvPr>
          <p:cNvSpPr>
            <a:spLocks/>
          </p:cNvSpPr>
          <p:nvPr/>
        </p:nvSpPr>
        <p:spPr>
          <a:xfrm>
            <a:off x="4417997" y="2380268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模型应用背景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A4E947A-B871-250B-FC23-C02612DA2626}"/>
              </a:ext>
            </a:extLst>
          </p:cNvPr>
          <p:cNvSpPr/>
          <p:nvPr/>
        </p:nvSpPr>
        <p:spPr>
          <a:xfrm>
            <a:off x="4340479" y="2249440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61D2C92-3CEE-AE3D-604E-C955339A6476}"/>
              </a:ext>
            </a:extLst>
          </p:cNvPr>
          <p:cNvSpPr/>
          <p:nvPr/>
        </p:nvSpPr>
        <p:spPr>
          <a:xfrm>
            <a:off x="3491889" y="2249440"/>
            <a:ext cx="906457" cy="873258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79FD556-1F16-8796-733F-8EBFEFC9E274}"/>
              </a:ext>
            </a:extLst>
          </p:cNvPr>
          <p:cNvSpPr/>
          <p:nvPr/>
        </p:nvSpPr>
        <p:spPr>
          <a:xfrm>
            <a:off x="3606962" y="2351392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二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7FA5231-1017-8334-EE3E-465E1EFD19BA}"/>
              </a:ext>
            </a:extLst>
          </p:cNvPr>
          <p:cNvSpPr>
            <a:spLocks/>
          </p:cNvSpPr>
          <p:nvPr/>
        </p:nvSpPr>
        <p:spPr>
          <a:xfrm>
            <a:off x="4418353" y="5390281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结果与结论</a:t>
            </a:r>
            <a:endParaRPr lang="zh-CN" altLang="en-US" sz="2800" b="1" dirty="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BD77CCB-A0D3-5F46-444F-8A3FCD9A959A}"/>
              </a:ext>
            </a:extLst>
          </p:cNvPr>
          <p:cNvSpPr/>
          <p:nvPr/>
        </p:nvSpPr>
        <p:spPr>
          <a:xfrm>
            <a:off x="4340479" y="5269078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3D19380-370D-B18C-6EB3-B972F7A55515}"/>
              </a:ext>
            </a:extLst>
          </p:cNvPr>
          <p:cNvSpPr/>
          <p:nvPr/>
        </p:nvSpPr>
        <p:spPr>
          <a:xfrm>
            <a:off x="3491889" y="5270970"/>
            <a:ext cx="906457" cy="871365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D88560A-64F8-5555-5545-13FE9D67716C}"/>
              </a:ext>
            </a:extLst>
          </p:cNvPr>
          <p:cNvSpPr/>
          <p:nvPr/>
        </p:nvSpPr>
        <p:spPr>
          <a:xfrm>
            <a:off x="3606962" y="5371030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四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6AAA7765-D791-9306-027C-5CC771D50FF8}"/>
              </a:ext>
            </a:extLst>
          </p:cNvPr>
          <p:cNvSpPr>
            <a:spLocks/>
          </p:cNvSpPr>
          <p:nvPr/>
        </p:nvSpPr>
        <p:spPr>
          <a:xfrm>
            <a:off x="4415507" y="3879517"/>
            <a:ext cx="66477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AHP</a:t>
            </a:r>
            <a:r>
              <a:rPr lang="zh-CN" altLang="en-US" sz="3600" b="1" dirty="0">
                <a:solidFill>
                  <a:srgbClr val="0F4995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模型应用方式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DE34303-FA47-18E3-50B6-97AB366E4790}"/>
              </a:ext>
            </a:extLst>
          </p:cNvPr>
          <p:cNvSpPr/>
          <p:nvPr/>
        </p:nvSpPr>
        <p:spPr>
          <a:xfrm>
            <a:off x="4340479" y="3758314"/>
            <a:ext cx="6705619" cy="873258"/>
          </a:xfrm>
          <a:prstGeom prst="rect">
            <a:avLst/>
          </a:prstGeom>
          <a:noFill/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394F36C-A243-DDA1-EA1E-0EFD9B219C50}"/>
              </a:ext>
            </a:extLst>
          </p:cNvPr>
          <p:cNvSpPr/>
          <p:nvPr/>
        </p:nvSpPr>
        <p:spPr>
          <a:xfrm>
            <a:off x="3491889" y="3758314"/>
            <a:ext cx="906457" cy="873258"/>
          </a:xfrm>
          <a:prstGeom prst="rect">
            <a:avLst/>
          </a:prstGeom>
          <a:solidFill>
            <a:srgbClr val="0F4995"/>
          </a:solidFill>
          <a:ln>
            <a:solidFill>
              <a:srgbClr val="0F49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1AF7C40-5F61-CF4E-1CBB-004B305E9209}"/>
              </a:ext>
            </a:extLst>
          </p:cNvPr>
          <p:cNvSpPr/>
          <p:nvPr/>
        </p:nvSpPr>
        <p:spPr>
          <a:xfrm>
            <a:off x="3606962" y="3860266"/>
            <a:ext cx="690787" cy="6712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三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0249F4-EA90-745F-1AF2-710C8CA6D67E}"/>
              </a:ext>
            </a:extLst>
          </p:cNvPr>
          <p:cNvSpPr/>
          <p:nvPr/>
        </p:nvSpPr>
        <p:spPr>
          <a:xfrm>
            <a:off x="2952393" y="354598"/>
            <a:ext cx="8274761" cy="4482264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5220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>
            <a:extLst>
              <a:ext uri="{FF2B5EF4-FFF2-40B4-BE49-F238E27FC236}">
                <a16:creationId xmlns:a16="http://schemas.microsoft.com/office/drawing/2014/main" id="{EAC27C75-9878-4AF1-BD21-EDA5BAEF50FF}"/>
              </a:ext>
            </a:extLst>
          </p:cNvPr>
          <p:cNvSpPr txBox="1"/>
          <p:nvPr/>
        </p:nvSpPr>
        <p:spPr>
          <a:xfrm>
            <a:off x="298115" y="944284"/>
            <a:ext cx="11595769" cy="56175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457200" marR="0" lvl="0" indent="-457200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"/>
              <a:tabLst/>
              <a:defRPr kumimoji="0" sz="2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>
              <a:defRPr/>
            </a:pPr>
            <a:r>
              <a:rPr lang="zh-CN" altLang="en-US" dirty="0"/>
              <a:t>总结研究成果</a:t>
            </a:r>
          </a:p>
        </p:txBody>
      </p:sp>
      <p:sp>
        <p:nvSpPr>
          <p:cNvPr id="35" name="灯片编号占位符 3">
            <a:extLst>
              <a:ext uri="{FF2B5EF4-FFF2-40B4-BE49-F238E27FC236}">
                <a16:creationId xmlns:a16="http://schemas.microsoft.com/office/drawing/2014/main" id="{4E13C9AD-C81E-4EE3-B9EC-34FF68A841E2}"/>
              </a:ext>
            </a:extLst>
          </p:cNvPr>
          <p:cNvSpPr txBox="1">
            <a:spLocks/>
          </p:cNvSpPr>
          <p:nvPr/>
        </p:nvSpPr>
        <p:spPr>
          <a:xfrm>
            <a:off x="9282546" y="108066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24612B-083E-42A1-A722-547198ACFF6B}" type="slidenum">
              <a:rPr kumimoji="0" lang="zh-CN" altLang="en-US" sz="2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118B07D-E2F7-41D4-BCBE-7D670F4A3580}"/>
              </a:ext>
            </a:extLst>
          </p:cNvPr>
          <p:cNvSpPr txBox="1"/>
          <p:nvPr/>
        </p:nvSpPr>
        <p:spPr>
          <a:xfrm>
            <a:off x="1061390" y="-67577"/>
            <a:ext cx="3396310" cy="764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ct val="0"/>
              </a:spcAft>
              <a:defRPr sz="4800" b="1">
                <a:gradFill>
                  <a:gsLst>
                    <a:gs pos="100000">
                      <a:srgbClr val="026EBB"/>
                    </a:gs>
                    <a:gs pos="0">
                      <a:srgbClr val="038EDB"/>
                    </a:gs>
                  </a:gsLst>
                  <a:lin ang="0" scaled="1"/>
                </a:gradFill>
                <a:latin typeface="Eras Bold ITC" panose="020B0907030504020204" pitchFamily="34" charset="0"/>
                <a:ea typeface="思源黑体 CN Medium" panose="020B0600000000000000" pitchFamily="34" charset="-122"/>
                <a:cs typeface="+mj-cs"/>
              </a:defRPr>
            </a:lvl1pPr>
            <a:lvl2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2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marL="571500" marR="0" lvl="0" indent="-571500" algn="l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0" lang="zh-CN" altLang="en-US" sz="3800" b="1" i="0" u="none" strike="noStrike" kern="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结果与结论</a:t>
            </a:r>
          </a:p>
        </p:txBody>
      </p:sp>
      <p:sp>
        <p:nvSpPr>
          <p:cNvPr id="38" name="平行四边形 37">
            <a:extLst>
              <a:ext uri="{FF2B5EF4-FFF2-40B4-BE49-F238E27FC236}">
                <a16:creationId xmlns:a16="http://schemas.microsoft.com/office/drawing/2014/main" id="{9237FECA-4EA3-4697-B699-84730BAE8B10}"/>
              </a:ext>
            </a:extLst>
          </p:cNvPr>
          <p:cNvSpPr/>
          <p:nvPr/>
        </p:nvSpPr>
        <p:spPr>
          <a:xfrm rot="10800000">
            <a:off x="566665" y="775626"/>
            <a:ext cx="2787949" cy="95817"/>
          </a:xfrm>
          <a:prstGeom prst="parallelogram">
            <a:avLst>
              <a:gd name="adj" fmla="val 196700"/>
            </a:avLst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4845614F-7241-4DB3-9BE0-9960246D59D7}"/>
              </a:ext>
            </a:extLst>
          </p:cNvPr>
          <p:cNvGrpSpPr/>
          <p:nvPr/>
        </p:nvGrpSpPr>
        <p:grpSpPr>
          <a:xfrm>
            <a:off x="-53106" y="0"/>
            <a:ext cx="963271" cy="1033814"/>
            <a:chOff x="-51603" y="0"/>
            <a:chExt cx="1084083" cy="1219009"/>
          </a:xfrm>
        </p:grpSpPr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A1BDF8D0-A1CC-4209-B8DF-D36E34D6C3AC}"/>
                </a:ext>
              </a:extLst>
            </p:cNvPr>
            <p:cNvSpPr/>
            <p:nvPr/>
          </p:nvSpPr>
          <p:spPr bwMode="auto">
            <a:xfrm>
              <a:off x="3290" y="132030"/>
              <a:ext cx="974299" cy="1086979"/>
            </a:xfrm>
            <a:custGeom>
              <a:avLst/>
              <a:gdLst>
                <a:gd name="T0" fmla="*/ 0 w 529"/>
                <a:gd name="T1" fmla="*/ 0 h 915"/>
                <a:gd name="T2" fmla="*/ 490 w 529"/>
                <a:gd name="T3" fmla="*/ 399 h 915"/>
                <a:gd name="T4" fmla="*/ 490 w 529"/>
                <a:gd name="T5" fmla="*/ 516 h 915"/>
                <a:gd name="T6" fmla="*/ 0 w 529"/>
                <a:gd name="T7" fmla="*/ 915 h 915"/>
                <a:gd name="T8" fmla="*/ 0 w 529"/>
                <a:gd name="T9" fmla="*/ 0 h 9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9" h="915">
                  <a:moveTo>
                    <a:pt x="0" y="0"/>
                  </a:moveTo>
                  <a:lnTo>
                    <a:pt x="490" y="399"/>
                  </a:lnTo>
                  <a:cubicBezTo>
                    <a:pt x="529" y="431"/>
                    <a:pt x="529" y="484"/>
                    <a:pt x="490" y="516"/>
                  </a:cubicBezTo>
                  <a:lnTo>
                    <a:pt x="0" y="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B8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DE0E586D-84DD-4F85-8A67-93CFE0890111}"/>
                </a:ext>
              </a:extLst>
            </p:cNvPr>
            <p:cNvSpPr/>
            <p:nvPr/>
          </p:nvSpPr>
          <p:spPr bwMode="auto">
            <a:xfrm>
              <a:off x="3290" y="0"/>
              <a:ext cx="974299" cy="1086979"/>
            </a:xfrm>
            <a:custGeom>
              <a:avLst/>
              <a:gdLst>
                <a:gd name="T0" fmla="*/ 0 w 560"/>
                <a:gd name="T1" fmla="*/ 0 h 973"/>
                <a:gd name="T2" fmla="*/ 516 w 560"/>
                <a:gd name="T3" fmla="*/ 420 h 973"/>
                <a:gd name="T4" fmla="*/ 516 w 560"/>
                <a:gd name="T5" fmla="*/ 552 h 973"/>
                <a:gd name="T6" fmla="*/ 0 w 560"/>
                <a:gd name="T7" fmla="*/ 973 h 973"/>
                <a:gd name="T8" fmla="*/ 0 w 560"/>
                <a:gd name="T9" fmla="*/ 0 h 9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60" h="973">
                  <a:moveTo>
                    <a:pt x="0" y="0"/>
                  </a:moveTo>
                  <a:lnTo>
                    <a:pt x="516" y="420"/>
                  </a:lnTo>
                  <a:cubicBezTo>
                    <a:pt x="560" y="457"/>
                    <a:pt x="560" y="516"/>
                    <a:pt x="516" y="552"/>
                  </a:cubicBezTo>
                  <a:lnTo>
                    <a:pt x="0" y="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BA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4EA2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CD277C01-E6B7-43ED-A530-CA7B9A8586F1}"/>
                </a:ext>
              </a:extLst>
            </p:cNvPr>
            <p:cNvSpPr txBox="1"/>
            <p:nvPr/>
          </p:nvSpPr>
          <p:spPr>
            <a:xfrm>
              <a:off x="-51603" y="146972"/>
              <a:ext cx="1084083" cy="689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四</a:t>
              </a:r>
            </a:p>
          </p:txBody>
        </p:sp>
      </p:grpSp>
      <p:sp>
        <p:nvSpPr>
          <p:cNvPr id="43" name="平行四边形 42">
            <a:extLst>
              <a:ext uri="{FF2B5EF4-FFF2-40B4-BE49-F238E27FC236}">
                <a16:creationId xmlns:a16="http://schemas.microsoft.com/office/drawing/2014/main" id="{EE906314-E1D9-4315-8673-A4C33AFAC90F}"/>
              </a:ext>
            </a:extLst>
          </p:cNvPr>
          <p:cNvSpPr/>
          <p:nvPr/>
        </p:nvSpPr>
        <p:spPr>
          <a:xfrm rot="10800000">
            <a:off x="3320143" y="775627"/>
            <a:ext cx="8868566" cy="90674"/>
          </a:xfrm>
          <a:prstGeom prst="parallelogram">
            <a:avLst>
              <a:gd name="adj" fmla="val 196700"/>
            </a:avLst>
          </a:prstGeom>
          <a:solidFill>
            <a:srgbClr val="69B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FC7EDFBC-E1F2-4FC7-8F9D-13E659D6D631}"/>
              </a:ext>
            </a:extLst>
          </p:cNvPr>
          <p:cNvGrpSpPr/>
          <p:nvPr/>
        </p:nvGrpSpPr>
        <p:grpSpPr>
          <a:xfrm>
            <a:off x="-53106" y="1549194"/>
            <a:ext cx="6593054" cy="4364522"/>
            <a:chOff x="9137870" y="2197936"/>
            <a:chExt cx="2823353" cy="1591953"/>
          </a:xfrm>
        </p:grpSpPr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E13658B4-99D7-4390-B6CA-35C4B938CA3C}"/>
                </a:ext>
              </a:extLst>
            </p:cNvPr>
            <p:cNvGrpSpPr/>
            <p:nvPr/>
          </p:nvGrpSpPr>
          <p:grpSpPr>
            <a:xfrm>
              <a:off x="9169400" y="2197936"/>
              <a:ext cx="2743176" cy="1591953"/>
              <a:chOff x="1199732" y="5259960"/>
              <a:chExt cx="3104442" cy="1075370"/>
            </a:xfrm>
          </p:grpSpPr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3C657A99-3780-43F4-84AE-F01962852990}"/>
                  </a:ext>
                </a:extLst>
              </p:cNvPr>
              <p:cNvSpPr/>
              <p:nvPr/>
            </p:nvSpPr>
            <p:spPr>
              <a:xfrm>
                <a:off x="1199732" y="5265041"/>
                <a:ext cx="3104442" cy="1070289"/>
              </a:xfrm>
              <a:prstGeom prst="rect">
                <a:avLst/>
              </a:prstGeom>
              <a:gradFill>
                <a:gsLst>
                  <a:gs pos="0">
                    <a:srgbClr val="1A76DC">
                      <a:lumMod val="15000"/>
                      <a:lumOff val="85000"/>
                    </a:srgbClr>
                  </a:gs>
                  <a:gs pos="100000">
                    <a:sysClr val="window" lastClr="FFFFFF"/>
                  </a:gs>
                </a:gsLst>
                <a:lin ang="5400000" scaled="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180000" tIns="45720" rIns="91440" bIns="4572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微软雅黑 Light" panose="020B0502040204020203" charset="-122"/>
                  <a:cs typeface="+mn-cs"/>
                  <a:sym typeface="Times New Roman" panose="02020603050405020304" pitchFamily="18" charset="0"/>
                </a:endParaRPr>
              </a:p>
            </p:txBody>
          </p:sp>
          <p:cxnSp>
            <p:nvCxnSpPr>
              <p:cNvPr id="53" name="直接连接符 52">
                <a:extLst>
                  <a:ext uri="{FF2B5EF4-FFF2-40B4-BE49-F238E27FC236}">
                    <a16:creationId xmlns:a16="http://schemas.microsoft.com/office/drawing/2014/main" id="{3CE043AE-C225-4434-BA64-EE5B19A8B0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99732" y="5259960"/>
                <a:ext cx="3104442" cy="0"/>
              </a:xfrm>
              <a:prstGeom prst="line">
                <a:avLst/>
              </a:prstGeom>
              <a:noFill/>
              <a:ln w="28575" cap="flat" cmpd="sng" algn="ctr">
                <a:solidFill>
                  <a:srgbClr val="004FA8"/>
                </a:solidFill>
                <a:prstDash val="solid"/>
                <a:miter lim="800000"/>
              </a:ln>
              <a:effectLst/>
            </p:spPr>
          </p:cxnSp>
        </p:grpSp>
        <p:sp>
          <p:nvSpPr>
            <p:cNvPr id="51" name="矩形 33">
              <a:extLst>
                <a:ext uri="{FF2B5EF4-FFF2-40B4-BE49-F238E27FC236}">
                  <a16:creationId xmlns:a16="http://schemas.microsoft.com/office/drawing/2014/main" id="{E48671B1-C53F-4015-A9F7-B59A233237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37870" y="2244618"/>
              <a:ext cx="2823353" cy="1534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endPara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D8094609-8F84-4959-A5AF-D0CD05CD87A3}"/>
              </a:ext>
            </a:extLst>
          </p:cNvPr>
          <p:cNvSpPr txBox="1"/>
          <p:nvPr/>
        </p:nvSpPr>
        <p:spPr>
          <a:xfrm>
            <a:off x="148640" y="1569816"/>
            <a:ext cx="6277708" cy="51908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zh-CN" sz="1100" b="1"/>
              <a:t>栖息地空间分布（图6）：</a:t>
            </a:r>
          </a:p>
          <a:p>
            <a:r>
              <a:rPr lang="zh-CN" sz="900"/>
              <a:t>适宜区集中分布于长江主航道及支流沿岸低海拔湿地，仅占库区1.6%~2.4%。不适宜区位于高海拔林地与城镇周边。</a:t>
            </a:r>
          </a:p>
          <a:p>
            <a:r>
              <a:rPr lang="zh-CN" sz="1100" b="1"/>
              <a:t>关键因子变化（图2-5）：</a:t>
            </a:r>
          </a:p>
          <a:p>
            <a:r>
              <a:rPr lang="zh-CN" sz="900"/>
              <a:t>不透水层1.1%→2.7%，耕地44.1%→42.2%，湿地和水体1.4%→1.7%，居民点1.08%→2.45%，越冬期均温0~15℃（库尾&gt;库首）。</a:t>
            </a:r>
          </a:p>
          <a:p>
            <a:r>
              <a:rPr lang="zh-CN" sz="1100" b="1"/>
              <a:t>栖息地面积趋势（图7-8）：</a:t>
            </a:r>
          </a:p>
          <a:p>
            <a:r>
              <a:rPr lang="zh-CN" sz="900"/>
              <a:t>1995年3190km²(5.5%)→2000年骤降至1.6%→此后缓慢回升至2020年1392km²(2.4%)，未恢复蓄水前水平。不适宜区1995-2000年+12.1%。</a:t>
            </a:r>
          </a:p>
          <a:p>
            <a:r>
              <a:rPr lang="zh-CN" sz="1100" b="1"/>
              <a:t>AHP与MaxEnt相互验证（表5）：</a:t>
            </a:r>
          </a:p>
          <a:p>
            <a:r>
              <a:rPr lang="zh-CN" sz="900"/>
              <a:t>本研究与Li等[12]MaxEnt模型在空间分布、面积和趋势上高度一致，1995年高适宜区均为长江干流及周边，变化趋势均呈骤降→稳定→微升，两种独立方法增强结论可靠性。</a:t>
            </a:r>
          </a:p>
        </p:txBody>
      </p:sp>
      <p:sp>
        <p:nvSpPr>
          <p:cNvPr id="73" name="箭头: 右 72">
            <a:extLst>
              <a:ext uri="{FF2B5EF4-FFF2-40B4-BE49-F238E27FC236}">
                <a16:creationId xmlns:a16="http://schemas.microsoft.com/office/drawing/2014/main" id="{43CA6C6B-BE84-4793-81DD-FA56D5B0A2D4}"/>
              </a:ext>
            </a:extLst>
          </p:cNvPr>
          <p:cNvSpPr>
            <a:spLocks/>
          </p:cNvSpPr>
          <p:nvPr/>
        </p:nvSpPr>
        <p:spPr>
          <a:xfrm rot="5400000">
            <a:off x="3014143" y="5899789"/>
            <a:ext cx="324000" cy="288000"/>
          </a:xfrm>
          <a:prstGeom prst="rightArrow">
            <a:avLst>
              <a:gd name="adj1" fmla="val 50000"/>
              <a:gd name="adj2" fmla="val 62225"/>
            </a:avLst>
          </a:prstGeom>
          <a:gradFill flip="none" rotWithShape="1">
            <a:gsLst>
              <a:gs pos="8426">
                <a:schemeClr val="accent2">
                  <a:lumMod val="20000"/>
                  <a:lumOff val="80000"/>
                </a:schemeClr>
              </a:gs>
              <a:gs pos="22000">
                <a:schemeClr val="accent2">
                  <a:lumMod val="60000"/>
                  <a:lumOff val="40000"/>
                </a:schemeClr>
              </a:gs>
              <a:gs pos="73000">
                <a:srgbClr val="C00000">
                  <a:alpha val="82000"/>
                </a:srgbClr>
              </a:gs>
              <a:gs pos="0">
                <a:schemeClr val="bg1">
                  <a:alpha val="62000"/>
                </a:schemeClr>
              </a:gs>
            </a:gsLst>
            <a:lin ang="0" scaled="1"/>
            <a:tileRect/>
          </a:gradFill>
          <a:ln w="25400" cap="flat" cmpd="sng" algn="ctr">
            <a:noFill/>
            <a:prstDash val="solid"/>
            <a:miter lim="800000"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 anchor="ctr">
            <a:normAutofit/>
          </a:bodyPr>
          <a:lstStyle/>
          <a:p>
            <a:pPr algn="ctr" defTabSz="914400">
              <a:defRPr/>
            </a:pPr>
            <a:endParaRPr lang="zh-CN" altLang="en-US" kern="0" dirty="0">
              <a:solidFill>
                <a:sysClr val="window" lastClr="FFFFFF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A3EDD737-2C55-4234-BB53-DF1AA54FC0A7}"/>
              </a:ext>
            </a:extLst>
          </p:cNvPr>
          <p:cNvSpPr/>
          <p:nvPr/>
        </p:nvSpPr>
        <p:spPr>
          <a:xfrm>
            <a:off x="20522" y="6237816"/>
            <a:ext cx="11829232" cy="561428"/>
          </a:xfrm>
          <a:prstGeom prst="roundRect">
            <a:avLst/>
          </a:prstGeom>
          <a:solidFill>
            <a:schemeClr val="accent2">
              <a:lumMod val="40000"/>
              <a:lumOff val="60000"/>
              <a:alpha val="46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rmAutofit/>
          </a:bodyPr>
          <a:lstStyle/>
          <a:p>
            <a:r>
              <a:rPr sz="1100" dirty="0" err="1">
                <a:solidFill>
                  <a:srgbClr val="C00000"/>
                </a:solidFill>
              </a:rPr>
              <a:t>AHP模型为三峡库区越冬水禽栖息地评价和保护规划提供了科学依据，方法简单有效，结果易于被管理部门理解和应用</a:t>
            </a:r>
            <a:r>
              <a:rPr sz="1100" dirty="0"/>
              <a:t>。</a:t>
            </a:r>
          </a:p>
        </p:txBody>
      </p:sp>
      <p:pic>
        <p:nvPicPr>
          <p:cNvPr id="79" name="Picture 78" descr="_fig6_suitability1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2492" y="3722024"/>
            <a:ext cx="2717803" cy="2296438"/>
          </a:xfrm>
          <a:prstGeom prst="rect">
            <a:avLst/>
          </a:prstGeom>
        </p:spPr>
      </p:pic>
      <p:pic>
        <p:nvPicPr>
          <p:cNvPr id="80" name="Picture 79" descr="_fig7_suitability_ch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836" y="1506041"/>
            <a:ext cx="2937437" cy="2088000"/>
          </a:xfrm>
          <a:prstGeom prst="rect">
            <a:avLst/>
          </a:prstGeom>
        </p:spPr>
      </p:pic>
      <p:pic>
        <p:nvPicPr>
          <p:cNvPr id="81" name="Picture 80" descr="_fig8_area_perc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348" y="3722024"/>
            <a:ext cx="2894839" cy="2088000"/>
          </a:xfrm>
          <a:prstGeom prst="rect">
            <a:avLst/>
          </a:prstGeom>
        </p:spPr>
      </p:pic>
      <p:pic>
        <p:nvPicPr>
          <p:cNvPr id="82" name="Picture 81" descr="_table5_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2492" y="1506041"/>
            <a:ext cx="2542791" cy="20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046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-687968"/>
            <a:ext cx="7784892" cy="7784892"/>
          </a:xfrm>
          <a:prstGeom prst="rect">
            <a:avLst/>
          </a:prstGeom>
        </p:spPr>
      </p:pic>
      <p:sp>
        <p:nvSpPr>
          <p:cNvPr id="99" name="流程图: 手动输入 3"/>
          <p:cNvSpPr/>
          <p:nvPr/>
        </p:nvSpPr>
        <p:spPr>
          <a:xfrm rot="5400000">
            <a:off x="-772141" y="765575"/>
            <a:ext cx="6865184" cy="5316494"/>
          </a:xfrm>
          <a:custGeom>
            <a:avLst/>
            <a:gdLst>
              <a:gd name="connsiteX0" fmla="*/ 0 w 10000"/>
              <a:gd name="connsiteY0" fmla="*/ 200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2000 h 10000"/>
              <a:gd name="connsiteX0-1" fmla="*/ 0 w 10013"/>
              <a:gd name="connsiteY0-2" fmla="*/ 3619 h 10000"/>
              <a:gd name="connsiteX1-3" fmla="*/ 10013 w 10013"/>
              <a:gd name="connsiteY1-4" fmla="*/ 0 h 10000"/>
              <a:gd name="connsiteX2-5" fmla="*/ 10013 w 10013"/>
              <a:gd name="connsiteY2-6" fmla="*/ 10000 h 10000"/>
              <a:gd name="connsiteX3-7" fmla="*/ 13 w 10013"/>
              <a:gd name="connsiteY3-8" fmla="*/ 10000 h 10000"/>
              <a:gd name="connsiteX4-9" fmla="*/ 0 w 10013"/>
              <a:gd name="connsiteY4-10" fmla="*/ 3619 h 10000"/>
              <a:gd name="connsiteX0-11" fmla="*/ 0 w 10013"/>
              <a:gd name="connsiteY0-12" fmla="*/ 3970 h 10000"/>
              <a:gd name="connsiteX1-13" fmla="*/ 10013 w 10013"/>
              <a:gd name="connsiteY1-14" fmla="*/ 0 h 10000"/>
              <a:gd name="connsiteX2-15" fmla="*/ 10013 w 10013"/>
              <a:gd name="connsiteY2-16" fmla="*/ 10000 h 10000"/>
              <a:gd name="connsiteX3-17" fmla="*/ 13 w 10013"/>
              <a:gd name="connsiteY3-18" fmla="*/ 10000 h 10000"/>
              <a:gd name="connsiteX4-19" fmla="*/ 0 w 10013"/>
              <a:gd name="connsiteY4-20" fmla="*/ 3970 h 10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0013" h="10000">
                <a:moveTo>
                  <a:pt x="0" y="3970"/>
                </a:moveTo>
                <a:lnTo>
                  <a:pt x="10013" y="0"/>
                </a:lnTo>
                <a:lnTo>
                  <a:pt x="10013" y="10000"/>
                </a:lnTo>
                <a:lnTo>
                  <a:pt x="13" y="10000"/>
                </a:lnTo>
                <a:cubicBezTo>
                  <a:pt x="9" y="7873"/>
                  <a:pt x="4" y="6097"/>
                  <a:pt x="0" y="3970"/>
                </a:cubicBezTo>
                <a:close/>
              </a:path>
            </a:pathLst>
          </a:custGeom>
          <a:gradFill>
            <a:gsLst>
              <a:gs pos="0">
                <a:srgbClr val="142756"/>
              </a:gs>
              <a:gs pos="100000">
                <a:srgbClr val="2E5DAE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0" dirty="0">
              <a:solidFill>
                <a:schemeClr val="lt1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pic>
        <p:nvPicPr>
          <p:cNvPr id="100" name="图片 9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" b="32"/>
          <a:stretch>
            <a:fillRect/>
          </a:stretch>
        </p:blipFill>
        <p:spPr>
          <a:xfrm>
            <a:off x="819657" y="1074336"/>
            <a:ext cx="4892808" cy="4939693"/>
          </a:xfrm>
          <a:prstGeom prst="ellipse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04" name="空心弧 103"/>
          <p:cNvSpPr/>
          <p:nvPr/>
        </p:nvSpPr>
        <p:spPr>
          <a:xfrm rot="14414393">
            <a:off x="895496" y="1098487"/>
            <a:ext cx="4801452" cy="4801452"/>
          </a:xfrm>
          <a:prstGeom prst="blockArc">
            <a:avLst>
              <a:gd name="adj1" fmla="val 10800000"/>
              <a:gd name="adj2" fmla="val 467453"/>
              <a:gd name="adj3" fmla="val 2676"/>
            </a:avLst>
          </a:prstGeom>
          <a:solidFill>
            <a:srgbClr val="FBF9F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lang="zh-CN" altLang="en-US" kern="0" dirty="0">
              <a:solidFill>
                <a:prstClr val="black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+mn-ea"/>
              <a:sym typeface="Times New Roman" panose="02020603050405020304" pitchFamily="18" charset="0"/>
            </a:endParaRPr>
          </a:p>
        </p:txBody>
      </p:sp>
      <p:sp>
        <p:nvSpPr>
          <p:cNvPr id="10" name="Freeform 236"/>
          <p:cNvSpPr/>
          <p:nvPr/>
        </p:nvSpPr>
        <p:spPr bwMode="auto">
          <a:xfrm rot="10800000" flipH="1" flipV="1">
            <a:off x="6784728" y="4032933"/>
            <a:ext cx="4242848" cy="58622"/>
          </a:xfrm>
          <a:custGeom>
            <a:avLst/>
            <a:gdLst>
              <a:gd name="T0" fmla="*/ 508 w 508"/>
              <a:gd name="T1" fmla="*/ 28 h 66"/>
              <a:gd name="T2" fmla="*/ 433 w 508"/>
              <a:gd name="T3" fmla="*/ 21 h 66"/>
              <a:gd name="T4" fmla="*/ 445 w 508"/>
              <a:gd name="T5" fmla="*/ 20 h 66"/>
              <a:gd name="T6" fmla="*/ 209 w 508"/>
              <a:gd name="T7" fmla="*/ 5 h 66"/>
              <a:gd name="T8" fmla="*/ 94 w 508"/>
              <a:gd name="T9" fmla="*/ 4 h 66"/>
              <a:gd name="T10" fmla="*/ 62 w 508"/>
              <a:gd name="T11" fmla="*/ 10 h 66"/>
              <a:gd name="T12" fmla="*/ 26 w 508"/>
              <a:gd name="T13" fmla="*/ 14 h 66"/>
              <a:gd name="T14" fmla="*/ 2 w 508"/>
              <a:gd name="T15" fmla="*/ 24 h 66"/>
              <a:gd name="T16" fmla="*/ 12 w 508"/>
              <a:gd name="T17" fmla="*/ 53 h 66"/>
              <a:gd name="T18" fmla="*/ 10 w 508"/>
              <a:gd name="T19" fmla="*/ 56 h 66"/>
              <a:gd name="T20" fmla="*/ 11 w 508"/>
              <a:gd name="T21" fmla="*/ 65 h 66"/>
              <a:gd name="T22" fmla="*/ 23 w 508"/>
              <a:gd name="T23" fmla="*/ 60 h 66"/>
              <a:gd name="T24" fmla="*/ 34 w 508"/>
              <a:gd name="T25" fmla="*/ 62 h 66"/>
              <a:gd name="T26" fmla="*/ 61 w 508"/>
              <a:gd name="T27" fmla="*/ 52 h 66"/>
              <a:gd name="T28" fmla="*/ 108 w 508"/>
              <a:gd name="T29" fmla="*/ 54 h 66"/>
              <a:gd name="T30" fmla="*/ 279 w 508"/>
              <a:gd name="T31" fmla="*/ 48 h 66"/>
              <a:gd name="T32" fmla="*/ 366 w 508"/>
              <a:gd name="T33" fmla="*/ 43 h 66"/>
              <a:gd name="T34" fmla="*/ 362 w 508"/>
              <a:gd name="T35" fmla="*/ 42 h 66"/>
              <a:gd name="T36" fmla="*/ 477 w 508"/>
              <a:gd name="T37" fmla="*/ 36 h 66"/>
              <a:gd name="T38" fmla="*/ 491 w 508"/>
              <a:gd name="T39" fmla="*/ 33 h 66"/>
              <a:gd name="T40" fmla="*/ 474 w 508"/>
              <a:gd name="T41" fmla="*/ 31 h 66"/>
              <a:gd name="T42" fmla="*/ 508 w 508"/>
              <a:gd name="T43" fmla="*/ 28 h 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508" h="66">
                <a:moveTo>
                  <a:pt x="508" y="28"/>
                </a:moveTo>
                <a:cubicBezTo>
                  <a:pt x="433" y="21"/>
                  <a:pt x="433" y="21"/>
                  <a:pt x="433" y="21"/>
                </a:cubicBezTo>
                <a:cubicBezTo>
                  <a:pt x="437" y="20"/>
                  <a:pt x="441" y="22"/>
                  <a:pt x="445" y="20"/>
                </a:cubicBezTo>
                <a:cubicBezTo>
                  <a:pt x="360" y="13"/>
                  <a:pt x="292" y="6"/>
                  <a:pt x="209" y="5"/>
                </a:cubicBezTo>
                <a:cubicBezTo>
                  <a:pt x="172" y="6"/>
                  <a:pt x="130" y="1"/>
                  <a:pt x="94" y="4"/>
                </a:cubicBezTo>
                <a:cubicBezTo>
                  <a:pt x="85" y="11"/>
                  <a:pt x="70" y="0"/>
                  <a:pt x="62" y="10"/>
                </a:cubicBezTo>
                <a:cubicBezTo>
                  <a:pt x="50" y="10"/>
                  <a:pt x="37" y="10"/>
                  <a:pt x="26" y="14"/>
                </a:cubicBezTo>
                <a:cubicBezTo>
                  <a:pt x="16" y="10"/>
                  <a:pt x="10" y="20"/>
                  <a:pt x="2" y="24"/>
                </a:cubicBezTo>
                <a:cubicBezTo>
                  <a:pt x="0" y="34"/>
                  <a:pt x="4" y="44"/>
                  <a:pt x="12" y="53"/>
                </a:cubicBezTo>
                <a:cubicBezTo>
                  <a:pt x="12" y="54"/>
                  <a:pt x="11" y="55"/>
                  <a:pt x="10" y="56"/>
                </a:cubicBezTo>
                <a:cubicBezTo>
                  <a:pt x="8" y="59"/>
                  <a:pt x="8" y="63"/>
                  <a:pt x="11" y="65"/>
                </a:cubicBezTo>
                <a:cubicBezTo>
                  <a:pt x="15" y="64"/>
                  <a:pt x="19" y="63"/>
                  <a:pt x="23" y="60"/>
                </a:cubicBezTo>
                <a:cubicBezTo>
                  <a:pt x="27" y="60"/>
                  <a:pt x="30" y="66"/>
                  <a:pt x="34" y="62"/>
                </a:cubicBezTo>
                <a:cubicBezTo>
                  <a:pt x="42" y="54"/>
                  <a:pt x="52" y="55"/>
                  <a:pt x="61" y="52"/>
                </a:cubicBezTo>
                <a:cubicBezTo>
                  <a:pt x="76" y="54"/>
                  <a:pt x="93" y="53"/>
                  <a:pt x="108" y="54"/>
                </a:cubicBezTo>
                <a:cubicBezTo>
                  <a:pt x="161" y="52"/>
                  <a:pt x="222" y="49"/>
                  <a:pt x="279" y="48"/>
                </a:cubicBezTo>
                <a:cubicBezTo>
                  <a:pt x="308" y="49"/>
                  <a:pt x="338" y="46"/>
                  <a:pt x="366" y="43"/>
                </a:cubicBezTo>
                <a:cubicBezTo>
                  <a:pt x="365" y="43"/>
                  <a:pt x="363" y="43"/>
                  <a:pt x="362" y="42"/>
                </a:cubicBezTo>
                <a:cubicBezTo>
                  <a:pt x="401" y="41"/>
                  <a:pt x="439" y="38"/>
                  <a:pt x="477" y="36"/>
                </a:cubicBezTo>
                <a:cubicBezTo>
                  <a:pt x="481" y="34"/>
                  <a:pt x="487" y="37"/>
                  <a:pt x="491" y="33"/>
                </a:cubicBezTo>
                <a:cubicBezTo>
                  <a:pt x="486" y="31"/>
                  <a:pt x="479" y="33"/>
                  <a:pt x="474" y="31"/>
                </a:cubicBezTo>
                <a:cubicBezTo>
                  <a:pt x="485" y="29"/>
                  <a:pt x="498" y="31"/>
                  <a:pt x="508" y="28"/>
                </a:cubicBezTo>
                <a:close/>
              </a:path>
            </a:pathLst>
          </a:custGeom>
          <a:solidFill>
            <a:srgbClr val="0070C0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defTabSz="457200">
              <a:lnSpc>
                <a:spcPct val="130000"/>
              </a:lnSpc>
            </a:pPr>
            <a:endParaRPr lang="zh-CN" altLang="en-US" dirty="0">
              <a:solidFill>
                <a:prstClr val="white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+mn-ea"/>
              <a:sym typeface="Times New Roman" panose="02020603050405020304" pitchFamily="18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6526635" y="4735646"/>
            <a:ext cx="2227055" cy="370546"/>
            <a:chOff x="4654427" y="4718860"/>
            <a:chExt cx="1663809" cy="276971"/>
          </a:xfrm>
        </p:grpSpPr>
        <p:grpSp>
          <p:nvGrpSpPr>
            <p:cNvPr id="12" name="组合 11"/>
            <p:cNvGrpSpPr/>
            <p:nvPr/>
          </p:nvGrpSpPr>
          <p:grpSpPr>
            <a:xfrm>
              <a:off x="4654427" y="4718860"/>
              <a:ext cx="276971" cy="276971"/>
              <a:chOff x="3725237" y="4930504"/>
              <a:chExt cx="531780" cy="531780"/>
            </a:xfrm>
          </p:grpSpPr>
          <p:sp>
            <p:nvSpPr>
              <p:cNvPr id="14" name="圆角矩形 2"/>
              <p:cNvSpPr/>
              <p:nvPr/>
            </p:nvSpPr>
            <p:spPr>
              <a:xfrm>
                <a:off x="3725237" y="4930504"/>
                <a:ext cx="531780" cy="531780"/>
              </a:xfrm>
              <a:prstGeom prst="ellipse">
                <a:avLst/>
              </a:prstGeom>
              <a:solidFill>
                <a:srgbClr val="0070C0"/>
              </a:solidFill>
              <a:ln w="25400" cap="flat" cmpd="sng" algn="ctr">
                <a:noFill/>
                <a:prstDash val="solid"/>
                <a:miter lim="800000"/>
              </a:ln>
              <a:effectLst>
                <a:outerShdw blurRad="177800" dist="101600" dir="8100000" algn="tr" rotWithShape="0">
                  <a:prstClr val="black">
                    <a:alpha val="30000"/>
                  </a:prstClr>
                </a:outerShdw>
              </a:effectLst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9pPr>
              </a:lstStyle>
              <a:p>
                <a:pPr algn="ctr" defTabSz="913765">
                  <a:defRPr/>
                </a:pPr>
                <a:endParaRPr lang="zh-CN" altLang="en-US" sz="1400" b="1" dirty="0">
                  <a:solidFill>
                    <a:srgbClr val="FFFFFF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endParaRPr>
              </a:p>
            </p:txBody>
          </p:sp>
          <p:sp>
            <p:nvSpPr>
              <p:cNvPr id="15" name="student-graduation-cap-shape_52041"/>
              <p:cNvSpPr>
                <a:spLocks noChangeAspect="1"/>
              </p:cNvSpPr>
              <p:nvPr/>
            </p:nvSpPr>
            <p:spPr bwMode="auto">
              <a:xfrm>
                <a:off x="3875605" y="5054575"/>
                <a:ext cx="219840" cy="264806"/>
              </a:xfrm>
              <a:custGeom>
                <a:avLst/>
                <a:gdLst>
                  <a:gd name="connsiteX0" fmla="*/ 56671 w 279400"/>
                  <a:gd name="connsiteY0" fmla="*/ 192087 h 336550"/>
                  <a:gd name="connsiteX1" fmla="*/ 224047 w 279400"/>
                  <a:gd name="connsiteY1" fmla="*/ 192087 h 336550"/>
                  <a:gd name="connsiteX2" fmla="*/ 279400 w 279400"/>
                  <a:gd name="connsiteY2" fmla="*/ 247752 h 336550"/>
                  <a:gd name="connsiteX3" fmla="*/ 279400 w 279400"/>
                  <a:gd name="connsiteY3" fmla="*/ 336550 h 336550"/>
                  <a:gd name="connsiteX4" fmla="*/ 176602 w 279400"/>
                  <a:gd name="connsiteY4" fmla="*/ 336550 h 336550"/>
                  <a:gd name="connsiteX5" fmla="*/ 158151 w 279400"/>
                  <a:gd name="connsiteY5" fmla="*/ 245101 h 336550"/>
                  <a:gd name="connsiteX6" fmla="*/ 151562 w 279400"/>
                  <a:gd name="connsiteY6" fmla="*/ 239800 h 336550"/>
                  <a:gd name="connsiteX7" fmla="*/ 167377 w 279400"/>
                  <a:gd name="connsiteY7" fmla="*/ 213293 h 336550"/>
                  <a:gd name="connsiteX8" fmla="*/ 167377 w 279400"/>
                  <a:gd name="connsiteY8" fmla="*/ 209317 h 336550"/>
                  <a:gd name="connsiteX9" fmla="*/ 163423 w 279400"/>
                  <a:gd name="connsiteY9" fmla="*/ 207991 h 336550"/>
                  <a:gd name="connsiteX10" fmla="*/ 121249 w 279400"/>
                  <a:gd name="connsiteY10" fmla="*/ 207991 h 336550"/>
                  <a:gd name="connsiteX11" fmla="*/ 118613 w 279400"/>
                  <a:gd name="connsiteY11" fmla="*/ 209317 h 336550"/>
                  <a:gd name="connsiteX12" fmla="*/ 118613 w 279400"/>
                  <a:gd name="connsiteY12" fmla="*/ 213293 h 336550"/>
                  <a:gd name="connsiteX13" fmla="*/ 134429 w 279400"/>
                  <a:gd name="connsiteY13" fmla="*/ 239800 h 336550"/>
                  <a:gd name="connsiteX14" fmla="*/ 126521 w 279400"/>
                  <a:gd name="connsiteY14" fmla="*/ 245101 h 336550"/>
                  <a:gd name="connsiteX15" fmla="*/ 110706 w 279400"/>
                  <a:gd name="connsiteY15" fmla="*/ 336550 h 336550"/>
                  <a:gd name="connsiteX16" fmla="*/ 0 w 279400"/>
                  <a:gd name="connsiteY16" fmla="*/ 336550 h 336550"/>
                  <a:gd name="connsiteX17" fmla="*/ 0 w 279400"/>
                  <a:gd name="connsiteY17" fmla="*/ 247752 h 336550"/>
                  <a:gd name="connsiteX18" fmla="*/ 56671 w 279400"/>
                  <a:gd name="connsiteY18" fmla="*/ 192087 h 336550"/>
                  <a:gd name="connsiteX19" fmla="*/ 138907 w 279400"/>
                  <a:gd name="connsiteY19" fmla="*/ 0 h 336550"/>
                  <a:gd name="connsiteX20" fmla="*/ 219076 w 279400"/>
                  <a:gd name="connsiteY20" fmla="*/ 80169 h 336550"/>
                  <a:gd name="connsiteX21" fmla="*/ 138907 w 279400"/>
                  <a:gd name="connsiteY21" fmla="*/ 160338 h 336550"/>
                  <a:gd name="connsiteX22" fmla="*/ 58738 w 279400"/>
                  <a:gd name="connsiteY22" fmla="*/ 80169 h 336550"/>
                  <a:gd name="connsiteX23" fmla="*/ 138907 w 279400"/>
                  <a:gd name="connsiteY23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79400" h="336550">
                    <a:moveTo>
                      <a:pt x="56671" y="192087"/>
                    </a:moveTo>
                    <a:cubicBezTo>
                      <a:pt x="56671" y="192087"/>
                      <a:pt x="56671" y="192087"/>
                      <a:pt x="224047" y="192087"/>
                    </a:cubicBezTo>
                    <a:cubicBezTo>
                      <a:pt x="254360" y="192087"/>
                      <a:pt x="279400" y="217269"/>
                      <a:pt x="279400" y="247752"/>
                    </a:cubicBezTo>
                    <a:cubicBezTo>
                      <a:pt x="279400" y="247752"/>
                      <a:pt x="279400" y="247752"/>
                      <a:pt x="279400" y="336550"/>
                    </a:cubicBezTo>
                    <a:cubicBezTo>
                      <a:pt x="279400" y="336550"/>
                      <a:pt x="279400" y="336550"/>
                      <a:pt x="176602" y="336550"/>
                    </a:cubicBezTo>
                    <a:cubicBezTo>
                      <a:pt x="176602" y="336550"/>
                      <a:pt x="176602" y="336550"/>
                      <a:pt x="158151" y="245101"/>
                    </a:cubicBezTo>
                    <a:cubicBezTo>
                      <a:pt x="158151" y="242450"/>
                      <a:pt x="154197" y="239800"/>
                      <a:pt x="151562" y="239800"/>
                    </a:cubicBezTo>
                    <a:cubicBezTo>
                      <a:pt x="151562" y="239800"/>
                      <a:pt x="151562" y="239800"/>
                      <a:pt x="167377" y="213293"/>
                    </a:cubicBezTo>
                    <a:cubicBezTo>
                      <a:pt x="167377" y="211967"/>
                      <a:pt x="167377" y="210642"/>
                      <a:pt x="167377" y="209317"/>
                    </a:cubicBezTo>
                    <a:cubicBezTo>
                      <a:pt x="166059" y="207991"/>
                      <a:pt x="164741" y="207991"/>
                      <a:pt x="163423" y="207991"/>
                    </a:cubicBezTo>
                    <a:cubicBezTo>
                      <a:pt x="163423" y="207991"/>
                      <a:pt x="163423" y="207991"/>
                      <a:pt x="121249" y="207991"/>
                    </a:cubicBezTo>
                    <a:cubicBezTo>
                      <a:pt x="119931" y="207991"/>
                      <a:pt x="118613" y="207991"/>
                      <a:pt x="118613" y="209317"/>
                    </a:cubicBezTo>
                    <a:cubicBezTo>
                      <a:pt x="117296" y="210642"/>
                      <a:pt x="117296" y="211967"/>
                      <a:pt x="118613" y="213293"/>
                    </a:cubicBezTo>
                    <a:cubicBezTo>
                      <a:pt x="118613" y="213293"/>
                      <a:pt x="118613" y="213293"/>
                      <a:pt x="134429" y="239800"/>
                    </a:cubicBezTo>
                    <a:cubicBezTo>
                      <a:pt x="130475" y="239800"/>
                      <a:pt x="127839" y="242450"/>
                      <a:pt x="126521" y="245101"/>
                    </a:cubicBezTo>
                    <a:cubicBezTo>
                      <a:pt x="126521" y="245101"/>
                      <a:pt x="126521" y="245101"/>
                      <a:pt x="110706" y="336550"/>
                    </a:cubicBezTo>
                    <a:cubicBezTo>
                      <a:pt x="110706" y="336550"/>
                      <a:pt x="110706" y="336550"/>
                      <a:pt x="0" y="336550"/>
                    </a:cubicBezTo>
                    <a:cubicBezTo>
                      <a:pt x="0" y="336550"/>
                      <a:pt x="0" y="336550"/>
                      <a:pt x="0" y="247752"/>
                    </a:cubicBezTo>
                    <a:cubicBezTo>
                      <a:pt x="0" y="217269"/>
                      <a:pt x="25040" y="192087"/>
                      <a:pt x="56671" y="192087"/>
                    </a:cubicBezTo>
                    <a:close/>
                    <a:moveTo>
                      <a:pt x="138907" y="0"/>
                    </a:moveTo>
                    <a:cubicBezTo>
                      <a:pt x="183183" y="0"/>
                      <a:pt x="219076" y="35893"/>
                      <a:pt x="219076" y="80169"/>
                    </a:cubicBezTo>
                    <a:cubicBezTo>
                      <a:pt x="219076" y="124445"/>
                      <a:pt x="183183" y="160338"/>
                      <a:pt x="138907" y="160338"/>
                    </a:cubicBezTo>
                    <a:cubicBezTo>
                      <a:pt x="94631" y="160338"/>
                      <a:pt x="58738" y="124445"/>
                      <a:pt x="58738" y="80169"/>
                    </a:cubicBezTo>
                    <a:cubicBezTo>
                      <a:pt x="58738" y="35893"/>
                      <a:pt x="94631" y="0"/>
                      <a:pt x="138907" y="0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9pPr>
              </a:lstStyle>
              <a:p>
                <a:pPr defTabSz="913765">
                  <a:defRPr/>
                </a:pPr>
                <a:endPara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endParaRPr>
              </a:p>
            </p:txBody>
          </p:sp>
        </p:grpSp>
        <p:sp>
          <p:nvSpPr>
            <p:cNvPr id="13" name="文本框 22"/>
            <p:cNvSpPr txBox="1"/>
            <p:nvPr/>
          </p:nvSpPr>
          <p:spPr>
            <a:xfrm>
              <a:off x="4925563" y="4732803"/>
              <a:ext cx="1392673" cy="2530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9pPr>
            </a:lstStyle>
            <a:p>
              <a:pPr defTabSz="913765">
                <a:defRPr/>
              </a:pPr>
              <a:r>
                <a:rPr lang="zh-CN" altLang="en-US" sz="1600" b="1" dirty="0">
                  <a:solidFill>
                    <a:sysClr val="windowText" lastClr="000000">
                      <a:lumMod val="75000"/>
                      <a:lumOff val="25000"/>
                    </a:sys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汇报人：罗睿思</a:t>
              </a: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9022660" y="4735646"/>
            <a:ext cx="2698615" cy="370765"/>
            <a:chOff x="6395842" y="4718860"/>
            <a:chExt cx="2016134" cy="276971"/>
          </a:xfrm>
        </p:grpSpPr>
        <p:grpSp>
          <p:nvGrpSpPr>
            <p:cNvPr id="17" name="组合 16"/>
            <p:cNvGrpSpPr/>
            <p:nvPr/>
          </p:nvGrpSpPr>
          <p:grpSpPr>
            <a:xfrm>
              <a:off x="6395842" y="4718860"/>
              <a:ext cx="276971" cy="276971"/>
              <a:chOff x="6392770" y="4930504"/>
              <a:chExt cx="531780" cy="531780"/>
            </a:xfrm>
          </p:grpSpPr>
          <p:sp>
            <p:nvSpPr>
              <p:cNvPr id="19" name="圆角矩形 2"/>
              <p:cNvSpPr/>
              <p:nvPr/>
            </p:nvSpPr>
            <p:spPr>
              <a:xfrm>
                <a:off x="6392770" y="4930504"/>
                <a:ext cx="531780" cy="531780"/>
              </a:xfrm>
              <a:prstGeom prst="ellipse">
                <a:avLst/>
              </a:prstGeom>
              <a:solidFill>
                <a:srgbClr val="0070C0"/>
              </a:solidFill>
              <a:ln w="25400" cap="flat" cmpd="sng" algn="ctr">
                <a:noFill/>
                <a:prstDash val="solid"/>
                <a:miter lim="800000"/>
              </a:ln>
              <a:effectLst>
                <a:outerShdw blurRad="177800" dist="101600" dir="8100000" algn="tr" rotWithShape="0">
                  <a:prstClr val="black">
                    <a:alpha val="30000"/>
                  </a:prstClr>
                </a:outerShdw>
              </a:effectLst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9pPr>
              </a:lstStyle>
              <a:p>
                <a:pPr algn="ctr" defTabSz="913765">
                  <a:defRPr/>
                </a:pPr>
                <a:endParaRPr lang="zh-CN" altLang="en-US" sz="1400" b="1" dirty="0">
                  <a:solidFill>
                    <a:srgbClr val="FFFFFF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endParaRPr>
              </a:p>
            </p:txBody>
          </p:sp>
          <p:sp>
            <p:nvSpPr>
              <p:cNvPr id="20" name="student-graduation-cap-shape_52041"/>
              <p:cNvSpPr>
                <a:spLocks noChangeAspect="1"/>
              </p:cNvSpPr>
              <p:nvPr/>
            </p:nvSpPr>
            <p:spPr bwMode="auto">
              <a:xfrm>
                <a:off x="6527005" y="5064598"/>
                <a:ext cx="256066" cy="264808"/>
              </a:xfrm>
              <a:custGeom>
                <a:avLst/>
                <a:gdLst>
                  <a:gd name="connsiteX0" fmla="*/ 233363 w 325438"/>
                  <a:gd name="connsiteY0" fmla="*/ 249238 h 336550"/>
                  <a:gd name="connsiteX1" fmla="*/ 279401 w 325438"/>
                  <a:gd name="connsiteY1" fmla="*/ 249238 h 336550"/>
                  <a:gd name="connsiteX2" fmla="*/ 279401 w 325438"/>
                  <a:gd name="connsiteY2" fmla="*/ 290513 h 336550"/>
                  <a:gd name="connsiteX3" fmla="*/ 233363 w 325438"/>
                  <a:gd name="connsiteY3" fmla="*/ 290513 h 336550"/>
                  <a:gd name="connsiteX4" fmla="*/ 171450 w 325438"/>
                  <a:gd name="connsiteY4" fmla="*/ 249238 h 336550"/>
                  <a:gd name="connsiteX5" fmla="*/ 217488 w 325438"/>
                  <a:gd name="connsiteY5" fmla="*/ 249238 h 336550"/>
                  <a:gd name="connsiteX6" fmla="*/ 217488 w 325438"/>
                  <a:gd name="connsiteY6" fmla="*/ 290513 h 336550"/>
                  <a:gd name="connsiteX7" fmla="*/ 171450 w 325438"/>
                  <a:gd name="connsiteY7" fmla="*/ 290513 h 336550"/>
                  <a:gd name="connsiteX8" fmla="*/ 107950 w 325438"/>
                  <a:gd name="connsiteY8" fmla="*/ 249238 h 336550"/>
                  <a:gd name="connsiteX9" fmla="*/ 155575 w 325438"/>
                  <a:gd name="connsiteY9" fmla="*/ 249238 h 336550"/>
                  <a:gd name="connsiteX10" fmla="*/ 155575 w 325438"/>
                  <a:gd name="connsiteY10" fmla="*/ 290513 h 336550"/>
                  <a:gd name="connsiteX11" fmla="*/ 107950 w 325438"/>
                  <a:gd name="connsiteY11" fmla="*/ 290513 h 336550"/>
                  <a:gd name="connsiteX12" fmla="*/ 46038 w 325438"/>
                  <a:gd name="connsiteY12" fmla="*/ 249238 h 336550"/>
                  <a:gd name="connsiteX13" fmla="*/ 93663 w 325438"/>
                  <a:gd name="connsiteY13" fmla="*/ 249238 h 336550"/>
                  <a:gd name="connsiteX14" fmla="*/ 93663 w 325438"/>
                  <a:gd name="connsiteY14" fmla="*/ 290513 h 336550"/>
                  <a:gd name="connsiteX15" fmla="*/ 46038 w 325438"/>
                  <a:gd name="connsiteY15" fmla="*/ 290513 h 336550"/>
                  <a:gd name="connsiteX16" fmla="*/ 233363 w 325438"/>
                  <a:gd name="connsiteY16" fmla="*/ 195263 h 336550"/>
                  <a:gd name="connsiteX17" fmla="*/ 279401 w 325438"/>
                  <a:gd name="connsiteY17" fmla="*/ 195263 h 336550"/>
                  <a:gd name="connsiteX18" fmla="*/ 279401 w 325438"/>
                  <a:gd name="connsiteY18" fmla="*/ 234951 h 336550"/>
                  <a:gd name="connsiteX19" fmla="*/ 233363 w 325438"/>
                  <a:gd name="connsiteY19" fmla="*/ 234951 h 336550"/>
                  <a:gd name="connsiteX20" fmla="*/ 171450 w 325438"/>
                  <a:gd name="connsiteY20" fmla="*/ 195263 h 336550"/>
                  <a:gd name="connsiteX21" fmla="*/ 217488 w 325438"/>
                  <a:gd name="connsiteY21" fmla="*/ 195263 h 336550"/>
                  <a:gd name="connsiteX22" fmla="*/ 217488 w 325438"/>
                  <a:gd name="connsiteY22" fmla="*/ 234951 h 336550"/>
                  <a:gd name="connsiteX23" fmla="*/ 171450 w 325438"/>
                  <a:gd name="connsiteY23" fmla="*/ 234951 h 336550"/>
                  <a:gd name="connsiteX24" fmla="*/ 107950 w 325438"/>
                  <a:gd name="connsiteY24" fmla="*/ 195263 h 336550"/>
                  <a:gd name="connsiteX25" fmla="*/ 155575 w 325438"/>
                  <a:gd name="connsiteY25" fmla="*/ 195263 h 336550"/>
                  <a:gd name="connsiteX26" fmla="*/ 155575 w 325438"/>
                  <a:gd name="connsiteY26" fmla="*/ 234951 h 336550"/>
                  <a:gd name="connsiteX27" fmla="*/ 107950 w 325438"/>
                  <a:gd name="connsiteY27" fmla="*/ 234951 h 336550"/>
                  <a:gd name="connsiteX28" fmla="*/ 46038 w 325438"/>
                  <a:gd name="connsiteY28" fmla="*/ 195263 h 336550"/>
                  <a:gd name="connsiteX29" fmla="*/ 93663 w 325438"/>
                  <a:gd name="connsiteY29" fmla="*/ 195263 h 336550"/>
                  <a:gd name="connsiteX30" fmla="*/ 93663 w 325438"/>
                  <a:gd name="connsiteY30" fmla="*/ 234951 h 336550"/>
                  <a:gd name="connsiteX31" fmla="*/ 46038 w 325438"/>
                  <a:gd name="connsiteY31" fmla="*/ 234951 h 336550"/>
                  <a:gd name="connsiteX32" fmla="*/ 233363 w 325438"/>
                  <a:gd name="connsiteY32" fmla="*/ 139700 h 336550"/>
                  <a:gd name="connsiteX33" fmla="*/ 279401 w 325438"/>
                  <a:gd name="connsiteY33" fmla="*/ 139700 h 336550"/>
                  <a:gd name="connsiteX34" fmla="*/ 279401 w 325438"/>
                  <a:gd name="connsiteY34" fmla="*/ 180975 h 336550"/>
                  <a:gd name="connsiteX35" fmla="*/ 233363 w 325438"/>
                  <a:gd name="connsiteY35" fmla="*/ 180975 h 336550"/>
                  <a:gd name="connsiteX36" fmla="*/ 171450 w 325438"/>
                  <a:gd name="connsiteY36" fmla="*/ 139700 h 336550"/>
                  <a:gd name="connsiteX37" fmla="*/ 217488 w 325438"/>
                  <a:gd name="connsiteY37" fmla="*/ 139700 h 336550"/>
                  <a:gd name="connsiteX38" fmla="*/ 217488 w 325438"/>
                  <a:gd name="connsiteY38" fmla="*/ 180975 h 336550"/>
                  <a:gd name="connsiteX39" fmla="*/ 171450 w 325438"/>
                  <a:gd name="connsiteY39" fmla="*/ 180975 h 336550"/>
                  <a:gd name="connsiteX40" fmla="*/ 107950 w 325438"/>
                  <a:gd name="connsiteY40" fmla="*/ 139700 h 336550"/>
                  <a:gd name="connsiteX41" fmla="*/ 155575 w 325438"/>
                  <a:gd name="connsiteY41" fmla="*/ 139700 h 336550"/>
                  <a:gd name="connsiteX42" fmla="*/ 155575 w 325438"/>
                  <a:gd name="connsiteY42" fmla="*/ 180975 h 336550"/>
                  <a:gd name="connsiteX43" fmla="*/ 107950 w 325438"/>
                  <a:gd name="connsiteY43" fmla="*/ 180975 h 336550"/>
                  <a:gd name="connsiteX44" fmla="*/ 49167 w 325438"/>
                  <a:gd name="connsiteY44" fmla="*/ 38100 h 336550"/>
                  <a:gd name="connsiteX45" fmla="*/ 25400 w 325438"/>
                  <a:gd name="connsiteY45" fmla="*/ 61753 h 336550"/>
                  <a:gd name="connsiteX46" fmla="*/ 25400 w 325438"/>
                  <a:gd name="connsiteY46" fmla="*/ 289085 h 336550"/>
                  <a:gd name="connsiteX47" fmla="*/ 49167 w 325438"/>
                  <a:gd name="connsiteY47" fmla="*/ 312738 h 336550"/>
                  <a:gd name="connsiteX48" fmla="*/ 276271 w 325438"/>
                  <a:gd name="connsiteY48" fmla="*/ 312738 h 336550"/>
                  <a:gd name="connsiteX49" fmla="*/ 300038 w 325438"/>
                  <a:gd name="connsiteY49" fmla="*/ 289085 h 336550"/>
                  <a:gd name="connsiteX50" fmla="*/ 300038 w 325438"/>
                  <a:gd name="connsiteY50" fmla="*/ 61753 h 336550"/>
                  <a:gd name="connsiteX51" fmla="*/ 276271 w 325438"/>
                  <a:gd name="connsiteY51" fmla="*/ 38100 h 336550"/>
                  <a:gd name="connsiteX52" fmla="*/ 269669 w 325438"/>
                  <a:gd name="connsiteY52" fmla="*/ 38100 h 336550"/>
                  <a:gd name="connsiteX53" fmla="*/ 269669 w 325438"/>
                  <a:gd name="connsiteY53" fmla="*/ 63067 h 336550"/>
                  <a:gd name="connsiteX54" fmla="*/ 276271 w 325438"/>
                  <a:gd name="connsiteY54" fmla="*/ 74894 h 336550"/>
                  <a:gd name="connsiteX55" fmla="*/ 260427 w 325438"/>
                  <a:gd name="connsiteY55" fmla="*/ 90662 h 336550"/>
                  <a:gd name="connsiteX56" fmla="*/ 244582 w 325438"/>
                  <a:gd name="connsiteY56" fmla="*/ 74894 h 336550"/>
                  <a:gd name="connsiteX57" fmla="*/ 249864 w 325438"/>
                  <a:gd name="connsiteY57" fmla="*/ 63067 h 336550"/>
                  <a:gd name="connsiteX58" fmla="*/ 249864 w 325438"/>
                  <a:gd name="connsiteY58" fmla="*/ 38100 h 336550"/>
                  <a:gd name="connsiteX59" fmla="*/ 231379 w 325438"/>
                  <a:gd name="connsiteY59" fmla="*/ 38100 h 336550"/>
                  <a:gd name="connsiteX60" fmla="*/ 231379 w 325438"/>
                  <a:gd name="connsiteY60" fmla="*/ 63067 h 336550"/>
                  <a:gd name="connsiteX61" fmla="*/ 236660 w 325438"/>
                  <a:gd name="connsiteY61" fmla="*/ 74894 h 336550"/>
                  <a:gd name="connsiteX62" fmla="*/ 220816 w 325438"/>
                  <a:gd name="connsiteY62" fmla="*/ 90662 h 336550"/>
                  <a:gd name="connsiteX63" fmla="*/ 204971 w 325438"/>
                  <a:gd name="connsiteY63" fmla="*/ 74894 h 336550"/>
                  <a:gd name="connsiteX64" fmla="*/ 210253 w 325438"/>
                  <a:gd name="connsiteY64" fmla="*/ 63067 h 336550"/>
                  <a:gd name="connsiteX65" fmla="*/ 210253 w 325438"/>
                  <a:gd name="connsiteY65" fmla="*/ 38100 h 336550"/>
                  <a:gd name="connsiteX66" fmla="*/ 191767 w 325438"/>
                  <a:gd name="connsiteY66" fmla="*/ 38100 h 336550"/>
                  <a:gd name="connsiteX67" fmla="*/ 191767 w 325438"/>
                  <a:gd name="connsiteY67" fmla="*/ 63067 h 336550"/>
                  <a:gd name="connsiteX68" fmla="*/ 198369 w 325438"/>
                  <a:gd name="connsiteY68" fmla="*/ 74894 h 336550"/>
                  <a:gd name="connsiteX69" fmla="*/ 182525 w 325438"/>
                  <a:gd name="connsiteY69" fmla="*/ 90662 h 336550"/>
                  <a:gd name="connsiteX70" fmla="*/ 166680 w 325438"/>
                  <a:gd name="connsiteY70" fmla="*/ 74894 h 336550"/>
                  <a:gd name="connsiteX71" fmla="*/ 171962 w 325438"/>
                  <a:gd name="connsiteY71" fmla="*/ 63067 h 336550"/>
                  <a:gd name="connsiteX72" fmla="*/ 171962 w 325438"/>
                  <a:gd name="connsiteY72" fmla="*/ 38100 h 336550"/>
                  <a:gd name="connsiteX73" fmla="*/ 153476 w 325438"/>
                  <a:gd name="connsiteY73" fmla="*/ 38100 h 336550"/>
                  <a:gd name="connsiteX74" fmla="*/ 153476 w 325438"/>
                  <a:gd name="connsiteY74" fmla="*/ 63067 h 336550"/>
                  <a:gd name="connsiteX75" fmla="*/ 158758 w 325438"/>
                  <a:gd name="connsiteY75" fmla="*/ 74894 h 336550"/>
                  <a:gd name="connsiteX76" fmla="*/ 142913 w 325438"/>
                  <a:gd name="connsiteY76" fmla="*/ 90662 h 336550"/>
                  <a:gd name="connsiteX77" fmla="*/ 127069 w 325438"/>
                  <a:gd name="connsiteY77" fmla="*/ 74894 h 336550"/>
                  <a:gd name="connsiteX78" fmla="*/ 133671 w 325438"/>
                  <a:gd name="connsiteY78" fmla="*/ 63067 h 336550"/>
                  <a:gd name="connsiteX79" fmla="*/ 133671 w 325438"/>
                  <a:gd name="connsiteY79" fmla="*/ 38100 h 336550"/>
                  <a:gd name="connsiteX80" fmla="*/ 115186 w 325438"/>
                  <a:gd name="connsiteY80" fmla="*/ 38100 h 336550"/>
                  <a:gd name="connsiteX81" fmla="*/ 115186 w 325438"/>
                  <a:gd name="connsiteY81" fmla="*/ 63067 h 336550"/>
                  <a:gd name="connsiteX82" fmla="*/ 120467 w 325438"/>
                  <a:gd name="connsiteY82" fmla="*/ 74894 h 336550"/>
                  <a:gd name="connsiteX83" fmla="*/ 104623 w 325438"/>
                  <a:gd name="connsiteY83" fmla="*/ 90662 h 336550"/>
                  <a:gd name="connsiteX84" fmla="*/ 88778 w 325438"/>
                  <a:gd name="connsiteY84" fmla="*/ 74894 h 336550"/>
                  <a:gd name="connsiteX85" fmla="*/ 94060 w 325438"/>
                  <a:gd name="connsiteY85" fmla="*/ 63067 h 336550"/>
                  <a:gd name="connsiteX86" fmla="*/ 94060 w 325438"/>
                  <a:gd name="connsiteY86" fmla="*/ 38100 h 336550"/>
                  <a:gd name="connsiteX87" fmla="*/ 75574 w 325438"/>
                  <a:gd name="connsiteY87" fmla="*/ 38100 h 336550"/>
                  <a:gd name="connsiteX88" fmla="*/ 75574 w 325438"/>
                  <a:gd name="connsiteY88" fmla="*/ 63067 h 336550"/>
                  <a:gd name="connsiteX89" fmla="*/ 80856 w 325438"/>
                  <a:gd name="connsiteY89" fmla="*/ 74894 h 336550"/>
                  <a:gd name="connsiteX90" fmla="*/ 65011 w 325438"/>
                  <a:gd name="connsiteY90" fmla="*/ 90662 h 336550"/>
                  <a:gd name="connsiteX91" fmla="*/ 49167 w 325438"/>
                  <a:gd name="connsiteY91" fmla="*/ 74894 h 336550"/>
                  <a:gd name="connsiteX92" fmla="*/ 55769 w 325438"/>
                  <a:gd name="connsiteY92" fmla="*/ 63067 h 336550"/>
                  <a:gd name="connsiteX93" fmla="*/ 55769 w 325438"/>
                  <a:gd name="connsiteY93" fmla="*/ 38100 h 336550"/>
                  <a:gd name="connsiteX94" fmla="*/ 49167 w 325438"/>
                  <a:gd name="connsiteY94" fmla="*/ 38100 h 336550"/>
                  <a:gd name="connsiteX95" fmla="*/ 65315 w 325438"/>
                  <a:gd name="connsiteY95" fmla="*/ 4763 h 336550"/>
                  <a:gd name="connsiteX96" fmla="*/ 61913 w 325438"/>
                  <a:gd name="connsiteY96" fmla="*/ 10110 h 336550"/>
                  <a:gd name="connsiteX97" fmla="*/ 61913 w 325438"/>
                  <a:gd name="connsiteY97" fmla="*/ 75616 h 336550"/>
                  <a:gd name="connsiteX98" fmla="*/ 65315 w 325438"/>
                  <a:gd name="connsiteY98" fmla="*/ 80963 h 336550"/>
                  <a:gd name="connsiteX99" fmla="*/ 69851 w 325438"/>
                  <a:gd name="connsiteY99" fmla="*/ 75616 h 336550"/>
                  <a:gd name="connsiteX100" fmla="*/ 69851 w 325438"/>
                  <a:gd name="connsiteY100" fmla="*/ 10110 h 336550"/>
                  <a:gd name="connsiteX101" fmla="*/ 65315 w 325438"/>
                  <a:gd name="connsiteY101" fmla="*/ 4763 h 336550"/>
                  <a:gd name="connsiteX102" fmla="*/ 104776 w 325438"/>
                  <a:gd name="connsiteY102" fmla="*/ 4763 h 336550"/>
                  <a:gd name="connsiteX103" fmla="*/ 100013 w 325438"/>
                  <a:gd name="connsiteY103" fmla="*/ 10110 h 336550"/>
                  <a:gd name="connsiteX104" fmla="*/ 100013 w 325438"/>
                  <a:gd name="connsiteY104" fmla="*/ 75616 h 336550"/>
                  <a:gd name="connsiteX105" fmla="*/ 104776 w 325438"/>
                  <a:gd name="connsiteY105" fmla="*/ 80963 h 336550"/>
                  <a:gd name="connsiteX106" fmla="*/ 109538 w 325438"/>
                  <a:gd name="connsiteY106" fmla="*/ 75616 h 336550"/>
                  <a:gd name="connsiteX107" fmla="*/ 109538 w 325438"/>
                  <a:gd name="connsiteY107" fmla="*/ 10110 h 336550"/>
                  <a:gd name="connsiteX108" fmla="*/ 104776 w 325438"/>
                  <a:gd name="connsiteY108" fmla="*/ 4763 h 336550"/>
                  <a:gd name="connsiteX109" fmla="*/ 142876 w 325438"/>
                  <a:gd name="connsiteY109" fmla="*/ 4763 h 336550"/>
                  <a:gd name="connsiteX110" fmla="*/ 138113 w 325438"/>
                  <a:gd name="connsiteY110" fmla="*/ 10110 h 336550"/>
                  <a:gd name="connsiteX111" fmla="*/ 138113 w 325438"/>
                  <a:gd name="connsiteY111" fmla="*/ 75616 h 336550"/>
                  <a:gd name="connsiteX112" fmla="*/ 142876 w 325438"/>
                  <a:gd name="connsiteY112" fmla="*/ 80963 h 336550"/>
                  <a:gd name="connsiteX113" fmla="*/ 147638 w 325438"/>
                  <a:gd name="connsiteY113" fmla="*/ 75616 h 336550"/>
                  <a:gd name="connsiteX114" fmla="*/ 147638 w 325438"/>
                  <a:gd name="connsiteY114" fmla="*/ 10110 h 336550"/>
                  <a:gd name="connsiteX115" fmla="*/ 142876 w 325438"/>
                  <a:gd name="connsiteY115" fmla="*/ 4763 h 336550"/>
                  <a:gd name="connsiteX116" fmla="*/ 182563 w 325438"/>
                  <a:gd name="connsiteY116" fmla="*/ 4763 h 336550"/>
                  <a:gd name="connsiteX117" fmla="*/ 177800 w 325438"/>
                  <a:gd name="connsiteY117" fmla="*/ 10110 h 336550"/>
                  <a:gd name="connsiteX118" fmla="*/ 177800 w 325438"/>
                  <a:gd name="connsiteY118" fmla="*/ 75616 h 336550"/>
                  <a:gd name="connsiteX119" fmla="*/ 182563 w 325438"/>
                  <a:gd name="connsiteY119" fmla="*/ 80963 h 336550"/>
                  <a:gd name="connsiteX120" fmla="*/ 187325 w 325438"/>
                  <a:gd name="connsiteY120" fmla="*/ 75616 h 336550"/>
                  <a:gd name="connsiteX121" fmla="*/ 187325 w 325438"/>
                  <a:gd name="connsiteY121" fmla="*/ 10110 h 336550"/>
                  <a:gd name="connsiteX122" fmla="*/ 182563 w 325438"/>
                  <a:gd name="connsiteY122" fmla="*/ 4763 h 336550"/>
                  <a:gd name="connsiteX123" fmla="*/ 220663 w 325438"/>
                  <a:gd name="connsiteY123" fmla="*/ 4763 h 336550"/>
                  <a:gd name="connsiteX124" fmla="*/ 215900 w 325438"/>
                  <a:gd name="connsiteY124" fmla="*/ 10110 h 336550"/>
                  <a:gd name="connsiteX125" fmla="*/ 215900 w 325438"/>
                  <a:gd name="connsiteY125" fmla="*/ 75616 h 336550"/>
                  <a:gd name="connsiteX126" fmla="*/ 220663 w 325438"/>
                  <a:gd name="connsiteY126" fmla="*/ 80963 h 336550"/>
                  <a:gd name="connsiteX127" fmla="*/ 225425 w 325438"/>
                  <a:gd name="connsiteY127" fmla="*/ 75616 h 336550"/>
                  <a:gd name="connsiteX128" fmla="*/ 225425 w 325438"/>
                  <a:gd name="connsiteY128" fmla="*/ 10110 h 336550"/>
                  <a:gd name="connsiteX129" fmla="*/ 220663 w 325438"/>
                  <a:gd name="connsiteY129" fmla="*/ 4763 h 336550"/>
                  <a:gd name="connsiteX130" fmla="*/ 260124 w 325438"/>
                  <a:gd name="connsiteY130" fmla="*/ 4763 h 336550"/>
                  <a:gd name="connsiteX131" fmla="*/ 255588 w 325438"/>
                  <a:gd name="connsiteY131" fmla="*/ 10110 h 336550"/>
                  <a:gd name="connsiteX132" fmla="*/ 255588 w 325438"/>
                  <a:gd name="connsiteY132" fmla="*/ 75616 h 336550"/>
                  <a:gd name="connsiteX133" fmla="*/ 260124 w 325438"/>
                  <a:gd name="connsiteY133" fmla="*/ 80963 h 336550"/>
                  <a:gd name="connsiteX134" fmla="*/ 263526 w 325438"/>
                  <a:gd name="connsiteY134" fmla="*/ 75616 h 336550"/>
                  <a:gd name="connsiteX135" fmla="*/ 263526 w 325438"/>
                  <a:gd name="connsiteY135" fmla="*/ 10110 h 336550"/>
                  <a:gd name="connsiteX136" fmla="*/ 260124 w 325438"/>
                  <a:gd name="connsiteY136" fmla="*/ 4763 h 336550"/>
                  <a:gd name="connsiteX137" fmla="*/ 64823 w 325438"/>
                  <a:gd name="connsiteY137" fmla="*/ 0 h 336550"/>
                  <a:gd name="connsiteX138" fmla="*/ 75406 w 325438"/>
                  <a:gd name="connsiteY138" fmla="*/ 10517 h 336550"/>
                  <a:gd name="connsiteX139" fmla="*/ 75406 w 325438"/>
                  <a:gd name="connsiteY139" fmla="*/ 14461 h 336550"/>
                  <a:gd name="connsiteX140" fmla="*/ 93927 w 325438"/>
                  <a:gd name="connsiteY140" fmla="*/ 14461 h 336550"/>
                  <a:gd name="connsiteX141" fmla="*/ 93927 w 325438"/>
                  <a:gd name="connsiteY141" fmla="*/ 10517 h 336550"/>
                  <a:gd name="connsiteX142" fmla="*/ 104511 w 325438"/>
                  <a:gd name="connsiteY142" fmla="*/ 0 h 336550"/>
                  <a:gd name="connsiteX143" fmla="*/ 115094 w 325438"/>
                  <a:gd name="connsiteY143" fmla="*/ 10517 h 336550"/>
                  <a:gd name="connsiteX144" fmla="*/ 115094 w 325438"/>
                  <a:gd name="connsiteY144" fmla="*/ 14461 h 336550"/>
                  <a:gd name="connsiteX145" fmla="*/ 133615 w 325438"/>
                  <a:gd name="connsiteY145" fmla="*/ 14461 h 336550"/>
                  <a:gd name="connsiteX146" fmla="*/ 133615 w 325438"/>
                  <a:gd name="connsiteY146" fmla="*/ 10517 h 336550"/>
                  <a:gd name="connsiteX147" fmla="*/ 142875 w 325438"/>
                  <a:gd name="connsiteY147" fmla="*/ 0 h 336550"/>
                  <a:gd name="connsiteX148" fmla="*/ 153459 w 325438"/>
                  <a:gd name="connsiteY148" fmla="*/ 10517 h 336550"/>
                  <a:gd name="connsiteX149" fmla="*/ 153459 w 325438"/>
                  <a:gd name="connsiteY149" fmla="*/ 14461 h 336550"/>
                  <a:gd name="connsiteX150" fmla="*/ 171980 w 325438"/>
                  <a:gd name="connsiteY150" fmla="*/ 14461 h 336550"/>
                  <a:gd name="connsiteX151" fmla="*/ 171980 w 325438"/>
                  <a:gd name="connsiteY151" fmla="*/ 10517 h 336550"/>
                  <a:gd name="connsiteX152" fmla="*/ 182563 w 325438"/>
                  <a:gd name="connsiteY152" fmla="*/ 0 h 336550"/>
                  <a:gd name="connsiteX153" fmla="*/ 191823 w 325438"/>
                  <a:gd name="connsiteY153" fmla="*/ 10517 h 336550"/>
                  <a:gd name="connsiteX154" fmla="*/ 191823 w 325438"/>
                  <a:gd name="connsiteY154" fmla="*/ 14461 h 336550"/>
                  <a:gd name="connsiteX155" fmla="*/ 210344 w 325438"/>
                  <a:gd name="connsiteY155" fmla="*/ 14461 h 336550"/>
                  <a:gd name="connsiteX156" fmla="*/ 210344 w 325438"/>
                  <a:gd name="connsiteY156" fmla="*/ 10517 h 336550"/>
                  <a:gd name="connsiteX157" fmla="*/ 220927 w 325438"/>
                  <a:gd name="connsiteY157" fmla="*/ 0 h 336550"/>
                  <a:gd name="connsiteX158" fmla="*/ 231511 w 325438"/>
                  <a:gd name="connsiteY158" fmla="*/ 10517 h 336550"/>
                  <a:gd name="connsiteX159" fmla="*/ 231511 w 325438"/>
                  <a:gd name="connsiteY159" fmla="*/ 14461 h 336550"/>
                  <a:gd name="connsiteX160" fmla="*/ 250032 w 325438"/>
                  <a:gd name="connsiteY160" fmla="*/ 14461 h 336550"/>
                  <a:gd name="connsiteX161" fmla="*/ 250032 w 325438"/>
                  <a:gd name="connsiteY161" fmla="*/ 10517 h 336550"/>
                  <a:gd name="connsiteX162" fmla="*/ 260615 w 325438"/>
                  <a:gd name="connsiteY162" fmla="*/ 0 h 336550"/>
                  <a:gd name="connsiteX163" fmla="*/ 269875 w 325438"/>
                  <a:gd name="connsiteY163" fmla="*/ 10517 h 336550"/>
                  <a:gd name="connsiteX164" fmla="*/ 269875 w 325438"/>
                  <a:gd name="connsiteY164" fmla="*/ 14461 h 336550"/>
                  <a:gd name="connsiteX165" fmla="*/ 276490 w 325438"/>
                  <a:gd name="connsiteY165" fmla="*/ 14461 h 336550"/>
                  <a:gd name="connsiteX166" fmla="*/ 325438 w 325438"/>
                  <a:gd name="connsiteY166" fmla="*/ 61789 h 336550"/>
                  <a:gd name="connsiteX167" fmla="*/ 325438 w 325438"/>
                  <a:gd name="connsiteY167" fmla="*/ 289223 h 336550"/>
                  <a:gd name="connsiteX168" fmla="*/ 276490 w 325438"/>
                  <a:gd name="connsiteY168" fmla="*/ 336550 h 336550"/>
                  <a:gd name="connsiteX169" fmla="*/ 48948 w 325438"/>
                  <a:gd name="connsiteY169" fmla="*/ 336550 h 336550"/>
                  <a:gd name="connsiteX170" fmla="*/ 0 w 325438"/>
                  <a:gd name="connsiteY170" fmla="*/ 289223 h 336550"/>
                  <a:gd name="connsiteX171" fmla="*/ 0 w 325438"/>
                  <a:gd name="connsiteY171" fmla="*/ 61789 h 336550"/>
                  <a:gd name="connsiteX172" fmla="*/ 48948 w 325438"/>
                  <a:gd name="connsiteY172" fmla="*/ 14461 h 336550"/>
                  <a:gd name="connsiteX173" fmla="*/ 55563 w 325438"/>
                  <a:gd name="connsiteY173" fmla="*/ 14461 h 336550"/>
                  <a:gd name="connsiteX174" fmla="*/ 55563 w 325438"/>
                  <a:gd name="connsiteY174" fmla="*/ 10517 h 336550"/>
                  <a:gd name="connsiteX175" fmla="*/ 64823 w 325438"/>
                  <a:gd name="connsiteY175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</a:cxnLst>
                <a:rect l="l" t="t" r="r" b="b"/>
                <a:pathLst>
                  <a:path w="325438" h="336550">
                    <a:moveTo>
                      <a:pt x="233363" y="249238"/>
                    </a:moveTo>
                    <a:lnTo>
                      <a:pt x="279401" y="249238"/>
                    </a:lnTo>
                    <a:lnTo>
                      <a:pt x="279401" y="290513"/>
                    </a:lnTo>
                    <a:lnTo>
                      <a:pt x="233363" y="290513"/>
                    </a:lnTo>
                    <a:close/>
                    <a:moveTo>
                      <a:pt x="171450" y="249238"/>
                    </a:moveTo>
                    <a:lnTo>
                      <a:pt x="217488" y="249238"/>
                    </a:lnTo>
                    <a:lnTo>
                      <a:pt x="217488" y="290513"/>
                    </a:lnTo>
                    <a:lnTo>
                      <a:pt x="171450" y="290513"/>
                    </a:lnTo>
                    <a:close/>
                    <a:moveTo>
                      <a:pt x="107950" y="249238"/>
                    </a:moveTo>
                    <a:lnTo>
                      <a:pt x="155575" y="249238"/>
                    </a:lnTo>
                    <a:lnTo>
                      <a:pt x="155575" y="290513"/>
                    </a:lnTo>
                    <a:lnTo>
                      <a:pt x="107950" y="290513"/>
                    </a:lnTo>
                    <a:close/>
                    <a:moveTo>
                      <a:pt x="46038" y="249238"/>
                    </a:moveTo>
                    <a:lnTo>
                      <a:pt x="93663" y="249238"/>
                    </a:lnTo>
                    <a:lnTo>
                      <a:pt x="93663" y="290513"/>
                    </a:lnTo>
                    <a:lnTo>
                      <a:pt x="46038" y="290513"/>
                    </a:lnTo>
                    <a:close/>
                    <a:moveTo>
                      <a:pt x="233363" y="195263"/>
                    </a:moveTo>
                    <a:lnTo>
                      <a:pt x="279401" y="195263"/>
                    </a:lnTo>
                    <a:lnTo>
                      <a:pt x="279401" y="234951"/>
                    </a:lnTo>
                    <a:lnTo>
                      <a:pt x="233363" y="234951"/>
                    </a:lnTo>
                    <a:close/>
                    <a:moveTo>
                      <a:pt x="171450" y="195263"/>
                    </a:moveTo>
                    <a:lnTo>
                      <a:pt x="217488" y="195263"/>
                    </a:lnTo>
                    <a:lnTo>
                      <a:pt x="217488" y="234951"/>
                    </a:lnTo>
                    <a:lnTo>
                      <a:pt x="171450" y="234951"/>
                    </a:lnTo>
                    <a:close/>
                    <a:moveTo>
                      <a:pt x="107950" y="195263"/>
                    </a:moveTo>
                    <a:lnTo>
                      <a:pt x="155575" y="195263"/>
                    </a:lnTo>
                    <a:lnTo>
                      <a:pt x="155575" y="234951"/>
                    </a:lnTo>
                    <a:lnTo>
                      <a:pt x="107950" y="234951"/>
                    </a:lnTo>
                    <a:close/>
                    <a:moveTo>
                      <a:pt x="46038" y="195263"/>
                    </a:moveTo>
                    <a:lnTo>
                      <a:pt x="93663" y="195263"/>
                    </a:lnTo>
                    <a:lnTo>
                      <a:pt x="93663" y="234951"/>
                    </a:lnTo>
                    <a:lnTo>
                      <a:pt x="46038" y="234951"/>
                    </a:lnTo>
                    <a:close/>
                    <a:moveTo>
                      <a:pt x="233363" y="139700"/>
                    </a:moveTo>
                    <a:lnTo>
                      <a:pt x="279401" y="139700"/>
                    </a:lnTo>
                    <a:lnTo>
                      <a:pt x="279401" y="180975"/>
                    </a:lnTo>
                    <a:lnTo>
                      <a:pt x="233363" y="180975"/>
                    </a:lnTo>
                    <a:close/>
                    <a:moveTo>
                      <a:pt x="171450" y="139700"/>
                    </a:moveTo>
                    <a:lnTo>
                      <a:pt x="217488" y="139700"/>
                    </a:lnTo>
                    <a:lnTo>
                      <a:pt x="217488" y="180975"/>
                    </a:lnTo>
                    <a:lnTo>
                      <a:pt x="171450" y="180975"/>
                    </a:lnTo>
                    <a:close/>
                    <a:moveTo>
                      <a:pt x="107950" y="139700"/>
                    </a:moveTo>
                    <a:lnTo>
                      <a:pt x="155575" y="139700"/>
                    </a:lnTo>
                    <a:lnTo>
                      <a:pt x="155575" y="180975"/>
                    </a:lnTo>
                    <a:lnTo>
                      <a:pt x="107950" y="180975"/>
                    </a:lnTo>
                    <a:close/>
                    <a:moveTo>
                      <a:pt x="49167" y="38100"/>
                    </a:moveTo>
                    <a:cubicBezTo>
                      <a:pt x="35963" y="38100"/>
                      <a:pt x="25400" y="48613"/>
                      <a:pt x="25400" y="61753"/>
                    </a:cubicBezTo>
                    <a:cubicBezTo>
                      <a:pt x="25400" y="61753"/>
                      <a:pt x="25400" y="61753"/>
                      <a:pt x="25400" y="289085"/>
                    </a:cubicBezTo>
                    <a:cubicBezTo>
                      <a:pt x="25400" y="302226"/>
                      <a:pt x="35963" y="312738"/>
                      <a:pt x="49167" y="312738"/>
                    </a:cubicBezTo>
                    <a:cubicBezTo>
                      <a:pt x="49167" y="312738"/>
                      <a:pt x="49167" y="312738"/>
                      <a:pt x="276271" y="312738"/>
                    </a:cubicBezTo>
                    <a:cubicBezTo>
                      <a:pt x="289475" y="312738"/>
                      <a:pt x="300038" y="302226"/>
                      <a:pt x="300038" y="289085"/>
                    </a:cubicBezTo>
                    <a:cubicBezTo>
                      <a:pt x="300038" y="289085"/>
                      <a:pt x="300038" y="289085"/>
                      <a:pt x="300038" y="61753"/>
                    </a:cubicBezTo>
                    <a:cubicBezTo>
                      <a:pt x="300038" y="48613"/>
                      <a:pt x="289475" y="38100"/>
                      <a:pt x="276271" y="38100"/>
                    </a:cubicBezTo>
                    <a:cubicBezTo>
                      <a:pt x="276271" y="38100"/>
                      <a:pt x="276271" y="38100"/>
                      <a:pt x="269669" y="38100"/>
                    </a:cubicBezTo>
                    <a:cubicBezTo>
                      <a:pt x="269669" y="38100"/>
                      <a:pt x="269669" y="38100"/>
                      <a:pt x="269669" y="63067"/>
                    </a:cubicBezTo>
                    <a:cubicBezTo>
                      <a:pt x="273631" y="65695"/>
                      <a:pt x="276271" y="70951"/>
                      <a:pt x="276271" y="74894"/>
                    </a:cubicBezTo>
                    <a:cubicBezTo>
                      <a:pt x="276271" y="84092"/>
                      <a:pt x="268349" y="90662"/>
                      <a:pt x="260427" y="90662"/>
                    </a:cubicBezTo>
                    <a:cubicBezTo>
                      <a:pt x="251184" y="90662"/>
                      <a:pt x="244582" y="84092"/>
                      <a:pt x="244582" y="74894"/>
                    </a:cubicBezTo>
                    <a:cubicBezTo>
                      <a:pt x="244582" y="70951"/>
                      <a:pt x="245903" y="65695"/>
                      <a:pt x="249864" y="63067"/>
                    </a:cubicBezTo>
                    <a:cubicBezTo>
                      <a:pt x="249864" y="63067"/>
                      <a:pt x="249864" y="63067"/>
                      <a:pt x="249864" y="38100"/>
                    </a:cubicBezTo>
                    <a:cubicBezTo>
                      <a:pt x="249864" y="38100"/>
                      <a:pt x="249864" y="38100"/>
                      <a:pt x="231379" y="38100"/>
                    </a:cubicBezTo>
                    <a:cubicBezTo>
                      <a:pt x="231379" y="38100"/>
                      <a:pt x="231379" y="38100"/>
                      <a:pt x="231379" y="63067"/>
                    </a:cubicBezTo>
                    <a:cubicBezTo>
                      <a:pt x="234019" y="65695"/>
                      <a:pt x="236660" y="70951"/>
                      <a:pt x="236660" y="74894"/>
                    </a:cubicBezTo>
                    <a:cubicBezTo>
                      <a:pt x="236660" y="84092"/>
                      <a:pt x="230058" y="90662"/>
                      <a:pt x="220816" y="90662"/>
                    </a:cubicBezTo>
                    <a:cubicBezTo>
                      <a:pt x="212893" y="90662"/>
                      <a:pt x="204971" y="84092"/>
                      <a:pt x="204971" y="74894"/>
                    </a:cubicBezTo>
                    <a:cubicBezTo>
                      <a:pt x="204971" y="70951"/>
                      <a:pt x="207612" y="65695"/>
                      <a:pt x="210253" y="63067"/>
                    </a:cubicBezTo>
                    <a:cubicBezTo>
                      <a:pt x="210253" y="63067"/>
                      <a:pt x="210253" y="63067"/>
                      <a:pt x="210253" y="38100"/>
                    </a:cubicBezTo>
                    <a:cubicBezTo>
                      <a:pt x="210253" y="38100"/>
                      <a:pt x="210253" y="38100"/>
                      <a:pt x="191767" y="38100"/>
                    </a:cubicBezTo>
                    <a:cubicBezTo>
                      <a:pt x="191767" y="38100"/>
                      <a:pt x="191767" y="38100"/>
                      <a:pt x="191767" y="63067"/>
                    </a:cubicBezTo>
                    <a:cubicBezTo>
                      <a:pt x="195728" y="65695"/>
                      <a:pt x="198369" y="70951"/>
                      <a:pt x="198369" y="74894"/>
                    </a:cubicBezTo>
                    <a:cubicBezTo>
                      <a:pt x="198369" y="84092"/>
                      <a:pt x="190447" y="90662"/>
                      <a:pt x="182525" y="90662"/>
                    </a:cubicBezTo>
                    <a:cubicBezTo>
                      <a:pt x="173282" y="90662"/>
                      <a:pt x="166680" y="84092"/>
                      <a:pt x="166680" y="74894"/>
                    </a:cubicBezTo>
                    <a:cubicBezTo>
                      <a:pt x="166680" y="70951"/>
                      <a:pt x="168001" y="65695"/>
                      <a:pt x="171962" y="63067"/>
                    </a:cubicBezTo>
                    <a:cubicBezTo>
                      <a:pt x="171962" y="63067"/>
                      <a:pt x="171962" y="63067"/>
                      <a:pt x="171962" y="38100"/>
                    </a:cubicBezTo>
                    <a:cubicBezTo>
                      <a:pt x="171962" y="38100"/>
                      <a:pt x="171962" y="38100"/>
                      <a:pt x="153476" y="38100"/>
                    </a:cubicBezTo>
                    <a:cubicBezTo>
                      <a:pt x="153476" y="38100"/>
                      <a:pt x="153476" y="38100"/>
                      <a:pt x="153476" y="63067"/>
                    </a:cubicBezTo>
                    <a:cubicBezTo>
                      <a:pt x="157438" y="65695"/>
                      <a:pt x="158758" y="70951"/>
                      <a:pt x="158758" y="74894"/>
                    </a:cubicBezTo>
                    <a:cubicBezTo>
                      <a:pt x="158758" y="84092"/>
                      <a:pt x="152156" y="90662"/>
                      <a:pt x="142913" y="90662"/>
                    </a:cubicBezTo>
                    <a:cubicBezTo>
                      <a:pt x="134991" y="90662"/>
                      <a:pt x="127069" y="84092"/>
                      <a:pt x="127069" y="74894"/>
                    </a:cubicBezTo>
                    <a:cubicBezTo>
                      <a:pt x="127069" y="70951"/>
                      <a:pt x="129710" y="65695"/>
                      <a:pt x="133671" y="63067"/>
                    </a:cubicBezTo>
                    <a:cubicBezTo>
                      <a:pt x="133671" y="63067"/>
                      <a:pt x="133671" y="63067"/>
                      <a:pt x="133671" y="38100"/>
                    </a:cubicBezTo>
                    <a:cubicBezTo>
                      <a:pt x="133671" y="38100"/>
                      <a:pt x="133671" y="38100"/>
                      <a:pt x="115186" y="38100"/>
                    </a:cubicBezTo>
                    <a:cubicBezTo>
                      <a:pt x="115186" y="38100"/>
                      <a:pt x="115186" y="38100"/>
                      <a:pt x="115186" y="63067"/>
                    </a:cubicBezTo>
                    <a:cubicBezTo>
                      <a:pt x="117826" y="65695"/>
                      <a:pt x="120467" y="70951"/>
                      <a:pt x="120467" y="74894"/>
                    </a:cubicBezTo>
                    <a:cubicBezTo>
                      <a:pt x="120467" y="84092"/>
                      <a:pt x="112545" y="90662"/>
                      <a:pt x="104623" y="90662"/>
                    </a:cubicBezTo>
                    <a:cubicBezTo>
                      <a:pt x="95380" y="90662"/>
                      <a:pt x="88778" y="84092"/>
                      <a:pt x="88778" y="74894"/>
                    </a:cubicBezTo>
                    <a:cubicBezTo>
                      <a:pt x="88778" y="70951"/>
                      <a:pt x="91419" y="65695"/>
                      <a:pt x="94060" y="63067"/>
                    </a:cubicBezTo>
                    <a:cubicBezTo>
                      <a:pt x="94060" y="63067"/>
                      <a:pt x="94060" y="63067"/>
                      <a:pt x="94060" y="38100"/>
                    </a:cubicBezTo>
                    <a:cubicBezTo>
                      <a:pt x="94060" y="38100"/>
                      <a:pt x="94060" y="38100"/>
                      <a:pt x="75574" y="38100"/>
                    </a:cubicBezTo>
                    <a:cubicBezTo>
                      <a:pt x="75574" y="38100"/>
                      <a:pt x="75574" y="38100"/>
                      <a:pt x="75574" y="63067"/>
                    </a:cubicBezTo>
                    <a:cubicBezTo>
                      <a:pt x="79535" y="65695"/>
                      <a:pt x="80856" y="70951"/>
                      <a:pt x="80856" y="74894"/>
                    </a:cubicBezTo>
                    <a:cubicBezTo>
                      <a:pt x="80856" y="84092"/>
                      <a:pt x="74254" y="90662"/>
                      <a:pt x="65011" y="90662"/>
                    </a:cubicBezTo>
                    <a:cubicBezTo>
                      <a:pt x="57089" y="90662"/>
                      <a:pt x="49167" y="84092"/>
                      <a:pt x="49167" y="74894"/>
                    </a:cubicBezTo>
                    <a:cubicBezTo>
                      <a:pt x="49167" y="70951"/>
                      <a:pt x="51808" y="65695"/>
                      <a:pt x="55769" y="63067"/>
                    </a:cubicBezTo>
                    <a:cubicBezTo>
                      <a:pt x="55769" y="63067"/>
                      <a:pt x="55769" y="63067"/>
                      <a:pt x="55769" y="38100"/>
                    </a:cubicBezTo>
                    <a:cubicBezTo>
                      <a:pt x="55769" y="38100"/>
                      <a:pt x="55769" y="38100"/>
                      <a:pt x="49167" y="38100"/>
                    </a:cubicBezTo>
                    <a:close/>
                    <a:moveTo>
                      <a:pt x="65315" y="4763"/>
                    </a:moveTo>
                    <a:cubicBezTo>
                      <a:pt x="63047" y="4763"/>
                      <a:pt x="61913" y="7437"/>
                      <a:pt x="61913" y="10110"/>
                    </a:cubicBezTo>
                    <a:lnTo>
                      <a:pt x="61913" y="75616"/>
                    </a:lnTo>
                    <a:cubicBezTo>
                      <a:pt x="61913" y="79626"/>
                      <a:pt x="63047" y="80963"/>
                      <a:pt x="65315" y="80963"/>
                    </a:cubicBezTo>
                    <a:cubicBezTo>
                      <a:pt x="68717" y="80963"/>
                      <a:pt x="69851" y="79626"/>
                      <a:pt x="69851" y="75616"/>
                    </a:cubicBezTo>
                    <a:cubicBezTo>
                      <a:pt x="69851" y="75616"/>
                      <a:pt x="69851" y="75616"/>
                      <a:pt x="69851" y="10110"/>
                    </a:cubicBezTo>
                    <a:cubicBezTo>
                      <a:pt x="69851" y="7437"/>
                      <a:pt x="68717" y="4763"/>
                      <a:pt x="65315" y="4763"/>
                    </a:cubicBezTo>
                    <a:close/>
                    <a:moveTo>
                      <a:pt x="104776" y="4763"/>
                    </a:moveTo>
                    <a:cubicBezTo>
                      <a:pt x="102394" y="4763"/>
                      <a:pt x="100013" y="7437"/>
                      <a:pt x="100013" y="10110"/>
                    </a:cubicBezTo>
                    <a:lnTo>
                      <a:pt x="100013" y="75616"/>
                    </a:lnTo>
                    <a:cubicBezTo>
                      <a:pt x="100013" y="79626"/>
                      <a:pt x="102394" y="80963"/>
                      <a:pt x="104776" y="80963"/>
                    </a:cubicBezTo>
                    <a:cubicBezTo>
                      <a:pt x="107157" y="80963"/>
                      <a:pt x="109538" y="79626"/>
                      <a:pt x="109538" y="75616"/>
                    </a:cubicBezTo>
                    <a:cubicBezTo>
                      <a:pt x="109538" y="75616"/>
                      <a:pt x="109538" y="75616"/>
                      <a:pt x="109538" y="10110"/>
                    </a:cubicBezTo>
                    <a:cubicBezTo>
                      <a:pt x="109538" y="7437"/>
                      <a:pt x="107157" y="4763"/>
                      <a:pt x="104776" y="4763"/>
                    </a:cubicBezTo>
                    <a:close/>
                    <a:moveTo>
                      <a:pt x="142876" y="4763"/>
                    </a:moveTo>
                    <a:cubicBezTo>
                      <a:pt x="140494" y="4763"/>
                      <a:pt x="138113" y="7437"/>
                      <a:pt x="138113" y="10110"/>
                    </a:cubicBezTo>
                    <a:lnTo>
                      <a:pt x="138113" y="75616"/>
                    </a:lnTo>
                    <a:cubicBezTo>
                      <a:pt x="138113" y="79626"/>
                      <a:pt x="140494" y="80963"/>
                      <a:pt x="142876" y="80963"/>
                    </a:cubicBezTo>
                    <a:cubicBezTo>
                      <a:pt x="145257" y="80963"/>
                      <a:pt x="147638" y="79626"/>
                      <a:pt x="147638" y="75616"/>
                    </a:cubicBezTo>
                    <a:cubicBezTo>
                      <a:pt x="147638" y="75616"/>
                      <a:pt x="147638" y="75616"/>
                      <a:pt x="147638" y="10110"/>
                    </a:cubicBezTo>
                    <a:cubicBezTo>
                      <a:pt x="147638" y="7437"/>
                      <a:pt x="145257" y="4763"/>
                      <a:pt x="142876" y="4763"/>
                    </a:cubicBezTo>
                    <a:close/>
                    <a:moveTo>
                      <a:pt x="182563" y="4763"/>
                    </a:moveTo>
                    <a:cubicBezTo>
                      <a:pt x="180181" y="4763"/>
                      <a:pt x="177800" y="7437"/>
                      <a:pt x="177800" y="10110"/>
                    </a:cubicBezTo>
                    <a:lnTo>
                      <a:pt x="177800" y="75616"/>
                    </a:lnTo>
                    <a:cubicBezTo>
                      <a:pt x="177800" y="79626"/>
                      <a:pt x="180181" y="80963"/>
                      <a:pt x="182563" y="80963"/>
                    </a:cubicBezTo>
                    <a:cubicBezTo>
                      <a:pt x="184944" y="80963"/>
                      <a:pt x="187325" y="79626"/>
                      <a:pt x="187325" y="75616"/>
                    </a:cubicBezTo>
                    <a:cubicBezTo>
                      <a:pt x="187325" y="75616"/>
                      <a:pt x="187325" y="75616"/>
                      <a:pt x="187325" y="10110"/>
                    </a:cubicBezTo>
                    <a:cubicBezTo>
                      <a:pt x="187325" y="7437"/>
                      <a:pt x="184944" y="4763"/>
                      <a:pt x="182563" y="4763"/>
                    </a:cubicBezTo>
                    <a:close/>
                    <a:moveTo>
                      <a:pt x="220663" y="4763"/>
                    </a:moveTo>
                    <a:cubicBezTo>
                      <a:pt x="218281" y="4763"/>
                      <a:pt x="215900" y="7437"/>
                      <a:pt x="215900" y="10110"/>
                    </a:cubicBezTo>
                    <a:lnTo>
                      <a:pt x="215900" y="75616"/>
                    </a:lnTo>
                    <a:cubicBezTo>
                      <a:pt x="215900" y="79626"/>
                      <a:pt x="218281" y="80963"/>
                      <a:pt x="220663" y="80963"/>
                    </a:cubicBezTo>
                    <a:cubicBezTo>
                      <a:pt x="223044" y="80963"/>
                      <a:pt x="225425" y="79626"/>
                      <a:pt x="225425" y="75616"/>
                    </a:cubicBezTo>
                    <a:cubicBezTo>
                      <a:pt x="225425" y="75616"/>
                      <a:pt x="225425" y="75616"/>
                      <a:pt x="225425" y="10110"/>
                    </a:cubicBezTo>
                    <a:cubicBezTo>
                      <a:pt x="225425" y="7437"/>
                      <a:pt x="223044" y="4763"/>
                      <a:pt x="220663" y="4763"/>
                    </a:cubicBezTo>
                    <a:close/>
                    <a:moveTo>
                      <a:pt x="260124" y="4763"/>
                    </a:moveTo>
                    <a:cubicBezTo>
                      <a:pt x="256722" y="4763"/>
                      <a:pt x="255588" y="7437"/>
                      <a:pt x="255588" y="10110"/>
                    </a:cubicBezTo>
                    <a:lnTo>
                      <a:pt x="255588" y="75616"/>
                    </a:lnTo>
                    <a:cubicBezTo>
                      <a:pt x="255588" y="79626"/>
                      <a:pt x="256722" y="80963"/>
                      <a:pt x="260124" y="80963"/>
                    </a:cubicBezTo>
                    <a:cubicBezTo>
                      <a:pt x="262392" y="80963"/>
                      <a:pt x="263526" y="79626"/>
                      <a:pt x="263526" y="75616"/>
                    </a:cubicBezTo>
                    <a:cubicBezTo>
                      <a:pt x="263526" y="75616"/>
                      <a:pt x="263526" y="75616"/>
                      <a:pt x="263526" y="10110"/>
                    </a:cubicBezTo>
                    <a:cubicBezTo>
                      <a:pt x="263526" y="7437"/>
                      <a:pt x="262392" y="4763"/>
                      <a:pt x="260124" y="4763"/>
                    </a:cubicBezTo>
                    <a:close/>
                    <a:moveTo>
                      <a:pt x="64823" y="0"/>
                    </a:moveTo>
                    <a:cubicBezTo>
                      <a:pt x="71438" y="0"/>
                      <a:pt x="75406" y="3944"/>
                      <a:pt x="75406" y="10517"/>
                    </a:cubicBezTo>
                    <a:cubicBezTo>
                      <a:pt x="75406" y="10517"/>
                      <a:pt x="75406" y="10517"/>
                      <a:pt x="75406" y="14461"/>
                    </a:cubicBezTo>
                    <a:cubicBezTo>
                      <a:pt x="75406" y="14461"/>
                      <a:pt x="75406" y="14461"/>
                      <a:pt x="93927" y="14461"/>
                    </a:cubicBezTo>
                    <a:cubicBezTo>
                      <a:pt x="93927" y="14461"/>
                      <a:pt x="93927" y="14461"/>
                      <a:pt x="93927" y="10517"/>
                    </a:cubicBezTo>
                    <a:cubicBezTo>
                      <a:pt x="93927" y="3944"/>
                      <a:pt x="99219" y="0"/>
                      <a:pt x="104511" y="0"/>
                    </a:cubicBezTo>
                    <a:cubicBezTo>
                      <a:pt x="109802" y="0"/>
                      <a:pt x="115094" y="3944"/>
                      <a:pt x="115094" y="10517"/>
                    </a:cubicBezTo>
                    <a:cubicBezTo>
                      <a:pt x="115094" y="10517"/>
                      <a:pt x="115094" y="10517"/>
                      <a:pt x="115094" y="14461"/>
                    </a:cubicBezTo>
                    <a:cubicBezTo>
                      <a:pt x="115094" y="14461"/>
                      <a:pt x="115094" y="14461"/>
                      <a:pt x="133615" y="14461"/>
                    </a:cubicBezTo>
                    <a:cubicBezTo>
                      <a:pt x="133615" y="14461"/>
                      <a:pt x="133615" y="14461"/>
                      <a:pt x="133615" y="10517"/>
                    </a:cubicBezTo>
                    <a:cubicBezTo>
                      <a:pt x="133615" y="3944"/>
                      <a:pt x="137584" y="0"/>
                      <a:pt x="142875" y="0"/>
                    </a:cubicBezTo>
                    <a:cubicBezTo>
                      <a:pt x="149490" y="0"/>
                      <a:pt x="153459" y="3944"/>
                      <a:pt x="153459" y="10517"/>
                    </a:cubicBezTo>
                    <a:cubicBezTo>
                      <a:pt x="153459" y="10517"/>
                      <a:pt x="153459" y="10517"/>
                      <a:pt x="153459" y="14461"/>
                    </a:cubicBezTo>
                    <a:cubicBezTo>
                      <a:pt x="153459" y="14461"/>
                      <a:pt x="153459" y="14461"/>
                      <a:pt x="171980" y="14461"/>
                    </a:cubicBezTo>
                    <a:cubicBezTo>
                      <a:pt x="171980" y="14461"/>
                      <a:pt x="171980" y="14461"/>
                      <a:pt x="171980" y="10517"/>
                    </a:cubicBezTo>
                    <a:cubicBezTo>
                      <a:pt x="171980" y="3944"/>
                      <a:pt x="175948" y="0"/>
                      <a:pt x="182563" y="0"/>
                    </a:cubicBezTo>
                    <a:cubicBezTo>
                      <a:pt x="187855" y="0"/>
                      <a:pt x="191823" y="3944"/>
                      <a:pt x="191823" y="10517"/>
                    </a:cubicBezTo>
                    <a:cubicBezTo>
                      <a:pt x="191823" y="10517"/>
                      <a:pt x="191823" y="10517"/>
                      <a:pt x="191823" y="14461"/>
                    </a:cubicBezTo>
                    <a:cubicBezTo>
                      <a:pt x="191823" y="14461"/>
                      <a:pt x="191823" y="14461"/>
                      <a:pt x="210344" y="14461"/>
                    </a:cubicBezTo>
                    <a:cubicBezTo>
                      <a:pt x="210344" y="14461"/>
                      <a:pt x="210344" y="14461"/>
                      <a:pt x="210344" y="10517"/>
                    </a:cubicBezTo>
                    <a:cubicBezTo>
                      <a:pt x="210344" y="3944"/>
                      <a:pt x="215636" y="0"/>
                      <a:pt x="220927" y="0"/>
                    </a:cubicBezTo>
                    <a:cubicBezTo>
                      <a:pt x="226219" y="0"/>
                      <a:pt x="231511" y="3944"/>
                      <a:pt x="231511" y="10517"/>
                    </a:cubicBezTo>
                    <a:cubicBezTo>
                      <a:pt x="231511" y="10517"/>
                      <a:pt x="231511" y="10517"/>
                      <a:pt x="231511" y="14461"/>
                    </a:cubicBezTo>
                    <a:cubicBezTo>
                      <a:pt x="231511" y="14461"/>
                      <a:pt x="231511" y="14461"/>
                      <a:pt x="250032" y="14461"/>
                    </a:cubicBezTo>
                    <a:cubicBezTo>
                      <a:pt x="250032" y="14461"/>
                      <a:pt x="250032" y="14461"/>
                      <a:pt x="250032" y="10517"/>
                    </a:cubicBezTo>
                    <a:cubicBezTo>
                      <a:pt x="250032" y="3944"/>
                      <a:pt x="254000" y="0"/>
                      <a:pt x="260615" y="0"/>
                    </a:cubicBezTo>
                    <a:cubicBezTo>
                      <a:pt x="265907" y="0"/>
                      <a:pt x="269875" y="3944"/>
                      <a:pt x="269875" y="10517"/>
                    </a:cubicBezTo>
                    <a:cubicBezTo>
                      <a:pt x="269875" y="10517"/>
                      <a:pt x="269875" y="10517"/>
                      <a:pt x="269875" y="14461"/>
                    </a:cubicBezTo>
                    <a:cubicBezTo>
                      <a:pt x="269875" y="14461"/>
                      <a:pt x="269875" y="14461"/>
                      <a:pt x="276490" y="14461"/>
                    </a:cubicBezTo>
                    <a:cubicBezTo>
                      <a:pt x="302948" y="14461"/>
                      <a:pt x="325438" y="35496"/>
                      <a:pt x="325438" y="61789"/>
                    </a:cubicBezTo>
                    <a:cubicBezTo>
                      <a:pt x="325438" y="61789"/>
                      <a:pt x="325438" y="61789"/>
                      <a:pt x="325438" y="289223"/>
                    </a:cubicBezTo>
                    <a:cubicBezTo>
                      <a:pt x="325438" y="315516"/>
                      <a:pt x="302948" y="336550"/>
                      <a:pt x="276490" y="336550"/>
                    </a:cubicBezTo>
                    <a:cubicBezTo>
                      <a:pt x="276490" y="336550"/>
                      <a:pt x="276490" y="336550"/>
                      <a:pt x="48948" y="336550"/>
                    </a:cubicBezTo>
                    <a:cubicBezTo>
                      <a:pt x="22490" y="336550"/>
                      <a:pt x="0" y="315516"/>
                      <a:pt x="0" y="289223"/>
                    </a:cubicBezTo>
                    <a:cubicBezTo>
                      <a:pt x="0" y="289223"/>
                      <a:pt x="0" y="289223"/>
                      <a:pt x="0" y="61789"/>
                    </a:cubicBezTo>
                    <a:cubicBezTo>
                      <a:pt x="0" y="35496"/>
                      <a:pt x="22490" y="14461"/>
                      <a:pt x="48948" y="14461"/>
                    </a:cubicBezTo>
                    <a:cubicBezTo>
                      <a:pt x="48948" y="14461"/>
                      <a:pt x="48948" y="14461"/>
                      <a:pt x="55563" y="14461"/>
                    </a:cubicBezTo>
                    <a:cubicBezTo>
                      <a:pt x="55563" y="14461"/>
                      <a:pt x="55563" y="14461"/>
                      <a:pt x="55563" y="10517"/>
                    </a:cubicBezTo>
                    <a:cubicBezTo>
                      <a:pt x="55563" y="3944"/>
                      <a:pt x="59531" y="0"/>
                      <a:pt x="64823" y="0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000000"/>
                    </a:solidFill>
                    <a:latin typeface="Arial" panose="020B0604020202020204" pitchFamily="34" charset="0"/>
                    <a:ea typeface="微软雅黑" panose="020B0503020204020204" charset="-122"/>
                    <a:cs typeface="+mn-ea"/>
                  </a:defRPr>
                </a:lvl9pPr>
              </a:lstStyle>
              <a:p>
                <a:pPr defTabSz="913765">
                  <a:defRPr/>
                </a:pPr>
                <a:endPara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endParaRPr>
              </a:p>
            </p:txBody>
          </p:sp>
        </p:grpSp>
        <p:sp>
          <p:nvSpPr>
            <p:cNvPr id="18" name="文本框 27"/>
            <p:cNvSpPr txBox="1"/>
            <p:nvPr/>
          </p:nvSpPr>
          <p:spPr>
            <a:xfrm>
              <a:off x="6669040" y="4733309"/>
              <a:ext cx="1742936" cy="2529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Arial" panose="020B0604020202020204" pitchFamily="34" charset="0"/>
                  <a:ea typeface="微软雅黑" panose="020B0503020204020204" charset="-122"/>
                  <a:cs typeface="+mn-ea"/>
                </a:defRPr>
              </a:lvl9pPr>
            </a:lstStyle>
            <a:p>
              <a:pPr defTabSz="913765">
                <a:defRPr/>
              </a:pPr>
              <a:r>
                <a:rPr lang="zh-CN" altLang="en-US" sz="1600" b="1" dirty="0">
                  <a:solidFill>
                    <a:sysClr val="windowText" lastClr="000000">
                      <a:lumMod val="75000"/>
                      <a:lumOff val="25000"/>
                    </a:sys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时间：</a:t>
              </a:r>
              <a:r>
                <a:rPr lang="en-US" altLang="zh-CN" sz="1600" b="1" dirty="0">
                  <a:solidFill>
                    <a:sysClr val="windowText" lastClr="000000">
                      <a:lumMod val="75000"/>
                      <a:lumOff val="25000"/>
                    </a:sys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sym typeface="Times New Roman" panose="02020603050405020304" pitchFamily="18" charset="0"/>
                </a:rPr>
                <a:t>2025-04-25</a:t>
              </a:r>
              <a:endParaRPr lang="zh-CN" altLang="en-US" sz="1600" b="1" dirty="0">
                <a:solidFill>
                  <a:sysClr val="windowText" lastClr="000000">
                    <a:lumMod val="75000"/>
                    <a:lumOff val="25000"/>
                  </a:sysClr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1251" y="6249432"/>
            <a:ext cx="2757212" cy="385951"/>
          </a:xfrm>
          <a:prstGeom prst="rect">
            <a:avLst/>
          </a:prstGeom>
        </p:spPr>
      </p:pic>
      <p:sp>
        <p:nvSpPr>
          <p:cNvPr id="21" name="文本占位符 1">
            <a:extLst>
              <a:ext uri="{FF2B5EF4-FFF2-40B4-BE49-F238E27FC236}">
                <a16:creationId xmlns:a16="http://schemas.microsoft.com/office/drawing/2014/main" id="{45E3CF39-A26E-422F-9A35-4160A6319B45}"/>
              </a:ext>
            </a:extLst>
          </p:cNvPr>
          <p:cNvSpPr txBox="1"/>
          <p:nvPr/>
        </p:nvSpPr>
        <p:spPr>
          <a:xfrm>
            <a:off x="5267597" y="1331398"/>
            <a:ext cx="7155284" cy="197121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4000" b="1" kern="1200" spc="0" baseline="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8000" b="1" i="0" u="none" strike="noStrike" kern="1200" cap="none" spc="60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汇报结束 </a:t>
            </a:r>
            <a:endParaRPr kumimoji="0" lang="en-US" altLang="zh-CN" sz="8000" b="1" i="0" u="none" strike="noStrike" kern="1200" cap="none" spc="60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  <a:p>
            <a:pPr marL="0" marR="0" lvl="0" indent="0" defTabSz="914400" rtl="0" eaLnBrk="1" fontAlgn="auto" latinLnBrk="0" hangingPunct="1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8000" spc="600" dirty="0">
                <a:solidFill>
                  <a:srgbClr val="0070C0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谢谢大家</a:t>
            </a:r>
            <a:r>
              <a:rPr kumimoji="0" lang="zh-CN" altLang="en-US" sz="8000" b="1" i="1" u="none" strike="noStrike" kern="1200" cap="none" spc="60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16680418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TFmNzNhNTgzZmRjOTk0NjdlYmI0YmE1ZTNlZDNhNjMifQ=="/>
</p:tagLst>
</file>

<file path=ppt/theme/theme1.xml><?xml version="1.0" encoding="utf-8"?>
<a:theme xmlns:a="http://schemas.openxmlformats.org/drawingml/2006/main" name="第一PPT，www.1ppt.com">
  <a:themeElements>
    <a:clrScheme name="自定义 40">
      <a:dk1>
        <a:sysClr val="windowText" lastClr="000000"/>
      </a:dk1>
      <a:lt1>
        <a:sysClr val="window" lastClr="FFFFFF"/>
      </a:lt1>
      <a:dk2>
        <a:srgbClr val="C00000"/>
      </a:dk2>
      <a:lt2>
        <a:srgbClr val="FF0000"/>
      </a:lt2>
      <a:accent1>
        <a:srgbClr val="FF6600"/>
      </a:accent1>
      <a:accent2>
        <a:srgbClr val="FFC000"/>
      </a:accent2>
      <a:accent3>
        <a:srgbClr val="92D050"/>
      </a:accent3>
      <a:accent4>
        <a:srgbClr val="00B0F0"/>
      </a:accent4>
      <a:accent5>
        <a:srgbClr val="7F7F7F"/>
      </a:accent5>
      <a:accent6>
        <a:srgbClr val="262626"/>
      </a:accent6>
      <a:hlink>
        <a:srgbClr val="262626"/>
      </a:hlink>
      <a:folHlink>
        <a:srgbClr val="7F7F7F"/>
      </a:folHlink>
    </a:clrScheme>
    <a:fontScheme name="2rrodchb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2150</TotalTime>
  <Words>931</Words>
  <Application>Microsoft Office PowerPoint</Application>
  <PresentationFormat>宽屏</PresentationFormat>
  <Paragraphs>131</Paragraphs>
  <Slides>12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等线</vt:lpstr>
      <vt:lpstr>微软雅黑</vt:lpstr>
      <vt:lpstr>Arial</vt:lpstr>
      <vt:lpstr>Calibri</vt:lpstr>
      <vt:lpstr>Cambria Math</vt:lpstr>
      <vt:lpstr>Times New Roman</vt:lpstr>
      <vt:lpstr>Wingdings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睿思 罗</cp:lastModifiedBy>
  <cp:revision>142</cp:revision>
  <dcterms:created xsi:type="dcterms:W3CDTF">2021-04-15T12:03:00Z</dcterms:created>
  <dcterms:modified xsi:type="dcterms:W3CDTF">2026-06-04T01:28:30Z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CC7496E30844449AB513B6CA296F35C7_12</vt:lpwstr>
  </property>
  <property fmtid="{D5CDD505-2E9C-101B-9397-08002B2CF9AE}" pid="3" name="KSOProductBuildVer">
    <vt:lpwstr>2052-12.1.0.15712</vt:lpwstr>
  </property>
</Properties>
</file>