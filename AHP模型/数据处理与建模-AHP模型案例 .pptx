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483" r:id="rId2"/>
    <p:sldId id="510" r:id="rId3"/>
    <p:sldId id="540" r:id="rId4"/>
    <p:sldId id="536" r:id="rId5"/>
    <p:sldId id="541" r:id="rId6"/>
    <p:sldId id="520" r:id="rId7"/>
    <p:sldId id="537" r:id="rId8"/>
    <p:sldId id="522" r:id="rId9"/>
    <p:sldId id="525" r:id="rId10"/>
    <p:sldId id="538" r:id="rId11"/>
    <p:sldId id="519" r:id="rId12"/>
    <p:sldId id="514"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4995"/>
    <a:srgbClr val="FF33CC"/>
    <a:srgbClr val="D7E1EE"/>
    <a:srgbClr val="4245BE"/>
    <a:srgbClr val="0070C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56" autoAdjust="0"/>
    <p:restoredTop sz="94660"/>
  </p:normalViewPr>
  <p:slideViewPr>
    <p:cSldViewPr snapToGrid="0">
      <p:cViewPr varScale="1">
        <p:scale>
          <a:sx n="67" d="100"/>
          <a:sy n="67" d="100"/>
        </p:scale>
        <p:origin x="1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tags" Target="tags/tag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D5AAD-12B1-4117-8A4B-C4109D64BF51}" type="datetimeFigureOut">
              <a:rPr lang="zh-CN" altLang="en-US" smtClean="0"/>
              <a:t>2026/6/3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8F440-86C7-4ABB-A7C0-3F9FD6847D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9035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54B0-585A-BFA4-DB85-9C5DC2FF91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AB7B92-5C57-D81F-CFBA-077AA45011F7}"/>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ECEC1197-99E2-5BE7-4119-CF0AD2DD5C8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FAC55DE-6757-2DD1-2031-DCD060587960}"/>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90443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63560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0FE9-D31A-D9E2-95A3-02BABD1DC8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8D7D72-0E0F-BDA3-9089-22569B1DDE8F}"/>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AE1523B-A45E-FA77-6C4F-919A645C91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370ACEE-08BD-176D-7E1C-E3583E11D345}"/>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43124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FB97-ED7F-F397-535B-04BB3ADB60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171A4C-C621-053A-8600-40657B8089F8}"/>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B234978C-3151-65F3-DA45-E1C7CD9A77F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E5FFED-9465-36E3-F688-336ECB663318}"/>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71341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21859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eg"/><Relationship Id="rId6"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矩形 4"/>
          <p:cNvSpPr/>
          <p:nvPr userDrawn="1"/>
        </p:nvSpPr>
        <p:spPr>
          <a:xfrm>
            <a:off x="9072331" y="6021289"/>
            <a:ext cx="1033515" cy="276931"/>
          </a:xfrm>
          <a:prstGeom prst="rect">
            <a:avLst/>
          </a:prstGeom>
        </p:spPr>
        <p:txBody>
          <a:bodyPr wrap="square" lIns="121889" tIns="60944" rIns="121889" bIns="60944">
            <a:spAutoFit/>
          </a:bodyPr>
          <a:lstStyle/>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defTabSz="12192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defTabSz="1219200"/>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defTabSz="1219200"/>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defTabSz="1219200"/>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defTabSz="1219200"/>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defTabSz="1219200"/>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defTabSz="1219200"/>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defTabSz="1219200"/>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1026" name="Picture 2" descr="C:\Users\Administrator\Desktop\灰色01副本.jpg"/>
          <p:cNvPicPr>
            <a:picLocks noChangeAspect="1" noChangeArrowheads="1"/>
          </p:cNvPicPr>
          <p:nvPr userDrawn="1"/>
        </p:nvPicPr>
        <p:blipFill>
          <a:blip r:embed="rId5"/>
          <a:srcRect/>
          <a:stretch>
            <a:fillRect/>
          </a:stretch>
        </p:blipFill>
        <p:spPr bwMode="auto">
          <a:xfrm>
            <a:off x="30291" y="-826"/>
            <a:ext cx="12161709" cy="68589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p:cNvPicPr>
            <a:picLocks noChangeAspect="1" noChangeArrowheads="1"/>
          </p:cNvPicPr>
          <p:nvPr userDrawn="1"/>
        </p:nvPicPr>
        <p:blipFill>
          <a:blip r:embed="rId6">
            <a:extLst>
              <a:ext uri="{28A0092B-C50C-407E-A947-70E740481C1C}">
                <a14:useLocalDpi xmlns:a14="http://schemas.microsoft.com/office/drawing/2010/main" val="0"/>
              </a:ext>
            </a:extLst>
          </a:blip>
          <a:stretch>
            <a:fillRect/>
          </a:stretch>
        </p:blipFill>
        <p:spPr bwMode="auto">
          <a:xfrm>
            <a:off x="2765" y="-3659"/>
            <a:ext cx="12178317" cy="686166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121856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19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04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00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7906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130"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895"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文本占位符 1"/>
          <p:cNvSpPr txBox="1"/>
          <p:nvPr/>
        </p:nvSpPr>
        <p:spPr>
          <a:xfrm>
            <a:off x="5150499" y="713903"/>
            <a:ext cx="6867329" cy="3786230"/>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模型在三峡库区越冬水禽</a:t>
            </a: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栖息地评价中的应用与共识</a:t>
            </a: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en-US" altLang="zh-CN"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模型案例</a:t>
            </a:r>
            <a:endParaRPr lang="en-US" altLang="zh-CN"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汇报人：罗睿思</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2026-06-03</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B6F7C394-972D-4308-98A0-EEB5E394CD1D}"/>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6E861A0F-B75E-409A-949E-EF0231F37CC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BA4A94CD-51AE-4B4B-9073-96EB778AB4C2}"/>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9D2FA53E-3943-4277-9678-07CA48EF055C}"/>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DD727800-F181-47A9-B5A2-9BE234D07C6F}"/>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77C2DEF3-85C6-41EB-BEA1-26D309BA763D}"/>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6B404D87-5BC9-40D2-B86C-57BADE0EB884}"/>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097AE74C-BCFB-4EB2-8990-771F14CB4CC6}"/>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15276682-91C6-494A-8BD8-79A54AAEF61D}"/>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C3B1753A-5B90-46AD-84AB-A97505A14A1E}"/>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B762DDDD-7200-4BEC-9DFC-E5B95FA5DE84}"/>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459D90B5-9E70-48C0-BFE9-6A0BBBCCC6E9}"/>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37CBF392-C907-4D29-BE6C-7C7B99F43455}"/>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817C9E68-6BA3-4702-8099-B23D38F9BB6E}"/>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997959D4-98E0-4591-9170-BF6758D3EC2C}"/>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1147B276-6AB7-460B-90E6-ADEAC5A17164}"/>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FE736492-4D64-42E6-9678-F4869AF879F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012EA1B3-FB3D-4AF2-B2B7-C84D036D2BBD}"/>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97E547B0-5CC0-40EE-A904-E304FCE58231}"/>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81B31F91-01CC-46D5-986E-F9061072BFD3}"/>
              </a:ext>
            </a:extLst>
          </p:cNvPr>
          <p:cNvSpPr/>
          <p:nvPr/>
        </p:nvSpPr>
        <p:spPr>
          <a:xfrm>
            <a:off x="3034753" y="1900053"/>
            <a:ext cx="8274761" cy="458977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81700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005788"/>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sz="2400" dirty="0"/>
              <a:t>层次分析法（</a:t>
            </a:r>
            <a:r>
              <a:rPr lang="en-US" altLang="zh-CN" sz="2400" dirty="0"/>
              <a:t>Analytic Hierarchy Process</a:t>
            </a:r>
            <a:r>
              <a:rPr lang="zh-CN" altLang="en-US" sz="2400" dirty="0"/>
              <a:t>，</a:t>
            </a:r>
            <a:r>
              <a:rPr lang="en-US" altLang="zh-CN" sz="2400" dirty="0"/>
              <a:t>AHP</a:t>
            </a:r>
            <a:r>
              <a:rPr lang="zh-CN" altLang="en-US" sz="2400" dirty="0"/>
              <a:t>）是一种用于处理复杂决策问题的</a:t>
            </a:r>
            <a:r>
              <a:rPr lang="zh-CN" altLang="en-US" sz="2400" dirty="0">
                <a:solidFill>
                  <a:schemeClr val="tx2"/>
                </a:solidFill>
              </a:rPr>
              <a:t>定性</a:t>
            </a:r>
            <a:r>
              <a:rPr lang="zh-CN" altLang="en-US" sz="2400" dirty="0"/>
              <a:t>和</a:t>
            </a:r>
            <a:r>
              <a:rPr lang="zh-CN" altLang="en-US" sz="2400" dirty="0">
                <a:solidFill>
                  <a:schemeClr val="tx2"/>
                </a:solidFill>
              </a:rPr>
              <a:t>定量</a:t>
            </a:r>
            <a:r>
              <a:rPr lang="zh-CN" altLang="en-US" sz="2400" dirty="0"/>
              <a:t>相结合的决策分析方法</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89" y="-67577"/>
            <a:ext cx="3984139"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模型概念</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一</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8" name="组合 47">
            <a:extLst>
              <a:ext uri="{FF2B5EF4-FFF2-40B4-BE49-F238E27FC236}">
                <a16:creationId xmlns:a16="http://schemas.microsoft.com/office/drawing/2014/main" id="{FC7EDFBC-E1F2-4FC7-8F9D-13E659D6D631}"/>
              </a:ext>
            </a:extLst>
          </p:cNvPr>
          <p:cNvGrpSpPr/>
          <p:nvPr/>
        </p:nvGrpSpPr>
        <p:grpSpPr>
          <a:xfrm>
            <a:off x="528332" y="2267912"/>
            <a:ext cx="11775206" cy="3083768"/>
            <a:chOff x="9137870" y="2197936"/>
            <a:chExt cx="2823353" cy="1591953"/>
          </a:xfrm>
        </p:grpSpPr>
        <p:grpSp>
          <p:nvGrpSpPr>
            <p:cNvPr id="50" name="组合 49">
              <a:extLst>
                <a:ext uri="{FF2B5EF4-FFF2-40B4-BE49-F238E27FC236}">
                  <a16:creationId xmlns:a16="http://schemas.microsoft.com/office/drawing/2014/main" id="{E13658B4-99D7-4390-B6CA-35C4B938CA3C}"/>
                </a:ext>
              </a:extLst>
            </p:cNvPr>
            <p:cNvGrpSpPr/>
            <p:nvPr/>
          </p:nvGrpSpPr>
          <p:grpSpPr>
            <a:xfrm>
              <a:off x="9169400" y="2197936"/>
              <a:ext cx="2743176" cy="1591953"/>
              <a:chOff x="1199732" y="5259960"/>
              <a:chExt cx="3104442" cy="1075370"/>
            </a:xfrm>
          </p:grpSpPr>
          <p:sp>
            <p:nvSpPr>
              <p:cNvPr id="52" name="矩形 51">
                <a:extLst>
                  <a:ext uri="{FF2B5EF4-FFF2-40B4-BE49-F238E27FC236}">
                    <a16:creationId xmlns:a16="http://schemas.microsoft.com/office/drawing/2014/main" id="{3C657A99-3780-43F4-84AE-F01962852990}"/>
                  </a:ext>
                </a:extLst>
              </p:cNvPr>
              <p:cNvSpPr/>
              <p:nvPr/>
            </p:nvSpPr>
            <p:spPr>
              <a:xfrm>
                <a:off x="1199732" y="5265041"/>
                <a:ext cx="3104442" cy="1070289"/>
              </a:xfrm>
              <a:prstGeom prst="rect">
                <a:avLst/>
              </a:prstGeom>
              <a:gradFill>
                <a:gsLst>
                  <a:gs pos="0">
                    <a:srgbClr val="1A76DC">
                      <a:lumMod val="15000"/>
                      <a:lumOff val="85000"/>
                    </a:srgbClr>
                  </a:gs>
                  <a:gs pos="100000">
                    <a:sysClr val="window" lastClr="FFFFFF"/>
                  </a:gs>
                </a:gsLst>
                <a:lin ang="5400000" scaled="0"/>
              </a:gradFill>
              <a:ln w="12700" cap="flat" cmpd="sng" algn="ctr">
                <a:noFill/>
                <a:prstDash val="solid"/>
                <a:miter lim="800000"/>
              </a:ln>
              <a:effectLst/>
            </p:spPr>
            <p:txBody>
              <a:bodyPr lIns="18000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Times New Roman" panose="02020603050405020304" pitchFamily="18" charset="0"/>
                  <a:ea typeface="微软雅黑 Light" panose="020B0502040204020203" charset="-122"/>
                  <a:cs typeface="+mn-cs"/>
                  <a:sym typeface="Times New Roman" panose="02020603050405020304" pitchFamily="18" charset="0"/>
                </a:endParaRPr>
              </a:p>
            </p:txBody>
          </p:sp>
          <p:cxnSp>
            <p:nvCxnSpPr>
              <p:cNvPr id="53" name="直接连接符 52">
                <a:extLst>
                  <a:ext uri="{FF2B5EF4-FFF2-40B4-BE49-F238E27FC236}">
                    <a16:creationId xmlns:a16="http://schemas.microsoft.com/office/drawing/2014/main" id="{3CE043AE-C225-4434-BA64-EE5B19A8B03C}"/>
                  </a:ext>
                </a:extLst>
              </p:cNvPr>
              <p:cNvCxnSpPr>
                <a:cxnSpLocks/>
              </p:cNvCxnSpPr>
              <p:nvPr/>
            </p:nvCxnSpPr>
            <p:spPr>
              <a:xfrm flipH="1">
                <a:off x="1199732" y="5259960"/>
                <a:ext cx="3104442" cy="0"/>
              </a:xfrm>
              <a:prstGeom prst="line">
                <a:avLst/>
              </a:prstGeom>
              <a:noFill/>
              <a:ln w="28575" cap="flat" cmpd="sng" algn="ctr">
                <a:solidFill>
                  <a:srgbClr val="004FA8"/>
                </a:solidFill>
                <a:prstDash val="solid"/>
                <a:miter lim="800000"/>
              </a:ln>
              <a:effectLst/>
            </p:spPr>
          </p:cxnSp>
        </p:grpSp>
        <p:sp>
          <p:nvSpPr>
            <p:cNvPr id="51" name="矩形 33">
              <a:extLst>
                <a:ext uri="{FF2B5EF4-FFF2-40B4-BE49-F238E27FC236}">
                  <a16:creationId xmlns:a16="http://schemas.microsoft.com/office/drawing/2014/main" id="{E48671B1-C53F-4015-A9F7-B59A23323778}"/>
                </a:ext>
              </a:extLst>
            </p:cNvPr>
            <p:cNvSpPr>
              <a:spLocks noChangeArrowheads="1"/>
            </p:cNvSpPr>
            <p:nvPr/>
          </p:nvSpPr>
          <p:spPr bwMode="auto">
            <a:xfrm>
              <a:off x="9137870" y="2244618"/>
              <a:ext cx="2823353" cy="153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00000"/>
                </a:lnSpc>
                <a:spcBef>
                  <a:spcPts val="0"/>
                </a:spcBef>
                <a:spcAft>
                  <a:spcPts val="600"/>
                </a:spcAft>
                <a:buNone/>
              </a:pP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sp>
        <p:nvSpPr>
          <p:cNvPr id="45" name="文本框 44">
            <a:extLst>
              <a:ext uri="{FF2B5EF4-FFF2-40B4-BE49-F238E27FC236}">
                <a16:creationId xmlns:a16="http://schemas.microsoft.com/office/drawing/2014/main" id="{D8094609-8F84-4959-A5AF-D0CD05CD87A3}"/>
              </a:ext>
            </a:extLst>
          </p:cNvPr>
          <p:cNvSpPr txBox="1"/>
          <p:nvPr/>
        </p:nvSpPr>
        <p:spPr>
          <a:xfrm>
            <a:off x="770429" y="2323452"/>
            <a:ext cx="11219622" cy="4720138"/>
          </a:xfrm>
          <a:prstGeom prst="rect">
            <a:avLst/>
          </a:prstGeom>
          <a:noFill/>
        </p:spPr>
        <p:txBody>
          <a:bodyPr wrap="square">
            <a:spAutoFit/>
          </a:bodyPr>
          <a:lstStyle/>
          <a:p>
            <a:pPr marL="342900" indent="-342900">
              <a:lnSpc>
                <a:spcPct val="120000"/>
              </a:lnSpc>
              <a:buFont typeface="Wingdings" panose="05000000000000000000" pitchFamily="2" charset="2"/>
              <a:buChar char="p"/>
            </a:pPr>
            <a:r>
              <a:rPr lang="zh-CN" altLang="en-US" sz="2400" b="1" dirty="0">
                <a:solidFill>
                  <a:srgbClr val="0F4995"/>
                </a:solidFill>
                <a:latin typeface="微软雅黑" panose="020B0503020204020204" pitchFamily="34" charset="-122"/>
                <a:ea typeface="微软雅黑" panose="020B0503020204020204" pitchFamily="34" charset="-122"/>
              </a:rPr>
              <a:t>基本步骤：</a:t>
            </a:r>
          </a:p>
          <a:p>
            <a:pPr algn="just">
              <a:lnSpc>
                <a:spcPct val="120000"/>
              </a:lnSpc>
            </a:pPr>
            <a:r>
              <a:rPr lang="zh-CN" altLang="en-US" sz="2000" b="1" kern="0" dirty="0">
                <a:latin typeface="Times New Roman" panose="02020603050405020304" pitchFamily="18" charset="0"/>
              </a:rPr>
              <a:t>建立</a:t>
            </a:r>
            <a:r>
              <a:rPr lang="zh-CN" altLang="en-US" sz="2000" b="1" kern="0" dirty="0">
                <a:solidFill>
                  <a:srgbClr val="C00000"/>
                </a:solidFill>
                <a:latin typeface="Times New Roman" panose="02020603050405020304" pitchFamily="18" charset="0"/>
              </a:rPr>
              <a:t>层次结构模型 </a:t>
            </a:r>
            <a:r>
              <a:rPr lang="zh-CN" altLang="en-US" sz="2000" b="1" kern="0" dirty="0">
                <a:latin typeface="Times New Roman" panose="02020603050405020304" pitchFamily="18" charset="0"/>
              </a:rPr>
              <a:t>：</a:t>
            </a:r>
            <a:endParaRPr lang="en-US" altLang="zh-CN" sz="2000" b="1" kern="0" dirty="0">
              <a:latin typeface="Times New Roman" panose="02020603050405020304" pitchFamily="18" charset="0"/>
            </a:endParaRPr>
          </a:p>
          <a:p>
            <a:pPr algn="just">
              <a:lnSpc>
                <a:spcPct val="120000"/>
              </a:lnSpc>
            </a:pPr>
            <a:r>
              <a:rPr lang="en-US" altLang="zh-CN" sz="2000" b="1" kern="0" dirty="0">
                <a:latin typeface="Times New Roman" panose="02020603050405020304" pitchFamily="18" charset="0"/>
              </a:rPr>
              <a:t>     1</a:t>
            </a:r>
            <a:r>
              <a:rPr lang="zh-CN" altLang="en-US" sz="2000" b="1" kern="0" dirty="0">
                <a:latin typeface="Times New Roman" panose="02020603050405020304" pitchFamily="18" charset="0"/>
              </a:rPr>
              <a:t>、明确</a:t>
            </a:r>
            <a:r>
              <a:rPr lang="zh-CN" altLang="en-US" sz="2000" b="1" kern="0" dirty="0">
                <a:solidFill>
                  <a:srgbClr val="C00000"/>
                </a:solidFill>
                <a:latin typeface="Times New Roman" panose="02020603050405020304" pitchFamily="18" charset="0"/>
              </a:rPr>
              <a:t>决策目标 </a:t>
            </a:r>
            <a:r>
              <a:rPr lang="zh-CN" altLang="en-US" sz="2000" b="1" kern="0" dirty="0">
                <a:latin typeface="Times New Roman" panose="02020603050405020304" pitchFamily="18" charset="0"/>
              </a:rPr>
              <a:t>：也就是要解决的问题，是整个层次结构的最高层。</a:t>
            </a:r>
            <a:endParaRPr lang="en-US" altLang="zh-CN" sz="2000" b="1" kern="0" dirty="0">
              <a:latin typeface="Times New Roman" panose="02020603050405020304" pitchFamily="18" charset="0"/>
            </a:endParaRPr>
          </a:p>
          <a:p>
            <a:pPr algn="just">
              <a:lnSpc>
                <a:spcPct val="120000"/>
              </a:lnSpc>
            </a:pPr>
            <a:r>
              <a:rPr lang="en-US" altLang="zh-CN" sz="2000" b="1" kern="0" dirty="0">
                <a:latin typeface="Times New Roman" panose="02020603050405020304" pitchFamily="18" charset="0"/>
              </a:rPr>
              <a:t>     2</a:t>
            </a:r>
            <a:r>
              <a:rPr lang="zh-CN" altLang="en-US" sz="2000" b="1" kern="0" dirty="0">
                <a:latin typeface="Times New Roman" panose="02020603050405020304" pitchFamily="18" charset="0"/>
              </a:rPr>
              <a:t>、确定</a:t>
            </a:r>
            <a:r>
              <a:rPr lang="zh-CN" altLang="en-US" sz="2000" b="1" kern="0" dirty="0">
                <a:solidFill>
                  <a:srgbClr val="C00000"/>
                </a:solidFill>
                <a:latin typeface="Times New Roman" panose="02020603050405020304" pitchFamily="18" charset="0"/>
              </a:rPr>
              <a:t>准则层</a:t>
            </a:r>
            <a:r>
              <a:rPr lang="zh-CN" altLang="en-US" sz="2000" b="1" kern="0" dirty="0">
                <a:latin typeface="Times New Roman" panose="02020603050405020304" pitchFamily="18" charset="0"/>
              </a:rPr>
              <a:t> ：将影响决策目标实现的各种因素作为准则层。</a:t>
            </a:r>
            <a:endParaRPr lang="en-US" altLang="zh-CN" sz="2000" b="1" kern="0" dirty="0">
              <a:latin typeface="Times New Roman" panose="02020603050405020304" pitchFamily="18" charset="0"/>
            </a:endParaRPr>
          </a:p>
          <a:p>
            <a:pPr algn="just">
              <a:lnSpc>
                <a:spcPct val="120000"/>
              </a:lnSpc>
            </a:pPr>
            <a:r>
              <a:rPr lang="en-US" altLang="zh-CN" sz="2000" b="1" kern="0" dirty="0">
                <a:latin typeface="Times New Roman" panose="02020603050405020304" pitchFamily="18" charset="0"/>
              </a:rPr>
              <a:t>     3</a:t>
            </a:r>
            <a:r>
              <a:rPr lang="zh-CN" altLang="en-US" sz="2000" b="1" kern="0" dirty="0">
                <a:latin typeface="Times New Roman" panose="02020603050405020304" pitchFamily="18" charset="0"/>
              </a:rPr>
              <a:t>、确定</a:t>
            </a:r>
            <a:r>
              <a:rPr lang="zh-CN" altLang="en-US" sz="2000" b="1" kern="0" dirty="0">
                <a:solidFill>
                  <a:srgbClr val="C00000"/>
                </a:solidFill>
                <a:latin typeface="Times New Roman" panose="02020603050405020304" pitchFamily="18" charset="0"/>
              </a:rPr>
              <a:t>方案层</a:t>
            </a:r>
            <a:r>
              <a:rPr lang="zh-CN" altLang="en-US" sz="2000" b="1" kern="0" dirty="0">
                <a:latin typeface="Times New Roman" panose="02020603050405020304" pitchFamily="18" charset="0"/>
              </a:rPr>
              <a:t> ：将实现目标的各种方案或措施作为方案层。</a:t>
            </a:r>
            <a:endParaRPr lang="en-US" altLang="zh-CN" sz="2000" b="1" kern="0" dirty="0">
              <a:latin typeface="Times New Roman" panose="02020603050405020304" pitchFamily="18" charset="0"/>
            </a:endParaRPr>
          </a:p>
          <a:p>
            <a:pPr algn="just">
              <a:lnSpc>
                <a:spcPct val="120000"/>
              </a:lnSpc>
            </a:pPr>
            <a:r>
              <a:rPr lang="zh-CN" altLang="en-US" sz="2000" b="1" kern="0" dirty="0">
                <a:latin typeface="Times New Roman" panose="02020603050405020304" pitchFamily="18" charset="0"/>
              </a:rPr>
              <a:t>构造</a:t>
            </a:r>
            <a:r>
              <a:rPr lang="zh-CN" altLang="en-US" sz="2000" b="1" kern="0" dirty="0">
                <a:solidFill>
                  <a:srgbClr val="C00000"/>
                </a:solidFill>
                <a:latin typeface="Times New Roman" panose="02020603050405020304" pitchFamily="18" charset="0"/>
              </a:rPr>
              <a:t>判断矩阵</a:t>
            </a:r>
            <a:r>
              <a:rPr lang="zh-CN" altLang="en-US" sz="2000" b="1" kern="0" dirty="0">
                <a:latin typeface="Times New Roman" panose="02020603050405020304" pitchFamily="18" charset="0"/>
              </a:rPr>
              <a:t> ：针对每个准则，两两比较其下属的各个元素之间的</a:t>
            </a:r>
            <a:r>
              <a:rPr lang="zh-CN" altLang="en-US" sz="2000" b="1" kern="0" dirty="0">
                <a:solidFill>
                  <a:srgbClr val="C00000"/>
                </a:solidFill>
                <a:latin typeface="Times New Roman" panose="02020603050405020304" pitchFamily="18" charset="0"/>
              </a:rPr>
              <a:t>相对重要性</a:t>
            </a:r>
            <a:r>
              <a:rPr lang="zh-CN" altLang="en-US" sz="2000" b="1" kern="0" dirty="0">
                <a:latin typeface="Times New Roman" panose="02020603050405020304" pitchFamily="18" charset="0"/>
              </a:rPr>
              <a:t>，并依据一定的标度赋予相应的数值，构造出判断矩阵。</a:t>
            </a:r>
            <a:endParaRPr lang="en-US" altLang="zh-CN" sz="2000" b="1" kern="0" dirty="0">
              <a:latin typeface="Times New Roman" panose="02020603050405020304" pitchFamily="18" charset="0"/>
            </a:endParaRPr>
          </a:p>
          <a:p>
            <a:pPr algn="just">
              <a:lnSpc>
                <a:spcPct val="120000"/>
              </a:lnSpc>
            </a:pPr>
            <a:r>
              <a:rPr lang="zh-CN" altLang="en-US" sz="2000" b="1" kern="0" dirty="0">
                <a:latin typeface="Times New Roman" panose="02020603050405020304" pitchFamily="18" charset="0"/>
              </a:rPr>
              <a:t>层次单排序及</a:t>
            </a:r>
            <a:r>
              <a:rPr lang="zh-CN" altLang="en-US" sz="2000" b="1" kern="0" dirty="0">
                <a:solidFill>
                  <a:srgbClr val="C00000"/>
                </a:solidFill>
                <a:latin typeface="Times New Roman" panose="02020603050405020304" pitchFamily="18" charset="0"/>
              </a:rPr>
              <a:t>一致性检验 </a:t>
            </a:r>
            <a:r>
              <a:rPr lang="zh-CN" altLang="en-US" sz="2000" b="1" kern="0" dirty="0">
                <a:latin typeface="Times New Roman" panose="02020603050405020304" pitchFamily="18" charset="0"/>
              </a:rPr>
              <a:t>：通过计算判断矩阵的特征向量并归一化处理，得到各要素对于该准则的相对权重。然后利用</a:t>
            </a:r>
            <a:r>
              <a:rPr lang="zh-CN" altLang="en-US" sz="2000" b="1" kern="0" dirty="0">
                <a:solidFill>
                  <a:srgbClr val="C00000"/>
                </a:solidFill>
                <a:latin typeface="Times New Roman" panose="02020603050405020304" pitchFamily="18" charset="0"/>
              </a:rPr>
              <a:t>一致性指标（</a:t>
            </a:r>
            <a:r>
              <a:rPr lang="en-US" altLang="zh-CN" sz="2000" b="1" kern="0" dirty="0">
                <a:solidFill>
                  <a:srgbClr val="C00000"/>
                </a:solidFill>
                <a:latin typeface="Times New Roman" panose="02020603050405020304" pitchFamily="18" charset="0"/>
              </a:rPr>
              <a:t>CI</a:t>
            </a:r>
            <a:r>
              <a:rPr lang="zh-CN" altLang="en-US" sz="2000" b="1" kern="0" dirty="0">
                <a:solidFill>
                  <a:srgbClr val="C00000"/>
                </a:solidFill>
                <a:latin typeface="Times New Roman" panose="02020603050405020304" pitchFamily="18" charset="0"/>
              </a:rPr>
              <a:t>）</a:t>
            </a:r>
            <a:r>
              <a:rPr lang="zh-CN" altLang="en-US" sz="2000" b="1" kern="0" dirty="0">
                <a:latin typeface="Times New Roman" panose="02020603050405020304" pitchFamily="18" charset="0"/>
              </a:rPr>
              <a:t>、</a:t>
            </a:r>
            <a:r>
              <a:rPr lang="zh-CN" altLang="en-US" sz="2000" b="1" kern="0" dirty="0">
                <a:solidFill>
                  <a:srgbClr val="C00000"/>
                </a:solidFill>
                <a:latin typeface="Times New Roman" panose="02020603050405020304" pitchFamily="18" charset="0"/>
              </a:rPr>
              <a:t>随机一致性指标（</a:t>
            </a:r>
            <a:r>
              <a:rPr lang="en-US" altLang="zh-CN" sz="2000" b="1" kern="0" dirty="0">
                <a:solidFill>
                  <a:srgbClr val="C00000"/>
                </a:solidFill>
                <a:latin typeface="Times New Roman" panose="02020603050405020304" pitchFamily="18" charset="0"/>
              </a:rPr>
              <a:t>RI</a:t>
            </a:r>
            <a:r>
              <a:rPr lang="zh-CN" altLang="en-US" sz="2000" b="1" kern="0" dirty="0">
                <a:solidFill>
                  <a:srgbClr val="C00000"/>
                </a:solidFill>
                <a:latin typeface="Times New Roman" panose="02020603050405020304" pitchFamily="18" charset="0"/>
              </a:rPr>
              <a:t>）和一致性比率（</a:t>
            </a:r>
            <a:r>
              <a:rPr lang="en-US" altLang="zh-CN" sz="2000" b="1" kern="0" dirty="0">
                <a:solidFill>
                  <a:srgbClr val="C00000"/>
                </a:solidFill>
                <a:latin typeface="Times New Roman" panose="02020603050405020304" pitchFamily="18" charset="0"/>
              </a:rPr>
              <a:t>CR</a:t>
            </a:r>
            <a:r>
              <a:rPr lang="zh-CN" altLang="en-US" sz="2000" b="1" kern="0" dirty="0">
                <a:solidFill>
                  <a:srgbClr val="C00000"/>
                </a:solidFill>
                <a:latin typeface="Times New Roman" panose="02020603050405020304" pitchFamily="18" charset="0"/>
              </a:rPr>
              <a:t>）</a:t>
            </a:r>
            <a:r>
              <a:rPr lang="zh-CN" altLang="en-US" sz="2000" b="1" kern="0" dirty="0">
                <a:latin typeface="Times New Roman" panose="02020603050405020304" pitchFamily="18" charset="0"/>
              </a:rPr>
              <a:t>来检验判断矩阵是否具有一致性，若 </a:t>
            </a:r>
            <a:r>
              <a:rPr lang="en-US" altLang="zh-CN" sz="2000" b="1" kern="0" dirty="0">
                <a:solidFill>
                  <a:srgbClr val="C00000"/>
                </a:solidFill>
                <a:latin typeface="Times New Roman" panose="02020603050405020304" pitchFamily="18" charset="0"/>
              </a:rPr>
              <a:t>CR &lt; 0.1</a:t>
            </a:r>
            <a:r>
              <a:rPr lang="zh-CN" altLang="en-US" sz="2000" b="1" kern="0" dirty="0">
                <a:latin typeface="Times New Roman" panose="02020603050405020304" pitchFamily="18" charset="0"/>
              </a:rPr>
              <a:t>，则认为判断矩阵具有满意的一致性。</a:t>
            </a:r>
            <a:endParaRPr lang="en-US" altLang="zh-CN" sz="2000" b="1" kern="0" dirty="0">
              <a:latin typeface="Times New Roman" panose="02020603050405020304" pitchFamily="18" charset="0"/>
            </a:endParaRPr>
          </a:p>
          <a:p>
            <a:pPr algn="just">
              <a:lnSpc>
                <a:spcPct val="120000"/>
              </a:lnSpc>
            </a:pPr>
            <a:endParaRPr lang="en-US" altLang="zh-CN" sz="1600" b="1" kern="0" dirty="0">
              <a:latin typeface="Times New Roman" panose="02020603050405020304" pitchFamily="18" charset="0"/>
            </a:endParaRPr>
          </a:p>
          <a:p>
            <a:pPr algn="just">
              <a:lnSpc>
                <a:spcPct val="120000"/>
              </a:lnSpc>
            </a:pPr>
            <a:endParaRPr lang="zh-CN" altLang="en-US" sz="1600" b="1" kern="0" dirty="0">
              <a:latin typeface="Times New Roman" panose="02020603050405020304" pitchFamily="18" charset="0"/>
            </a:endParaRPr>
          </a:p>
          <a:p>
            <a:pPr marL="285750" indent="-285750" algn="just">
              <a:lnSpc>
                <a:spcPct val="120000"/>
              </a:lnSpc>
              <a:buFont typeface="Arial" panose="020B0604020202020204" pitchFamily="34" charset="0"/>
              <a:buChar char="•"/>
            </a:pPr>
            <a:endParaRPr lang="zh-CN" altLang="en-US" sz="1600" b="1" kern="0" dirty="0">
              <a:latin typeface="Times New Roman" panose="02020603050405020304" pitchFamily="18" charset="0"/>
            </a:endParaRPr>
          </a:p>
        </p:txBody>
      </p:sp>
    </p:spTree>
    <p:extLst>
      <p:ext uri="{BB962C8B-B14F-4D97-AF65-F5344CB8AC3E}">
        <p14:creationId xmlns:p14="http://schemas.microsoft.com/office/powerpoint/2010/main" val="2951383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E1571-F4D2-D5FC-B375-0EA87CCAF43D}"/>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B14A41B9-7A23-F924-7CA4-760F83062AFD}"/>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8FB380E3-AE44-FC93-4560-52EB8BF623F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56F15C8E-A8D1-62FF-B119-3F1480FDE37D}"/>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3580D8BB-E327-CBEF-B9FD-2A76FA57CACC}"/>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933ED0AA-B41F-2975-63C2-9E10B150CAD1}"/>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881B76AB-8D9C-EE4C-DD34-DC399C145A8B}"/>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6598E2C5-AD72-02DD-96C3-70945194BF1A}"/>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107B83A6-B51C-0207-7CA7-3F4A2258CBA0}"/>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CD05B2FA-A4AD-6279-30CA-CB9D1E9C4016}"/>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DC2F3F0C-09AC-37CB-87DC-7CA46AA52A68}"/>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2F9B1023-067B-7406-1B9C-DB44B4434A7A}"/>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8F034EF1-A471-CC43-521E-8FE6908AFCAE}"/>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5CC75A92-D208-B221-B5B7-8FBC5A3F445E}"/>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7B2407C5-D6C5-0819-4993-F69322377617}"/>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8019140C-4B7C-C6F8-89FF-8885904B2D5A}"/>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4C07CC70-4430-0176-D9D8-B90B31DC45A3}"/>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DF3BAD49-CA39-6772-7258-0346624FC002}"/>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7D39A622-7DA9-9DFE-5405-4E949A5BBB57}"/>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F37C1184-29DB-A95D-2584-54CC549253DC}"/>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E123BF1C-E523-495B-7990-73915A255EE3}"/>
              </a:ext>
            </a:extLst>
          </p:cNvPr>
          <p:cNvSpPr/>
          <p:nvPr/>
        </p:nvSpPr>
        <p:spPr>
          <a:xfrm>
            <a:off x="2952393" y="3417692"/>
            <a:ext cx="8274761" cy="294025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83995DAD-FAE8-F4FA-5172-C416DAE3219E}"/>
              </a:ext>
            </a:extLst>
          </p:cNvPr>
          <p:cNvSpPr/>
          <p:nvPr/>
        </p:nvSpPr>
        <p:spPr>
          <a:xfrm>
            <a:off x="3161214" y="359061"/>
            <a:ext cx="8274761" cy="167873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07651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005788"/>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t>三峡库区是指受三峡工程淹没的地区，位于28°56'—31°44'N，106°16'—111°28'E，面积约5.8×10⁴ km²，包括重庆市和湖北省共26个县市区。季节性的水位波动形成了长江、洲滩、湖泊、江心岛屿一体的内陆淡水湿地生态系统，为多种水禽提供越冬生境。</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90" y="-67577"/>
            <a:ext cx="387637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研究背景</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a:t>
              </a:r>
              <a:endPar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文本框 16">
            <a:extLst>
              <a:ext uri="{FF2B5EF4-FFF2-40B4-BE49-F238E27FC236}">
                <a16:creationId xmlns:a16="http://schemas.microsoft.com/office/drawing/2014/main" id="{BDB216CC-D1BF-40BE-8B6C-B6095A4891A6}"/>
              </a:ext>
            </a:extLst>
          </p:cNvPr>
          <p:cNvSpPr txBox="1"/>
          <p:nvPr/>
        </p:nvSpPr>
        <p:spPr>
          <a:xfrm>
            <a:off x="3886207" y="5091231"/>
            <a:ext cx="4419584" cy="388661"/>
          </a:xfrm>
          <a:prstGeom prst="rect">
            <a:avLst/>
          </a:prstGeom>
          <a:solidFill>
            <a:schemeClr val="accent3">
              <a:lumMod val="60000"/>
              <a:lumOff val="40000"/>
              <a:alpha val="26000"/>
            </a:schemeClr>
          </a:solidFill>
          <a:ln w="12700" cap="flat" cmpd="sng" algn="ctr">
            <a:solidFill>
              <a:sysClr val="windowText" lastClr="000000"/>
            </a:solidFill>
            <a:prstDash val="dash"/>
            <a:miter lim="800000"/>
          </a:ln>
          <a:effectLst/>
        </p:spPr>
        <p:txBody>
          <a:bodyPr rtlCol="0" anchor="ctr"/>
          <a:lstStyle>
            <a:defPPr>
              <a:defRPr lang="zh-CN"/>
            </a:defPPr>
            <a:lvl1pPr marR="0" lvl="0" indent="0" algn="just"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微软雅黑"/>
                <a:ea typeface="微软雅黑"/>
              </a:defRPr>
            </a:lvl1pPr>
          </a:lstStyle>
          <a:p>
            <a:pPr algn="ctr"/>
            <a:r>
              <a:rPr lang="zh-CN" altLang="en-US" dirty="0"/>
              <a:t>三峡库区范围</a:t>
            </a:r>
          </a:p>
        </p:txBody>
      </p:sp>
      <p:sp>
        <p:nvSpPr>
          <p:cNvPr id="20" name="矩形 19">
            <a:extLst>
              <a:ext uri="{FF2B5EF4-FFF2-40B4-BE49-F238E27FC236}">
                <a16:creationId xmlns:a16="http://schemas.microsoft.com/office/drawing/2014/main" id="{D8B08003-885D-4A98-9706-2D156454B393}"/>
              </a:ext>
            </a:extLst>
          </p:cNvPr>
          <p:cNvSpPr/>
          <p:nvPr/>
        </p:nvSpPr>
        <p:spPr>
          <a:xfrm>
            <a:off x="0" y="5479892"/>
            <a:ext cx="12192000" cy="1378108"/>
          </a:xfrm>
          <a:prstGeom prst="rect">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t>水禽对湿地环境变化非常敏感，常被用作生物多样性监测的重要指示生物。三峡工程的建设改变了湿地水文结构，耕地和城市扩张加剧了湿地破碎化，导致依赖湿地生存的物种栖息地质量下降。栖息地适宜性评价是开展生物多样性保护的基础与关键。</a:t>
            </a:r>
          </a:p>
        </p:txBody>
      </p:sp>
      <p:pic>
        <p:nvPicPr>
          <p:cNvPr id="2" name="图片 1">
            <a:extLst>
              <a:ext uri="{FF2B5EF4-FFF2-40B4-BE49-F238E27FC236}">
                <a16:creationId xmlns:a16="http://schemas.microsoft.com/office/drawing/2014/main" id="{F157AE10-6A21-24C8-9203-571E35CEF5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86207" y="2094400"/>
            <a:ext cx="4419584" cy="2980933"/>
          </a:xfrm>
          <a:prstGeom prst="rect">
            <a:avLst/>
          </a:prstGeom>
        </p:spPr>
      </p:pic>
    </p:spTree>
    <p:extLst>
      <p:ext uri="{BB962C8B-B14F-4D97-AF65-F5344CB8AC3E}">
        <p14:creationId xmlns:p14="http://schemas.microsoft.com/office/powerpoint/2010/main" val="2002421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66E385C0-46B6-47D9-AA11-521F386398EE}"/>
              </a:ext>
            </a:extLst>
          </p:cNvPr>
          <p:cNvSpPr txBox="1"/>
          <p:nvPr/>
        </p:nvSpPr>
        <p:spPr>
          <a:xfrm>
            <a:off x="298115" y="944284"/>
            <a:ext cx="11595769" cy="1081899"/>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t>将复杂的生态评价问题分解为多层次结构，为栖息地适宜性的综合评估提供了一种科学、系统的解决方案</a:t>
            </a: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1" name="文本框 60">
            <a:extLst>
              <a:ext uri="{FF2B5EF4-FFF2-40B4-BE49-F238E27FC236}">
                <a16:creationId xmlns:a16="http://schemas.microsoft.com/office/drawing/2014/main" id="{8C32579A-9C75-4E3E-BBB6-F37DD3EF31D3}"/>
              </a:ext>
            </a:extLst>
          </p:cNvPr>
          <p:cNvSpPr txBox="1"/>
          <p:nvPr/>
        </p:nvSpPr>
        <p:spPr>
          <a:xfrm>
            <a:off x="1061389" y="-67577"/>
            <a:ext cx="4742251"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二</a:t>
              </a: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矩形 24">
            <a:extLst>
              <a:ext uri="{FF2B5EF4-FFF2-40B4-BE49-F238E27FC236}">
                <a16:creationId xmlns:a16="http://schemas.microsoft.com/office/drawing/2014/main" id="{4CCB2047-5968-4479-A1EC-0E37E8397790}"/>
              </a:ext>
            </a:extLst>
          </p:cNvPr>
          <p:cNvSpPr/>
          <p:nvPr/>
        </p:nvSpPr>
        <p:spPr>
          <a:xfrm>
            <a:off x="273627" y="2138549"/>
            <a:ext cx="11644746" cy="4594807"/>
          </a:xfrm>
          <a:prstGeom prst="rect">
            <a:avLst/>
          </a:prstGeom>
          <a:noFill/>
          <a:ln w="38100">
            <a:gradFill flip="none" rotWithShape="1">
              <a:gsLst>
                <a:gs pos="0">
                  <a:srgbClr val="0070C0">
                    <a:alpha val="19000"/>
                  </a:srgbClr>
                </a:gs>
                <a:gs pos="100000">
                  <a:schemeClr val="accent4">
                    <a:lumMod val="7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1" fontAlgn="auto" hangingPunct="1">
              <a:spcBef>
                <a:spcPts val="0"/>
              </a:spcBef>
              <a:spcAft>
                <a:spcPts val="0"/>
              </a:spcAft>
            </a:pPr>
            <a:endParaRPr lang="zh-CN" altLang="en-US" sz="1600">
              <a:solidFill>
                <a:prstClr val="white"/>
              </a:solidFill>
              <a:latin typeface="Calibri" panose="020F0502020204030204"/>
              <a:ea typeface="等线" panose="02010600030101010101" pitchFamily="2" charset="-122"/>
            </a:endParaRPr>
          </a:p>
        </p:txBody>
      </p:sp>
      <p:sp>
        <p:nvSpPr>
          <p:cNvPr id="33" name="AutoShape 3">
            <a:extLst>
              <a:ext uri="{FF2B5EF4-FFF2-40B4-BE49-F238E27FC236}">
                <a16:creationId xmlns:a16="http://schemas.microsoft.com/office/drawing/2014/main" id="{CA3502B5-FD97-40AA-9C29-22F2E142FA22}"/>
              </a:ext>
            </a:extLst>
          </p:cNvPr>
          <p:cNvSpPr>
            <a:spLocks noChangeArrowheads="1"/>
          </p:cNvSpPr>
          <p:nvPr/>
        </p:nvSpPr>
        <p:spPr bwMode="auto">
          <a:xfrm>
            <a:off x="4915528" y="2342263"/>
            <a:ext cx="6155243" cy="1351212"/>
          </a:xfrm>
          <a:prstGeom prst="roundRect">
            <a:avLst>
              <a:gd name="adj" fmla="val 16667"/>
            </a:avLst>
          </a:prstGeom>
          <a:solidFill>
            <a:srgbClr val="0070C0"/>
          </a:solidFill>
          <a:ln w="19050" algn="ctr">
            <a:solidFill>
              <a:sysClr val="window" lastClr="FFFFFF"/>
            </a:solidFill>
            <a:prstDash val="solid"/>
            <a:round/>
          </a:ln>
          <a:effectLst>
            <a:outerShdw blurRad="50800" dist="38100" dir="2700000" algn="tl" rotWithShape="0">
              <a:prstClr val="black">
                <a:alpha val="40000"/>
              </a:prstClr>
            </a:outerShdw>
          </a:effectLst>
        </p:spPr>
        <p:txBody>
          <a:bodyPr anchor="ctr"/>
          <a:lstStyle/>
          <a:p>
            <a:r>
              <a:t>三峡库区越冬水禽栖息地适宜性评价需要综合考量食物条件、隐蔽条件、水文条件、气候和人为干扰等多个环境因素。单一因素的评价难以全面反映栖息地质量，需要一种能够系统整合多因素的综合评价方法。</a:t>
            </a:r>
          </a:p>
        </p:txBody>
      </p:sp>
      <p:sp>
        <p:nvSpPr>
          <p:cNvPr id="34" name="文本框 33">
            <a:extLst>
              <a:ext uri="{FF2B5EF4-FFF2-40B4-BE49-F238E27FC236}">
                <a16:creationId xmlns:a16="http://schemas.microsoft.com/office/drawing/2014/main" id="{3ADF1FE8-21F5-4A6E-A292-2DC9B134CD25}"/>
              </a:ext>
            </a:extLst>
          </p:cNvPr>
          <p:cNvSpPr txBox="1">
            <a:spLocks/>
          </p:cNvSpPr>
          <p:nvPr/>
        </p:nvSpPr>
        <p:spPr>
          <a:xfrm>
            <a:off x="415878" y="2698394"/>
            <a:ext cx="2904265" cy="715089"/>
          </a:xfrm>
          <a:prstGeom prst="roundRect">
            <a:avLst/>
          </a:prstGeom>
          <a:solidFill>
            <a:sysClr val="window" lastClr="FFFFFF"/>
          </a:solidFill>
          <a:ln>
            <a:solidFill>
              <a:sysClr val="window" lastClr="FFFFFF"/>
            </a:solidFill>
          </a:ln>
          <a:effectLst>
            <a:outerShdw blurRad="50800" dist="38100" dir="2700000" algn="tl" rotWithShape="0">
              <a:prstClr val="black">
                <a:alpha val="40000"/>
              </a:prstClr>
            </a:outerShdw>
          </a:effectLst>
        </p:spPr>
        <p:txBody>
          <a:bodyPr wrap="square" rtlCol="0" anchor="ctr">
            <a:noAutofit/>
          </a:bodyPr>
          <a:lstStyle/>
          <a:p>
            <a:r>
              <a:t>栖息地多因素综合评价需求</a:t>
            </a:r>
          </a:p>
        </p:txBody>
      </p:sp>
      <p:sp>
        <p:nvSpPr>
          <p:cNvPr id="35" name="箭头: 右 34">
            <a:extLst>
              <a:ext uri="{FF2B5EF4-FFF2-40B4-BE49-F238E27FC236}">
                <a16:creationId xmlns:a16="http://schemas.microsoft.com/office/drawing/2014/main" id="{DB782A0E-D289-4A3B-85A8-1924B9E73716}"/>
              </a:ext>
            </a:extLst>
          </p:cNvPr>
          <p:cNvSpPr>
            <a:spLocks/>
          </p:cNvSpPr>
          <p:nvPr/>
        </p:nvSpPr>
        <p:spPr>
          <a:xfrm>
            <a:off x="3746082" y="2835159"/>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36" name="AutoShape 3">
            <a:extLst>
              <a:ext uri="{FF2B5EF4-FFF2-40B4-BE49-F238E27FC236}">
                <a16:creationId xmlns:a16="http://schemas.microsoft.com/office/drawing/2014/main" id="{BB83D6B4-4C00-4D1F-99B5-5662A25D0678}"/>
              </a:ext>
            </a:extLst>
          </p:cNvPr>
          <p:cNvSpPr>
            <a:spLocks noChangeArrowheads="1"/>
          </p:cNvSpPr>
          <p:nvPr/>
        </p:nvSpPr>
        <p:spPr bwMode="auto">
          <a:xfrm>
            <a:off x="4915528" y="4435952"/>
            <a:ext cx="6155243" cy="1351212"/>
          </a:xfrm>
          <a:prstGeom prst="roundRect">
            <a:avLst>
              <a:gd name="adj" fmla="val 16667"/>
            </a:avLst>
          </a:prstGeom>
          <a:solidFill>
            <a:srgbClr val="0070C0"/>
          </a:solidFill>
          <a:ln w="19050" algn="ctr">
            <a:solidFill>
              <a:sysClr val="window" lastClr="FFFFFF"/>
            </a:solidFill>
            <a:prstDash val="solid"/>
            <a:round/>
          </a:ln>
          <a:effectLst>
            <a:outerShdw blurRad="50800" dist="38100" dir="2700000" algn="tl" rotWithShape="0">
              <a:prstClr val="black">
                <a:alpha val="40000"/>
              </a:prstClr>
            </a:outerShdw>
          </a:effectLst>
        </p:spPr>
        <p:txBody>
          <a:bodyPr anchor="ctr"/>
          <a:lstStyle/>
          <a:p>
            <a:r>
              <a:t>通过建立目标层（栖息地适宜性）、准则层（食物、隐蔽、水文、气候、干扰）和指标层的层次结构，对不同环境因子进行系统分析和权重确定，AHP方法在处理物种分布数据缺乏、具有模糊性的生态评价问题时具有显著优势。</a:t>
            </a:r>
          </a:p>
        </p:txBody>
      </p:sp>
      <p:sp>
        <p:nvSpPr>
          <p:cNvPr id="38" name="箭头: 右 37">
            <a:extLst>
              <a:ext uri="{FF2B5EF4-FFF2-40B4-BE49-F238E27FC236}">
                <a16:creationId xmlns:a16="http://schemas.microsoft.com/office/drawing/2014/main" id="{C720A657-D9CD-459E-85FA-C35F9803ACB1}"/>
              </a:ext>
            </a:extLst>
          </p:cNvPr>
          <p:cNvSpPr>
            <a:spLocks/>
          </p:cNvSpPr>
          <p:nvPr/>
        </p:nvSpPr>
        <p:spPr>
          <a:xfrm>
            <a:off x="3746081" y="5026903"/>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40" name="文本框 39">
            <a:extLst>
              <a:ext uri="{FF2B5EF4-FFF2-40B4-BE49-F238E27FC236}">
                <a16:creationId xmlns:a16="http://schemas.microsoft.com/office/drawing/2014/main" id="{5FE21C11-1135-47AC-A4AA-45B70EF5C42A}"/>
              </a:ext>
            </a:extLst>
          </p:cNvPr>
          <p:cNvSpPr txBox="1">
            <a:spLocks/>
          </p:cNvSpPr>
          <p:nvPr/>
        </p:nvSpPr>
        <p:spPr>
          <a:xfrm>
            <a:off x="415878" y="4939486"/>
            <a:ext cx="2904265" cy="540255"/>
          </a:xfrm>
          <a:prstGeom prst="roundRect">
            <a:avLst/>
          </a:prstGeom>
          <a:solidFill>
            <a:sysClr val="window" lastClr="FFFFFF"/>
          </a:solidFill>
          <a:effectLst>
            <a:outerShdw blurRad="50800" dist="38100" dir="2700000" algn="tl" rotWithShape="0">
              <a:prstClr val="black">
                <a:alpha val="40000"/>
              </a:prstClr>
            </a:outerShdw>
          </a:effectLst>
        </p:spPr>
        <p:txBody>
          <a:bodyPr wrap="square" rtlCol="0" anchor="ctr">
            <a:noAutofit/>
          </a:bodyPr>
          <a:lstStyle/>
          <a:p>
            <a:pPr marL="285750" marR="0" lvl="0" indent="-285750" algn="ctr" defTabSz="914400" eaLnBrk="1" fontAlgn="auto" latinLnBrk="0" hangingPunct="1">
              <a:lnSpc>
                <a:spcPct val="120000"/>
              </a:lnSpc>
              <a:spcBef>
                <a:spcPts val="0"/>
              </a:spcBef>
              <a:spcAft>
                <a:spcPts val="0"/>
              </a:spcAft>
              <a:buClrTx/>
              <a:buSzTx/>
              <a:buFont typeface="Wingdings" panose="05000000000000000000" pitchFamily="2" charset="2"/>
              <a:buChar char="l"/>
              <a:tabLst/>
              <a:defRPr/>
            </a:pPr>
            <a:r>
              <a:rPr kumimoji="0" lang="en-US" altLang="zh-CN" sz="1800" b="1" i="0" u="none" strike="noStrike" kern="0" cap="none" spc="0" normalizeH="0" baseline="0" noProof="0" dirty="0">
                <a:ln>
                  <a:noFill/>
                </a:ln>
                <a:solidFill>
                  <a:schemeClr val="tx2">
                    <a:lumMod val="60000"/>
                    <a:lumOff val="40000"/>
                  </a:scheme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AHP</a:t>
            </a:r>
            <a:r>
              <a:rPr kumimoji="0" lang="zh-CN" altLang="en-US" sz="1800" b="1" i="0" u="none" strike="noStrike" kern="0" cap="none" spc="0" normalizeH="0" baseline="0" noProof="0" dirty="0">
                <a:ln>
                  <a:noFill/>
                </a:ln>
                <a:solidFill>
                  <a:schemeClr val="tx2">
                    <a:lumMod val="60000"/>
                    <a:lumOff val="40000"/>
                  </a:scheme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模型的优势</a:t>
            </a:r>
            <a:endParaRPr kumimoji="0" lang="zh-CN" altLang="en-US" sz="1800" b="1" i="0" u="none" strike="noStrike" kern="0" cap="none" spc="0" normalizeH="0" baseline="0" noProof="0" dirty="0">
              <a:ln>
                <a:noFill/>
              </a:ln>
              <a:solidFill>
                <a:srgbClr val="4472C4">
                  <a:lumMod val="75000"/>
                </a:srgb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箭头: 右 1">
            <a:extLst>
              <a:ext uri="{FF2B5EF4-FFF2-40B4-BE49-F238E27FC236}">
                <a16:creationId xmlns:a16="http://schemas.microsoft.com/office/drawing/2014/main" id="{C7E79BC1-11C3-04C6-877E-1EE20A451C5F}"/>
              </a:ext>
            </a:extLst>
          </p:cNvPr>
          <p:cNvSpPr>
            <a:spLocks/>
          </p:cNvSpPr>
          <p:nvPr/>
        </p:nvSpPr>
        <p:spPr>
          <a:xfrm rot="5400000">
            <a:off x="7709491" y="3913402"/>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819508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F0F0-0964-F721-2318-F6907A00B447}"/>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7707D71F-79E9-A6AC-EFAF-4EC9247A613E}"/>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2E3F86B5-4FFA-DEF4-465F-127E7FD54517}"/>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0CDFD7A7-DC0F-A698-3C68-AADF7730D982}"/>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BA3ECFDD-49D1-5C72-B24E-A122E060C3C1}"/>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08BED7CB-B3A0-E2A2-75EC-4BBD611927FA}"/>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86D22011-C654-1794-A71B-2E8F65498647}"/>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55E1EE66-5924-CD39-A0DA-DD1C7B78FF34}"/>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0F1BA5F0-6A6D-A015-A2E9-E3F5C9A0C331}"/>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B437A854-1477-563D-8AA5-BEA88B1D6117}"/>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07AC65E3-751D-9ADE-1471-558E36D4A22E}"/>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97D35D64-1295-B7E8-FC6F-5969112CA5F6}"/>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C9D12A0A-0888-D996-11CB-4801308B3AE6}"/>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36D9F5CB-489B-C974-C3CA-7B1D9D7378AD}"/>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EC0F25D3-5843-79BE-F702-6D201B52C467}"/>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7EF28AD2-D3DB-FA34-B9E0-E33D4A7D7A25}"/>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CF8FF951-7CEA-A646-4D18-8175238FC991}"/>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3AB14E6F-B3A9-F67C-72E7-24A6E1575A0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A1D79DA4-80BA-DED9-FDAA-E5622F60308F}"/>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189E26B1-1A70-63A4-F162-3A6AB71F6CC5}"/>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B21C2962-71CD-E23B-D2FF-0EB98AAD7AC8}"/>
              </a:ext>
            </a:extLst>
          </p:cNvPr>
          <p:cNvSpPr/>
          <p:nvPr/>
        </p:nvSpPr>
        <p:spPr>
          <a:xfrm>
            <a:off x="3161214" y="5021066"/>
            <a:ext cx="8274761" cy="134818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C9B04630-5A65-97C6-34F3-CC7CB2AB6D6F}"/>
              </a:ext>
            </a:extLst>
          </p:cNvPr>
          <p:cNvSpPr/>
          <p:nvPr/>
        </p:nvSpPr>
        <p:spPr>
          <a:xfrm>
            <a:off x="3161214" y="324382"/>
            <a:ext cx="8274761" cy="294709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44532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89" y="-67577"/>
            <a:ext cx="5306753"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模型的应用方式</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三</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文本框 12">
            <a:extLst>
              <a:ext uri="{FF2B5EF4-FFF2-40B4-BE49-F238E27FC236}">
                <a16:creationId xmlns:a16="http://schemas.microsoft.com/office/drawing/2014/main" id="{D82CE6EC-4AE2-45C0-9C9C-08B0B6ADB17B}"/>
              </a:ext>
            </a:extLst>
          </p:cNvPr>
          <p:cNvSpPr txBox="1"/>
          <p:nvPr/>
        </p:nvSpPr>
        <p:spPr>
          <a:xfrm>
            <a:off x="298115" y="2447991"/>
            <a:ext cx="3581609" cy="1857753"/>
          </a:xfrm>
          <a:prstGeom prst="rect">
            <a:avLst/>
          </a:prstGeom>
          <a:solidFill>
            <a:schemeClr val="accent2">
              <a:lumMod val="20000"/>
              <a:lumOff val="80000"/>
              <a:alpha val="58000"/>
            </a:schemeClr>
          </a:solidFill>
        </p:spPr>
        <p:txBody>
          <a:bodyPr wrap="square">
            <a:spAutoFit/>
          </a:bodyPr>
          <a:lstStyle/>
          <a:p>
            <a:r>
              <a:t>采用层次分析法（AHP）确定各评价因子的权重。目标层为三峡库区越冬水禽栖息地适宜性评价，准则层涵盖食物条件、隐蔽条件、水文条件、气候和干扰5个方面，指标层包含8个具体评价因子。</a:t>
            </a:r>
          </a:p>
        </p:txBody>
      </p:sp>
      <p:grpSp>
        <p:nvGrpSpPr>
          <p:cNvPr id="2" name="组合 1">
            <a:extLst>
              <a:ext uri="{FF2B5EF4-FFF2-40B4-BE49-F238E27FC236}">
                <a16:creationId xmlns:a16="http://schemas.microsoft.com/office/drawing/2014/main" id="{313F29D1-68FC-CA20-638C-C9223C324EBC}"/>
              </a:ext>
            </a:extLst>
          </p:cNvPr>
          <p:cNvGrpSpPr/>
          <p:nvPr/>
        </p:nvGrpSpPr>
        <p:grpSpPr>
          <a:xfrm>
            <a:off x="253273" y="4708527"/>
            <a:ext cx="3743373" cy="1585433"/>
            <a:chOff x="253273" y="4708527"/>
            <a:chExt cx="3743373" cy="1585433"/>
          </a:xfrm>
        </p:grpSpPr>
        <p:sp>
          <p:nvSpPr>
            <p:cNvPr id="32" name="文本框 31">
              <a:extLst>
                <a:ext uri="{FF2B5EF4-FFF2-40B4-BE49-F238E27FC236}">
                  <a16:creationId xmlns:a16="http://schemas.microsoft.com/office/drawing/2014/main" id="{A59C5361-20E4-4F44-91DF-37C8D14A2841}"/>
                </a:ext>
              </a:extLst>
            </p:cNvPr>
            <p:cNvSpPr txBox="1"/>
            <p:nvPr/>
          </p:nvSpPr>
          <p:spPr>
            <a:xfrm>
              <a:off x="253273" y="4708527"/>
              <a:ext cx="3743373" cy="1585433"/>
            </a:xfrm>
            <a:prstGeom prst="rect">
              <a:avLst/>
            </a:prstGeom>
            <a:solidFill>
              <a:srgbClr val="FF33CC">
                <a:alpha val="8000"/>
              </a:srgbClr>
            </a:solidFill>
            <a:ln w="25400">
              <a:solidFill>
                <a:srgbClr val="086BCE"/>
              </a:solidFill>
              <a:prstDash val="dash"/>
            </a:ln>
          </p:spPr>
          <p:txBody>
            <a:bodyPr wrap="square" lIns="91440" tIns="0" rIns="91440" bIns="0" anchor="ctr">
              <a:noAutofit/>
            </a:bodyPr>
            <a:lstStyle>
              <a:defPPr>
                <a:defRPr lang="zh-CN"/>
              </a:defPPr>
              <a:lvl1pPr marL="285750" indent="-285750">
                <a:lnSpc>
                  <a:spcPct val="150000"/>
                </a:lnSpc>
                <a:buClr>
                  <a:srgbClr val="0B4B8A"/>
                </a:buClr>
                <a:buFont typeface="Wingdings" panose="05000000000000000000" pitchFamily="2" charset="2"/>
                <a:buChar char="ü"/>
                <a:defRPr sz="2400" b="1">
                  <a:solidFill>
                    <a:srgbClr val="0B4B8A"/>
                  </a:solidFill>
                  <a:latin typeface="Arial" panose="020B0604020202020204"/>
                  <a:ea typeface="微软雅黑" panose="020B0503020204020204" pitchFamily="34" charset="-122"/>
                </a:defRPr>
              </a:lvl1pPr>
            </a:lstStyle>
            <a:p>
              <a:pPr marL="285750" marR="0" lvl="0" indent="-285750" defTabSz="914400" eaLnBrk="1" fontAlgn="auto" latinLnBrk="0" hangingPunct="1">
                <a:lnSpc>
                  <a:spcPct val="100000"/>
                </a:lnSpc>
                <a:spcBef>
                  <a:spcPts val="0"/>
                </a:spcBef>
                <a:spcAft>
                  <a:spcPts val="0"/>
                </a:spcAft>
                <a:buClr>
                  <a:srgbClr val="0B4B8A"/>
                </a:buClr>
                <a:buSzTx/>
                <a:buFont typeface="Arial" panose="020B0604020202020204" pitchFamily="34" charset="0"/>
                <a:buChar char="•"/>
                <a:tabLst/>
                <a:defRPr/>
              </a:pPr>
              <a:endParaRPr kumimoji="0" lang="zh-CN" altLang="en-US" sz="1800" b="1" i="0" u="none" strike="noStrike" kern="0" cap="none" spc="0" normalizeH="0" baseline="0" noProof="0" dirty="0">
                <a:ln>
                  <a:noFill/>
                </a:ln>
                <a:solidFill>
                  <a:prstClr val="black"/>
                </a:solidFill>
                <a:effectLst/>
                <a:uLnTx/>
                <a:uFillTx/>
                <a:latin typeface="Arial" panose="020B0604020202020204"/>
                <a:ea typeface="微软雅黑" panose="020B0503020204020204" pitchFamily="34" charset="-122"/>
              </a:endParaRPr>
            </a:p>
          </p:txBody>
        </p:sp>
        <p:sp>
          <p:nvSpPr>
            <p:cNvPr id="29" name="文本框 28">
              <a:extLst>
                <a:ext uri="{FF2B5EF4-FFF2-40B4-BE49-F238E27FC236}">
                  <a16:creationId xmlns:a16="http://schemas.microsoft.com/office/drawing/2014/main" id="{29B40504-6A9C-4B82-A989-A93BD684A587}"/>
                </a:ext>
              </a:extLst>
            </p:cNvPr>
            <p:cNvSpPr txBox="1"/>
            <p:nvPr/>
          </p:nvSpPr>
          <p:spPr>
            <a:xfrm>
              <a:off x="253338" y="4796306"/>
              <a:ext cx="3743308" cy="1497654"/>
            </a:xfrm>
            <a:prstGeom prst="rect">
              <a:avLst/>
            </a:prstGeom>
            <a:noFill/>
          </p:spPr>
          <p:txBody>
            <a:bodyPr wrap="square">
              <a:spAutoFit/>
            </a:bodyPr>
            <a:lstStyle/>
            <a:p>
              <a:pPr marL="285750" indent="-285750">
                <a:lnSpc>
                  <a:spcPct val="130000"/>
                </a:lnSpc>
                <a:buFont typeface="Wingdings" panose="05000000000000000000" pitchFamily="2" charset="2"/>
                <a:buChar char="Ø"/>
              </a:pPr>
              <a:r>
                <a:rPr lang="zh-CN" altLang="en-US" b="1" dirty="0"/>
                <a:t>基于各污染物的</a:t>
              </a:r>
              <a:r>
                <a:rPr lang="zh-CN" altLang="en-US" b="1" dirty="0">
                  <a:solidFill>
                    <a:schemeClr val="tx2"/>
                  </a:solidFill>
                </a:rPr>
                <a:t>测定值和权重</a:t>
              </a:r>
              <a:r>
                <a:rPr lang="zh-CN" altLang="en-US" b="1" dirty="0"/>
                <a:t>，计算各污水厂污泥的综合风险得分。计算公式为各污染物得分与其权重的乘积之和：</a:t>
              </a:r>
            </a:p>
          </p:txBody>
        </p:sp>
      </p:grpSp>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253677"/>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t>根据水禽越冬的生态需求：选择土地利用类型、坡度、海拔作为食物条件指标；距林缘距离作为隐蔽条件指标；距水源距离作为水文条件指标；越冬期平均温度作为气候指标；距居民区和道路距离作为干扰指标。</a:t>
            </a:r>
          </a:p>
        </p:txBody>
      </p:sp>
      <p:graphicFrame>
        <p:nvGraphicFramePr>
          <p:cNvPr id="4" name="表格 3">
            <a:extLst>
              <a:ext uri="{FF2B5EF4-FFF2-40B4-BE49-F238E27FC236}">
                <a16:creationId xmlns:a16="http://schemas.microsoft.com/office/drawing/2014/main" id="{7C0C0C68-7E97-C44B-0B6C-25FDD6DBD88B}"/>
              </a:ext>
            </a:extLst>
          </p:cNvPr>
          <p:cNvGraphicFramePr>
            <a:graphicFrameLocks noGrp="1"/>
          </p:cNvGraphicFramePr>
          <p:nvPr/>
        </p:nvGraphicFramePr>
        <p:xfrm>
          <a:off x="4832141" y="2625261"/>
          <a:ext cx="6960273" cy="1607478"/>
        </p:xfrm>
        <a:graphic>
          <a:graphicData uri="http://schemas.openxmlformats.org/drawingml/2006/table">
            <a:tbl>
              <a:tblPr firstRow="1" firstCol="1" bandRow="1">
                <a:tableStyleId>{00A15C55-8517-42AA-B614-E9B94910E393}</a:tableStyleId>
              </a:tblPr>
              <a:tblGrid>
                <a:gridCol w="624788">
                  <a:extLst>
                    <a:ext uri="{9D8B030D-6E8A-4147-A177-3AD203B41FA5}">
                      <a16:colId xmlns:a16="http://schemas.microsoft.com/office/drawing/2014/main" val="12403610"/>
                    </a:ext>
                  </a:extLst>
                </a:gridCol>
                <a:gridCol w="688827">
                  <a:extLst>
                    <a:ext uri="{9D8B030D-6E8A-4147-A177-3AD203B41FA5}">
                      <a16:colId xmlns:a16="http://schemas.microsoft.com/office/drawing/2014/main" val="1584741899"/>
                    </a:ext>
                  </a:extLst>
                </a:gridCol>
                <a:gridCol w="600857">
                  <a:extLst>
                    <a:ext uri="{9D8B030D-6E8A-4147-A177-3AD203B41FA5}">
                      <a16:colId xmlns:a16="http://schemas.microsoft.com/office/drawing/2014/main" val="2323082717"/>
                    </a:ext>
                  </a:extLst>
                </a:gridCol>
                <a:gridCol w="600857">
                  <a:extLst>
                    <a:ext uri="{9D8B030D-6E8A-4147-A177-3AD203B41FA5}">
                      <a16:colId xmlns:a16="http://schemas.microsoft.com/office/drawing/2014/main" val="4206772810"/>
                    </a:ext>
                  </a:extLst>
                </a:gridCol>
                <a:gridCol w="601668">
                  <a:extLst>
                    <a:ext uri="{9D8B030D-6E8A-4147-A177-3AD203B41FA5}">
                      <a16:colId xmlns:a16="http://schemas.microsoft.com/office/drawing/2014/main" val="219726783"/>
                    </a:ext>
                  </a:extLst>
                </a:gridCol>
                <a:gridCol w="601668">
                  <a:extLst>
                    <a:ext uri="{9D8B030D-6E8A-4147-A177-3AD203B41FA5}">
                      <a16:colId xmlns:a16="http://schemas.microsoft.com/office/drawing/2014/main" val="54886796"/>
                    </a:ext>
                  </a:extLst>
                </a:gridCol>
                <a:gridCol w="601668">
                  <a:extLst>
                    <a:ext uri="{9D8B030D-6E8A-4147-A177-3AD203B41FA5}">
                      <a16:colId xmlns:a16="http://schemas.microsoft.com/office/drawing/2014/main" val="2225086446"/>
                    </a:ext>
                  </a:extLst>
                </a:gridCol>
                <a:gridCol w="601668">
                  <a:extLst>
                    <a:ext uri="{9D8B030D-6E8A-4147-A177-3AD203B41FA5}">
                      <a16:colId xmlns:a16="http://schemas.microsoft.com/office/drawing/2014/main" val="3980949961"/>
                    </a:ext>
                  </a:extLst>
                </a:gridCol>
                <a:gridCol w="601668">
                  <a:extLst>
                    <a:ext uri="{9D8B030D-6E8A-4147-A177-3AD203B41FA5}">
                      <a16:colId xmlns:a16="http://schemas.microsoft.com/office/drawing/2014/main" val="3727006536"/>
                    </a:ext>
                  </a:extLst>
                </a:gridCol>
                <a:gridCol w="601668">
                  <a:extLst>
                    <a:ext uri="{9D8B030D-6E8A-4147-A177-3AD203B41FA5}">
                      <a16:colId xmlns:a16="http://schemas.microsoft.com/office/drawing/2014/main" val="4122366870"/>
                    </a:ext>
                  </a:extLst>
                </a:gridCol>
                <a:gridCol w="834936">
                  <a:extLst>
                    <a:ext uri="{9D8B030D-6E8A-4147-A177-3AD203B41FA5}">
                      <a16:colId xmlns:a16="http://schemas.microsoft.com/office/drawing/2014/main" val="3559241910"/>
                    </a:ext>
                  </a:extLst>
                </a:gridCol>
              </a:tblGrid>
              <a:tr h="1020395">
                <a:tc>
                  <a:txBody>
                    <a:bodyPr/>
                    <a:lstStyle/>
                    <a:p>
                      <a:r>
                        <a:t>准则层</a:t>
                      </a:r>
                    </a:p>
                  </a:txBody>
                  <a:tcPr marL="68580" marR="68580" marT="0" marB="0"/>
                </a:tc>
                <a:tc>
                  <a:txBody>
                    <a:bodyPr/>
                    <a:lstStyle/>
                    <a:p>
                      <a:r>
                        <a:t>食物条件</a:t>
                      </a:r>
                    </a:p>
                  </a:txBody>
                  <a:tcPr marL="68580" marR="68580" marT="0" marB="0"/>
                </a:tc>
                <a:tc>
                  <a:txBody>
                    <a:bodyPr/>
                    <a:lstStyle/>
                    <a:p>
                      <a:r>
                        <a:t>隐蔽条件</a:t>
                      </a:r>
                    </a:p>
                  </a:txBody>
                  <a:tcPr marL="68580" marR="68580" marT="0" marB="0"/>
                </a:tc>
                <a:tc>
                  <a:txBody>
                    <a:bodyPr/>
                    <a:lstStyle/>
                    <a:p>
                      <a:r>
                        <a:t>水文条件</a:t>
                      </a:r>
                    </a:p>
                  </a:txBody>
                  <a:tcPr marL="68580" marR="68580" marT="0" marB="0"/>
                </a:tc>
                <a:tc>
                  <a:txBody>
                    <a:bodyPr/>
                    <a:lstStyle/>
                    <a:p>
                      <a:r>
                        <a:t>气候</a:t>
                      </a:r>
                    </a:p>
                  </a:txBody>
                  <a:tcPr marL="68580" marR="68580" marT="0" marB="0"/>
                </a:tc>
                <a:tc>
                  <a:txBody>
                    <a:bodyPr/>
                    <a:lstStyle/>
                    <a:p>
                      <a:r>
                        <a:t>干扰</a:t>
                      </a:r>
                    </a:p>
                  </a:txBody>
                  <a:tcPr marL="68580" marR="68580" marT="0" marB="0"/>
                </a:tc>
                <a:tc>
                  <a:txBody>
                    <a:bodyPr/>
                    <a:lstStyle/>
                    <a:p/>
                  </a:txBody>
                  <a:tcPr marL="68580" marR="68580" marT="0" marB="0"/>
                </a:tc>
                <a:tc>
                  <a:txBody>
                    <a:bodyPr/>
                    <a:lstStyle/>
                    <a:p/>
                  </a:txBody>
                  <a:tcPr marL="68580" marR="68580" marT="0" marB="0"/>
                </a:tc>
                <a:tc>
                  <a:txBody>
                    <a:bodyPr/>
                    <a:lstStyle/>
                    <a:p/>
                  </a:txBody>
                  <a:tcPr marL="68580" marR="68580" marT="0" marB="0"/>
                </a:tc>
                <a:tc>
                  <a:txBody>
                    <a:bodyPr/>
                    <a:lstStyle/>
                    <a:p/>
                  </a:txBody>
                  <a:tcPr marL="68580" marR="68580" marT="0" marB="0"/>
                </a:tc>
                <a:tc>
                  <a:txBody>
                    <a:bodyPr/>
                    <a:lstStyle/>
                    <a:p/>
                  </a:txBody>
                  <a:tcPr marL="68580" marR="68580" marT="0" marB="0"/>
                </a:tc>
                <a:extLst>
                  <a:ext uri="{0D108BD9-81ED-4DB2-BD59-A6C34878D82A}">
                    <a16:rowId xmlns:a16="http://schemas.microsoft.com/office/drawing/2014/main" val="3408481680"/>
                  </a:ext>
                </a:extLst>
              </a:tr>
              <a:tr h="510198">
                <a:tc>
                  <a:txBody>
                    <a:bodyPr/>
                    <a:lstStyle/>
                    <a:p>
                      <a:r>
                        <a:t>权重</a:t>
                      </a:r>
                    </a:p>
                  </a:txBody>
                  <a:tcPr marL="68580" marR="68580" marT="0" marB="0"/>
                </a:tc>
                <a:tc>
                  <a:txBody>
                    <a:bodyPr/>
                    <a:lstStyle/>
                    <a:p>
                      <a:r>
                        <a:t>0.454</a:t>
                      </a:r>
                    </a:p>
                  </a:txBody>
                  <a:tcPr marL="68580" marR="68580" marT="0" marB="0"/>
                </a:tc>
                <a:tc>
                  <a:txBody>
                    <a:bodyPr/>
                    <a:lstStyle/>
                    <a:p>
                      <a:r>
                        <a:t>0.177</a:t>
                      </a:r>
                    </a:p>
                  </a:txBody>
                  <a:tcPr marL="68580" marR="68580" marT="0" marB="0"/>
                </a:tc>
                <a:tc>
                  <a:txBody>
                    <a:bodyPr/>
                    <a:lstStyle/>
                    <a:p>
                      <a:r>
                        <a:t>0.177</a:t>
                      </a:r>
                    </a:p>
                  </a:txBody>
                  <a:tcPr marL="68580" marR="68580" marT="0" marB="0"/>
                </a:tc>
                <a:tc>
                  <a:txBody>
                    <a:bodyPr/>
                    <a:lstStyle/>
                    <a:p>
                      <a:r>
                        <a:t>0.096</a:t>
                      </a:r>
                    </a:p>
                  </a:txBody>
                  <a:tcPr marL="68580" marR="68580" marT="0" marB="0"/>
                </a:tc>
                <a:tc>
                  <a:txBody>
                    <a:bodyPr/>
                    <a:lstStyle/>
                    <a:p>
                      <a:r>
                        <a:t>0.096</a:t>
                      </a:r>
                    </a:p>
                  </a:txBody>
                  <a:tcPr marL="68580" marR="68580" marT="0" marB="0"/>
                </a:tc>
                <a:tc>
                  <a:txBody>
                    <a:bodyPr/>
                    <a:lstStyle/>
                    <a:p/>
                  </a:txBody>
                  <a:tcPr marL="68580" marR="68580" marT="0" marB="0"/>
                </a:tc>
                <a:tc>
                  <a:txBody>
                    <a:bodyPr/>
                    <a:lstStyle/>
                    <a:p/>
                  </a:txBody>
                  <a:tcPr marL="68580" marR="68580" marT="0" marB="0"/>
                </a:tc>
                <a:tc>
                  <a:txBody>
                    <a:bodyPr/>
                    <a:lstStyle/>
                    <a:p/>
                  </a:txBody>
                  <a:tcPr marL="68580" marR="68580" marT="0" marB="0"/>
                </a:tc>
                <a:tc>
                  <a:txBody>
                    <a:bodyPr/>
                    <a:lstStyle/>
                    <a:p/>
                  </a:txBody>
                  <a:tcPr marL="68580" marR="68580" marT="0" marB="0"/>
                </a:tc>
                <a:tc>
                  <a:txBody>
                    <a:bodyPr/>
                    <a:lstStyle/>
                    <a:p/>
                  </a:txBody>
                  <a:tcPr marL="68580" marR="68580" marT="0" marB="0"/>
                </a:tc>
                <a:extLst>
                  <a:ext uri="{0D108BD9-81ED-4DB2-BD59-A6C34878D82A}">
                    <a16:rowId xmlns:a16="http://schemas.microsoft.com/office/drawing/2014/main" val="2921943575"/>
                  </a:ext>
                </a:extLst>
              </a:tr>
            </a:tbl>
          </a:graphicData>
        </a:graphic>
      </p:graphicFrame>
      <p:sp>
        <p:nvSpPr>
          <p:cNvPr id="7" name="箭头: 右 6">
            <a:extLst>
              <a:ext uri="{FF2B5EF4-FFF2-40B4-BE49-F238E27FC236}">
                <a16:creationId xmlns:a16="http://schemas.microsoft.com/office/drawing/2014/main" id="{6704DCC1-3021-BC83-8F95-5F2A43733CA4}"/>
              </a:ext>
            </a:extLst>
          </p:cNvPr>
          <p:cNvSpPr>
            <a:spLocks/>
          </p:cNvSpPr>
          <p:nvPr/>
        </p:nvSpPr>
        <p:spPr>
          <a:xfrm>
            <a:off x="3996646" y="3194157"/>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8" name="箭头: 右 7">
            <a:extLst>
              <a:ext uri="{FF2B5EF4-FFF2-40B4-BE49-F238E27FC236}">
                <a16:creationId xmlns:a16="http://schemas.microsoft.com/office/drawing/2014/main" id="{F899B41E-04A3-02C9-DDEB-0514CA1067B1}"/>
              </a:ext>
            </a:extLst>
          </p:cNvPr>
          <p:cNvSpPr>
            <a:spLocks/>
          </p:cNvSpPr>
          <p:nvPr/>
        </p:nvSpPr>
        <p:spPr>
          <a:xfrm>
            <a:off x="3996645" y="5318533"/>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grpSp>
        <p:nvGrpSpPr>
          <p:cNvPr id="12" name="组合 11">
            <a:extLst>
              <a:ext uri="{FF2B5EF4-FFF2-40B4-BE49-F238E27FC236}">
                <a16:creationId xmlns:a16="http://schemas.microsoft.com/office/drawing/2014/main" id="{DAAE8ABD-2560-5A8D-4597-11F5F705A573}"/>
              </a:ext>
            </a:extLst>
          </p:cNvPr>
          <p:cNvGrpSpPr/>
          <p:nvPr/>
        </p:nvGrpSpPr>
        <p:grpSpPr>
          <a:xfrm>
            <a:off x="4736879" y="4773442"/>
            <a:ext cx="4127678" cy="1438764"/>
            <a:chOff x="6248438" y="4825751"/>
            <a:chExt cx="4127678" cy="1438764"/>
          </a:xfrm>
        </p:grpSpPr>
        <p:sp>
          <p:nvSpPr>
            <p:cNvPr id="9" name="矩形 8">
              <a:extLst>
                <a:ext uri="{FF2B5EF4-FFF2-40B4-BE49-F238E27FC236}">
                  <a16:creationId xmlns:a16="http://schemas.microsoft.com/office/drawing/2014/main" id="{85480909-FEBC-BA48-F140-A0231F0B2911}"/>
                </a:ext>
              </a:extLst>
            </p:cNvPr>
            <p:cNvSpPr/>
            <p:nvPr/>
          </p:nvSpPr>
          <p:spPr>
            <a:xfrm>
              <a:off x="6352414" y="4825751"/>
              <a:ext cx="3743308" cy="14387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3700"/>
                </a:lnSpc>
                <a:spcBef>
                  <a:spcPts val="600"/>
                </a:spcBef>
                <a:spcAft>
                  <a:spcPts val="600"/>
                </a:spcAft>
                <a:defRPr/>
              </a:pPr>
              <a:endParaRPr lang="zh-CN" altLang="en-US" sz="24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7434D03-9B20-83AD-68FA-EC2937271CEB}"/>
                    </a:ext>
                  </a:extLst>
                </p:cNvPr>
                <p:cNvSpPr txBox="1"/>
                <p:nvPr/>
              </p:nvSpPr>
              <p:spPr>
                <a:xfrm>
                  <a:off x="6248438" y="4825751"/>
                  <a:ext cx="4127678" cy="12848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b="1" i="1" smtClean="0">
                            <a:solidFill>
                              <a:schemeClr val="bg1"/>
                            </a:solidFill>
                            <a:latin typeface="Cambria Math" panose="02040503050406030204" pitchFamily="18" charset="0"/>
                          </a:rPr>
                          <m:t>𝑬𝑰</m:t>
                        </m:r>
                        <m:r>
                          <a:rPr lang="zh-CN" altLang="en-US" sz="3200" b="1" i="0">
                            <a:solidFill>
                              <a:schemeClr val="bg1"/>
                            </a:solidFill>
                            <a:latin typeface="Cambria Math" panose="02040503050406030204" pitchFamily="18" charset="0"/>
                          </a:rPr>
                          <m:t>=</m:t>
                        </m:r>
                        <m:nary>
                          <m:naryPr>
                            <m:chr m:val="∑"/>
                            <m:grow m:val="on"/>
                            <m:subHide m:val="on"/>
                            <m:supHide m:val="on"/>
                            <m:ctrlPr>
                              <a:rPr lang="zh-CN" altLang="en-US" sz="3200" b="1" i="1">
                                <a:solidFill>
                                  <a:schemeClr val="bg1"/>
                                </a:solidFill>
                                <a:latin typeface="Cambria Math" panose="02040503050406030204" pitchFamily="18" charset="0"/>
                              </a:rPr>
                            </m:ctrlPr>
                          </m:naryPr>
                          <m:sub/>
                          <m:sup/>
                          <m:e>
                            <m:sSub>
                              <m:sSubPr>
                                <m:ctrlPr>
                                  <a:rPr lang="zh-CN" altLang="en-US"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𝑽</m:t>
                                </m:r>
                              </m:e>
                              <m:sub>
                                <m:r>
                                  <a:rPr lang="zh-CN" altLang="en-US" sz="3200" b="1" i="1">
                                    <a:solidFill>
                                      <a:schemeClr val="bg1"/>
                                    </a:solidFill>
                                    <a:latin typeface="Cambria Math" panose="02040503050406030204" pitchFamily="18" charset="0"/>
                                  </a:rPr>
                                  <m:t>𝒊</m:t>
                                </m:r>
                              </m:sub>
                            </m:sSub>
                          </m:e>
                        </m:nary>
                        <m:r>
                          <a:rPr lang="zh-CN" altLang="en-US" sz="3200" b="1" i="0">
                            <a:solidFill>
                              <a:schemeClr val="bg1"/>
                            </a:solidFill>
                            <a:latin typeface="Cambria Math" panose="02040503050406030204" pitchFamily="18" charset="0"/>
                          </a:rPr>
                          <m:t>×</m:t>
                        </m:r>
                        <m:r>
                          <a:rPr lang="zh-CN" altLang="en-US" sz="3200" b="1" i="1">
                            <a:solidFill>
                              <a:schemeClr val="bg1"/>
                            </a:solidFill>
                            <a:latin typeface="Cambria Math" panose="02040503050406030204" pitchFamily="18" charset="0"/>
                          </a:rPr>
                          <m:t>𝑾</m:t>
                        </m:r>
                      </m:oMath>
                    </m:oMathPara>
                  </a14:m>
                  <a:endParaRPr lang="zh-CN" altLang="en-US" sz="3200" b="1"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97434D03-9B20-83AD-68FA-EC2937271CEB}"/>
                    </a:ext>
                  </a:extLst>
                </p:cNvPr>
                <p:cNvSpPr txBox="1">
                  <a:spLocks noRot="1" noChangeAspect="1" noMove="1" noResize="1" noEditPoints="1" noAdjustHandles="1" noChangeArrowheads="1" noChangeShapeType="1" noTextEdit="1"/>
                </p:cNvSpPr>
                <p:nvPr/>
              </p:nvSpPr>
              <p:spPr>
                <a:xfrm>
                  <a:off x="6248438" y="4825751"/>
                  <a:ext cx="4127678" cy="1284839"/>
                </a:xfrm>
                <a:prstGeom prst="rect">
                  <a:avLst/>
                </a:prstGeom>
                <a:blipFill>
                  <a:blip r:embed="rId2"/>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103921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005788"/>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t>构建判断矩阵：采用层次分析法，根据专家知识和前人研究，对影响水禽越冬栖息地的5个准则层因子（食物条件、隐蔽条件、水文条件、气候、干扰）及各指标因子进行两两比较，利用1-9标度法构建判断矩阵。通过一致性检验（CR &lt; 0.1）确认矩阵合理性。</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89" y="-67577"/>
            <a:ext cx="5572675"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模型的应用方式</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三</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文本框 7">
            <a:extLst>
              <a:ext uri="{FF2B5EF4-FFF2-40B4-BE49-F238E27FC236}">
                <a16:creationId xmlns:a16="http://schemas.microsoft.com/office/drawing/2014/main" id="{A7304EE4-9AB8-F02B-FFBC-8A16759517EE}"/>
              </a:ext>
            </a:extLst>
          </p:cNvPr>
          <p:cNvSpPr txBox="1"/>
          <p:nvPr/>
        </p:nvSpPr>
        <p:spPr>
          <a:xfrm>
            <a:off x="298114" y="1979995"/>
            <a:ext cx="11595769" cy="1485920"/>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t>计算权重与栖息地适宜性指数：利用判断矩阵的特征向量归一化处理后得到各因子权重。栖息地适宜性指数（HSI）采用加权求和公式：HSI = Σωi·fi，其中ωi为因子i的权重，fi为因子i的定量评价分值。根据HSI值将栖息地划分为最优、良好、一般、较差、最差5个等级。</a:t>
            </a:r>
          </a:p>
        </p:txBody>
      </p:sp>
      <p:pic>
        <p:nvPicPr>
          <p:cNvPr id="4" name="图片 3">
            <a:extLst>
              <a:ext uri="{FF2B5EF4-FFF2-40B4-BE49-F238E27FC236}">
                <a16:creationId xmlns:a16="http://schemas.microsoft.com/office/drawing/2014/main" id="{92CBFF02-B41D-765A-474D-1B0EBD40DC8D}"/>
              </a:ext>
            </a:extLst>
          </p:cNvPr>
          <p:cNvPicPr>
            <a:picLocks noChangeAspect="1"/>
          </p:cNvPicPr>
          <p:nvPr/>
        </p:nvPicPr>
        <p:blipFill>
          <a:blip r:embed="rId2"/>
          <a:stretch>
            <a:fillRect/>
          </a:stretch>
        </p:blipFill>
        <p:spPr>
          <a:xfrm>
            <a:off x="3000373" y="3465915"/>
            <a:ext cx="6191250" cy="3248025"/>
          </a:xfrm>
          <a:prstGeom prst="rect">
            <a:avLst/>
          </a:prstGeom>
        </p:spPr>
      </p:pic>
      <p:sp>
        <p:nvSpPr>
          <p:cNvPr id="5" name="矩形 4">
            <a:extLst>
              <a:ext uri="{FF2B5EF4-FFF2-40B4-BE49-F238E27FC236}">
                <a16:creationId xmlns:a16="http://schemas.microsoft.com/office/drawing/2014/main" id="{F6A9D8A7-D4EC-F4A0-833F-22738438E68C}"/>
              </a:ext>
            </a:extLst>
          </p:cNvPr>
          <p:cNvSpPr/>
          <p:nvPr/>
        </p:nvSpPr>
        <p:spPr>
          <a:xfrm>
            <a:off x="3000373" y="3465915"/>
            <a:ext cx="6191250" cy="3248025"/>
          </a:xfrm>
          <a:prstGeom prst="rect">
            <a:avLst/>
          </a:prstGeom>
          <a:noFill/>
          <a:ln w="28575">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3286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032BE-1FF7-1340-E605-BA7BA45F0D23}"/>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D1A716FC-B672-BAB2-D9C1-C050053B3E12}"/>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118DDD6D-B703-BD2B-386F-C3833CE47966}"/>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841FFFFC-010D-EAF1-1EB4-FEB50CF553D7}"/>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E4FB23F8-78E3-7669-710E-21476195AEE4}"/>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D57AE762-03BA-BC29-DEF8-3C225BA877AA}"/>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ECE5E4FB-DC2B-1FB2-9163-7A3129E841BF}"/>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7E5CF207-4B7E-F14F-FF7D-F5EDEE9D9743}"/>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618AA297-38DA-027D-B23B-D28ACD34A10E}"/>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EA4E947A-B871-250B-FC23-C02612DA2626}"/>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961D2C92-3CEE-AE3D-604E-C955339A6476}"/>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779FD556-1F16-8796-733F-8EBFEFC9E274}"/>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87FA5231-1017-8334-EE3E-465E1EFD19BA}"/>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8BD77CCB-A0D3-5F46-444F-8A3FCD9A959A}"/>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E3D19380-370D-B18C-6EB3-B972F7A55515}"/>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7D88560A-64F8-5555-5545-13FE9D67716C}"/>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6AAA7765-D791-9306-027C-5CC771D50FF8}"/>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7DE34303-FA47-18E3-50B6-97AB366E4790}"/>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4394F36C-A243-DDA1-EA1E-0EFD9B219C50}"/>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51AF7C40-5F61-CF4E-1CBB-004B305E9209}"/>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2" name="矩形 1">
            <a:extLst>
              <a:ext uri="{FF2B5EF4-FFF2-40B4-BE49-F238E27FC236}">
                <a16:creationId xmlns:a16="http://schemas.microsoft.com/office/drawing/2014/main" id="{7B0249F4-EA90-745F-1AF2-710C8CA6D67E}"/>
              </a:ext>
            </a:extLst>
          </p:cNvPr>
          <p:cNvSpPr/>
          <p:nvPr/>
        </p:nvSpPr>
        <p:spPr>
          <a:xfrm>
            <a:off x="2952393" y="354598"/>
            <a:ext cx="8274761" cy="448226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947522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561757"/>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t>总结研究成果</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90" y="-67577"/>
            <a:ext cx="339631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结果与结论</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四</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8" name="组合 47">
            <a:extLst>
              <a:ext uri="{FF2B5EF4-FFF2-40B4-BE49-F238E27FC236}">
                <a16:creationId xmlns:a16="http://schemas.microsoft.com/office/drawing/2014/main" id="{FC7EDFBC-E1F2-4FC7-8F9D-13E659D6D631}"/>
              </a:ext>
            </a:extLst>
          </p:cNvPr>
          <p:cNvGrpSpPr/>
          <p:nvPr/>
        </p:nvGrpSpPr>
        <p:grpSpPr>
          <a:xfrm>
            <a:off x="-53106" y="1549194"/>
            <a:ext cx="6593054" cy="4364522"/>
            <a:chOff x="9137870" y="2197936"/>
            <a:chExt cx="2823353" cy="1591953"/>
          </a:xfrm>
        </p:grpSpPr>
        <p:grpSp>
          <p:nvGrpSpPr>
            <p:cNvPr id="50" name="组合 49">
              <a:extLst>
                <a:ext uri="{FF2B5EF4-FFF2-40B4-BE49-F238E27FC236}">
                  <a16:creationId xmlns:a16="http://schemas.microsoft.com/office/drawing/2014/main" id="{E13658B4-99D7-4390-B6CA-35C4B938CA3C}"/>
                </a:ext>
              </a:extLst>
            </p:cNvPr>
            <p:cNvGrpSpPr/>
            <p:nvPr/>
          </p:nvGrpSpPr>
          <p:grpSpPr>
            <a:xfrm>
              <a:off x="9169400" y="2197936"/>
              <a:ext cx="2743176" cy="1591953"/>
              <a:chOff x="1199732" y="5259960"/>
              <a:chExt cx="3104442" cy="1075370"/>
            </a:xfrm>
          </p:grpSpPr>
          <p:sp>
            <p:nvSpPr>
              <p:cNvPr id="52" name="矩形 51">
                <a:extLst>
                  <a:ext uri="{FF2B5EF4-FFF2-40B4-BE49-F238E27FC236}">
                    <a16:creationId xmlns:a16="http://schemas.microsoft.com/office/drawing/2014/main" id="{3C657A99-3780-43F4-84AE-F01962852990}"/>
                  </a:ext>
                </a:extLst>
              </p:cNvPr>
              <p:cNvSpPr/>
              <p:nvPr/>
            </p:nvSpPr>
            <p:spPr>
              <a:xfrm>
                <a:off x="1199732" y="5265041"/>
                <a:ext cx="3104442" cy="1070289"/>
              </a:xfrm>
              <a:prstGeom prst="rect">
                <a:avLst/>
              </a:prstGeom>
              <a:gradFill>
                <a:gsLst>
                  <a:gs pos="0">
                    <a:srgbClr val="1A76DC">
                      <a:lumMod val="15000"/>
                      <a:lumOff val="85000"/>
                    </a:srgbClr>
                  </a:gs>
                  <a:gs pos="100000">
                    <a:sysClr val="window" lastClr="FFFFFF"/>
                  </a:gs>
                </a:gsLst>
                <a:lin ang="5400000" scaled="0"/>
              </a:gradFill>
              <a:ln w="12700" cap="flat" cmpd="sng" algn="ctr">
                <a:noFill/>
                <a:prstDash val="solid"/>
                <a:miter lim="800000"/>
              </a:ln>
              <a:effectLst/>
            </p:spPr>
            <p:txBody>
              <a:bodyPr lIns="18000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Times New Roman" panose="02020603050405020304" pitchFamily="18" charset="0"/>
                  <a:ea typeface="微软雅黑 Light" panose="020B0502040204020203" charset="-122"/>
                  <a:cs typeface="+mn-cs"/>
                  <a:sym typeface="Times New Roman" panose="02020603050405020304" pitchFamily="18" charset="0"/>
                </a:endParaRPr>
              </a:p>
            </p:txBody>
          </p:sp>
          <p:cxnSp>
            <p:nvCxnSpPr>
              <p:cNvPr id="53" name="直接连接符 52">
                <a:extLst>
                  <a:ext uri="{FF2B5EF4-FFF2-40B4-BE49-F238E27FC236}">
                    <a16:creationId xmlns:a16="http://schemas.microsoft.com/office/drawing/2014/main" id="{3CE043AE-C225-4434-BA64-EE5B19A8B03C}"/>
                  </a:ext>
                </a:extLst>
              </p:cNvPr>
              <p:cNvCxnSpPr>
                <a:cxnSpLocks/>
              </p:cNvCxnSpPr>
              <p:nvPr/>
            </p:nvCxnSpPr>
            <p:spPr>
              <a:xfrm flipH="1">
                <a:off x="1199732" y="5259960"/>
                <a:ext cx="3104442" cy="0"/>
              </a:xfrm>
              <a:prstGeom prst="line">
                <a:avLst/>
              </a:prstGeom>
              <a:noFill/>
              <a:ln w="28575" cap="flat" cmpd="sng" algn="ctr">
                <a:solidFill>
                  <a:srgbClr val="004FA8"/>
                </a:solidFill>
                <a:prstDash val="solid"/>
                <a:miter lim="800000"/>
              </a:ln>
              <a:effectLst/>
            </p:spPr>
          </p:cxnSp>
        </p:grpSp>
        <p:sp>
          <p:nvSpPr>
            <p:cNvPr id="51" name="矩形 33">
              <a:extLst>
                <a:ext uri="{FF2B5EF4-FFF2-40B4-BE49-F238E27FC236}">
                  <a16:creationId xmlns:a16="http://schemas.microsoft.com/office/drawing/2014/main" id="{E48671B1-C53F-4015-A9F7-B59A23323778}"/>
                </a:ext>
              </a:extLst>
            </p:cNvPr>
            <p:cNvSpPr>
              <a:spLocks noChangeArrowheads="1"/>
            </p:cNvSpPr>
            <p:nvPr/>
          </p:nvSpPr>
          <p:spPr bwMode="auto">
            <a:xfrm>
              <a:off x="9137870" y="2244618"/>
              <a:ext cx="2823353" cy="153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00000"/>
                </a:lnSpc>
                <a:spcBef>
                  <a:spcPts val="0"/>
                </a:spcBef>
                <a:spcAft>
                  <a:spcPts val="600"/>
                </a:spcAft>
                <a:buNone/>
              </a:pP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sp>
        <p:nvSpPr>
          <p:cNvPr id="45" name="文本框 44">
            <a:extLst>
              <a:ext uri="{FF2B5EF4-FFF2-40B4-BE49-F238E27FC236}">
                <a16:creationId xmlns:a16="http://schemas.microsoft.com/office/drawing/2014/main" id="{D8094609-8F84-4959-A5AF-D0CD05CD87A3}"/>
              </a:ext>
            </a:extLst>
          </p:cNvPr>
          <p:cNvSpPr txBox="1"/>
          <p:nvPr/>
        </p:nvSpPr>
        <p:spPr>
          <a:xfrm>
            <a:off x="148640" y="1560652"/>
            <a:ext cx="6281977" cy="4716932"/>
          </a:xfrm>
          <a:prstGeom prst="rect">
            <a:avLst/>
          </a:prstGeom>
          <a:noFill/>
        </p:spPr>
        <p:txBody>
          <a:bodyPr wrap="square">
            <a:spAutoFit/>
          </a:bodyPr>
          <a:lstStyle/>
          <a:p>
            <a:r>
              <a:rPr b="1" lang="zh-CN" sz="1200"/>
              <a:t>栖息地空间分布：</a:t>
            </a:r>
          </a:p>
          <a:p>
            <a:r>
              <a:t>三峡库区越冬水禽适宜栖息地主要分布在长江主航道及其周围支流和湖泊，仅占库区总面积的1.6%~2.4%。不适宜区域分布于高海拔林地和人类活动干扰较大的区域，主要位于巫溪县、奉节县、武隆县南部等地。</a:t>
            </a:r>
          </a:p>
          <a:p>
            <a:r>
              <a:rPr b="1" lang="zh-CN" sz="1200"/>
              <a:t>栖息地面积变化趋势：</a:t>
            </a:r>
          </a:p>
          <a:p>
            <a:r>
              <a:t>受三峡大坝建设影响，适宜栖息地从1995年的3190 km²（占5.5%）骤降至2000年的1.6%。此后随着蓄水高度增加缓慢回升，2020年达1392 km²（占2.4%），仍与蓄水前有较大差距。不适宜区1995—2000年面积占比增加12.1%，2000年后趋于稳定。</a:t>
            </a:r>
          </a:p>
          <a:p>
            <a:r>
              <a:rPr b="1" lang="zh-CN" sz="1200"/>
              <a:t>研究方法验证与共识：</a:t>
            </a:r>
          </a:p>
          <a:p>
            <a:r>
              <a:t>本研究基于专家知识驱动的AHP方法，独立验证了前人MaxEnt数据驱动模型的主要结论。两种方法在空间分布、适宜区面积及变化趋势上的高度吻合，增强了三峡库区栖息地适宜性评价的可靠性与稳健性。</a:t>
            </a:r>
          </a:p>
        </p:txBody>
      </p:sp>
      <p:sp>
        <p:nvSpPr>
          <p:cNvPr id="73" name="箭头: 右 72">
            <a:extLst>
              <a:ext uri="{FF2B5EF4-FFF2-40B4-BE49-F238E27FC236}">
                <a16:creationId xmlns:a16="http://schemas.microsoft.com/office/drawing/2014/main" id="{43CA6C6B-BE84-4793-81DD-FA56D5B0A2D4}"/>
              </a:ext>
            </a:extLst>
          </p:cNvPr>
          <p:cNvSpPr>
            <a:spLocks/>
          </p:cNvSpPr>
          <p:nvPr/>
        </p:nvSpPr>
        <p:spPr>
          <a:xfrm rot="5400000">
            <a:off x="3014143" y="5899789"/>
            <a:ext cx="324000" cy="288000"/>
          </a:xfrm>
          <a:prstGeom prst="rightArrow">
            <a:avLst>
              <a:gd name="adj1" fmla="val 50000"/>
              <a:gd name="adj2" fmla="val 62225"/>
            </a:avLst>
          </a:prstGeom>
          <a:gradFill flip="none" rotWithShape="1">
            <a:gsLst>
              <a:gs pos="8426">
                <a:schemeClr val="accent2">
                  <a:lumMod val="20000"/>
                  <a:lumOff val="80000"/>
                </a:schemeClr>
              </a:gs>
              <a:gs pos="22000">
                <a:schemeClr val="accent2">
                  <a:lumMod val="60000"/>
                  <a:lumOff val="40000"/>
                </a:schemeClr>
              </a:gs>
              <a:gs pos="73000">
                <a:srgbClr val="C00000">
                  <a:alpha val="82000"/>
                </a:srgbClr>
              </a:gs>
              <a:gs pos="0">
                <a:schemeClr val="bg1">
                  <a:alpha val="62000"/>
                </a:schemeClr>
              </a:gs>
            </a:gsLst>
            <a:lin ang="0" scaled="1"/>
            <a:tileRect/>
          </a:gradFill>
          <a:ln w="25400" cap="flat" cmpd="sng" algn="ctr">
            <a:noFill/>
            <a:prstDash val="solid"/>
            <a:miter lim="800000"/>
          </a:ln>
          <a:effectLst>
            <a:outerShdw blurRad="190500" dist="38100" dir="2700000" algn="tl" rotWithShape="0">
              <a:prstClr val="black">
                <a:alpha val="20000"/>
              </a:prstClr>
            </a:outerShdw>
          </a:effectLst>
        </p:spPr>
        <p:txBody>
          <a:bodyPr rtlCol="0" anchor="ctr"/>
          <a:lstStyle/>
          <a:p>
            <a:pPr algn="ctr" defTabSz="914400">
              <a:defRPr/>
            </a:pPr>
            <a:endParaRPr lang="zh-CN" altLang="en-US" kern="0" dirty="0">
              <a:solidFill>
                <a:sysClr val="window" lastClr="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矩形: 圆角 73">
            <a:extLst>
              <a:ext uri="{FF2B5EF4-FFF2-40B4-BE49-F238E27FC236}">
                <a16:creationId xmlns:a16="http://schemas.microsoft.com/office/drawing/2014/main" id="{A3EDD737-2C55-4234-BB53-DF1AA54FC0A7}"/>
              </a:ext>
            </a:extLst>
          </p:cNvPr>
          <p:cNvSpPr/>
          <p:nvPr/>
        </p:nvSpPr>
        <p:spPr>
          <a:xfrm>
            <a:off x="20522" y="6237816"/>
            <a:ext cx="11829232" cy="561428"/>
          </a:xfrm>
          <a:prstGeom prst="roundRect">
            <a:avLst/>
          </a:prstGeom>
          <a:solidFill>
            <a:schemeClr val="accent2">
              <a:lumMod val="40000"/>
              <a:lumOff val="60000"/>
              <a:alpha val="46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t>AHP模型为三峡库区越冬水禽栖息地评价和保护规划提供了科学依据，方法简单有效，结果易于被管理部门理解和应用。</a:t>
            </a:r>
          </a:p>
        </p:txBody>
      </p:sp>
      <p:pic>
        <p:nvPicPr>
          <p:cNvPr id="3" name="图片 2">
            <a:extLst>
              <a:ext uri="{FF2B5EF4-FFF2-40B4-BE49-F238E27FC236}">
                <a16:creationId xmlns:a16="http://schemas.microsoft.com/office/drawing/2014/main" id="{23A54193-37B1-D084-D650-B67DCA5D9583}"/>
              </a:ext>
            </a:extLst>
          </p:cNvPr>
          <p:cNvPicPr>
            <a:picLocks noChangeAspect="1"/>
          </p:cNvPicPr>
          <p:nvPr/>
        </p:nvPicPr>
        <p:blipFill>
          <a:blip r:embed="rId2"/>
          <a:stretch>
            <a:fillRect/>
          </a:stretch>
        </p:blipFill>
        <p:spPr>
          <a:xfrm>
            <a:off x="9412492" y="3722024"/>
            <a:ext cx="2717803" cy="2296438"/>
          </a:xfrm>
          <a:prstGeom prst="rect">
            <a:avLst/>
          </a:prstGeom>
        </p:spPr>
      </p:pic>
      <p:pic>
        <p:nvPicPr>
          <p:cNvPr id="4" name="图片 3">
            <a:extLst>
              <a:ext uri="{FF2B5EF4-FFF2-40B4-BE49-F238E27FC236}">
                <a16:creationId xmlns:a16="http://schemas.microsoft.com/office/drawing/2014/main" id="{C73D2753-4CC6-272D-814C-463C6A1692E2}"/>
              </a:ext>
            </a:extLst>
          </p:cNvPr>
          <p:cNvPicPr>
            <a:picLocks noChangeAspect="1"/>
          </p:cNvPicPr>
          <p:nvPr/>
        </p:nvPicPr>
        <p:blipFill>
          <a:blip r:embed="rId3"/>
          <a:stretch>
            <a:fillRect/>
          </a:stretch>
        </p:blipFill>
        <p:spPr>
          <a:xfrm>
            <a:off x="6452836" y="1506041"/>
            <a:ext cx="2937437" cy="2088000"/>
          </a:xfrm>
          <a:prstGeom prst="rect">
            <a:avLst/>
          </a:prstGeom>
        </p:spPr>
      </p:pic>
      <p:pic>
        <p:nvPicPr>
          <p:cNvPr id="5" name="图片 4">
            <a:extLst>
              <a:ext uri="{FF2B5EF4-FFF2-40B4-BE49-F238E27FC236}">
                <a16:creationId xmlns:a16="http://schemas.microsoft.com/office/drawing/2014/main" id="{C62A89A2-538E-CAC2-B1A7-401B043039CB}"/>
              </a:ext>
            </a:extLst>
          </p:cNvPr>
          <p:cNvPicPr>
            <a:picLocks noChangeAspect="1"/>
          </p:cNvPicPr>
          <p:nvPr/>
        </p:nvPicPr>
        <p:blipFill>
          <a:blip r:embed="rId4"/>
          <a:stretch>
            <a:fillRect/>
          </a:stretch>
        </p:blipFill>
        <p:spPr>
          <a:xfrm>
            <a:off x="6426348" y="3722024"/>
            <a:ext cx="2894839" cy="2088000"/>
          </a:xfrm>
          <a:prstGeom prst="rect">
            <a:avLst/>
          </a:prstGeom>
        </p:spPr>
      </p:pic>
      <p:pic>
        <p:nvPicPr>
          <p:cNvPr id="6" name="图片 5">
            <a:extLst>
              <a:ext uri="{FF2B5EF4-FFF2-40B4-BE49-F238E27FC236}">
                <a16:creationId xmlns:a16="http://schemas.microsoft.com/office/drawing/2014/main" id="{8A5A919F-D0F8-7529-B620-D8D9A33C026D}"/>
              </a:ext>
            </a:extLst>
          </p:cNvPr>
          <p:cNvPicPr>
            <a:picLocks noChangeAspect="1"/>
          </p:cNvPicPr>
          <p:nvPr/>
        </p:nvPicPr>
        <p:blipFill>
          <a:blip r:embed="rId5"/>
          <a:stretch>
            <a:fillRect/>
          </a:stretch>
        </p:blipFill>
        <p:spPr>
          <a:xfrm>
            <a:off x="9412492" y="1506041"/>
            <a:ext cx="2542791" cy="2088000"/>
          </a:xfrm>
          <a:prstGeom prst="rect">
            <a:avLst/>
          </a:prstGeom>
        </p:spPr>
      </p:pic>
    </p:spTree>
    <p:extLst>
      <p:ext uri="{BB962C8B-B14F-4D97-AF65-F5344CB8AC3E}">
        <p14:creationId xmlns:p14="http://schemas.microsoft.com/office/powerpoint/2010/main" val="4255046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汇报人：周嘉伟</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2025-04-25</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
        <p:nvSpPr>
          <p:cNvPr id="21" name="文本占位符 1">
            <a:extLst>
              <a:ext uri="{FF2B5EF4-FFF2-40B4-BE49-F238E27FC236}">
                <a16:creationId xmlns:a16="http://schemas.microsoft.com/office/drawing/2014/main" id="{45E3CF39-A26E-422F-9A35-4160A6319B45}"/>
              </a:ext>
            </a:extLst>
          </p:cNvPr>
          <p:cNvSpPr txBox="1"/>
          <p:nvPr/>
        </p:nvSpPr>
        <p:spPr>
          <a:xfrm>
            <a:off x="5267597" y="1331398"/>
            <a:ext cx="7155284" cy="1971217"/>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25000"/>
              </a:lnSpc>
              <a:spcBef>
                <a:spcPts val="1000"/>
              </a:spcBef>
              <a:spcAft>
                <a:spcPts val="0"/>
              </a:spcAft>
              <a:buClrTx/>
              <a:buSzTx/>
              <a:buFontTx/>
              <a:buNone/>
              <a:defRPr/>
            </a:pPr>
            <a:r>
              <a:rPr kumimoji="0" lang="zh-CN" altLang="en-US"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汇报结束 </a:t>
            </a:r>
            <a:endParaRPr kumimoji="0" lang="en-US" altLang="zh-CN"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defTabSz="914400" rtl="0" eaLnBrk="1" fontAlgn="auto" latinLnBrk="0" hangingPunct="1">
              <a:lnSpc>
                <a:spcPct val="125000"/>
              </a:lnSpc>
              <a:spcBef>
                <a:spcPts val="1000"/>
              </a:spcBef>
              <a:spcAft>
                <a:spcPts val="0"/>
              </a:spcAft>
              <a:buClrTx/>
              <a:buSzTx/>
              <a:buFontTx/>
              <a:buNone/>
              <a:defRPr/>
            </a:pPr>
            <a:r>
              <a:rPr lang="zh-CN" altLang="en-US" sz="8000" spc="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谢谢大家</a:t>
            </a:r>
            <a:r>
              <a:rPr kumimoji="0" lang="zh-CN" altLang="en-US" sz="8000" b="1" i="1"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t>
            </a:r>
          </a:p>
        </p:txBody>
      </p:sp>
    </p:spTree>
    <p:extLst>
      <p:ext uri="{BB962C8B-B14F-4D97-AF65-F5344CB8AC3E}">
        <p14:creationId xmlns:p14="http://schemas.microsoft.com/office/powerpoint/2010/main" val="16680418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FmNzNhNTgzZmRjOTk0NjdlYmI0YmE1ZTNlZDNhNjMifQ=="/>
</p:tagLst>
</file>

<file path=ppt/theme/theme1.xml><?xml version="1.0" encoding="utf-8"?>
<a:theme xmlns:a="http://schemas.openxmlformats.org/drawingml/2006/main" name="第一PPT，www.1ppt.com">
  <a:themeElements>
    <a:clrScheme name="自定义 40">
      <a:dk1>
        <a:sysClr val="windowText" lastClr="000000"/>
      </a:dk1>
      <a:lt1>
        <a:sysClr val="window" lastClr="FFFFFF"/>
      </a:lt1>
      <a:dk2>
        <a:srgbClr val="C00000"/>
      </a:dk2>
      <a:lt2>
        <a:srgbClr val="FF0000"/>
      </a:lt2>
      <a:accent1>
        <a:srgbClr val="FF6600"/>
      </a:accent1>
      <a:accent2>
        <a:srgbClr val="FFC000"/>
      </a:accent2>
      <a:accent3>
        <a:srgbClr val="92D050"/>
      </a:accent3>
      <a:accent4>
        <a:srgbClr val="00B0F0"/>
      </a:accent4>
      <a:accent5>
        <a:srgbClr val="7F7F7F"/>
      </a:accent5>
      <a:accent6>
        <a:srgbClr val="262626"/>
      </a:accent6>
      <a:hlink>
        <a:srgbClr val="262626"/>
      </a:hlink>
      <a:folHlink>
        <a:srgbClr val="7F7F7F"/>
      </a:folHlink>
    </a:clrScheme>
    <a:fontScheme name="2rrodchb">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1508</TotalTime>
  <Words>999</Words>
  <Application>Microsoft Office PowerPoint</Application>
  <PresentationFormat>宽屏</PresentationFormat>
  <Paragraphs>125</Paragraphs>
  <Slides>12</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等线</vt:lpstr>
      <vt:lpstr>微软雅黑</vt:lpstr>
      <vt:lpstr>Arial</vt:lpstr>
      <vt:lpstr>Calibri</vt:lpstr>
      <vt:lpstr>Cambria Math</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睿思 罗</cp:lastModifiedBy>
  <cp:revision>139</cp:revision>
  <dcterms:created xsi:type="dcterms:W3CDTF">2021-04-15T12:03:00Z</dcterms:created>
  <dcterms:modified xsi:type="dcterms:W3CDTF">2026-06-03T13:33:52Z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CC7496E30844449AB513B6CA296F35C7_12</vt:lpwstr>
  </property>
  <property fmtid="{D5CDD505-2E9C-101B-9397-08002B2CF9AE}" pid="3" name="KSOProductBuildVer">
    <vt:lpwstr>2052-12.1.0.15712</vt:lpwstr>
  </property>
</Properties>
</file>